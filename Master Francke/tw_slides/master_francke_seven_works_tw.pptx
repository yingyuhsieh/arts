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們不知道他的真實姓名，也無法確定他的出生地或修士身分；但只要看見流動的衣褶、飽和的紅藍金色，以及被擠壓到幾乎會疼痛的身體，藝術史家就會想到法蘭克大師。今天，我們透過七件作品認識這位沒有臉孔的畫家，也把他放回漢堡稍早的伯特蘭大師旁邊，看看北方祭壇畫如何從優雅秩序走向更強烈的重量與情緒。</a:t>
            </a:r>
          </a:p>
          <a:p>
            <a:endParaRPr/>
          </a:p>
          <a:p>
            <a:r>
              <a:t>[Sources]</a:t>
            </a:r>
          </a:p>
          <a:p>
            <a:r>
              <a:t>https://www.deutsche-biographie.de/gnd118692526.html#ndbcontent</a:t>
            </a:r>
          </a:p>
          <a:p>
            <a:r>
              <a:t>https://online-sammlung.hamburger-kunsthalle.de/de/objekt/HK-492/die-anbetung-des-kindes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法蘭克大師不是一位先有完整傳記、再由作品印證人生的畫家。情況剛好相反：我們先從畫面辨認出穩定而鮮明的藝術個性，再回頭把零散文獻拼在一起。一四二四年，漢堡英格蘭商人團體的紀錄提到一位 mester Francken，成為名字與祭壇委託之間最重要的線索。至於他是否來自祖特芬、是否真是道明會修士，仍只能說合理，不能說確定。</a:t>
            </a:r>
          </a:p>
          <a:p>
            <a:endParaRPr/>
          </a:p>
          <a:p>
            <a:r>
              <a:t>[Sources]</a:t>
            </a:r>
          </a:p>
          <a:p>
            <a:r>
              <a:t>https://www.deutsche-biographie.de/gnd118692526.html#ndbcontent</a:t>
            </a:r>
          </a:p>
          <a:p>
            <a:r>
              <a:t>https://online-sammlung.hamburger-kunsthalle.de/de/objekt/HK-490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法蘭克成熟時期的舞台是漢堡。這座漢薩港口的商人往返英格蘭與波羅的海，祭壇畫因此不只服務禮拜，也承載公會身分、跨海記憶與保護聖人的意義。《托馬斯祭壇畫》很可能為英格蘭商人的禮拜堂而作；另一座與法蘭克相關的《卡蘭提祭壇畫》最後出現在芬蘭。藝術在這裡不是固定於一座宮廷，而是沿著貿易、信仰與材料的路線移動。</a:t>
            </a:r>
          </a:p>
          <a:p>
            <a:endParaRPr/>
          </a:p>
          <a:p>
            <a:r>
              <a:t>[Sources]</a:t>
            </a:r>
          </a:p>
          <a:p>
            <a:r>
              <a:t>https://online-sammlung.hamburger-kunsthalle.de/de/objekt/HK-490</a:t>
            </a:r>
          </a:p>
          <a:p>
            <a:r>
              <a:t>https://www.kansallismuseo.fi/en/digitaalinen-kokoelma/aarteita-suomen-kansallismuseon-nayttelyissa/toista-maata/kalannin-alttarikaappi-1-1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法蘭克不是突然出現在空白之中。約四十年前，伯特蘭大師已用《格拉博祭壇畫》建立漢堡大型祭壇畫的成熟形式。在《創造動物》裡，神、人與動物被安排在清楚可讀的平面秩序中，輪廓流暢，色彩像寶石一樣明亮。這種宮廷式優雅與敘事清晰，提供了法蘭克可以承接的傳統；接下來的差異，並不是誰比較進步，而是畫面如何開始容納更多身體重量與心理張力。</a:t>
            </a:r>
          </a:p>
          <a:p>
            <a:endParaRPr/>
          </a:p>
          <a:p>
            <a:r>
              <a:t>[Sources]</a:t>
            </a:r>
          </a:p>
          <a:p>
            <a:r>
              <a:t>https://commons.wikimedia.org/wiki/File:Meister_Bertram_von_Minden_-_Creation_of_the_Animals,_panel_from_Grabow_Altarpiece_-_WGA14311.jpg</a:t>
            </a:r>
          </a:p>
          <a:p>
            <a:r>
              <a:t>https://online-sammlung.hamburger-kunsthalle.de/de/objekt/HK-490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兩幅作品並排，可以先看共同點：金色、鮮明色塊、柔美曲線，以及把神聖故事轉化為精緻圖像的能力。但伯特蘭偏向清楚地分配人物與動物，讓每個形體保持可辨識的空間；法蘭克則讓聖母跪近孩子，天使在後方托住斗篷，岩洞、衣褶與光束彼此套疊。伯特蘭的畫面像有節奏的秩序，法蘭克則開始讓觀看更靠近身體，也更靠近情緒。</a:t>
            </a:r>
          </a:p>
          <a:p>
            <a:endParaRPr/>
          </a:p>
          <a:p>
            <a:r>
              <a:t>[Sources]</a:t>
            </a:r>
          </a:p>
          <a:p>
            <a:r>
              <a:t>https://commons.wikimedia.org/wiki/File:Meister_Bertram_von_Minden_-_Creation_of_the_Animals,_panel_from_Grabow_Altarpiece_-_WGA14311.jpg</a:t>
            </a:r>
          </a:p>
          <a:p>
            <a:r>
              <a:t>https://online-sammlung.hamburger-kunsthalle.de/de/objekt/HK-492/die-anbetung-des-kindes</a:t>
            </a:r>
          </a:p>
          <a:p>
            <a:r>
              <a:t>https://commons.wikimedia.org/wiki/File:1426_Meister_Francke_Die_Anbetung_des_Kindes_anagoria.JPG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比較兩位大師時，最重要的界線是：目前沒有證據把他們寫成直接的師徒。伯特蘭常以清楚輪廓、裝飾性色彩與平衡秩序建立敘事；法蘭克保留同樣的優雅表面，卻增加人物體積、彼此遮擋、斜向受力與更強烈的情緒。換句話說，法蘭克沒有拋棄國際哥德式，而是把重量、暴力、恐懼與哀悼放進它原本柔美的語言裡。</a:t>
            </a:r>
          </a:p>
          <a:p>
            <a:endParaRPr/>
          </a:p>
          <a:p>
            <a:r>
              <a:t>[Sources]</a:t>
            </a:r>
          </a:p>
          <a:p>
            <a:r>
              <a:t>https://www.deutsche-biographie.de/gnd118692526.html#ndbcontent</a:t>
            </a:r>
          </a:p>
          <a:p>
            <a:r>
              <a:t>https://online-sammlung.hamburger-kunsthalle.de/de/objekt/HK-490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我們在美術館看到的是九塊分離的板畫，但原作是一座可以兩度開闔的複合祭壇。第一層可能呈現聖母生平與托馬斯・貝克特故事，再次開啟才見金地上的基督受難圖像。這個重建部分依靠一七三一年版畫，因此有根據，卻不是原貌的完整複製。接下來四件作品來自這座祭壇，它們也讓我們看見法蘭克如何在同一套作品裡處理神光、暴力、壓迫與哀傷。</a:t>
            </a:r>
          </a:p>
          <a:p>
            <a:endParaRPr/>
          </a:p>
          <a:p>
            <a:r>
              <a:t>[Sources]</a:t>
            </a:r>
          </a:p>
          <a:p>
            <a:r>
              <a:t>https://online-sammlung.hamburger-kunsthalle.de/de/objekt/HK-490</a:t>
            </a:r>
          </a:p>
          <a:p>
            <a:r>
              <a:t>https://online-sammlung.hamburger-kunsthalle.de/de/objekt/HK-492/die-anbetung-des-kindes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聖母沒有坐在寶座上，而是穿著近乎純白的衣服，跪在赤裸聖嬰前。三位天使托住她脫下的藍色斗篷，金色光束從雲端穿過紅色星空，直接指向孩子。這個構圖與瑞典聖女布里姬特描述的降生異象有關。法蘭克並不是在研究房間裡的燈光，而是在讓信仰變成可見的光：聖嬰既被照亮，也像是光的來源。</a:t>
            </a:r>
          </a:p>
          <a:p>
            <a:endParaRPr/>
          </a:p>
          <a:p>
            <a:r>
              <a:t>[Sources]</a:t>
            </a:r>
          </a:p>
          <a:p>
            <a:r>
              <a:t>https://online-sammlung.hamburger-kunsthalle.de/de/objekt/HK-492/die-anbetung-des-kindes</a:t>
            </a:r>
          </a:p>
          <a:p>
            <a:r>
              <a:t>https://commons.wikimedia.org/wiki/File:1426_Meister_Francke_Die_Anbetung_des_Kindes_anagoria.JPG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貝克特跪在祭壇前，刺客從側面闖入。武器沿著斜線切進畫面，身體互相遮擋，主教冠在混亂中落下。法蘭克沒有捨棄華麗法衣與寶石般的色彩，反而讓它們和殺戮同時存在。正因畫面仍然精緻，秩序被暴力打破的瞬間才更刺眼。觀眾的視線會沿著武器向下，最後落在失去平衡的身體上。</a:t>
            </a:r>
          </a:p>
          <a:p>
            <a:endParaRPr/>
          </a:p>
          <a:p>
            <a:r>
              <a:t>[Sources]</a:t>
            </a:r>
          </a:p>
          <a:p>
            <a:r>
              <a:t>https://online-sammlung.hamburger-kunsthalle.de/de/objekt/HK-490</a:t>
            </a:r>
          </a:p>
          <a:p>
            <a:r>
              <a:t>https://commons.wikimedia.org/wiki/File:Meister_Francke_011.jpg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幅畫幾乎不給前景留下呼吸空間。十字架、手臂、臉孔與身體擠成密集的斜線，基督的痛苦因此不只來自表情，也來自重量、拉扯與碰撞。畫中部分敵對人物沿用中世紀基督教藝術對猶太人的負面刻板塑造；我們需要把它視為當時偏見的歷史證據，而不是對真實族群的中立描寫。理解作品，也包括辨認它所承載的傷害性傳統。</a:t>
            </a:r>
          </a:p>
          <a:p>
            <a:endParaRPr/>
          </a:p>
          <a:p>
            <a:r>
              <a:t>[Sources]</a:t>
            </a:r>
          </a:p>
          <a:p>
            <a:r>
              <a:t>https://online-sammlung.hamburger-kunsthalle.de/de/objekt/HK-490</a:t>
            </a:r>
          </a:p>
          <a:p>
            <a:r>
              <a:t>https://commons.wikimedia.org/wiki/File:Meister_Francke_009.jpg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件作品只保存了原中央《受難》畫面的左下部分，卻留下法蘭克最動人的情感組織。婦女們互相支撐，哀傷不靠一張誇張的臉，而是由低垂的頭、交疊的手臂、包裹身體的衣褶共同形成。原本它只是更大敘事的一角，今天卻像一幅獨立的集體哀悼圖。悲傷在這裡不是表情，而是一種需要多人共同承受的重量。</a:t>
            </a:r>
          </a:p>
          <a:p>
            <a:endParaRPr/>
          </a:p>
          <a:p>
            <a:r>
              <a:t>[Sources]</a:t>
            </a:r>
          </a:p>
          <a:p>
            <a:r>
              <a:t>https://online-sammlung.hamburger-kunsthalle.de/de/objekt/HK-490</a:t>
            </a:r>
          </a:p>
          <a:p>
            <a:r>
              <a:t>https://commons.wikimedia.org/wiki/File:Meister_Francke_005.jpg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座祭壇畫全開約兩公尺高、二點六公尺寬。八個翼板場景講述聖芭芭拉反抗父親、皈依、受刑與殉道，中央與內翼則結合雕刻。芬蘭國家博物館目前把法蘭克的繪畫工作定在一四三〇年代；較早研究曾提出更早年代。作品如何從漢堡到卡蘭提、由誰委託，都沒有保存文件。它最可靠的意義，是證明繪畫、木雕與宗教觀念能沿著波羅的海網絡遠距移動。</a:t>
            </a:r>
          </a:p>
          <a:p>
            <a:endParaRPr/>
          </a:p>
          <a:p>
            <a:r>
              <a:t>[Sources]</a:t>
            </a:r>
          </a:p>
          <a:p>
            <a:r>
              <a:t>https://www.kansallismuseo.fi/en/digitaalinen-kokoelma/aarteita-suomen-kansallismuseon-nayttelyissa/toista-maata/kalannin-alttarikaappi-1-1</a:t>
            </a:r>
          </a:p>
          <a:p>
            <a:r>
              <a:t>https://commons.wikimedia.org/wiki/File:Pyh%C3%A4n_Barbaran_alttarikaappi.jpg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萊比錫的《悲傷之人》中，天使扶持受傷的基督。畫面不再講述一連串事件，而是把傷口、血與凝視集中在觀眾面前。和《托馬斯祭壇畫》的群眾戲劇相比，這件作品撤去大量背景人物，情感壓力反而更集中。它適合近距離的宗教默想：觀眾不是遠遠觀看歷史，而是被要求面對一具受傷、仍然直視自己的身體。</a:t>
            </a:r>
          </a:p>
          <a:p>
            <a:endParaRPr/>
          </a:p>
          <a:p>
            <a:r>
              <a:t>[Sources]</a:t>
            </a:r>
          </a:p>
          <a:p>
            <a:r>
              <a:t>https://mdbk.de/sichtbarmachen/</a:t>
            </a:r>
          </a:p>
          <a:p>
            <a:r>
              <a:t>https://commons.wikimedia.org/wiki/File:Meister_Francke_-_Vir_Dolorum_(Man_of_Sorrows)_-_WGA14324.jpg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漢堡另有一件《基督作為悲傷之人》，館方採取『歸於法蘭克大師』或與其工坊相關的保留性標示。這個詞非常重要：它表示風格、技術或作品關係支持這項判斷，但證據不足以保證每一筆都由大師本人完成。對一位沒有簽名、文獻又極少的畫家而言，風格辨識是證據，卻不能取代材料分析、來源紀錄與持續修正的研究。</a:t>
            </a:r>
          </a:p>
          <a:p>
            <a:endParaRPr/>
          </a:p>
          <a:p>
            <a:r>
              <a:t>[Sources]</a:t>
            </a:r>
          </a:p>
          <a:p>
            <a:r>
              <a:t>https://online-sammlung.hamburger-kunsthalle.de/de/objekt/HK-490</a:t>
            </a:r>
          </a:p>
          <a:p>
            <a:r>
              <a:t>https://commons.wikimedia.org/wiki/File:Meister_Francke_-_Schmerzensmann_-_Hamburger_Kunsthalle.jpg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法蘭克大師並不是在一個瞬間被發現。十九世紀，學者先從分散的板畫中辨認出同一種藝術個性；一八九八年，九塊《托馬斯祭壇畫》板畫回到漢堡美術館；隔年，檔案學者才找到一四二四年提到 mester Francken 的紀錄。也就是說，現代人不是先知道他是誰，再去尋找作品，而是先讓作品組成一位畫家，名字才從檔案裡浮現。</a:t>
            </a:r>
          </a:p>
          <a:p>
            <a:endParaRPr/>
          </a:p>
          <a:p>
            <a:r>
              <a:t>[Sources]</a:t>
            </a:r>
          </a:p>
          <a:p>
            <a:r>
              <a:t>https://www.deutsche-biographie.de/gnd118692526.html#ndbcontent</a:t>
            </a:r>
          </a:p>
          <a:p>
            <a:r>
              <a:t>https://online-sammlung.hamburger-kunsthalle.de/de/objekt/HK-490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次看見法蘭克，可以記住四個入口：柔長流動的衣褶；飽和的紅、藍、白與金；互相遮擋、傾斜而緊密的群像；以及優雅與殘酷、神光與肉身同時存在的矛盾。和伯特蘭相比，他讓漢堡的祭壇傳統更靠近重量與情緒。但辨認這些特徵，仍不等於我們找到了他的真名。作品的聲音如此清楚，作者卻近乎沉默——這正是法蘭克大師最迷人的地方。</a:t>
            </a:r>
          </a:p>
          <a:p>
            <a:endParaRPr/>
          </a:p>
          <a:p>
            <a:r>
              <a:t>[Sources]</a:t>
            </a:r>
          </a:p>
          <a:p>
            <a:r>
              <a:t>https://www.deutsche-biographie.de/gnd118692526.html#ndbcontent</a:t>
            </a:r>
          </a:p>
          <a:p>
            <a:r>
              <a:t>https://online-sammlung.hamburger-kunsthalle.de/de/objekt/HK-492/die-anbetung-des-kindes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感謝你的觀看。願你下次站在中世紀祭壇畫前，也能看見優雅表面之下的重量與情緒；我們下次見！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C79CB5-E139-4A62-9217-CD3EF54277D7}"/>
              </a:ext>
            </a:extLst>
          </p:cNvPr>
          <p:cNvSpPr>
            <a:spLocks noGrp="1"/>
          </p:cNvSpPr>
          <p:nvPr/>
        </p:nvSpPr>
        <p:spPr>
          <a:xfrm>
            <a:off x="857250" y="81915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D8B86A"/>
                </a:solidFill>
              </a:defRPr>
            </a:pPr>
            <a:r>
              <a:rPr sz="1275" b="1">
                <a:solidFill>
                  <a:srgbClr val="D8B86A"/>
                </a:solidFill>
              </a:rPr>
              <a:t>MASTER FRANCKE · c. 1420–1435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0CA509-F223-4F48-B287-8621096668C4}"/>
              </a:ext>
            </a:extLst>
          </p:cNvPr>
          <p:cNvSpPr>
            <a:spLocks noGrp="1"/>
          </p:cNvSpPr>
          <p:nvPr/>
        </p:nvSpPr>
        <p:spPr>
          <a:xfrm>
            <a:off x="838200" y="1638300"/>
            <a:ext cx="1038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350" b="1">
                <a:solidFill>
                  <a:srgbClr val="FFF4D6"/>
                </a:solidFill>
              </a:defRPr>
            </a:pPr>
            <a:r>
              <a:rPr sz="4350" b="1">
                <a:solidFill>
                  <a:srgbClr val="FFF4D6"/>
                </a:solidFill>
              </a:rPr>
              <a:t>作品清楚，畫家卻消失了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4F409-C184-4F51-B0FC-C73B5C699546}"/>
              </a:ext>
            </a:extLst>
          </p:cNvPr>
          <p:cNvSpPr>
            <a:spLocks noGrp="1"/>
          </p:cNvSpPr>
          <p:nvPr/>
        </p:nvSpPr>
        <p:spPr>
          <a:xfrm>
            <a:off x="4381500" y="3295650"/>
            <a:ext cx="3429000" cy="19050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6BC11-91E9-4AC9-B10F-910C721FAFF3}"/>
              </a:ext>
            </a:extLst>
          </p:cNvPr>
          <p:cNvSpPr>
            <a:spLocks noGrp="1"/>
          </p:cNvSpPr>
          <p:nvPr/>
        </p:nvSpPr>
        <p:spPr>
          <a:xfrm>
            <a:off x="1619250" y="3638550"/>
            <a:ext cx="8953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>
                <a:solidFill>
                  <a:srgbClr val="E2D3AD"/>
                </a:solidFill>
              </a:defRPr>
            </a:pPr>
            <a:r>
              <a:rPr sz="2025">
                <a:solidFill>
                  <a:srgbClr val="E2D3AD"/>
                </a:solidFill>
              </a:rPr>
              <a:t>法蘭克大師的七件作品，以及他與伯特蘭大師的距離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DF1E06-5CFE-4A0F-B6A2-A766CD5704AA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>
                <a:solidFill>
                  <a:srgbClr val="C9B98E"/>
                </a:solidFill>
              </a:defRPr>
            </a:pPr>
            <a:r>
              <a:rPr sz="1600" dirty="0" err="1">
                <a:solidFill>
                  <a:srgbClr val="C9B98E"/>
                </a:solidFill>
              </a:rPr>
              <a:t>七件作品</a:t>
            </a:r>
            <a:r>
              <a:rPr sz="1600" dirty="0">
                <a:solidFill>
                  <a:srgbClr val="C9B98E"/>
                </a:solidFill>
              </a:rPr>
              <a:t> · </a:t>
            </a:r>
            <a:r>
              <a:rPr sz="1600" dirty="0" err="1">
                <a:solidFill>
                  <a:srgbClr val="C9B98E"/>
                </a:solidFill>
              </a:rPr>
              <a:t>兩位漢堡大師</a:t>
            </a:r>
            <a:r>
              <a:rPr sz="1600" dirty="0">
                <a:solidFill>
                  <a:srgbClr val="C9B98E"/>
                </a:solidFill>
              </a:rPr>
              <a:t> · </a:t>
            </a:r>
            <a:r>
              <a:rPr sz="1600" dirty="0" err="1">
                <a:solidFill>
                  <a:srgbClr val="C9B98E"/>
                </a:solidFill>
              </a:rPr>
              <a:t>一場藝術史的重建</a:t>
            </a:r>
            <a:endParaRPr sz="1600" dirty="0">
              <a:solidFill>
                <a:srgbClr val="C9B98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E4A5EE-26A1-4C72-8D49-A3D33E77A175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7177E9-ECC5-47CC-8F5C-5B71E7B25A96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8170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22A80C9-4D28-4E3E-BDA1-04D1E5A2639A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他的風格，比他的生平更可靠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AFB69-5850-4B49-B1E5-69706AF4F207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744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D8B86A"/>
                </a:solidFill>
              </a:defRPr>
            </a:pPr>
            <a:r>
              <a:rPr sz="1575">
                <a:solidFill>
                  <a:srgbClr val="D8B86A"/>
                </a:solidFill>
              </a:rPr>
              <a:t>真名？出生地？修士身分？——都沒有完整證據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rcRect t="14280" b="14280"/>
          <a:stretch>
            <a:fillRect/>
          </a:stretch>
        </p:blipFill>
        <p:spPr>
          <a:xfrm>
            <a:off x="685800" y="1885950"/>
            <a:ext cx="4095750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9A84E8-711F-4DA7-9E0E-3D41F76AE9E1}"/>
              </a:ext>
            </a:extLst>
          </p:cNvPr>
          <p:cNvSpPr>
            <a:spLocks noGrp="1"/>
          </p:cNvSpPr>
          <p:nvPr/>
        </p:nvSpPr>
        <p:spPr>
          <a:xfrm>
            <a:off x="5334000" y="209550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D8B86A"/>
                </a:solidFill>
              </a:defRPr>
            </a:pPr>
            <a:r>
              <a:rPr sz="1350" b="1">
                <a:solidFill>
                  <a:srgbClr val="D8B86A"/>
                </a:solidFill>
              </a:rPr>
              <a:t>我們知道的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1F1EC9-F8C1-4758-ACF5-8525ADF09CC8}"/>
              </a:ext>
            </a:extLst>
          </p:cNvPr>
          <p:cNvSpPr>
            <a:spLocks noGrp="1"/>
          </p:cNvSpPr>
          <p:nvPr/>
        </p:nvSpPr>
        <p:spPr>
          <a:xfrm>
            <a:off x="5334000" y="2667000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—  1424：文獻出現 mester Francken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9832D6-D5CE-43A1-A793-2EA4BC7EC457}"/>
              </a:ext>
            </a:extLst>
          </p:cNvPr>
          <p:cNvSpPr>
            <a:spLocks noGrp="1"/>
          </p:cNvSpPr>
          <p:nvPr/>
        </p:nvSpPr>
        <p:spPr>
          <a:xfrm>
            <a:off x="5334000" y="3505200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—  作品：風格高度一致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C1822F-F2B0-4C10-A370-5606F66F74EB}"/>
              </a:ext>
            </a:extLst>
          </p:cNvPr>
          <p:cNvSpPr>
            <a:spLocks noGrp="1"/>
          </p:cNvSpPr>
          <p:nvPr/>
        </p:nvSpPr>
        <p:spPr>
          <a:xfrm>
            <a:off x="5334000" y="4343400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—  生平：仍由假說與空白構成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119292-99BD-486F-93F7-41D42282C7D6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2CC590-D061-443F-9C58-10461BFA30D5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376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6540D-6BD5-4D14-B92E-B3CC4A297A15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漢堡的港口，把祭壇畫送進跨海世界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5A9DB-1681-4FDE-9F8D-2DBACBC1292D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744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D8B86A"/>
                </a:solidFill>
              </a:defRPr>
            </a:pPr>
            <a:r>
              <a:rPr sz="1575">
                <a:solidFill>
                  <a:srgbClr val="D8B86A"/>
                </a:solidFill>
              </a:rPr>
              <a:t>商人、修道院與漢薩航線，共同塑造藝術的用途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FC106-46E7-401D-94E1-3E64B038E585}"/>
              </a:ext>
            </a:extLst>
          </p:cNvPr>
          <p:cNvSpPr>
            <a:spLocks noGrp="1"/>
          </p:cNvSpPr>
          <p:nvPr/>
        </p:nvSpPr>
        <p:spPr>
          <a:xfrm>
            <a:off x="2286000" y="3467100"/>
            <a:ext cx="7620000" cy="285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606AC-EA5F-4FB8-8AB4-F1BA02B82C44}"/>
              </a:ext>
            </a:extLst>
          </p:cNvPr>
          <p:cNvSpPr>
            <a:spLocks noGrp="1"/>
          </p:cNvSpPr>
          <p:nvPr/>
        </p:nvSpPr>
        <p:spPr>
          <a:xfrm>
            <a:off x="2095500" y="3000375"/>
            <a:ext cx="1238250" cy="952500"/>
          </a:xfrm>
          <a:prstGeom prst="roundRect">
            <a:avLst>
              <a:gd name="adj" fmla="val 8000"/>
            </a:avLst>
          </a:prstGeom>
          <a:solidFill>
            <a:srgbClr val="263D44"/>
          </a:solidFill>
          <a:ln w="19050">
            <a:solidFill>
              <a:srgbClr val="D8B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F67953-E66C-4E5E-81A0-0E9B9AF362A2}"/>
              </a:ext>
            </a:extLst>
          </p:cNvPr>
          <p:cNvSpPr>
            <a:spLocks noGrp="1"/>
          </p:cNvSpPr>
          <p:nvPr/>
        </p:nvSpPr>
        <p:spPr>
          <a:xfrm>
            <a:off x="2000250" y="3190875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5EBD1"/>
                </a:solidFill>
              </a:defRPr>
            </a:pPr>
            <a:r>
              <a:rPr sz="1575" b="1">
                <a:solidFill>
                  <a:srgbClr val="F5EBD1"/>
                </a:solidFill>
              </a:rPr>
              <a:t>英格蘭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20D292-82E2-42EB-8C15-AF6779050DD8}"/>
              </a:ext>
            </a:extLst>
          </p:cNvPr>
          <p:cNvSpPr>
            <a:spLocks noGrp="1"/>
          </p:cNvSpPr>
          <p:nvPr/>
        </p:nvSpPr>
        <p:spPr>
          <a:xfrm>
            <a:off x="5143500" y="3000375"/>
            <a:ext cx="1238250" cy="952500"/>
          </a:xfrm>
          <a:prstGeom prst="roundRect">
            <a:avLst>
              <a:gd name="adj" fmla="val 8000"/>
            </a:avLst>
          </a:prstGeom>
          <a:solidFill>
            <a:srgbClr val="7B3D34"/>
          </a:solidFill>
          <a:ln w="19050">
            <a:solidFill>
              <a:srgbClr val="D8B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41CD46-78B5-4269-BE62-8DB3A8465072}"/>
              </a:ext>
            </a:extLst>
          </p:cNvPr>
          <p:cNvSpPr>
            <a:spLocks noGrp="1"/>
          </p:cNvSpPr>
          <p:nvPr/>
        </p:nvSpPr>
        <p:spPr>
          <a:xfrm>
            <a:off x="5048250" y="3190875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5EBD1"/>
                </a:solidFill>
              </a:defRPr>
            </a:pPr>
            <a:r>
              <a:rPr sz="1575" b="1">
                <a:solidFill>
                  <a:srgbClr val="F5EBD1"/>
                </a:solidFill>
              </a:rPr>
              <a:t>漢堡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22A6FE-D299-4415-B378-2C57B9210BE7}"/>
              </a:ext>
            </a:extLst>
          </p:cNvPr>
          <p:cNvSpPr>
            <a:spLocks noGrp="1"/>
          </p:cNvSpPr>
          <p:nvPr/>
        </p:nvSpPr>
        <p:spPr>
          <a:xfrm>
            <a:off x="8572500" y="3000375"/>
            <a:ext cx="1238250" cy="952500"/>
          </a:xfrm>
          <a:prstGeom prst="roundRect">
            <a:avLst>
              <a:gd name="adj" fmla="val 8000"/>
            </a:avLst>
          </a:prstGeom>
          <a:solidFill>
            <a:srgbClr val="263D44"/>
          </a:solidFill>
          <a:ln w="19050">
            <a:solidFill>
              <a:srgbClr val="D8B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B29F04-02D5-4BCF-B41E-EF14E6B7FB8E}"/>
              </a:ext>
            </a:extLst>
          </p:cNvPr>
          <p:cNvSpPr>
            <a:spLocks noGrp="1"/>
          </p:cNvSpPr>
          <p:nvPr/>
        </p:nvSpPr>
        <p:spPr>
          <a:xfrm>
            <a:off x="8477250" y="3190875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5EBD1"/>
                </a:solidFill>
              </a:defRPr>
            </a:pPr>
            <a:r>
              <a:rPr sz="1575" b="1" dirty="0" err="1">
                <a:solidFill>
                  <a:srgbClr val="F5EBD1"/>
                </a:solidFill>
              </a:rPr>
              <a:t>波羅的海</a:t>
            </a:r>
            <a:br>
              <a:rPr lang="en-US" sz="1575" b="1" dirty="0">
                <a:solidFill>
                  <a:srgbClr val="F5EBD1"/>
                </a:solidFill>
              </a:rPr>
            </a:br>
            <a:r>
              <a:rPr sz="1575" b="1" dirty="0" err="1">
                <a:solidFill>
                  <a:srgbClr val="F5EBD1"/>
                </a:solidFill>
              </a:rPr>
              <a:t>芬蘭</a:t>
            </a:r>
            <a:endParaRPr sz="1575" b="1" dirty="0">
              <a:solidFill>
                <a:srgbClr val="F5EBD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A361E6-1897-4C45-B7D8-E2E3800CBE0C}"/>
              </a:ext>
            </a:extLst>
          </p:cNvPr>
          <p:cNvSpPr>
            <a:spLocks noGrp="1"/>
          </p:cNvSpPr>
          <p:nvPr/>
        </p:nvSpPr>
        <p:spPr>
          <a:xfrm>
            <a:off x="2714625" y="43338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>
                <a:solidFill>
                  <a:srgbClr val="C9B98E"/>
                </a:solidFill>
              </a:defRPr>
            </a:pPr>
            <a:r>
              <a:rPr sz="1600" dirty="0" err="1">
                <a:solidFill>
                  <a:srgbClr val="C9B98E"/>
                </a:solidFill>
              </a:rPr>
              <a:t>商人委託</a:t>
            </a:r>
            <a:endParaRPr sz="1600" dirty="0">
              <a:solidFill>
                <a:srgbClr val="C9B98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D32E70-DB15-4036-A45B-C4D6880CC004}"/>
              </a:ext>
            </a:extLst>
          </p:cNvPr>
          <p:cNvSpPr>
            <a:spLocks noGrp="1"/>
          </p:cNvSpPr>
          <p:nvPr/>
        </p:nvSpPr>
        <p:spPr>
          <a:xfrm>
            <a:off x="5429250" y="433387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>
                <a:solidFill>
                  <a:srgbClr val="C9B98E"/>
                </a:solidFill>
              </a:defRPr>
            </a:pPr>
            <a:r>
              <a:rPr sz="1600" dirty="0" err="1">
                <a:solidFill>
                  <a:srgbClr val="C9B98E"/>
                </a:solidFill>
              </a:rPr>
              <a:t>祭壇、材料、信仰移動</a:t>
            </a:r>
            <a:endParaRPr sz="1600" dirty="0">
              <a:solidFill>
                <a:srgbClr val="C9B98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165D14-917D-47EB-9CBF-15133F6CC163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ED7A55-F9E8-49B9-A9C5-431F82EF1D19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4204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00B491-937A-4DF5-BF58-A5BDE7E199FD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在法蘭克之前，伯特蘭已建立漢堡的祭壇傳統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F64984-5C04-410C-9D05-09602EC19018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744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D8B86A"/>
                </a:solidFill>
              </a:defRPr>
            </a:pPr>
            <a:r>
              <a:rPr sz="1575">
                <a:solidFill>
                  <a:srgbClr val="D8B86A"/>
                </a:solidFill>
              </a:rPr>
              <a:t>《格拉博祭壇畫》，約 1383：清晰輪廓、鮮明色彩、井然秩序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62953" y="1809750"/>
            <a:ext cx="2750993" cy="4286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98759C-D494-4029-86CC-5B2F285F8B51}"/>
              </a:ext>
            </a:extLst>
          </p:cNvPr>
          <p:cNvSpPr>
            <a:spLocks noGrp="1"/>
          </p:cNvSpPr>
          <p:nvPr/>
        </p:nvSpPr>
        <p:spPr>
          <a:xfrm>
            <a:off x="5524500" y="209550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D8B86A"/>
                </a:solidFill>
              </a:defRPr>
            </a:pPr>
            <a:r>
              <a:rPr sz="1425" b="1">
                <a:solidFill>
                  <a:srgbClr val="D8B86A"/>
                </a:solidFill>
              </a:rPr>
              <a:t>伯特蘭的畫面語言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C2D24A-8007-41D4-A5E3-91BB903C6096}"/>
              </a:ext>
            </a:extLst>
          </p:cNvPr>
          <p:cNvSpPr>
            <a:spLocks noGrp="1"/>
          </p:cNvSpPr>
          <p:nvPr/>
        </p:nvSpPr>
        <p:spPr>
          <a:xfrm>
            <a:off x="5524500" y="2762250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0">
                <a:solidFill>
                  <a:srgbClr val="E3D5B2"/>
                </a:solidFill>
              </a:defRPr>
            </a:pPr>
            <a:r>
              <a:rPr sz="2025" b="0">
                <a:solidFill>
                  <a:srgbClr val="E3D5B2"/>
                </a:solidFill>
              </a:rPr>
              <a:t>輪廓清楚而流暢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4B66A5-C940-4030-A895-366F5245FEAF}"/>
              </a:ext>
            </a:extLst>
          </p:cNvPr>
          <p:cNvSpPr>
            <a:spLocks noGrp="1"/>
          </p:cNvSpPr>
          <p:nvPr/>
        </p:nvSpPr>
        <p:spPr>
          <a:xfrm>
            <a:off x="5524500" y="3505200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0">
                <a:solidFill>
                  <a:srgbClr val="E3D5B2"/>
                </a:solidFill>
              </a:defRPr>
            </a:pPr>
            <a:r>
              <a:rPr sz="2025" b="0">
                <a:solidFill>
                  <a:srgbClr val="E3D5B2"/>
                </a:solidFill>
              </a:rPr>
              <a:t>色彩明亮、裝飾性強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8FA222-4255-40C9-A66D-6EE5258ECD69}"/>
              </a:ext>
            </a:extLst>
          </p:cNvPr>
          <p:cNvSpPr>
            <a:spLocks noGrp="1"/>
          </p:cNvSpPr>
          <p:nvPr/>
        </p:nvSpPr>
        <p:spPr>
          <a:xfrm>
            <a:off x="5524500" y="4248150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FFF4D6"/>
                </a:solidFill>
              </a:defRPr>
            </a:pPr>
            <a:r>
              <a:rPr sz="2025" b="1">
                <a:solidFill>
                  <a:srgbClr val="FFF4D6"/>
                </a:solidFill>
              </a:rPr>
              <a:t>人物與動物保持可讀秩序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DD684A-26F0-470A-A8DB-3C78C5383A03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634BB6-9373-4989-8658-1F7055C2CD65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7595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144147-B328-421F-9C31-EC05C78A6B4C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同樣華麗，畫面的身體感卻不同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ED5841-6BF2-4F07-9421-8E47D07F3E76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744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D8B86A"/>
                </a:solidFill>
              </a:defRPr>
            </a:pPr>
            <a:r>
              <a:rPr sz="1575">
                <a:solidFill>
                  <a:srgbClr val="D8B86A"/>
                </a:solidFill>
              </a:rPr>
              <a:t>伯特蘭《創造動物》｜法蘭克《聖嬰崇拜》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5936" y="1924050"/>
            <a:ext cx="2353628" cy="36671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677485" y="1924050"/>
            <a:ext cx="3123530" cy="3667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2115E1-2E3A-45B1-887E-AF840F6DA4D8}"/>
              </a:ext>
            </a:extLst>
          </p:cNvPr>
          <p:cNvSpPr>
            <a:spLocks noGrp="1"/>
          </p:cNvSpPr>
          <p:nvPr/>
        </p:nvSpPr>
        <p:spPr>
          <a:xfrm>
            <a:off x="1000125" y="575310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8B86A"/>
                </a:solidFill>
              </a:defRPr>
            </a:pPr>
            <a:r>
              <a:rPr sz="1275" b="1">
                <a:solidFill>
                  <a:srgbClr val="D8B86A"/>
                </a:solidFill>
              </a:rPr>
              <a:t>MASTER BERTRAM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898838-EBF9-4303-9300-BCFC1B0C2886}"/>
              </a:ext>
            </a:extLst>
          </p:cNvPr>
          <p:cNvSpPr>
            <a:spLocks noGrp="1"/>
          </p:cNvSpPr>
          <p:nvPr/>
        </p:nvSpPr>
        <p:spPr>
          <a:xfrm>
            <a:off x="7286625" y="575310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8B86A"/>
                </a:solidFill>
              </a:defRPr>
            </a:pPr>
            <a:r>
              <a:rPr sz="1275" b="1">
                <a:solidFill>
                  <a:srgbClr val="D8B86A"/>
                </a:solidFill>
              </a:rPr>
              <a:t>MASTER FRANCKE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8BAD16-02DD-4B31-AB0D-C3DCFE66DAE3}"/>
              </a:ext>
            </a:extLst>
          </p:cNvPr>
          <p:cNvSpPr>
            <a:spLocks noGrp="1"/>
          </p:cNvSpPr>
          <p:nvPr/>
        </p:nvSpPr>
        <p:spPr>
          <a:xfrm>
            <a:off x="5191125" y="30956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5EBD1"/>
                </a:solidFill>
              </a:defRPr>
            </a:pPr>
            <a:r>
              <a:rPr sz="1575" b="1" dirty="0" err="1">
                <a:solidFill>
                  <a:srgbClr val="F5EBD1"/>
                </a:solidFill>
              </a:rPr>
              <a:t>秩序</a:t>
            </a:r>
            <a:endParaRPr sz="1575" b="1" dirty="0">
              <a:solidFill>
                <a:srgbClr val="F5EBD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7D6993-5784-4BA9-BCB0-B431FCA992B3}"/>
              </a:ext>
            </a:extLst>
          </p:cNvPr>
          <p:cNvSpPr>
            <a:spLocks noGrp="1"/>
          </p:cNvSpPr>
          <p:nvPr/>
        </p:nvSpPr>
        <p:spPr>
          <a:xfrm>
            <a:off x="5667375" y="3476625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>
                <a:solidFill>
                  <a:srgbClr val="D8B86A"/>
                </a:solidFill>
              </a:defRPr>
            </a:pPr>
            <a:r>
              <a:rPr sz="3000">
                <a:solidFill>
                  <a:srgbClr val="D8B86A"/>
                </a:solidFill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0CD42D-1EB4-486B-B349-1CE4456D7C83}"/>
              </a:ext>
            </a:extLst>
          </p:cNvPr>
          <p:cNvSpPr>
            <a:spLocks noGrp="1"/>
          </p:cNvSpPr>
          <p:nvPr/>
        </p:nvSpPr>
        <p:spPr>
          <a:xfrm>
            <a:off x="5095875" y="40005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5EBD1"/>
                </a:solidFill>
              </a:defRPr>
            </a:pPr>
            <a:r>
              <a:rPr sz="1350" b="1" dirty="0" err="1">
                <a:solidFill>
                  <a:srgbClr val="F5EBD1"/>
                </a:solidFill>
              </a:rPr>
              <a:t>重量與情緒</a:t>
            </a:r>
            <a:endParaRPr sz="1350" b="1" dirty="0">
              <a:solidFill>
                <a:srgbClr val="F5EBD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5B28D2-A5C7-4BEC-AE92-79A25C136754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00C8F1-ACEF-488F-BCC5-DF5BDB1C39A3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593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4F445C-5C7E-4DAE-B15A-A060D72500EA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這是風格發展，不是師徒系譜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98A7A3-01ED-40EF-A2CE-D88A8D2E0572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744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D8B86A"/>
                </a:solidFill>
              </a:defRPr>
            </a:pPr>
            <a:r>
              <a:rPr sz="1575">
                <a:solidFill>
                  <a:srgbClr val="D8B86A"/>
                </a:solidFill>
              </a:rPr>
              <a:t>從宮廷秩序到身體壓力：兩位漢堡大師的不同選擇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4C20A7-5373-4DF9-AEDB-519EFCA47528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5095875" cy="3714750"/>
          </a:xfrm>
          <a:prstGeom prst="roundRect">
            <a:avLst>
              <a:gd name="adj" fmla="val 2051"/>
            </a:avLst>
          </a:prstGeom>
          <a:solidFill>
            <a:srgbClr val="23383E"/>
          </a:solidFill>
          <a:ln w="9525">
            <a:solidFill>
              <a:srgbClr val="806B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551F6F-2FF4-4539-B4C7-3B2C27A103D6}"/>
              </a:ext>
            </a:extLst>
          </p:cNvPr>
          <p:cNvSpPr>
            <a:spLocks noGrp="1"/>
          </p:cNvSpPr>
          <p:nvPr/>
        </p:nvSpPr>
        <p:spPr>
          <a:xfrm>
            <a:off x="6315075" y="1952625"/>
            <a:ext cx="5095875" cy="3714750"/>
          </a:xfrm>
          <a:prstGeom prst="roundRect">
            <a:avLst>
              <a:gd name="adj" fmla="val 2051"/>
            </a:avLst>
          </a:prstGeom>
          <a:solidFill>
            <a:srgbClr val="502C28"/>
          </a:solidFill>
          <a:ln w="9525">
            <a:solidFill>
              <a:srgbClr val="806B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4C8C01-71E8-43EA-8429-136C0A4CDDE3}"/>
              </a:ext>
            </a:extLst>
          </p:cNvPr>
          <p:cNvSpPr>
            <a:spLocks noGrp="1"/>
          </p:cNvSpPr>
          <p:nvPr/>
        </p:nvSpPr>
        <p:spPr>
          <a:xfrm>
            <a:off x="1095375" y="22383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D8B86A"/>
                </a:solidFill>
              </a:defRPr>
            </a:pPr>
            <a:r>
              <a:rPr sz="1500" b="1">
                <a:solidFill>
                  <a:srgbClr val="D8B86A"/>
                </a:solidFill>
              </a:rPr>
              <a:t>MASTER BERTRAM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0AE822-9850-48A6-B21E-5BAFE9A364CA}"/>
              </a:ext>
            </a:extLst>
          </p:cNvPr>
          <p:cNvSpPr>
            <a:spLocks noGrp="1"/>
          </p:cNvSpPr>
          <p:nvPr/>
        </p:nvSpPr>
        <p:spPr>
          <a:xfrm>
            <a:off x="6619875" y="22383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D8B86A"/>
                </a:solidFill>
              </a:defRPr>
            </a:pPr>
            <a:r>
              <a:rPr sz="1500" b="1">
                <a:solidFill>
                  <a:srgbClr val="D8B86A"/>
                </a:solidFill>
              </a:rPr>
              <a:t>MASTER FRANCKE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242F5-AB8E-4E04-BFE8-5DE93CC48427}"/>
              </a:ext>
            </a:extLst>
          </p:cNvPr>
          <p:cNvSpPr>
            <a:spLocks noGrp="1"/>
          </p:cNvSpPr>
          <p:nvPr/>
        </p:nvSpPr>
        <p:spPr>
          <a:xfrm>
            <a:off x="1381125" y="28765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清楚輪廓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41FFB7-EB15-42F4-9656-1DD2E02CCACF}"/>
              </a:ext>
            </a:extLst>
          </p:cNvPr>
          <p:cNvSpPr>
            <a:spLocks noGrp="1"/>
          </p:cNvSpPr>
          <p:nvPr/>
        </p:nvSpPr>
        <p:spPr>
          <a:xfrm>
            <a:off x="1381125" y="349567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平衡配置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DF6C78-3C19-424B-B518-B883EF680169}"/>
              </a:ext>
            </a:extLst>
          </p:cNvPr>
          <p:cNvSpPr>
            <a:spLocks noGrp="1"/>
          </p:cNvSpPr>
          <p:nvPr/>
        </p:nvSpPr>
        <p:spPr>
          <a:xfrm>
            <a:off x="1381125" y="41148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裝飾性色彩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911BB-CECE-48F6-A140-734A21EB230C}"/>
              </a:ext>
            </a:extLst>
          </p:cNvPr>
          <p:cNvSpPr>
            <a:spLocks noGrp="1"/>
          </p:cNvSpPr>
          <p:nvPr/>
        </p:nvSpPr>
        <p:spPr>
          <a:xfrm>
            <a:off x="1381125" y="473392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宮廷式優雅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7259C-7322-49C7-BEFE-26C9A8EEE71A}"/>
              </a:ext>
            </a:extLst>
          </p:cNvPr>
          <p:cNvSpPr>
            <a:spLocks noGrp="1"/>
          </p:cNvSpPr>
          <p:nvPr/>
        </p:nvSpPr>
        <p:spPr>
          <a:xfrm>
            <a:off x="6905625" y="28765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更強體量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BF84DC-C583-4A3C-BC5F-5FBE454C819C}"/>
              </a:ext>
            </a:extLst>
          </p:cNvPr>
          <p:cNvSpPr>
            <a:spLocks noGrp="1"/>
          </p:cNvSpPr>
          <p:nvPr/>
        </p:nvSpPr>
        <p:spPr>
          <a:xfrm>
            <a:off x="6905625" y="349567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人物遮擋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43E51A-F423-4B10-9634-47AECACE9E37}"/>
              </a:ext>
            </a:extLst>
          </p:cNvPr>
          <p:cNvSpPr>
            <a:spLocks noGrp="1"/>
          </p:cNvSpPr>
          <p:nvPr/>
        </p:nvSpPr>
        <p:spPr>
          <a:xfrm>
            <a:off x="6905625" y="41148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斜向受力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4415F0-C949-4BBA-9C84-27A9E9506CDF}"/>
              </a:ext>
            </a:extLst>
          </p:cNvPr>
          <p:cNvSpPr>
            <a:spLocks noGrp="1"/>
          </p:cNvSpPr>
          <p:nvPr/>
        </p:nvSpPr>
        <p:spPr>
          <a:xfrm>
            <a:off x="6905625" y="473392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>
                <a:solidFill>
                  <a:srgbClr val="F5EBD1"/>
                </a:solidFill>
              </a:defRPr>
            </a:pPr>
            <a:r>
              <a:rPr sz="1875">
                <a:solidFill>
                  <a:srgbClr val="F5EBD1"/>
                </a:solidFill>
              </a:rPr>
              <a:t>情緒張力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E7F80C-2AB1-431F-9176-0CE3CC628794}"/>
              </a:ext>
            </a:extLst>
          </p:cNvPr>
          <p:cNvSpPr>
            <a:spLocks noGrp="1"/>
          </p:cNvSpPr>
          <p:nvPr/>
        </p:nvSpPr>
        <p:spPr>
          <a:xfrm>
            <a:off x="3333750" y="5905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8B86A"/>
                </a:solidFill>
              </a:defRPr>
            </a:pPr>
            <a:r>
              <a:rPr sz="1275" b="1">
                <a:solidFill>
                  <a:srgbClr val="D8B86A"/>
                </a:solidFill>
              </a:rPr>
              <a:t>沒有直接師徒證據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79533A-EE72-45F0-AE7E-A1BC949D75DC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0FF26F-DF49-488E-BCA8-329817572192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1625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C3FAFC-0FFD-4C77-AB97-3AF098B9B58E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《托馬斯祭壇畫》原本會隨禮儀開闔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A0A735-25FB-4A0B-8638-0F41325839FB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744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D8B86A"/>
                </a:solidFill>
              </a:defRPr>
            </a:pPr>
            <a:r>
              <a:rPr sz="1575">
                <a:solidFill>
                  <a:srgbClr val="D8B86A"/>
                </a:solidFill>
              </a:rPr>
              <a:t>現存九塊板畫：八個較完整場景，加上一塊《受難》殘片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rcRect l="2660" r="2660"/>
          <a:stretch>
            <a:fillRect/>
          </a:stretch>
        </p:blipFill>
        <p:spPr>
          <a:xfrm>
            <a:off x="800100" y="1952625"/>
            <a:ext cx="2381250" cy="29527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rcRect l="4000" r="4000"/>
          <a:stretch>
            <a:fillRect/>
          </a:stretch>
        </p:blipFill>
        <p:spPr>
          <a:xfrm>
            <a:off x="3533775" y="1952625"/>
            <a:ext cx="2381250" cy="29527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rcRect l="4219" r="4219"/>
          <a:stretch>
            <a:fillRect/>
          </a:stretch>
        </p:blipFill>
        <p:spPr>
          <a:xfrm>
            <a:off x="6267450" y="1952625"/>
            <a:ext cx="2381250" cy="29527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rcRect l="8781" r="8781"/>
          <a:stretch>
            <a:fillRect/>
          </a:stretch>
        </p:blipFill>
        <p:spPr>
          <a:xfrm>
            <a:off x="9001125" y="1952625"/>
            <a:ext cx="2381250" cy="2952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E969BD2-CACC-429D-9481-B4713DF95C96}"/>
              </a:ext>
            </a:extLst>
          </p:cNvPr>
          <p:cNvSpPr>
            <a:spLocks noGrp="1"/>
          </p:cNvSpPr>
          <p:nvPr/>
        </p:nvSpPr>
        <p:spPr>
          <a:xfrm>
            <a:off x="1238250" y="5286375"/>
            <a:ext cx="971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5EBD1"/>
                </a:solidFill>
              </a:defRPr>
            </a:pPr>
            <a:r>
              <a:rPr sz="1725" b="1">
                <a:solidFill>
                  <a:srgbClr val="F5EBD1"/>
                </a:solidFill>
              </a:rPr>
              <a:t>開闔改變圖像；今日排列是有根據的重建，而非完整原貌。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400528-5108-45AD-9D68-28DFBC652D47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163A0C-4716-433D-91FD-238C79D9FB6A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8291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F14E08-31CF-4D5B-8ADD-5CC902870A75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《聖嬰崇拜》：光不是自然現象，而是神學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AA9453-26F6-49C2-B20B-0D5278C76DAC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238750" cy="4333875"/>
          </a:xfrm>
          <a:prstGeom prst="rect">
            <a:avLst/>
          </a:prstGeom>
          <a:solidFill>
            <a:srgbClr val="E9D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37760" y="1876425"/>
            <a:ext cx="3496731" cy="41052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A29417-EEB6-4F86-AA35-E581D28D27AC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D8B86A"/>
                </a:solidFill>
              </a:defRPr>
            </a:pPr>
            <a:r>
              <a:rPr sz="1350" b="1">
                <a:solidFill>
                  <a:srgbClr val="D8B86A"/>
                </a:solidFill>
              </a:rPr>
              <a:t>01 /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2736FD-68C4-4F56-AAB4-E8C863D13D5F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4524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D8B86A"/>
                </a:solidFill>
              </a:defRPr>
            </a:pPr>
            <a:r>
              <a:rPr sz="1425">
                <a:solidFill>
                  <a:srgbClr val="D8B86A"/>
                </a:solidFill>
              </a:rPr>
              <a:t>約 1426｜漢堡美術館 HK-492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83398-AFB0-42B9-B996-022DDFBA1D40}"/>
              </a:ext>
            </a:extLst>
          </p:cNvPr>
          <p:cNvSpPr>
            <a:spLocks noGrp="1"/>
          </p:cNvSpPr>
          <p:nvPr/>
        </p:nvSpPr>
        <p:spPr>
          <a:xfrm>
            <a:off x="6667500" y="31908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B28870-41B8-4FB1-AAAB-3CB4BFD85AF0}"/>
              </a:ext>
            </a:extLst>
          </p:cNvPr>
          <p:cNvSpPr>
            <a:spLocks noGrp="1"/>
          </p:cNvSpPr>
          <p:nvPr/>
        </p:nvSpPr>
        <p:spPr>
          <a:xfrm>
            <a:off x="7000875" y="30480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白衣聖母跪地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D422B9-75BE-4668-8D4E-FE83EFA17131}"/>
              </a:ext>
            </a:extLst>
          </p:cNvPr>
          <p:cNvSpPr>
            <a:spLocks noGrp="1"/>
          </p:cNvSpPr>
          <p:nvPr/>
        </p:nvSpPr>
        <p:spPr>
          <a:xfrm>
            <a:off x="6667500" y="393382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DF167E-3565-4370-B8C1-57DC470E43F9}"/>
              </a:ext>
            </a:extLst>
          </p:cNvPr>
          <p:cNvSpPr>
            <a:spLocks noGrp="1"/>
          </p:cNvSpPr>
          <p:nvPr/>
        </p:nvSpPr>
        <p:spPr>
          <a:xfrm>
            <a:off x="7000875" y="37909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天使托住藍色斗篷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5F6348-B095-458B-BD3D-B39A7BD75DFA}"/>
              </a:ext>
            </a:extLst>
          </p:cNvPr>
          <p:cNvSpPr>
            <a:spLocks noGrp="1"/>
          </p:cNvSpPr>
          <p:nvPr/>
        </p:nvSpPr>
        <p:spPr>
          <a:xfrm>
            <a:off x="6667500" y="46767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7A136A-8BB4-4EB6-9B9B-365673965FAE}"/>
              </a:ext>
            </a:extLst>
          </p:cNvPr>
          <p:cNvSpPr>
            <a:spLocks noGrp="1"/>
          </p:cNvSpPr>
          <p:nvPr/>
        </p:nvSpPr>
        <p:spPr>
          <a:xfrm>
            <a:off x="7000875" y="45339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金光穿過紅色星空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65759F-3AEF-461E-AF31-96E407828A98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04F73F-CF21-4C50-A258-2BBBAB2A1618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34279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501DBF-4F5C-4716-B5DD-7B06CD353209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《托馬斯・貝克特殉道》：華麗讓暴力更突然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66E29A-5BF9-4ACF-8643-63BDDD6B670E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238750" cy="4333875"/>
          </a:xfrm>
          <a:prstGeom prst="rect">
            <a:avLst/>
          </a:prstGeom>
          <a:solidFill>
            <a:srgbClr val="E9D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86845" y="1876425"/>
            <a:ext cx="3598561" cy="41052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BF83D1-202C-4F85-9A4C-291044C218ED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D8B86A"/>
                </a:solidFill>
              </a:defRPr>
            </a:pPr>
            <a:r>
              <a:rPr sz="1350" b="1">
                <a:solidFill>
                  <a:srgbClr val="D8B86A"/>
                </a:solidFill>
              </a:rPr>
              <a:t>02 /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6110D8-1A10-4DC8-9C35-B334489B8F6D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4524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D8B86A"/>
                </a:solidFill>
              </a:defRPr>
            </a:pPr>
            <a:r>
              <a:rPr sz="1425">
                <a:solidFill>
                  <a:srgbClr val="D8B86A"/>
                </a:solidFill>
              </a:rPr>
              <a:t>約 1426｜漢堡美術館 HK-491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FB5C77-C086-4F4B-B23B-382AB5BBD098}"/>
              </a:ext>
            </a:extLst>
          </p:cNvPr>
          <p:cNvSpPr>
            <a:spLocks noGrp="1"/>
          </p:cNvSpPr>
          <p:nvPr/>
        </p:nvSpPr>
        <p:spPr>
          <a:xfrm>
            <a:off x="6667500" y="31908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38F929-FF5E-4FA3-8115-AE0FAAACF774}"/>
              </a:ext>
            </a:extLst>
          </p:cNvPr>
          <p:cNvSpPr>
            <a:spLocks noGrp="1"/>
          </p:cNvSpPr>
          <p:nvPr/>
        </p:nvSpPr>
        <p:spPr>
          <a:xfrm>
            <a:off x="7000875" y="30480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武器形成斜線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E88F67-8947-4335-8F59-DEEE4163815C}"/>
              </a:ext>
            </a:extLst>
          </p:cNvPr>
          <p:cNvSpPr>
            <a:spLocks noGrp="1"/>
          </p:cNvSpPr>
          <p:nvPr/>
        </p:nvSpPr>
        <p:spPr>
          <a:xfrm>
            <a:off x="6667500" y="393382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831DFA-A01D-4B55-9A43-F68F440321AD}"/>
              </a:ext>
            </a:extLst>
          </p:cNvPr>
          <p:cNvSpPr>
            <a:spLocks noGrp="1"/>
          </p:cNvSpPr>
          <p:nvPr/>
        </p:nvSpPr>
        <p:spPr>
          <a:xfrm>
            <a:off x="7000875" y="37909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身體彼此重疊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A782B-F96A-423A-A98F-C356349B4EC2}"/>
              </a:ext>
            </a:extLst>
          </p:cNvPr>
          <p:cNvSpPr>
            <a:spLocks noGrp="1"/>
          </p:cNvSpPr>
          <p:nvPr/>
        </p:nvSpPr>
        <p:spPr>
          <a:xfrm>
            <a:off x="6667500" y="46767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93733-5720-4AAB-9F1E-877C04B5723C}"/>
              </a:ext>
            </a:extLst>
          </p:cNvPr>
          <p:cNvSpPr>
            <a:spLocks noGrp="1"/>
          </p:cNvSpPr>
          <p:nvPr/>
        </p:nvSpPr>
        <p:spPr>
          <a:xfrm>
            <a:off x="7000875" y="45339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主教冠正在墜落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5438CE-138B-44D7-83EC-802ADE340E2E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CC9AA0-BB43-43F8-8967-B8D10667219E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3149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C13859-E55D-46AD-9C85-1DA240E33EB8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《基督背負十字架》：擁擠本身就是痛苦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F2FAA-5F18-477F-BD1C-5AC3C64EB9B5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238750" cy="4333875"/>
          </a:xfrm>
          <a:prstGeom prst="rect">
            <a:avLst/>
          </a:prstGeom>
          <a:solidFill>
            <a:srgbClr val="E9D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78232" y="1876425"/>
            <a:ext cx="3615786" cy="41052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82A3AD-3F5C-4129-A741-6A495D5AAA31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D8B86A"/>
                </a:solidFill>
              </a:defRPr>
            </a:pPr>
            <a:r>
              <a:rPr sz="1350" b="1">
                <a:solidFill>
                  <a:srgbClr val="D8B86A"/>
                </a:solidFill>
              </a:rPr>
              <a:t>03 /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ADE672-DC2E-4AAA-81AC-E20929400831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4524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D8B86A"/>
                </a:solidFill>
              </a:defRPr>
            </a:pPr>
            <a:r>
              <a:rPr sz="1425">
                <a:solidFill>
                  <a:srgbClr val="D8B86A"/>
                </a:solidFill>
              </a:rPr>
              <a:t>約 1428｜漢堡美術館 HK-495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037833-4B56-42B2-9899-7D691A22EF3C}"/>
              </a:ext>
            </a:extLst>
          </p:cNvPr>
          <p:cNvSpPr>
            <a:spLocks noGrp="1"/>
          </p:cNvSpPr>
          <p:nvPr/>
        </p:nvSpPr>
        <p:spPr>
          <a:xfrm>
            <a:off x="6667500" y="31908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EBD4E3-BDF1-4B7D-A0BC-07DD9D20B148}"/>
              </a:ext>
            </a:extLst>
          </p:cNvPr>
          <p:cNvSpPr>
            <a:spLocks noGrp="1"/>
          </p:cNvSpPr>
          <p:nvPr/>
        </p:nvSpPr>
        <p:spPr>
          <a:xfrm>
            <a:off x="7000875" y="30480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前景幾乎沒有空隙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1910F-195A-4F93-A40E-FD4998CDE95F}"/>
              </a:ext>
            </a:extLst>
          </p:cNvPr>
          <p:cNvSpPr>
            <a:spLocks noGrp="1"/>
          </p:cNvSpPr>
          <p:nvPr/>
        </p:nvSpPr>
        <p:spPr>
          <a:xfrm>
            <a:off x="6667500" y="393382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456DA-6DCB-4A88-8278-E7FA66B66FDC}"/>
              </a:ext>
            </a:extLst>
          </p:cNvPr>
          <p:cNvSpPr>
            <a:spLocks noGrp="1"/>
          </p:cNvSpPr>
          <p:nvPr/>
        </p:nvSpPr>
        <p:spPr>
          <a:xfrm>
            <a:off x="7000875" y="37909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十字架、手臂與臉形成壓力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DD1606-42B5-4D17-8339-DBA4D377ACB5}"/>
              </a:ext>
            </a:extLst>
          </p:cNvPr>
          <p:cNvSpPr>
            <a:spLocks noGrp="1"/>
          </p:cNvSpPr>
          <p:nvPr/>
        </p:nvSpPr>
        <p:spPr>
          <a:xfrm>
            <a:off x="6667500" y="46767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0DC65-5FB1-4301-AC2B-16732A72CCF2}"/>
              </a:ext>
            </a:extLst>
          </p:cNvPr>
          <p:cNvSpPr>
            <a:spLocks noGrp="1"/>
          </p:cNvSpPr>
          <p:nvPr/>
        </p:nvSpPr>
        <p:spPr>
          <a:xfrm>
            <a:off x="7000875" y="45339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需辨認中世紀反猶刻板圖像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E5E7EB-5528-4095-8D46-BCFAE9FDA0A4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B36BE2-4FD4-4B62-ADBB-506CB7AA31E9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7738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25E1A6-5572-440B-9214-A59C127D99AE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《十字架下哀悼的婦女》：悲傷由一群身體承受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1A6C4-F179-4E7D-8C00-F8E818ACFD86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238750" cy="4333875"/>
          </a:xfrm>
          <a:prstGeom prst="rect">
            <a:avLst/>
          </a:prstGeom>
          <a:solidFill>
            <a:srgbClr val="E9D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78132" y="1876425"/>
            <a:ext cx="4015987" cy="41052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23CE2E-B77C-42EA-919F-5F69421CA32A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D8B86A"/>
                </a:solidFill>
              </a:defRPr>
            </a:pPr>
            <a:r>
              <a:rPr sz="1350" b="1">
                <a:solidFill>
                  <a:srgbClr val="D8B86A"/>
                </a:solidFill>
              </a:rPr>
              <a:t>04 /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C2D986-A3FC-4233-96BB-2D1A814DB5A1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4524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D8B86A"/>
                </a:solidFill>
              </a:defRPr>
            </a:pPr>
            <a:r>
              <a:rPr sz="1425">
                <a:solidFill>
                  <a:srgbClr val="D8B86A"/>
                </a:solidFill>
              </a:rPr>
              <a:t>約 1435｜漢堡美術館 HK-496｜《受難》殘片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8C8CEF-CB81-4465-AB0C-35FE81E57BB2}"/>
              </a:ext>
            </a:extLst>
          </p:cNvPr>
          <p:cNvSpPr>
            <a:spLocks noGrp="1"/>
          </p:cNvSpPr>
          <p:nvPr/>
        </p:nvSpPr>
        <p:spPr>
          <a:xfrm>
            <a:off x="6667500" y="31908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F60744-AD4E-4F3B-A75D-29E92D7BF08F}"/>
              </a:ext>
            </a:extLst>
          </p:cNvPr>
          <p:cNvSpPr>
            <a:spLocks noGrp="1"/>
          </p:cNvSpPr>
          <p:nvPr/>
        </p:nvSpPr>
        <p:spPr>
          <a:xfrm>
            <a:off x="7000875" y="30480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低垂的頭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44C55-A319-4E32-863C-F50D8D1A4A61}"/>
              </a:ext>
            </a:extLst>
          </p:cNvPr>
          <p:cNvSpPr>
            <a:spLocks noGrp="1"/>
          </p:cNvSpPr>
          <p:nvPr/>
        </p:nvSpPr>
        <p:spPr>
          <a:xfrm>
            <a:off x="6667500" y="393382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B0E31-46D6-4CAE-A6AA-EF2AFF5D7DAD}"/>
              </a:ext>
            </a:extLst>
          </p:cNvPr>
          <p:cNvSpPr>
            <a:spLocks noGrp="1"/>
          </p:cNvSpPr>
          <p:nvPr/>
        </p:nvSpPr>
        <p:spPr>
          <a:xfrm>
            <a:off x="7000875" y="37909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交疊的手臂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7A0612-95B3-4B62-95BB-328EB50760F4}"/>
              </a:ext>
            </a:extLst>
          </p:cNvPr>
          <p:cNvSpPr>
            <a:spLocks noGrp="1"/>
          </p:cNvSpPr>
          <p:nvPr/>
        </p:nvSpPr>
        <p:spPr>
          <a:xfrm>
            <a:off x="6667500" y="46767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B4E2AF-94D4-4661-B49C-F91A6335BCC3}"/>
              </a:ext>
            </a:extLst>
          </p:cNvPr>
          <p:cNvSpPr>
            <a:spLocks noGrp="1"/>
          </p:cNvSpPr>
          <p:nvPr/>
        </p:nvSpPr>
        <p:spPr>
          <a:xfrm>
            <a:off x="7000875" y="45339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衣褶把群體向內收緊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B7BD62-BD01-4B2F-8F26-93378B73B2E5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FE5641-0F27-47B2-8832-FF9AE0323591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6562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226B14-C151-47FA-855C-5EB623238FB2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《卡蘭提／聖芭芭拉祭壇畫》：一件物品跨越波羅的海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4AA9D4-B3CF-4C4D-99DD-1CC9EB79EBD9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10782300" cy="2781300"/>
          </a:xfrm>
          <a:prstGeom prst="rect">
            <a:avLst/>
          </a:prstGeom>
          <a:solidFill>
            <a:srgbClr val="E9D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94538" y="1943100"/>
            <a:ext cx="5802923" cy="2514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185356-42D9-437C-9C5E-23D354BA5084}"/>
              </a:ext>
            </a:extLst>
          </p:cNvPr>
          <p:cNvSpPr>
            <a:spLocks noGrp="1"/>
          </p:cNvSpPr>
          <p:nvPr/>
        </p:nvSpPr>
        <p:spPr>
          <a:xfrm>
            <a:off x="876300" y="481012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D8B86A"/>
                </a:solidFill>
              </a:defRPr>
            </a:pPr>
            <a:r>
              <a:rPr sz="1350" b="1">
                <a:solidFill>
                  <a:srgbClr val="D8B86A"/>
                </a:solidFill>
              </a:rPr>
              <a:t>05 /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F71D3-A8A5-45A7-B393-2874AFDA81F9}"/>
              </a:ext>
            </a:extLst>
          </p:cNvPr>
          <p:cNvSpPr>
            <a:spLocks noGrp="1"/>
          </p:cNvSpPr>
          <p:nvPr/>
        </p:nvSpPr>
        <p:spPr>
          <a:xfrm>
            <a:off x="2238375" y="4772025"/>
            <a:ext cx="895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D8B86A"/>
                </a:solidFill>
              </a:defRPr>
            </a:pPr>
            <a:r>
              <a:rPr sz="1425">
                <a:solidFill>
                  <a:srgbClr val="D8B86A"/>
                </a:solidFill>
              </a:rPr>
              <a:t>芬蘭國家博物館現採 1430 年代｜全開約 200 × 260 公分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02C25-9C8D-4B45-A6B3-0E576D5E76CD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F5EBD1"/>
                </a:solidFill>
              </a:defRPr>
            </a:pPr>
            <a:r>
              <a:rPr sz="1425">
                <a:solidFill>
                  <a:srgbClr val="F5EBD1"/>
                </a:solidFill>
              </a:rPr>
              <a:t>—  八個翼板場景講述聖芭芭拉殉道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686244-6FD5-45E4-B8BA-716BFCE74752}"/>
              </a:ext>
            </a:extLst>
          </p:cNvPr>
          <p:cNvSpPr>
            <a:spLocks noGrp="1"/>
          </p:cNvSpPr>
          <p:nvPr/>
        </p:nvSpPr>
        <p:spPr>
          <a:xfrm>
            <a:off x="1143000" y="55626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F5EBD1"/>
                </a:solidFill>
              </a:defRPr>
            </a:pPr>
            <a:r>
              <a:rPr sz="1425">
                <a:solidFill>
                  <a:srgbClr val="F5EBD1"/>
                </a:solidFill>
              </a:rPr>
              <a:t>—  繪畫與雕刻由不同工匠完成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01A730-58BB-437D-BD17-357D63C5CD37}"/>
              </a:ext>
            </a:extLst>
          </p:cNvPr>
          <p:cNvSpPr>
            <a:spLocks noGrp="1"/>
          </p:cNvSpPr>
          <p:nvPr/>
        </p:nvSpPr>
        <p:spPr>
          <a:xfrm>
            <a:off x="1143000" y="59055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F5EBD1"/>
                </a:solidFill>
              </a:defRPr>
            </a:pPr>
            <a:r>
              <a:rPr sz="1425">
                <a:solidFill>
                  <a:srgbClr val="F5EBD1"/>
                </a:solidFill>
              </a:rPr>
              <a:t>—  委託人與運送路線沒有文獻證明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C1BC22-52A6-41D8-B81A-1425264B7721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CE00B4-07EA-4AEA-9071-8661D06C4C4B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34200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E2A992-1EC4-4D97-B72A-00382A95DFE8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萊比錫《悲傷之人》：敘事退場，傷口靠近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B8030A-2DCC-4AE1-8E96-802C1A0F9BC6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238750" cy="4333875"/>
          </a:xfrm>
          <a:prstGeom prst="rect">
            <a:avLst/>
          </a:prstGeom>
          <a:solidFill>
            <a:srgbClr val="E9D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92384" y="1876425"/>
            <a:ext cx="2787482" cy="41052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0AFC6B-EAE5-4514-B514-FDDDE568EE45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D8B86A"/>
                </a:solidFill>
              </a:defRPr>
            </a:pPr>
            <a:r>
              <a:rPr sz="1350" b="1">
                <a:solidFill>
                  <a:srgbClr val="D8B86A"/>
                </a:solidFill>
              </a:rPr>
              <a:t>06 /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714EFE-A867-4CDD-BCD4-D942D8762DDE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4524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D8B86A"/>
                </a:solidFill>
              </a:defRPr>
            </a:pPr>
            <a:r>
              <a:rPr sz="1425">
                <a:solidFill>
                  <a:srgbClr val="D8B86A"/>
                </a:solidFill>
              </a:rPr>
              <a:t>約 1420｜萊比錫造型藝術博物館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789211-8B51-4874-B747-383C945D046F}"/>
              </a:ext>
            </a:extLst>
          </p:cNvPr>
          <p:cNvSpPr>
            <a:spLocks noGrp="1"/>
          </p:cNvSpPr>
          <p:nvPr/>
        </p:nvSpPr>
        <p:spPr>
          <a:xfrm>
            <a:off x="6667500" y="31908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745D03-2B77-4025-BCA6-F1ECB539A007}"/>
              </a:ext>
            </a:extLst>
          </p:cNvPr>
          <p:cNvSpPr>
            <a:spLocks noGrp="1"/>
          </p:cNvSpPr>
          <p:nvPr/>
        </p:nvSpPr>
        <p:spPr>
          <a:xfrm>
            <a:off x="7000875" y="30480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天使扶持受傷的基督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81D4CF-81F0-40FA-9618-30A96A858981}"/>
              </a:ext>
            </a:extLst>
          </p:cNvPr>
          <p:cNvSpPr>
            <a:spLocks noGrp="1"/>
          </p:cNvSpPr>
          <p:nvPr/>
        </p:nvSpPr>
        <p:spPr>
          <a:xfrm>
            <a:off x="6667500" y="393382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B346F-B697-4938-AAAA-A82FFE461FF2}"/>
              </a:ext>
            </a:extLst>
          </p:cNvPr>
          <p:cNvSpPr>
            <a:spLocks noGrp="1"/>
          </p:cNvSpPr>
          <p:nvPr/>
        </p:nvSpPr>
        <p:spPr>
          <a:xfrm>
            <a:off x="7000875" y="37909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沒有完整受難時間線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D0244E-2B83-4640-A644-A51A533831A6}"/>
              </a:ext>
            </a:extLst>
          </p:cNvPr>
          <p:cNvSpPr>
            <a:spLocks noGrp="1"/>
          </p:cNvSpPr>
          <p:nvPr/>
        </p:nvSpPr>
        <p:spPr>
          <a:xfrm>
            <a:off x="6667500" y="46767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B281C6-F45D-45D3-AA07-6126ACF8D29F}"/>
              </a:ext>
            </a:extLst>
          </p:cNvPr>
          <p:cNvSpPr>
            <a:spLocks noGrp="1"/>
          </p:cNvSpPr>
          <p:nvPr/>
        </p:nvSpPr>
        <p:spPr>
          <a:xfrm>
            <a:off x="7000875" y="45339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適合近距離默想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74171-4765-4116-933D-FC04D8D5049C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028781-DAA3-4563-91EC-612630E1A8A7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0403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2322BF-71F3-4382-B0EE-E2E50052CEB8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漢堡《基督作為悲傷之人》：『歸於』保留了不確定性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322B19-16FC-440D-8886-B0F6FE79C1FA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238750" cy="4333875"/>
          </a:xfrm>
          <a:prstGeom prst="rect">
            <a:avLst/>
          </a:prstGeom>
          <a:solidFill>
            <a:srgbClr val="E9D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19721" y="1876425"/>
            <a:ext cx="2932808" cy="41052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5AD493-EE89-410E-831C-13BAF2251A71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D8B86A"/>
                </a:solidFill>
              </a:defRPr>
            </a:pPr>
            <a:r>
              <a:rPr sz="1350" b="1">
                <a:solidFill>
                  <a:srgbClr val="D8B86A"/>
                </a:solidFill>
              </a:rPr>
              <a:t>07 /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451102-26BD-4838-B47E-A2C554E41B76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4524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D8B86A"/>
                </a:solidFill>
              </a:defRPr>
            </a:pPr>
            <a:r>
              <a:rPr sz="1425">
                <a:solidFill>
                  <a:srgbClr val="D8B86A"/>
                </a:solidFill>
              </a:rPr>
              <a:t>約 1435｜漢堡美術館｜歸於法蘭克大師／工坊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C3E956-47BB-4302-891C-F02EA93BC87A}"/>
              </a:ext>
            </a:extLst>
          </p:cNvPr>
          <p:cNvSpPr>
            <a:spLocks noGrp="1"/>
          </p:cNvSpPr>
          <p:nvPr/>
        </p:nvSpPr>
        <p:spPr>
          <a:xfrm>
            <a:off x="6667500" y="31908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C13180-9B9C-447B-ACF8-ED2A99E71C07}"/>
              </a:ext>
            </a:extLst>
          </p:cNvPr>
          <p:cNvSpPr>
            <a:spLocks noGrp="1"/>
          </p:cNvSpPr>
          <p:nvPr/>
        </p:nvSpPr>
        <p:spPr>
          <a:xfrm>
            <a:off x="7000875" y="30480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風格與技術支持歸屬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B837AA-0B60-431C-91F3-6582970BC38B}"/>
              </a:ext>
            </a:extLst>
          </p:cNvPr>
          <p:cNvSpPr>
            <a:spLocks noGrp="1"/>
          </p:cNvSpPr>
          <p:nvPr/>
        </p:nvSpPr>
        <p:spPr>
          <a:xfrm>
            <a:off x="6667500" y="393382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5FF2F0-9099-4E67-8BA7-6F33941D12F8}"/>
              </a:ext>
            </a:extLst>
          </p:cNvPr>
          <p:cNvSpPr>
            <a:spLocks noGrp="1"/>
          </p:cNvSpPr>
          <p:nvPr/>
        </p:nvSpPr>
        <p:spPr>
          <a:xfrm>
            <a:off x="7000875" y="37909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不代表每一筆都能證明由本人完成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BABA9C-5B0A-4EC9-B4D5-9B0EFA835AF4}"/>
              </a:ext>
            </a:extLst>
          </p:cNvPr>
          <p:cNvSpPr>
            <a:spLocks noGrp="1"/>
          </p:cNvSpPr>
          <p:nvPr/>
        </p:nvSpPr>
        <p:spPr>
          <a:xfrm>
            <a:off x="6667500" y="4676775"/>
            <a:ext cx="142875" cy="1428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742291-195F-4CE4-8122-858AD5900A06}"/>
              </a:ext>
            </a:extLst>
          </p:cNvPr>
          <p:cNvSpPr>
            <a:spLocks noGrp="1"/>
          </p:cNvSpPr>
          <p:nvPr/>
        </p:nvSpPr>
        <p:spPr>
          <a:xfrm>
            <a:off x="7000875" y="45339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>
                <a:solidFill>
                  <a:srgbClr val="F5EBD1"/>
                </a:solidFill>
              </a:defRPr>
            </a:pPr>
            <a:r>
              <a:rPr sz="1725">
                <a:solidFill>
                  <a:srgbClr val="F5EBD1"/>
                </a:solidFill>
              </a:rPr>
              <a:t>作品目錄仍可能修正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3FAB8-43B4-43C9-B39F-C492C1C91690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A200E8-DDCA-4C41-ADD8-556DF436BF6A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26710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1926C7C-3253-4B25-AB18-C7E9C7B481F8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十九世紀先找回作品，才從檔案找回名字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E4B3A-64FA-4DFE-B49E-63C143145FE0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744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D8B86A"/>
                </a:solidFill>
              </a:defRPr>
            </a:pPr>
            <a:r>
              <a:rPr sz="1575">
                <a:solidFill>
                  <a:srgbClr val="D8B86A"/>
                </a:solidFill>
              </a:rPr>
              <a:t>1859 辨認作品群 → 1898 回到漢堡 → 1899 發現 1424 年紀錄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35467-4C58-4680-8610-A6ED1E4CB8F4}"/>
              </a:ext>
            </a:extLst>
          </p:cNvPr>
          <p:cNvSpPr>
            <a:spLocks noGrp="1"/>
          </p:cNvSpPr>
          <p:nvPr/>
        </p:nvSpPr>
        <p:spPr>
          <a:xfrm>
            <a:off x="1428750" y="3581400"/>
            <a:ext cx="9334500" cy="28575"/>
          </a:xfrm>
          <a:prstGeom prst="rect">
            <a:avLst/>
          </a:prstGeom>
          <a:solidFill>
            <a:srgbClr val="B592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79BE5C-B88E-4E0D-8AE1-C96B78D3AB5D}"/>
              </a:ext>
            </a:extLst>
          </p:cNvPr>
          <p:cNvSpPr>
            <a:spLocks noGrp="1"/>
          </p:cNvSpPr>
          <p:nvPr/>
        </p:nvSpPr>
        <p:spPr>
          <a:xfrm>
            <a:off x="2238375" y="3276600"/>
            <a:ext cx="619125" cy="619125"/>
          </a:xfrm>
          <a:prstGeom prst="ellipse">
            <a:avLst/>
          </a:prstGeom>
          <a:solidFill>
            <a:srgbClr val="263D44"/>
          </a:solidFill>
          <a:ln w="19050">
            <a:solidFill>
              <a:srgbClr val="D8B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4CAA1C-AB76-43FF-BBB4-9FA50BC2EB75}"/>
              </a:ext>
            </a:extLst>
          </p:cNvPr>
          <p:cNvSpPr>
            <a:spLocks noGrp="1"/>
          </p:cNvSpPr>
          <p:nvPr/>
        </p:nvSpPr>
        <p:spPr>
          <a:xfrm>
            <a:off x="2000250" y="2524125"/>
            <a:ext cx="1095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F4D6"/>
                </a:solidFill>
              </a:defRPr>
            </a:pPr>
            <a:r>
              <a:rPr sz="2175" b="1">
                <a:solidFill>
                  <a:srgbClr val="FFF4D6"/>
                </a:solidFill>
              </a:rPr>
              <a:t>1859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DB94B6-8D9F-41C6-BD44-E1398C84C6F3}"/>
              </a:ext>
            </a:extLst>
          </p:cNvPr>
          <p:cNvSpPr>
            <a:spLocks noGrp="1"/>
          </p:cNvSpPr>
          <p:nvPr/>
        </p:nvSpPr>
        <p:spPr>
          <a:xfrm>
            <a:off x="1333500" y="4238625"/>
            <a:ext cx="2428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>
                <a:solidFill>
                  <a:srgbClr val="F5EBD1"/>
                </a:solidFill>
              </a:defRPr>
            </a:pPr>
            <a:r>
              <a:rPr sz="1575">
                <a:solidFill>
                  <a:srgbClr val="F5EBD1"/>
                </a:solidFill>
              </a:rPr>
              <a:t>作品群被辨認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86D144-E311-4CD5-A92F-F31AC82165FA}"/>
              </a:ext>
            </a:extLst>
          </p:cNvPr>
          <p:cNvSpPr>
            <a:spLocks noGrp="1"/>
          </p:cNvSpPr>
          <p:nvPr/>
        </p:nvSpPr>
        <p:spPr>
          <a:xfrm>
            <a:off x="5429250" y="3276600"/>
            <a:ext cx="619125" cy="619125"/>
          </a:xfrm>
          <a:prstGeom prst="ellipse">
            <a:avLst/>
          </a:prstGeom>
          <a:solidFill>
            <a:srgbClr val="263D44"/>
          </a:solidFill>
          <a:ln w="19050">
            <a:solidFill>
              <a:srgbClr val="D8B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827F60-C42F-40DD-86E3-785395109A6D}"/>
              </a:ext>
            </a:extLst>
          </p:cNvPr>
          <p:cNvSpPr>
            <a:spLocks noGrp="1"/>
          </p:cNvSpPr>
          <p:nvPr/>
        </p:nvSpPr>
        <p:spPr>
          <a:xfrm>
            <a:off x="5191125" y="2524125"/>
            <a:ext cx="1095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F4D6"/>
                </a:solidFill>
              </a:defRPr>
            </a:pPr>
            <a:r>
              <a:rPr sz="2175" b="1">
                <a:solidFill>
                  <a:srgbClr val="FFF4D6"/>
                </a:solidFill>
              </a:rPr>
              <a:t>1898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CF12A-35E9-47C5-A0A8-E3A6AA438CF7}"/>
              </a:ext>
            </a:extLst>
          </p:cNvPr>
          <p:cNvSpPr>
            <a:spLocks noGrp="1"/>
          </p:cNvSpPr>
          <p:nvPr/>
        </p:nvSpPr>
        <p:spPr>
          <a:xfrm>
            <a:off x="4524375" y="4238625"/>
            <a:ext cx="2428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>
                <a:solidFill>
                  <a:srgbClr val="F5EBD1"/>
                </a:solidFill>
              </a:defRPr>
            </a:pPr>
            <a:r>
              <a:rPr sz="1575">
                <a:solidFill>
                  <a:srgbClr val="F5EBD1"/>
                </a:solidFill>
              </a:rPr>
              <a:t>九塊板畫回到漢堡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F5158E-CE38-49EA-AD19-72A8E9CEEFEE}"/>
              </a:ext>
            </a:extLst>
          </p:cNvPr>
          <p:cNvSpPr>
            <a:spLocks noGrp="1"/>
          </p:cNvSpPr>
          <p:nvPr/>
        </p:nvSpPr>
        <p:spPr>
          <a:xfrm>
            <a:off x="8620125" y="3276600"/>
            <a:ext cx="619125" cy="619125"/>
          </a:xfrm>
          <a:prstGeom prst="ellipse">
            <a:avLst/>
          </a:prstGeom>
          <a:solidFill>
            <a:srgbClr val="7B3D34"/>
          </a:solidFill>
          <a:ln w="19050">
            <a:solidFill>
              <a:srgbClr val="D8B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FE3E8D-0D83-40E4-94CF-2ED49458E611}"/>
              </a:ext>
            </a:extLst>
          </p:cNvPr>
          <p:cNvSpPr>
            <a:spLocks noGrp="1"/>
          </p:cNvSpPr>
          <p:nvPr/>
        </p:nvSpPr>
        <p:spPr>
          <a:xfrm>
            <a:off x="8382000" y="2524125"/>
            <a:ext cx="1095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F4D6"/>
                </a:solidFill>
              </a:defRPr>
            </a:pPr>
            <a:r>
              <a:rPr sz="2175" b="1">
                <a:solidFill>
                  <a:srgbClr val="FFF4D6"/>
                </a:solidFill>
              </a:rPr>
              <a:t>1899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F2E788-6BA9-456F-A2C0-BBDA21CC7549}"/>
              </a:ext>
            </a:extLst>
          </p:cNvPr>
          <p:cNvSpPr>
            <a:spLocks noGrp="1"/>
          </p:cNvSpPr>
          <p:nvPr/>
        </p:nvSpPr>
        <p:spPr>
          <a:xfrm>
            <a:off x="7715250" y="4238625"/>
            <a:ext cx="2428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>
                <a:solidFill>
                  <a:srgbClr val="F5EBD1"/>
                </a:solidFill>
              </a:defRPr>
            </a:pPr>
            <a:r>
              <a:rPr sz="1575">
                <a:solidFill>
                  <a:srgbClr val="F5EBD1"/>
                </a:solidFill>
              </a:rPr>
              <a:t>1424 年名字被找到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81DCAC-8308-4C18-B897-271863D8CF60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42089-1241-4F1C-8FD1-B129F3DFA98C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93171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8466A2-8CD9-47D8-A6B8-633F1015C730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10896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4D6"/>
                </a:solidFill>
              </a:defRPr>
            </a:pPr>
            <a:r>
              <a:rPr sz="3150" b="1">
                <a:solidFill>
                  <a:srgbClr val="FFF4D6"/>
                </a:solidFill>
              </a:rPr>
              <a:t>辨認風格，不等於辨認了這個人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540F8-6AD1-46A0-B322-5B62F06FA4A1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744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D8B86A"/>
                </a:solidFill>
              </a:defRPr>
            </a:pPr>
            <a:r>
              <a:rPr sz="1575">
                <a:solidFill>
                  <a:srgbClr val="D8B86A"/>
                </a:solidFill>
              </a:rPr>
              <a:t>柔長衣褶｜飽和紅藍白金｜重疊群像｜優雅與痛苦並存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278907-FB40-4C45-9F84-4141205100A3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4810125" cy="1190625"/>
          </a:xfrm>
          <a:prstGeom prst="roundRect">
            <a:avLst>
              <a:gd name="adj" fmla="val 6400"/>
            </a:avLst>
          </a:prstGeom>
          <a:solidFill>
            <a:srgbClr val="263D44"/>
          </a:solidFill>
          <a:ln w="9525">
            <a:solidFill>
              <a:srgbClr val="8E7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7492B-7140-4BDF-9E0E-009501181055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4333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FFF4D6"/>
                </a:solidFill>
              </a:defRPr>
            </a:pPr>
            <a:r>
              <a:rPr sz="2325" b="1">
                <a:solidFill>
                  <a:srgbClr val="FFF4D6"/>
                </a:solidFill>
              </a:rPr>
              <a:t>柔長衣褶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EA272D-A258-4E86-883F-01082D93B466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4810125" cy="1190625"/>
          </a:xfrm>
          <a:prstGeom prst="roundRect">
            <a:avLst>
              <a:gd name="adj" fmla="val 6400"/>
            </a:avLst>
          </a:prstGeom>
          <a:solidFill>
            <a:srgbClr val="263D44"/>
          </a:solidFill>
          <a:ln w="9525">
            <a:solidFill>
              <a:srgbClr val="8E7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D59A0-178A-4A01-92AC-6F70E77AFC43}"/>
              </a:ext>
            </a:extLst>
          </p:cNvPr>
          <p:cNvSpPr>
            <a:spLocks noGrp="1"/>
          </p:cNvSpPr>
          <p:nvPr/>
        </p:nvSpPr>
        <p:spPr>
          <a:xfrm>
            <a:off x="6715125" y="2428875"/>
            <a:ext cx="4333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FFF4D6"/>
                </a:solidFill>
              </a:defRPr>
            </a:pPr>
            <a:r>
              <a:rPr sz="2325" b="1">
                <a:solidFill>
                  <a:srgbClr val="FFF4D6"/>
                </a:solidFill>
              </a:rPr>
              <a:t>飽和色彩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176AF4-2B9C-4069-9667-15857AF25A5E}"/>
              </a:ext>
            </a:extLst>
          </p:cNvPr>
          <p:cNvSpPr>
            <a:spLocks noGrp="1"/>
          </p:cNvSpPr>
          <p:nvPr/>
        </p:nvSpPr>
        <p:spPr>
          <a:xfrm>
            <a:off x="904875" y="3762375"/>
            <a:ext cx="4810125" cy="1190625"/>
          </a:xfrm>
          <a:prstGeom prst="roundRect">
            <a:avLst>
              <a:gd name="adj" fmla="val 6400"/>
            </a:avLst>
          </a:prstGeom>
          <a:solidFill>
            <a:srgbClr val="263D44"/>
          </a:solidFill>
          <a:ln w="9525">
            <a:solidFill>
              <a:srgbClr val="8E7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03BA34-3E04-4407-9981-13424774333E}"/>
              </a:ext>
            </a:extLst>
          </p:cNvPr>
          <p:cNvSpPr>
            <a:spLocks noGrp="1"/>
          </p:cNvSpPr>
          <p:nvPr/>
        </p:nvSpPr>
        <p:spPr>
          <a:xfrm>
            <a:off x="1143000" y="4000500"/>
            <a:ext cx="4333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FFF4D6"/>
                </a:solidFill>
              </a:defRPr>
            </a:pPr>
            <a:r>
              <a:rPr sz="2325" b="1">
                <a:solidFill>
                  <a:srgbClr val="FFF4D6"/>
                </a:solidFill>
              </a:rPr>
              <a:t>重疊群像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FD8D23-9B72-45E4-9DF8-2419F4468849}"/>
              </a:ext>
            </a:extLst>
          </p:cNvPr>
          <p:cNvSpPr>
            <a:spLocks noGrp="1"/>
          </p:cNvSpPr>
          <p:nvPr/>
        </p:nvSpPr>
        <p:spPr>
          <a:xfrm>
            <a:off x="6477000" y="3762375"/>
            <a:ext cx="4810125" cy="1190625"/>
          </a:xfrm>
          <a:prstGeom prst="roundRect">
            <a:avLst>
              <a:gd name="adj" fmla="val 6400"/>
            </a:avLst>
          </a:prstGeom>
          <a:solidFill>
            <a:srgbClr val="642F2B"/>
          </a:solidFill>
          <a:ln w="9525">
            <a:solidFill>
              <a:srgbClr val="8E7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6514D4-81A4-4FA8-8489-3C3725129E38}"/>
              </a:ext>
            </a:extLst>
          </p:cNvPr>
          <p:cNvSpPr>
            <a:spLocks noGrp="1"/>
          </p:cNvSpPr>
          <p:nvPr/>
        </p:nvSpPr>
        <p:spPr>
          <a:xfrm>
            <a:off x="6715125" y="4000500"/>
            <a:ext cx="4333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FFF4D6"/>
                </a:solidFill>
              </a:defRPr>
            </a:pPr>
            <a:r>
              <a:rPr sz="2325" b="1">
                <a:solidFill>
                  <a:srgbClr val="FFF4D6"/>
                </a:solidFill>
              </a:rPr>
              <a:t>優雅 × 痛苦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2FE670-5DE0-4CB6-BB8B-00AB2734C8DE}"/>
              </a:ext>
            </a:extLst>
          </p:cNvPr>
          <p:cNvSpPr>
            <a:spLocks noGrp="1"/>
          </p:cNvSpPr>
          <p:nvPr/>
        </p:nvSpPr>
        <p:spPr>
          <a:xfrm>
            <a:off x="666750" y="64674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>
                <a:solidFill>
                  <a:srgbClr val="C9B98E"/>
                </a:solidFill>
              </a:defRPr>
            </a:pPr>
            <a:r>
              <a:rPr sz="975">
                <a:solidFill>
                  <a:srgbClr val="C9B98E"/>
                </a:solidFill>
              </a:rPr>
              <a:t>MASTER FRANCKE · SEVEN WORKS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6320EC-3F29-41AF-B158-77D7F115D5A2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8B86A"/>
                </a:solidFill>
              </a:defRPr>
            </a:pPr>
            <a:r>
              <a:rPr sz="1050" b="1">
                <a:solidFill>
                  <a:srgbClr val="D8B86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86866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537CF7-9DB2-2D76-5965-A27D96249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640" y="1691640"/>
            <a:ext cx="347472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298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1474</Words>
  <Application>Microsoft Office PowerPoint</Application>
  <DocSecurity>0</DocSecurity>
  <PresentationFormat>Widescreen</PresentationFormat>
  <Paragraphs>216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YY de Taipei Hsieh</cp:lastModifiedBy>
  <cp:revision>1</cp:revision>
  <dcterms:created xsi:type="dcterms:W3CDTF">2026-08-25T12:07:39Z</dcterms:created>
  <dcterms:modified xsi:type="dcterms:W3CDTF">2026-08-25T13:46:37Z</dcterms:modified>
</cp:coreProperties>
</file>