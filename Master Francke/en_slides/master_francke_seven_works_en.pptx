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do not know his real name, and we cannot securely establish his birthplace or even his identity as a friar. Yet when art historians see flowing folds, saturated red, blue, and gold, and bodies compressed until suffering feels physical, they think of Master Francke. Through seven works, this video meets that painter without a face and places him beside the earlier Hamburg master, Bertram, to see how northern altarpiece painting moved from courtly order toward greater weight and emotional tension.</a:t>
            </a:r>
          </a:p>
          <a:p>
            <a:endParaRPr/>
          </a:p>
          <a:p>
            <a:r>
              <a:t>[Sources]</a:t>
            </a:r>
          </a:p>
          <a:p>
            <a:r>
              <a:t>https://www.deutsche-biographie.de/gnd118692526.html#ndbcontent</a:t>
            </a:r>
          </a:p>
          <a:p>
            <a:r>
              <a:t>https://online-sammlung.hamburger-kunsthalle.de/de/objekt/HK-492/die-anbetung-des-kindes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Master Francke is not an artist whose complete life can be used to explain his pictures. The logic runs in reverse. We first recognize a vivid and coherent artistic personality in the paintings, then try to assemble scattered documents around it. A 1424 record connected with Hamburg's Englandfahrer names a mester Francken and provides the strongest bridge between a name and an altarpiece commission. A Zutphen origin and Dominican identity remain plausible, but they are not proven facts.</a:t>
            </a:r>
          </a:p>
          <a:p>
            <a:endParaRPr/>
          </a:p>
          <a:p>
            <a:r>
              <a:t>[Sources]</a:t>
            </a:r>
          </a:p>
          <a:p>
            <a:r>
              <a:t>https://www.deutsche-biographie.de/gnd118692526.html#ndbcontent</a:t>
            </a:r>
          </a:p>
          <a:p>
            <a:r>
              <a:t>https://online-sammlung.hamburger-kunsthalle.de/de/objekt/HK-490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Francke's mature setting was Hamburg, a Hanseatic port whose merchants traveled between England and the Baltic. An altarpiece could therefore serve worship while also expressing corporate identity, overseas memory, and devotion to a chosen saint. The Thomas Altarpiece was probably made for the Englandfahrer chapel. Another work associated with Francke, the Kalanti Altarpiece, eventually stood in Finland. Here art was not confined to a court. It moved with trade, belief, materials, and institutional relationships.</a:t>
            </a:r>
          </a:p>
          <a:p>
            <a:endParaRPr/>
          </a:p>
          <a:p>
            <a:r>
              <a:t>[Sources]</a:t>
            </a:r>
          </a:p>
          <a:p>
            <a:r>
              <a:t>https://online-sammlung.hamburger-kunsthalle.de/de/objekt/HK-490</a:t>
            </a:r>
          </a:p>
          <a:p>
            <a:r>
              <a:t>https://www.kansallismuseo.fi/en/digitaalinen-kokoelma/aarteita-suomen-kansallismuseon-nayttelyissa/toista-maata/kalannin-alttarikaappi-1-1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Francke did not emerge into an empty city. Roughly four decades earlier, Master Bertram had established a mature model of monumental Hamburg altarpiece painting in the Grabow Altarpiece. In The Creation of the Animals, God and the creatures occupy a lucid, readable pictorial order. Contours flow and colors shine like jewels. This courtly elegance and narrative clarity formed a tradition that Francke could inherit. The contrast is not a simple story of progress, but a change in how pictures accommodate bodily weight and emotional pressure.</a:t>
            </a:r>
          </a:p>
          <a:p>
            <a:endParaRPr/>
          </a:p>
          <a:p>
            <a:r>
              <a:t>[Sources]</a:t>
            </a:r>
          </a:p>
          <a:p>
            <a:r>
              <a:t>https://commons.wikimedia.org/wiki/File:Meister_Bertram_von_Minden_-_Creation_of_the_Animals,_panel_from_Grabow_Altarpiece_-_WGA14311.jpg</a:t>
            </a:r>
          </a:p>
          <a:p>
            <a:r>
              <a:t>https://online-sammlung.hamburger-kunsthalle.de/de/objekt/HK-490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Placed side by side, the paintings first reveal common ground: gold, saturated color, elegant curves, and an ability to turn sacred narrative into a precious image. Bertram distributes God and the animals clearly, giving each form a legible place. Francke brings the Virgin close to the Child, lets angels support a mantle behind her, and layers rock, cloth, body, and divine rays. Bertram's panel feels like rhythmic order. Francke's picture moves the viewer closer to bodies and, with them, closer to emotion.</a:t>
            </a:r>
          </a:p>
          <a:p>
            <a:endParaRPr/>
          </a:p>
          <a:p>
            <a:r>
              <a:t>[Sources]</a:t>
            </a:r>
          </a:p>
          <a:p>
            <a:r>
              <a:t>https://commons.wikimedia.org/wiki/File:Meister_Bertram_von_Minden_-_Creation_of_the_Animals,_panel_from_Grabow_Altarpiece_-_WGA14311.jpg</a:t>
            </a:r>
          </a:p>
          <a:p>
            <a:r>
              <a:t>https://online-sammlung.hamburger-kunsthalle.de/de/objekt/HK-492/die-anbetung-des-kindes</a:t>
            </a:r>
          </a:p>
          <a:p>
            <a:r>
              <a:t>https://commons.wikimedia.org/wiki/File:1426_Meister_Francke_Die_Anbetung_des_Kindes_anagoria.JPG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boundary matters when comparing these painters: no evidence establishes a direct teacher–student relationship. Bertram often builds narrative through clear contour, decorative color, and balanced order. Francke preserves that elegant surface but increases volume, occlusion, diagonal force, and emotional tension. He does not reject International Gothic. Instead, he introduces weight, violence, fear, and mourning into its graceful language. The comparison identifies a shift in pictorial priorities, not a documented genealogy.</a:t>
            </a:r>
          </a:p>
          <a:p>
            <a:endParaRPr/>
          </a:p>
          <a:p>
            <a:r>
              <a:t>[Sources]</a:t>
            </a:r>
          </a:p>
          <a:p>
            <a:r>
              <a:t>https://www.deutsche-biographie.de/gnd118692526.html#ndbcontent</a:t>
            </a:r>
          </a:p>
          <a:p>
            <a:r>
              <a:t>https://online-sammlung.hamburger-kunsthalle.de/de/objekt/HK-490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museum now displays nine separated panels, but the original was a compound altarpiece that could be opened twice. One opening probably revealed episodes from the Virgin's life and the story of Thomas Becket; a further opening exposed Passion imagery against gold. The reconstruction relies partly on an engraving made in 1731, so it is evidence-based without being a perfect copy of the lost arrangement. The next four works come from this altarpiece and show Francke moving between sacred light, violence, pressure, and grief.</a:t>
            </a:r>
          </a:p>
          <a:p>
            <a:endParaRPr/>
          </a:p>
          <a:p>
            <a:r>
              <a:t>[Sources]</a:t>
            </a:r>
          </a:p>
          <a:p>
            <a:r>
              <a:t>https://online-sammlung.hamburger-kunsthalle.de/de/objekt/HK-490</a:t>
            </a:r>
          </a:p>
          <a:p>
            <a:r>
              <a:t>https://online-sammlung.hamburger-kunsthalle.de/de/objekt/HK-492/die-anbetung-des-kindes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Virgin does not sit on a throne. Dressed almost entirely in white, she kneels before the naked Child while three angels hold her blue mantle. Golden rays pass through a red, star-filled sky and point directly toward the infant. The composition relates to Saint Bridget of Sweden's vision of the Nativity. Francke is not studying the behavior of lamplight inside a room. He is making belief visible: the Child is illuminated, yet also appears to be the source of illumination.</a:t>
            </a:r>
          </a:p>
          <a:p>
            <a:endParaRPr/>
          </a:p>
          <a:p>
            <a:r>
              <a:t>[Sources]</a:t>
            </a:r>
          </a:p>
          <a:p>
            <a:r>
              <a:t>https://online-sammlung.hamburger-kunsthalle.de/de/objekt/HK-492/die-anbetung-des-kindes</a:t>
            </a:r>
          </a:p>
          <a:p>
            <a:r>
              <a:t>https://commons.wikimedia.org/wiki/File:1426_Meister_Francke_Die_Anbetung_des_Kindes_anagoria.JPG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Becket kneels before an altar as attackers enter from the side. Weapons slice diagonally through the panel, bodies overlap, and the archbishop's mitre drops amid the confusion. Francke retains sumptuous vestments and jewel-like color instead of abandoning beauty. Their presence makes the murder more startling: violence breaks into an image that still appears precious and ordered. The viewer's eye follows the weapons downward and arrives at the body as it loses balance.</a:t>
            </a:r>
          </a:p>
          <a:p>
            <a:endParaRPr/>
          </a:p>
          <a:p>
            <a:r>
              <a:t>[Sources]</a:t>
            </a:r>
          </a:p>
          <a:p>
            <a:r>
              <a:t>https://online-sammlung.hamburger-kunsthalle.de/de/objekt/HK-490</a:t>
            </a:r>
          </a:p>
          <a:p>
            <a:r>
              <a:t>https://commons.wikimedia.org/wiki/File:Meister_Francke_011.jpg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foreground offers almost no breathing room. Cross, arms, faces, and bodies form a dense field of diagonals, so Christ's suffering emerges not only from expression but from weight, resistance, and collision. Some hostile figures employ negative stereotypes of Jewish people found in medieval Christian imagery. They must be understood as evidence of historical prejudice, not neutral portraits of a real community. Looking responsibly includes recognizing the harmful visual traditions a work carries.</a:t>
            </a:r>
          </a:p>
          <a:p>
            <a:endParaRPr/>
          </a:p>
          <a:p>
            <a:r>
              <a:t>[Sources]</a:t>
            </a:r>
          </a:p>
          <a:p>
            <a:r>
              <a:t>https://online-sammlung.hamburger-kunsthalle.de/de/objekt/HK-490</a:t>
            </a:r>
          </a:p>
          <a:p>
            <a:r>
              <a:t>https://commons.wikimedia.org/wiki/File:Meister_Francke_009.jpg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the lower-left portion of the original central Crucifixion survives, yet it preserves one of Francke's most moving emotional structures. The women support one another. Grief is not reduced to a single exaggerated face; it emerges through bowed heads, interlocking arms, enveloping cloth, and a group contracting inward. Once a detail within a much larger narrative, the fragment now resembles an independent image of collective mourning. Here sorrow is not an expression. It is weight shared by bodies.</a:t>
            </a:r>
          </a:p>
          <a:p>
            <a:endParaRPr/>
          </a:p>
          <a:p>
            <a:r>
              <a:t>[Sources]</a:t>
            </a:r>
          </a:p>
          <a:p>
            <a:r>
              <a:t>https://online-sammlung.hamburger-kunsthalle.de/de/objekt/HK-490</a:t>
            </a:r>
          </a:p>
          <a:p>
            <a:r>
              <a:t>https://commons.wikimedia.org/wiki/File:Meister_Francke_005.jpg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Fully opened, the altarpiece measures about two meters high and 2.6 meters wide. Eight painted wing scenes narrate Saint Barbara's resistance, conversion, torture, and death, while the center and inner wings combine sculpture with painting. The National Museum of Finland currently dates Francke's painted contribution to the 1430s; older scholarship proposed earlier dates. No surviving document identifies the patron or the route from Hamburg to Kalanti. Its safest significance is that painting, carving, and religious ideas traveled through the Baltic world.</a:t>
            </a:r>
          </a:p>
          <a:p>
            <a:endParaRPr/>
          </a:p>
          <a:p>
            <a:r>
              <a:t>[Sources]</a:t>
            </a:r>
          </a:p>
          <a:p>
            <a:r>
              <a:t>https://www.kansallismuseo.fi/en/digitaalinen-kokoelma/aarteita-suomen-kansallismuseon-nayttelyissa/toista-maata/kalannin-alttarikaappi-1-1</a:t>
            </a:r>
          </a:p>
          <a:p>
            <a:r>
              <a:t>https://commons.wikimedia.org/wiki/File:Pyh%C3%A4n_Barbaran_alttarikaappi.jpg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Leipzig's Man of Sorrows, angels support the wounded Christ. The painting does not recount a sequence of Passion events. Instead, wounds, blood, and gaze are concentrated directly before the viewer. Compared with the crowded drama of the Thomas Altarpiece, background actors and narrative distance disappear, intensifying the emotional pressure. The image is suited to close devotional looking: rather than observing history from afar, the viewer confronts an injured body that still meets the viewer's eyes.</a:t>
            </a:r>
          </a:p>
          <a:p>
            <a:endParaRPr/>
          </a:p>
          <a:p>
            <a:r>
              <a:t>[Sources]</a:t>
            </a:r>
          </a:p>
          <a:p>
            <a:r>
              <a:t>https://mdbk.de/sichtbarmachen/</a:t>
            </a:r>
          </a:p>
          <a:p>
            <a:r>
              <a:t>https://commons.wikimedia.org/wiki/File:Meister_Francke_-_Vir_Dolorum_(Man_of_Sorrows)_-_WGA14324.jpg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Hamburg preserves another Christ as Man of Sorrows, but the museum uses the cautious language attributed to Master Francke or associated with his workshop. That phrase matters. Style, technique, or relationships among works support the attribution, but the evidence cannot prove that every stroke was made by the master himself. For an artist without signatures and with very little documentation, stylistic recognition is evidence, not a substitute for material analysis, provenance, and research that remains open to revision.</a:t>
            </a:r>
          </a:p>
          <a:p>
            <a:endParaRPr/>
          </a:p>
          <a:p>
            <a:r>
              <a:t>[Sources]</a:t>
            </a:r>
          </a:p>
          <a:p>
            <a:r>
              <a:t>https://online-sammlung.hamburger-kunsthalle.de/de/objekt/HK-490</a:t>
            </a:r>
          </a:p>
          <a:p>
            <a:r>
              <a:t>https://commons.wikimedia.org/wiki/File:Meister_Francke_-_Schmerzensmann_-_Hamburger_Kunsthalle.jpg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Master Francke was not discovered in a single moment. During the nineteenth century, scholars first recognized one artistic personality across dispersed panels. In 1898, the nine Thomas Altarpiece panels entered the Hamburger Kunsthalle. Only in the following year did an archivist find the 1424 record naming mester Francken. Modern art history therefore did not begin with a known person and search for his pictures. It first assembled the pictures into an artist, and only then recovered a name from the archive.</a:t>
            </a:r>
          </a:p>
          <a:p>
            <a:endParaRPr/>
          </a:p>
          <a:p>
            <a:r>
              <a:t>[Sources]</a:t>
            </a:r>
          </a:p>
          <a:p>
            <a:r>
              <a:t>https://www.deutsche-biographie.de/gnd118692526.html#ndbcontent</a:t>
            </a:r>
          </a:p>
          <a:p>
            <a:r>
              <a:t>https://online-sammlung.hamburger-kunsthalle.de/de/objekt/HK-490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recognize Francke, remember four visual clues: long, flowing folds; saturated red, blue, white, and gold; tilted groups compressed through overlap; and the coexistence of elegance with cruelty, divine light with tactile flesh. Beside Bertram, he moves Hamburg's altarpiece tradition closer to bodily weight and emotional pressure. Yet identifying these features does not reveal his real name. The paintings speak with extraordinary clarity while their maker remains almost silent. That contradiction is the enduring mystery of Master Francke.</a:t>
            </a:r>
          </a:p>
          <a:p>
            <a:endParaRPr/>
          </a:p>
          <a:p>
            <a:r>
              <a:t>[Sources]</a:t>
            </a:r>
          </a:p>
          <a:p>
            <a:r>
              <a:t>https://www.deutsche-biographie.de/gnd118692526.html#ndbcontent</a:t>
            </a:r>
          </a:p>
          <a:p>
            <a:r>
              <a:t>https://online-sammlung.hamburger-kunsthalle.de/de/objekt/HK-492/die-anbetung-des-kindes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watching. The next time you stand before a medieval altarpiece, I hope you notice the weight and emotion beneath its elegant surface. See you next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27D62C3-7658-4D0D-9AAB-1B8FEAAFA43C}"/>
              </a:ext>
            </a:extLst>
          </p:cNvPr>
          <p:cNvSpPr>
            <a:spLocks noGrp="1"/>
          </p:cNvSpPr>
          <p:nvPr/>
        </p:nvSpPr>
        <p:spPr>
          <a:xfrm>
            <a:off x="857250" y="819150"/>
            <a:ext cx="7620000" cy="285750"/>
          </a:xfrm>
          <a:prstGeom prst="rect">
            <a:avLst/>
          </a:prstGeom>
          <a:noFill/>
          <a:ln w="0">
            <a:noFill/>
            <a:prstDash val="solid"/>
          </a:ln>
        </p:spPr>
        <p:txBody>
          <a:bodyPr anchor="ctr"/>
          <a:lstStyle/>
          <a:p>
            <a:pPr>
              <a:defRPr sz="1275" b="1">
                <a:solidFill>
                  <a:srgbClr val="D8B86A"/>
                </a:solidFill>
              </a:defRPr>
            </a:pPr>
            <a:r>
              <a:rPr sz="1275" b="1">
                <a:solidFill>
                  <a:srgbClr val="D8B86A"/>
                </a:solidFill>
              </a:rPr>
              <a:t>MASTER FRANCKE · c. 1420–1435</a:t>
            </a:r>
          </a:p>
        </p:txBody>
      </p:sp>
      <p:sp>
        <p:nvSpPr>
          <p:cNvPr id="3" name="Rectangle 2">
            <a:extLst>
              <a:ext uri="{FF2B5EF4-FFF2-40B4-BE49-F238E27FC236}">
                <a16:creationId xmlns:a16="http://schemas.microsoft.com/office/drawing/2014/main" id="{A7EFC241-6084-4A06-B029-A56894DDA01E}"/>
              </a:ext>
            </a:extLst>
          </p:cNvPr>
          <p:cNvSpPr>
            <a:spLocks noGrp="1"/>
          </p:cNvSpPr>
          <p:nvPr/>
        </p:nvSpPr>
        <p:spPr>
          <a:xfrm>
            <a:off x="838200" y="1638300"/>
            <a:ext cx="10382250" cy="1428750"/>
          </a:xfrm>
          <a:prstGeom prst="rect">
            <a:avLst/>
          </a:prstGeom>
          <a:noFill/>
          <a:ln w="0">
            <a:noFill/>
            <a:prstDash val="solid"/>
          </a:ln>
        </p:spPr>
        <p:txBody>
          <a:bodyPr anchor="ctr"/>
          <a:lstStyle/>
          <a:p>
            <a:pPr algn="ctr">
              <a:defRPr sz="4050" b="1">
                <a:solidFill>
                  <a:srgbClr val="FFF4D6"/>
                </a:solidFill>
              </a:defRPr>
            </a:pPr>
            <a:r>
              <a:rPr sz="4050" b="1">
                <a:solidFill>
                  <a:srgbClr val="FFF4D6"/>
                </a:solidFill>
              </a:rPr>
              <a:t>The paintings are clear. The painter is missing.</a:t>
            </a:r>
          </a:p>
        </p:txBody>
      </p:sp>
      <p:sp>
        <p:nvSpPr>
          <p:cNvPr id="4" name="Rectangle 3">
            <a:extLst>
              <a:ext uri="{FF2B5EF4-FFF2-40B4-BE49-F238E27FC236}">
                <a16:creationId xmlns:a16="http://schemas.microsoft.com/office/drawing/2014/main" id="{0993D932-63E4-4C52-A2CD-96022CA085E3}"/>
              </a:ext>
            </a:extLst>
          </p:cNvPr>
          <p:cNvSpPr>
            <a:spLocks noGrp="1"/>
          </p:cNvSpPr>
          <p:nvPr/>
        </p:nvSpPr>
        <p:spPr>
          <a:xfrm>
            <a:off x="4381500" y="3295650"/>
            <a:ext cx="3429000" cy="19050"/>
          </a:xfrm>
          <a:prstGeom prst="rect">
            <a:avLst/>
          </a:prstGeom>
          <a:solidFill>
            <a:srgbClr val="B592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A4DA3829-1AC1-4D9E-A815-B07C403C253A}"/>
              </a:ext>
            </a:extLst>
          </p:cNvPr>
          <p:cNvSpPr>
            <a:spLocks noGrp="1"/>
          </p:cNvSpPr>
          <p:nvPr/>
        </p:nvSpPr>
        <p:spPr>
          <a:xfrm>
            <a:off x="1619250" y="3638550"/>
            <a:ext cx="8953500" cy="895350"/>
          </a:xfrm>
          <a:prstGeom prst="rect">
            <a:avLst/>
          </a:prstGeom>
          <a:noFill/>
          <a:ln w="0">
            <a:noFill/>
            <a:prstDash val="solid"/>
          </a:ln>
        </p:spPr>
        <p:txBody>
          <a:bodyPr anchor="ctr"/>
          <a:lstStyle/>
          <a:p>
            <a:pPr algn="ctr">
              <a:defRPr sz="1875">
                <a:solidFill>
                  <a:srgbClr val="E2D3AD"/>
                </a:solidFill>
              </a:defRPr>
            </a:pPr>
            <a:r>
              <a:rPr sz="1875">
                <a:solidFill>
                  <a:srgbClr val="E2D3AD"/>
                </a:solidFill>
              </a:rPr>
              <a:t>Master Francke in seven works—and in contrast with Master Bertram</a:t>
            </a:r>
          </a:p>
        </p:txBody>
      </p:sp>
      <p:sp>
        <p:nvSpPr>
          <p:cNvPr id="6" name="Rectangle 5">
            <a:extLst>
              <a:ext uri="{FF2B5EF4-FFF2-40B4-BE49-F238E27FC236}">
                <a16:creationId xmlns:a16="http://schemas.microsoft.com/office/drawing/2014/main" id="{6E5E807B-3567-4FF8-B5A8-2A4EEAC7EDA8}"/>
              </a:ext>
            </a:extLst>
          </p:cNvPr>
          <p:cNvSpPr>
            <a:spLocks noGrp="1"/>
          </p:cNvSpPr>
          <p:nvPr/>
        </p:nvSpPr>
        <p:spPr>
          <a:xfrm>
            <a:off x="2286000" y="5219700"/>
            <a:ext cx="7620000" cy="381000"/>
          </a:xfrm>
          <a:prstGeom prst="rect">
            <a:avLst/>
          </a:prstGeom>
          <a:noFill/>
          <a:ln w="0">
            <a:noFill/>
            <a:prstDash val="solid"/>
          </a:ln>
        </p:spPr>
        <p:txBody>
          <a:bodyPr anchor="ctr"/>
          <a:lstStyle/>
          <a:p>
            <a:pPr algn="ctr">
              <a:defRPr sz="1500">
                <a:solidFill>
                  <a:srgbClr val="C9B98E"/>
                </a:solidFill>
              </a:defRPr>
            </a:pPr>
            <a:r>
              <a:rPr sz="1500">
                <a:solidFill>
                  <a:srgbClr val="C9B98E"/>
                </a:solidFill>
              </a:rPr>
              <a:t>Seven works · two Hamburg masters · one art-historical reconstruction</a:t>
            </a:r>
          </a:p>
        </p:txBody>
      </p:sp>
      <p:sp>
        <p:nvSpPr>
          <p:cNvPr id="7" name="Rectangle 6">
            <a:extLst>
              <a:ext uri="{FF2B5EF4-FFF2-40B4-BE49-F238E27FC236}">
                <a16:creationId xmlns:a16="http://schemas.microsoft.com/office/drawing/2014/main" id="{1F14A107-B002-4DD9-A017-7BBA893D3FFC}"/>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8" name="Rectangle 7">
            <a:extLst>
              <a:ext uri="{FF2B5EF4-FFF2-40B4-BE49-F238E27FC236}">
                <a16:creationId xmlns:a16="http://schemas.microsoft.com/office/drawing/2014/main" id="{4C125FA6-BFEF-4613-90D6-5B47360923E9}"/>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01</a:t>
            </a:r>
          </a:p>
        </p:txBody>
      </p:sp>
    </p:spTree>
    <p:extLst>
      <p:ext uri="{BB962C8B-B14F-4D97-AF65-F5344CB8AC3E}">
        <p14:creationId xmlns:p14="http://schemas.microsoft.com/office/powerpoint/2010/main" val="867819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257E603-C75D-483C-80A1-75672423B824}"/>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His style is more reliable than his biography</a:t>
            </a:r>
          </a:p>
        </p:txBody>
      </p:sp>
      <p:sp>
        <p:nvSpPr>
          <p:cNvPr id="3" name="Rectangle 2">
            <a:extLst>
              <a:ext uri="{FF2B5EF4-FFF2-40B4-BE49-F238E27FC236}">
                <a16:creationId xmlns:a16="http://schemas.microsoft.com/office/drawing/2014/main" id="{B3164FA4-1946-4BC5-9485-D5997BD6F0A3}"/>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Real name? Birthplace? Friar? None is fully secure.</a:t>
            </a:r>
          </a:p>
        </p:txBody>
      </p:sp>
      <p:pic>
        <p:nvPicPr>
          <p:cNvPr id="14" name="Picture 13"/>
          <p:cNvPicPr>
            <a:picLocks noChangeAspect="1"/>
          </p:cNvPicPr>
          <p:nvPr/>
        </p:nvPicPr>
        <p:blipFill>
          <a:blip r:embed="rId4"/>
          <a:srcRect t="14280" b="14280"/>
          <a:stretch>
            <a:fillRect/>
          </a:stretch>
        </p:blipFill>
        <p:spPr>
          <a:xfrm>
            <a:off x="685800" y="1885950"/>
            <a:ext cx="4095750" cy="4095750"/>
          </a:xfrm>
          <a:prstGeom prst="rect">
            <a:avLst/>
          </a:prstGeom>
        </p:spPr>
      </p:pic>
      <p:sp>
        <p:nvSpPr>
          <p:cNvPr id="5" name="Rectangle 4">
            <a:extLst>
              <a:ext uri="{FF2B5EF4-FFF2-40B4-BE49-F238E27FC236}">
                <a16:creationId xmlns:a16="http://schemas.microsoft.com/office/drawing/2014/main" id="{D312E106-C7C0-4A5C-B3B6-7B6A73A1713A}"/>
              </a:ext>
            </a:extLst>
          </p:cNvPr>
          <p:cNvSpPr>
            <a:spLocks noGrp="1"/>
          </p:cNvSpPr>
          <p:nvPr/>
        </p:nvSpPr>
        <p:spPr>
          <a:xfrm>
            <a:off x="5334000" y="2095500"/>
            <a:ext cx="5334000" cy="342900"/>
          </a:xfrm>
          <a:prstGeom prst="rect">
            <a:avLst/>
          </a:prstGeom>
          <a:noFill/>
          <a:ln w="0">
            <a:noFill/>
            <a:prstDash val="solid"/>
          </a:ln>
        </p:spPr>
        <p:txBody>
          <a:bodyPr anchor="ctr"/>
          <a:lstStyle/>
          <a:p>
            <a:pPr>
              <a:defRPr sz="1350" b="1">
                <a:solidFill>
                  <a:srgbClr val="D8B86A"/>
                </a:solidFill>
              </a:defRPr>
            </a:pPr>
            <a:r>
              <a:rPr sz="1350" b="1">
                <a:solidFill>
                  <a:srgbClr val="D8B86A"/>
                </a:solidFill>
              </a:rPr>
              <a:t>WHAT SURVIVES</a:t>
            </a:r>
          </a:p>
        </p:txBody>
      </p:sp>
      <p:sp>
        <p:nvSpPr>
          <p:cNvPr id="6" name="Rectangle 5">
            <a:extLst>
              <a:ext uri="{FF2B5EF4-FFF2-40B4-BE49-F238E27FC236}">
                <a16:creationId xmlns:a16="http://schemas.microsoft.com/office/drawing/2014/main" id="{EBF7BE3F-2A04-466D-BDD3-84D5DC825520}"/>
              </a:ext>
            </a:extLst>
          </p:cNvPr>
          <p:cNvSpPr>
            <a:spLocks noGrp="1"/>
          </p:cNvSpPr>
          <p:nvPr/>
        </p:nvSpPr>
        <p:spPr>
          <a:xfrm>
            <a:off x="5334000" y="2667000"/>
            <a:ext cx="5810250" cy="552450"/>
          </a:xfrm>
          <a:prstGeom prst="rect">
            <a:avLst/>
          </a:prstGeom>
          <a:noFill/>
          <a:ln w="0">
            <a:noFill/>
            <a:prstDash val="solid"/>
          </a:ln>
        </p:spPr>
        <p:txBody>
          <a:bodyPr anchor="ctr"/>
          <a:lstStyle/>
          <a:p>
            <a:pPr>
              <a:defRPr sz="1725">
                <a:solidFill>
                  <a:srgbClr val="F5EBD1"/>
                </a:solidFill>
              </a:defRPr>
            </a:pPr>
            <a:r>
              <a:rPr sz="1725">
                <a:solidFill>
                  <a:srgbClr val="F5EBD1"/>
                </a:solidFill>
              </a:rPr>
              <a:t>—  1424: a record names mester Francken</a:t>
            </a:r>
          </a:p>
        </p:txBody>
      </p:sp>
      <p:sp>
        <p:nvSpPr>
          <p:cNvPr id="7" name="Rectangle 6">
            <a:extLst>
              <a:ext uri="{FF2B5EF4-FFF2-40B4-BE49-F238E27FC236}">
                <a16:creationId xmlns:a16="http://schemas.microsoft.com/office/drawing/2014/main" id="{F1087F6A-E784-4A6E-8449-35A73B63FDCC}"/>
              </a:ext>
            </a:extLst>
          </p:cNvPr>
          <p:cNvSpPr>
            <a:spLocks noGrp="1"/>
          </p:cNvSpPr>
          <p:nvPr/>
        </p:nvSpPr>
        <p:spPr>
          <a:xfrm>
            <a:off x="5334000" y="3505200"/>
            <a:ext cx="5810250" cy="552450"/>
          </a:xfrm>
          <a:prstGeom prst="rect">
            <a:avLst/>
          </a:prstGeom>
          <a:noFill/>
          <a:ln w="0">
            <a:noFill/>
            <a:prstDash val="solid"/>
          </a:ln>
        </p:spPr>
        <p:txBody>
          <a:bodyPr anchor="ctr"/>
          <a:lstStyle/>
          <a:p>
            <a:pPr>
              <a:defRPr sz="1725">
                <a:solidFill>
                  <a:srgbClr val="F5EBD1"/>
                </a:solidFill>
              </a:defRPr>
            </a:pPr>
            <a:r>
              <a:rPr sz="1725">
                <a:solidFill>
                  <a:srgbClr val="F5EBD1"/>
                </a:solidFill>
              </a:rPr>
              <a:t>—  Works: a remarkably coherent style</a:t>
            </a:r>
          </a:p>
        </p:txBody>
      </p:sp>
      <p:sp>
        <p:nvSpPr>
          <p:cNvPr id="8" name="Rectangle 7">
            <a:extLst>
              <a:ext uri="{FF2B5EF4-FFF2-40B4-BE49-F238E27FC236}">
                <a16:creationId xmlns:a16="http://schemas.microsoft.com/office/drawing/2014/main" id="{2063A5C3-A480-4D0D-8E0C-0D5DD1944CD3}"/>
              </a:ext>
            </a:extLst>
          </p:cNvPr>
          <p:cNvSpPr>
            <a:spLocks noGrp="1"/>
          </p:cNvSpPr>
          <p:nvPr/>
        </p:nvSpPr>
        <p:spPr>
          <a:xfrm>
            <a:off x="5334000" y="4343400"/>
            <a:ext cx="5810250" cy="552450"/>
          </a:xfrm>
          <a:prstGeom prst="rect">
            <a:avLst/>
          </a:prstGeom>
          <a:noFill/>
          <a:ln w="0">
            <a:noFill/>
            <a:prstDash val="solid"/>
          </a:ln>
        </p:spPr>
        <p:txBody>
          <a:bodyPr anchor="ctr"/>
          <a:lstStyle/>
          <a:p>
            <a:pPr>
              <a:defRPr sz="1725">
                <a:solidFill>
                  <a:srgbClr val="F5EBD1"/>
                </a:solidFill>
              </a:defRPr>
            </a:pPr>
            <a:r>
              <a:rPr sz="1725">
                <a:solidFill>
                  <a:srgbClr val="F5EBD1"/>
                </a:solidFill>
              </a:rPr>
              <a:t>—  Life: hypotheses surrounded by gaps</a:t>
            </a:r>
          </a:p>
        </p:txBody>
      </p:sp>
      <p:sp>
        <p:nvSpPr>
          <p:cNvPr id="9" name="Rectangle 8">
            <a:extLst>
              <a:ext uri="{FF2B5EF4-FFF2-40B4-BE49-F238E27FC236}">
                <a16:creationId xmlns:a16="http://schemas.microsoft.com/office/drawing/2014/main" id="{BBDFE063-E485-4C1C-B269-B22A719B5DC9}"/>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0" name="Rectangle 9">
            <a:extLst>
              <a:ext uri="{FF2B5EF4-FFF2-40B4-BE49-F238E27FC236}">
                <a16:creationId xmlns:a16="http://schemas.microsoft.com/office/drawing/2014/main" id="{80D08B71-2B37-42C2-B05A-F7B1FDF1C0D8}"/>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02</a:t>
            </a:r>
          </a:p>
        </p:txBody>
      </p:sp>
    </p:spTree>
    <p:extLst>
      <p:ext uri="{BB962C8B-B14F-4D97-AF65-F5344CB8AC3E}">
        <p14:creationId xmlns:p14="http://schemas.microsoft.com/office/powerpoint/2010/main" val="86953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D046975-814A-4AEB-8F83-EEBFC630AAA3}"/>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Hamburg carried altarpieces into a maritime world</a:t>
            </a:r>
          </a:p>
        </p:txBody>
      </p:sp>
      <p:sp>
        <p:nvSpPr>
          <p:cNvPr id="3" name="Rectangle 2">
            <a:extLst>
              <a:ext uri="{FF2B5EF4-FFF2-40B4-BE49-F238E27FC236}">
                <a16:creationId xmlns:a16="http://schemas.microsoft.com/office/drawing/2014/main" id="{62ABFE83-7FA9-4705-94EF-6C5EFB208CE1}"/>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Merchants, monasteries, and Hanseatic routes shaped what sacred art could do</a:t>
            </a:r>
          </a:p>
        </p:txBody>
      </p:sp>
      <p:sp>
        <p:nvSpPr>
          <p:cNvPr id="4" name="Rectangle 3">
            <a:extLst>
              <a:ext uri="{FF2B5EF4-FFF2-40B4-BE49-F238E27FC236}">
                <a16:creationId xmlns:a16="http://schemas.microsoft.com/office/drawing/2014/main" id="{E82C1E79-349C-49A2-9BF1-6EA2A4439C44}"/>
              </a:ext>
            </a:extLst>
          </p:cNvPr>
          <p:cNvSpPr>
            <a:spLocks noGrp="1"/>
          </p:cNvSpPr>
          <p:nvPr/>
        </p:nvSpPr>
        <p:spPr>
          <a:xfrm>
            <a:off x="2286000" y="3467100"/>
            <a:ext cx="7620000" cy="28575"/>
          </a:xfrm>
          <a:prstGeom prst="rect">
            <a:avLst/>
          </a:prstGeom>
          <a:solidFill>
            <a:srgbClr val="B5924B"/>
          </a:solidFill>
          <a:ln w="0">
            <a:noFill/>
            <a:prstDash val="solid"/>
          </a:ln>
        </p:spPr>
        <p:txBody>
          <a:bodyPr/>
          <a:lstStyle/>
          <a:p>
            <a:endParaRPr lang="en-US"/>
          </a:p>
        </p:txBody>
      </p:sp>
      <p:sp>
        <p:nvSpPr>
          <p:cNvPr id="5" name="Rectangle: Rounded Corners 4">
            <a:extLst>
              <a:ext uri="{FF2B5EF4-FFF2-40B4-BE49-F238E27FC236}">
                <a16:creationId xmlns:a16="http://schemas.microsoft.com/office/drawing/2014/main" id="{517E79F4-385A-47AB-ADC4-8ACDAF420B23}"/>
              </a:ext>
            </a:extLst>
          </p:cNvPr>
          <p:cNvSpPr>
            <a:spLocks noGrp="1"/>
          </p:cNvSpPr>
          <p:nvPr/>
        </p:nvSpPr>
        <p:spPr>
          <a:xfrm>
            <a:off x="2095500" y="3000375"/>
            <a:ext cx="1238250" cy="952500"/>
          </a:xfrm>
          <a:prstGeom prst="roundRect">
            <a:avLst>
              <a:gd name="adj" fmla="val 8000"/>
            </a:avLst>
          </a:prstGeom>
          <a:solidFill>
            <a:srgbClr val="263D44"/>
          </a:solidFill>
          <a:ln w="19050">
            <a:solidFill>
              <a:srgbClr val="D8B86A"/>
            </a:solidFill>
            <a:prstDash val="solid"/>
          </a:ln>
        </p:spPr>
        <p:txBody>
          <a:bodyPr/>
          <a:lstStyle/>
          <a:p>
            <a:endParaRPr lang="en-US"/>
          </a:p>
        </p:txBody>
      </p:sp>
      <p:sp>
        <p:nvSpPr>
          <p:cNvPr id="6" name="Rectangle 5">
            <a:extLst>
              <a:ext uri="{FF2B5EF4-FFF2-40B4-BE49-F238E27FC236}">
                <a16:creationId xmlns:a16="http://schemas.microsoft.com/office/drawing/2014/main" id="{58500750-E879-469C-886F-842CAEB9780B}"/>
              </a:ext>
            </a:extLst>
          </p:cNvPr>
          <p:cNvSpPr>
            <a:spLocks noGrp="1"/>
          </p:cNvSpPr>
          <p:nvPr/>
        </p:nvSpPr>
        <p:spPr>
          <a:xfrm>
            <a:off x="2000250" y="3190875"/>
            <a:ext cx="1428750" cy="571500"/>
          </a:xfrm>
          <a:prstGeom prst="rect">
            <a:avLst/>
          </a:prstGeom>
          <a:noFill/>
          <a:ln w="0">
            <a:noFill/>
            <a:prstDash val="solid"/>
          </a:ln>
        </p:spPr>
        <p:txBody>
          <a:bodyPr anchor="ctr"/>
          <a:lstStyle/>
          <a:p>
            <a:pPr algn="ctr">
              <a:defRPr sz="1425" b="1">
                <a:solidFill>
                  <a:srgbClr val="F5EBD1"/>
                </a:solidFill>
              </a:defRPr>
            </a:pPr>
            <a:r>
              <a:rPr sz="1425" b="1">
                <a:solidFill>
                  <a:srgbClr val="F5EBD1"/>
                </a:solidFill>
              </a:rPr>
              <a:t>ENGLAND</a:t>
            </a:r>
          </a:p>
        </p:txBody>
      </p:sp>
      <p:sp>
        <p:nvSpPr>
          <p:cNvPr id="7" name="Rectangle: Rounded Corners 6">
            <a:extLst>
              <a:ext uri="{FF2B5EF4-FFF2-40B4-BE49-F238E27FC236}">
                <a16:creationId xmlns:a16="http://schemas.microsoft.com/office/drawing/2014/main" id="{C470E968-9298-4ED1-9E8E-2D719309A9CF}"/>
              </a:ext>
            </a:extLst>
          </p:cNvPr>
          <p:cNvSpPr>
            <a:spLocks noGrp="1"/>
          </p:cNvSpPr>
          <p:nvPr/>
        </p:nvSpPr>
        <p:spPr>
          <a:xfrm>
            <a:off x="5143500" y="3000375"/>
            <a:ext cx="1238250" cy="952500"/>
          </a:xfrm>
          <a:prstGeom prst="roundRect">
            <a:avLst>
              <a:gd name="adj" fmla="val 8000"/>
            </a:avLst>
          </a:prstGeom>
          <a:solidFill>
            <a:srgbClr val="7B3D34"/>
          </a:solidFill>
          <a:ln w="19050">
            <a:solidFill>
              <a:srgbClr val="D8B86A"/>
            </a:solidFill>
            <a:prstDash val="solid"/>
          </a:ln>
        </p:spPr>
        <p:txBody>
          <a:bodyPr/>
          <a:lstStyle/>
          <a:p>
            <a:endParaRPr lang="en-US"/>
          </a:p>
        </p:txBody>
      </p:sp>
      <p:sp>
        <p:nvSpPr>
          <p:cNvPr id="8" name="Rectangle 7">
            <a:extLst>
              <a:ext uri="{FF2B5EF4-FFF2-40B4-BE49-F238E27FC236}">
                <a16:creationId xmlns:a16="http://schemas.microsoft.com/office/drawing/2014/main" id="{C8D406E5-CB64-4EF0-A9A2-077FC2BD0C25}"/>
              </a:ext>
            </a:extLst>
          </p:cNvPr>
          <p:cNvSpPr>
            <a:spLocks noGrp="1"/>
          </p:cNvSpPr>
          <p:nvPr/>
        </p:nvSpPr>
        <p:spPr>
          <a:xfrm>
            <a:off x="5048250" y="3190875"/>
            <a:ext cx="1428750" cy="571500"/>
          </a:xfrm>
          <a:prstGeom prst="rect">
            <a:avLst/>
          </a:prstGeom>
          <a:noFill/>
          <a:ln w="0">
            <a:noFill/>
            <a:prstDash val="solid"/>
          </a:ln>
        </p:spPr>
        <p:txBody>
          <a:bodyPr anchor="ctr"/>
          <a:lstStyle/>
          <a:p>
            <a:pPr algn="ctr">
              <a:defRPr sz="1425" b="1">
                <a:solidFill>
                  <a:srgbClr val="F5EBD1"/>
                </a:solidFill>
              </a:defRPr>
            </a:pPr>
            <a:r>
              <a:rPr sz="1425" b="1">
                <a:solidFill>
                  <a:srgbClr val="F5EBD1"/>
                </a:solidFill>
              </a:rPr>
              <a:t>HAMBURG</a:t>
            </a:r>
          </a:p>
        </p:txBody>
      </p:sp>
      <p:sp>
        <p:nvSpPr>
          <p:cNvPr id="9" name="Rectangle: Rounded Corners 8">
            <a:extLst>
              <a:ext uri="{FF2B5EF4-FFF2-40B4-BE49-F238E27FC236}">
                <a16:creationId xmlns:a16="http://schemas.microsoft.com/office/drawing/2014/main" id="{AD3E4ABD-E56B-4484-A49F-605077589E0B}"/>
              </a:ext>
            </a:extLst>
          </p:cNvPr>
          <p:cNvSpPr>
            <a:spLocks noGrp="1"/>
          </p:cNvSpPr>
          <p:nvPr/>
        </p:nvSpPr>
        <p:spPr>
          <a:xfrm>
            <a:off x="8572500" y="3000375"/>
            <a:ext cx="1238250" cy="952500"/>
          </a:xfrm>
          <a:prstGeom prst="roundRect">
            <a:avLst>
              <a:gd name="adj" fmla="val 8000"/>
            </a:avLst>
          </a:prstGeom>
          <a:solidFill>
            <a:srgbClr val="263D44"/>
          </a:solidFill>
          <a:ln w="19050">
            <a:solidFill>
              <a:srgbClr val="D8B86A"/>
            </a:solidFill>
            <a:prstDash val="solid"/>
          </a:ln>
        </p:spPr>
        <p:txBody>
          <a:bodyPr/>
          <a:lstStyle/>
          <a:p>
            <a:endParaRPr lang="en-US"/>
          </a:p>
        </p:txBody>
      </p:sp>
      <p:sp>
        <p:nvSpPr>
          <p:cNvPr id="10" name="Rectangle 9">
            <a:extLst>
              <a:ext uri="{FF2B5EF4-FFF2-40B4-BE49-F238E27FC236}">
                <a16:creationId xmlns:a16="http://schemas.microsoft.com/office/drawing/2014/main" id="{B8B2CC7E-05F2-4A79-B1BC-266EDB4D50D4}"/>
              </a:ext>
            </a:extLst>
          </p:cNvPr>
          <p:cNvSpPr>
            <a:spLocks noGrp="1"/>
          </p:cNvSpPr>
          <p:nvPr/>
        </p:nvSpPr>
        <p:spPr>
          <a:xfrm>
            <a:off x="8477250" y="3190875"/>
            <a:ext cx="1428750" cy="571500"/>
          </a:xfrm>
          <a:prstGeom prst="rect">
            <a:avLst/>
          </a:prstGeom>
          <a:noFill/>
          <a:ln w="0">
            <a:noFill/>
            <a:prstDash val="solid"/>
          </a:ln>
        </p:spPr>
        <p:txBody>
          <a:bodyPr anchor="ctr"/>
          <a:lstStyle/>
          <a:p>
            <a:pPr algn="ctr">
              <a:defRPr sz="1425" b="1">
                <a:solidFill>
                  <a:srgbClr val="F5EBD1"/>
                </a:solidFill>
              </a:defRPr>
            </a:pPr>
            <a:r>
              <a:rPr sz="1425" b="1" dirty="0">
                <a:solidFill>
                  <a:srgbClr val="F5EBD1"/>
                </a:solidFill>
              </a:rPr>
              <a:t>BALTIC</a:t>
            </a:r>
            <a:br>
              <a:rPr lang="en-US" sz="1425" b="1" dirty="0">
                <a:solidFill>
                  <a:srgbClr val="F5EBD1"/>
                </a:solidFill>
              </a:rPr>
            </a:br>
            <a:r>
              <a:rPr sz="1425" b="1" dirty="0">
                <a:solidFill>
                  <a:srgbClr val="F5EBD1"/>
                </a:solidFill>
              </a:rPr>
              <a:t> FINLAND</a:t>
            </a:r>
          </a:p>
        </p:txBody>
      </p:sp>
      <p:sp>
        <p:nvSpPr>
          <p:cNvPr id="11" name="Rectangle 10">
            <a:extLst>
              <a:ext uri="{FF2B5EF4-FFF2-40B4-BE49-F238E27FC236}">
                <a16:creationId xmlns:a16="http://schemas.microsoft.com/office/drawing/2014/main" id="{BC26E243-6848-43FB-8DCD-1891643A84AF}"/>
              </a:ext>
            </a:extLst>
          </p:cNvPr>
          <p:cNvSpPr>
            <a:spLocks noGrp="1"/>
          </p:cNvSpPr>
          <p:nvPr/>
        </p:nvSpPr>
        <p:spPr>
          <a:xfrm>
            <a:off x="2714625" y="4333875"/>
            <a:ext cx="2476500" cy="266700"/>
          </a:xfrm>
          <a:prstGeom prst="rect">
            <a:avLst/>
          </a:prstGeom>
          <a:noFill/>
          <a:ln w="0">
            <a:noFill/>
            <a:prstDash val="solid"/>
          </a:ln>
        </p:spPr>
        <p:txBody>
          <a:bodyPr anchor="ctr"/>
          <a:lstStyle/>
          <a:p>
            <a:pPr algn="ctr">
              <a:defRPr sz="1200">
                <a:solidFill>
                  <a:srgbClr val="C9B98E"/>
                </a:solidFill>
              </a:defRPr>
            </a:pPr>
            <a:r>
              <a:rPr sz="1200">
                <a:solidFill>
                  <a:srgbClr val="C9B98E"/>
                </a:solidFill>
              </a:rPr>
              <a:t>MERCHANT PATRONAGE</a:t>
            </a:r>
          </a:p>
        </p:txBody>
      </p:sp>
      <p:sp>
        <p:nvSpPr>
          <p:cNvPr id="12" name="Rectangle 11">
            <a:extLst>
              <a:ext uri="{FF2B5EF4-FFF2-40B4-BE49-F238E27FC236}">
                <a16:creationId xmlns:a16="http://schemas.microsoft.com/office/drawing/2014/main" id="{00BB0C4E-F816-4627-9291-97615395BC74}"/>
              </a:ext>
            </a:extLst>
          </p:cNvPr>
          <p:cNvSpPr>
            <a:spLocks noGrp="1"/>
          </p:cNvSpPr>
          <p:nvPr/>
        </p:nvSpPr>
        <p:spPr>
          <a:xfrm>
            <a:off x="5429250" y="4333875"/>
            <a:ext cx="4191000" cy="266700"/>
          </a:xfrm>
          <a:prstGeom prst="rect">
            <a:avLst/>
          </a:prstGeom>
          <a:noFill/>
          <a:ln w="0">
            <a:noFill/>
            <a:prstDash val="solid"/>
          </a:ln>
        </p:spPr>
        <p:txBody>
          <a:bodyPr anchor="ctr"/>
          <a:lstStyle/>
          <a:p>
            <a:pPr algn="ctr">
              <a:defRPr sz="1200">
                <a:solidFill>
                  <a:srgbClr val="C9B98E"/>
                </a:solidFill>
              </a:defRPr>
            </a:pPr>
            <a:r>
              <a:rPr sz="1200">
                <a:solidFill>
                  <a:srgbClr val="C9B98E"/>
                </a:solidFill>
              </a:rPr>
              <a:t>ALTARPIECES · MATERIALS · BELIEF</a:t>
            </a:r>
          </a:p>
        </p:txBody>
      </p:sp>
      <p:sp>
        <p:nvSpPr>
          <p:cNvPr id="13" name="Rectangle 12">
            <a:extLst>
              <a:ext uri="{FF2B5EF4-FFF2-40B4-BE49-F238E27FC236}">
                <a16:creationId xmlns:a16="http://schemas.microsoft.com/office/drawing/2014/main" id="{807D6838-3973-41CC-8C52-45AD83C30D8D}"/>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441FC729-2EF9-42A8-B47F-79E065A2B2A3}"/>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03</a:t>
            </a:r>
          </a:p>
        </p:txBody>
      </p:sp>
    </p:spTree>
    <p:extLst>
      <p:ext uri="{BB962C8B-B14F-4D97-AF65-F5344CB8AC3E}">
        <p14:creationId xmlns:p14="http://schemas.microsoft.com/office/powerpoint/2010/main" val="386717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96744BA-2084-4417-AB06-E829EA7E43F1}"/>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Bertram had already built Hamburg's altarpiece tradition</a:t>
            </a:r>
          </a:p>
        </p:txBody>
      </p:sp>
      <p:sp>
        <p:nvSpPr>
          <p:cNvPr id="3" name="Rectangle 2">
            <a:extLst>
              <a:ext uri="{FF2B5EF4-FFF2-40B4-BE49-F238E27FC236}">
                <a16:creationId xmlns:a16="http://schemas.microsoft.com/office/drawing/2014/main" id="{9288F4CC-EB9B-42BC-80F2-B8120E4BFC42}"/>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The Grabow Altarpiece, c. 1383: clear contour, brilliant color, ordered space</a:t>
            </a:r>
          </a:p>
        </p:txBody>
      </p:sp>
      <p:pic>
        <p:nvPicPr>
          <p:cNvPr id="14" name="Picture 13"/>
          <p:cNvPicPr>
            <a:picLocks noChangeAspect="1"/>
          </p:cNvPicPr>
          <p:nvPr/>
        </p:nvPicPr>
        <p:blipFill>
          <a:blip r:embed="rId4"/>
          <a:stretch/>
        </p:blipFill>
        <p:spPr>
          <a:xfrm>
            <a:off x="1462953" y="1809750"/>
            <a:ext cx="2750993" cy="4286250"/>
          </a:xfrm>
          <a:prstGeom prst="rect">
            <a:avLst/>
          </a:prstGeom>
        </p:spPr>
      </p:pic>
      <p:sp>
        <p:nvSpPr>
          <p:cNvPr id="5" name="Rectangle 4">
            <a:extLst>
              <a:ext uri="{FF2B5EF4-FFF2-40B4-BE49-F238E27FC236}">
                <a16:creationId xmlns:a16="http://schemas.microsoft.com/office/drawing/2014/main" id="{EEA09B92-C617-45B2-8489-C58360558EF1}"/>
              </a:ext>
            </a:extLst>
          </p:cNvPr>
          <p:cNvSpPr>
            <a:spLocks noGrp="1"/>
          </p:cNvSpPr>
          <p:nvPr/>
        </p:nvSpPr>
        <p:spPr>
          <a:xfrm>
            <a:off x="5524500" y="2095500"/>
            <a:ext cx="5429250" cy="323850"/>
          </a:xfrm>
          <a:prstGeom prst="rect">
            <a:avLst/>
          </a:prstGeom>
          <a:noFill/>
          <a:ln w="0">
            <a:noFill/>
            <a:prstDash val="solid"/>
          </a:ln>
        </p:spPr>
        <p:txBody>
          <a:bodyPr anchor="ctr"/>
          <a:lstStyle/>
          <a:p>
            <a:pPr>
              <a:defRPr sz="1425" b="1">
                <a:solidFill>
                  <a:srgbClr val="D8B86A"/>
                </a:solidFill>
              </a:defRPr>
            </a:pPr>
            <a:r>
              <a:rPr sz="1425" b="1">
                <a:solidFill>
                  <a:srgbClr val="D8B86A"/>
                </a:solidFill>
              </a:rPr>
              <a:t>BERTRAM'S PICTORIAL LANGUAGE</a:t>
            </a:r>
          </a:p>
        </p:txBody>
      </p:sp>
      <p:sp>
        <p:nvSpPr>
          <p:cNvPr id="6" name="Rectangle 5">
            <a:extLst>
              <a:ext uri="{FF2B5EF4-FFF2-40B4-BE49-F238E27FC236}">
                <a16:creationId xmlns:a16="http://schemas.microsoft.com/office/drawing/2014/main" id="{14A92CC6-692B-4FCA-952C-CEE8B310D6A7}"/>
              </a:ext>
            </a:extLst>
          </p:cNvPr>
          <p:cNvSpPr>
            <a:spLocks noGrp="1"/>
          </p:cNvSpPr>
          <p:nvPr/>
        </p:nvSpPr>
        <p:spPr>
          <a:xfrm>
            <a:off x="5524500" y="2762250"/>
            <a:ext cx="5429250" cy="476250"/>
          </a:xfrm>
          <a:prstGeom prst="rect">
            <a:avLst/>
          </a:prstGeom>
          <a:noFill/>
          <a:ln w="0">
            <a:noFill/>
            <a:prstDash val="solid"/>
          </a:ln>
        </p:spPr>
        <p:txBody>
          <a:bodyPr anchor="ctr"/>
          <a:lstStyle/>
          <a:p>
            <a:pPr>
              <a:defRPr sz="1875" b="0">
                <a:solidFill>
                  <a:srgbClr val="E3D5B2"/>
                </a:solidFill>
              </a:defRPr>
            </a:pPr>
            <a:r>
              <a:rPr sz="1875" b="0">
                <a:solidFill>
                  <a:srgbClr val="E3D5B2"/>
                </a:solidFill>
              </a:rPr>
              <a:t>Clear, flowing contour</a:t>
            </a:r>
          </a:p>
        </p:txBody>
      </p:sp>
      <p:sp>
        <p:nvSpPr>
          <p:cNvPr id="7" name="Rectangle 6">
            <a:extLst>
              <a:ext uri="{FF2B5EF4-FFF2-40B4-BE49-F238E27FC236}">
                <a16:creationId xmlns:a16="http://schemas.microsoft.com/office/drawing/2014/main" id="{B7D0154F-1782-4D5A-943B-F0F649067F85}"/>
              </a:ext>
            </a:extLst>
          </p:cNvPr>
          <p:cNvSpPr>
            <a:spLocks noGrp="1"/>
          </p:cNvSpPr>
          <p:nvPr/>
        </p:nvSpPr>
        <p:spPr>
          <a:xfrm>
            <a:off x="5524500" y="3505200"/>
            <a:ext cx="5429250" cy="476250"/>
          </a:xfrm>
          <a:prstGeom prst="rect">
            <a:avLst/>
          </a:prstGeom>
          <a:noFill/>
          <a:ln w="0">
            <a:noFill/>
            <a:prstDash val="solid"/>
          </a:ln>
        </p:spPr>
        <p:txBody>
          <a:bodyPr anchor="ctr"/>
          <a:lstStyle/>
          <a:p>
            <a:pPr>
              <a:defRPr sz="1875" b="0">
                <a:solidFill>
                  <a:srgbClr val="E3D5B2"/>
                </a:solidFill>
              </a:defRPr>
            </a:pPr>
            <a:r>
              <a:rPr sz="1875" b="0">
                <a:solidFill>
                  <a:srgbClr val="E3D5B2"/>
                </a:solidFill>
              </a:rPr>
              <a:t>Brilliant, decorative color</a:t>
            </a:r>
          </a:p>
        </p:txBody>
      </p:sp>
      <p:sp>
        <p:nvSpPr>
          <p:cNvPr id="8" name="Rectangle 7">
            <a:extLst>
              <a:ext uri="{FF2B5EF4-FFF2-40B4-BE49-F238E27FC236}">
                <a16:creationId xmlns:a16="http://schemas.microsoft.com/office/drawing/2014/main" id="{00748141-E697-4B13-A67A-B7F480386D10}"/>
              </a:ext>
            </a:extLst>
          </p:cNvPr>
          <p:cNvSpPr>
            <a:spLocks noGrp="1"/>
          </p:cNvSpPr>
          <p:nvPr/>
        </p:nvSpPr>
        <p:spPr>
          <a:xfrm>
            <a:off x="5524500" y="4248150"/>
            <a:ext cx="5429250" cy="476250"/>
          </a:xfrm>
          <a:prstGeom prst="rect">
            <a:avLst/>
          </a:prstGeom>
          <a:noFill/>
          <a:ln w="0">
            <a:noFill/>
            <a:prstDash val="solid"/>
          </a:ln>
        </p:spPr>
        <p:txBody>
          <a:bodyPr anchor="ctr"/>
          <a:lstStyle/>
          <a:p>
            <a:pPr>
              <a:defRPr sz="1875" b="1">
                <a:solidFill>
                  <a:srgbClr val="FFF4D6"/>
                </a:solidFill>
              </a:defRPr>
            </a:pPr>
            <a:r>
              <a:rPr sz="1875" b="1">
                <a:solidFill>
                  <a:srgbClr val="FFF4D6"/>
                </a:solidFill>
              </a:rPr>
              <a:t>Figures remain legible within order</a:t>
            </a:r>
          </a:p>
        </p:txBody>
      </p:sp>
      <p:sp>
        <p:nvSpPr>
          <p:cNvPr id="9" name="Rectangle 8">
            <a:extLst>
              <a:ext uri="{FF2B5EF4-FFF2-40B4-BE49-F238E27FC236}">
                <a16:creationId xmlns:a16="http://schemas.microsoft.com/office/drawing/2014/main" id="{2CE51B9C-8C41-452B-BF50-D0C777D99DB5}"/>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0" name="Rectangle 9">
            <a:extLst>
              <a:ext uri="{FF2B5EF4-FFF2-40B4-BE49-F238E27FC236}">
                <a16:creationId xmlns:a16="http://schemas.microsoft.com/office/drawing/2014/main" id="{D243F4D6-4742-4BF7-A637-4A1C86EA8C10}"/>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04</a:t>
            </a:r>
          </a:p>
        </p:txBody>
      </p:sp>
    </p:spTree>
    <p:extLst>
      <p:ext uri="{BB962C8B-B14F-4D97-AF65-F5344CB8AC3E}">
        <p14:creationId xmlns:p14="http://schemas.microsoft.com/office/powerpoint/2010/main" val="1278678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6C3002D-D98D-46A7-AFA9-48E77E4E6734}"/>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The splendor remains; the bodies feel different</a:t>
            </a:r>
          </a:p>
        </p:txBody>
      </p:sp>
      <p:sp>
        <p:nvSpPr>
          <p:cNvPr id="3" name="Rectangle 2">
            <a:extLst>
              <a:ext uri="{FF2B5EF4-FFF2-40B4-BE49-F238E27FC236}">
                <a16:creationId xmlns:a16="http://schemas.microsoft.com/office/drawing/2014/main" id="{5F492502-A62F-490E-AB56-74DF151C3A86}"/>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Bertram, The Creation of the Animals | Francke, Adoration of the Child</a:t>
            </a:r>
          </a:p>
        </p:txBody>
      </p:sp>
      <p:pic>
        <p:nvPicPr>
          <p:cNvPr id="16" name="Picture 15"/>
          <p:cNvPicPr>
            <a:picLocks noChangeAspect="1"/>
          </p:cNvPicPr>
          <p:nvPr/>
        </p:nvPicPr>
        <p:blipFill>
          <a:blip r:embed="rId4"/>
          <a:stretch/>
        </p:blipFill>
        <p:spPr>
          <a:xfrm>
            <a:off x="1775936" y="1924050"/>
            <a:ext cx="2353628" cy="3667125"/>
          </a:xfrm>
          <a:prstGeom prst="rect">
            <a:avLst/>
          </a:prstGeom>
        </p:spPr>
      </p:pic>
      <p:pic>
        <p:nvPicPr>
          <p:cNvPr id="17" name="Picture 16"/>
          <p:cNvPicPr>
            <a:picLocks noChangeAspect="1"/>
          </p:cNvPicPr>
          <p:nvPr/>
        </p:nvPicPr>
        <p:blipFill>
          <a:blip r:embed="rId5"/>
          <a:stretch/>
        </p:blipFill>
        <p:spPr>
          <a:xfrm>
            <a:off x="7677485" y="1924050"/>
            <a:ext cx="3123530" cy="3667125"/>
          </a:xfrm>
          <a:prstGeom prst="rect">
            <a:avLst/>
          </a:prstGeom>
        </p:spPr>
      </p:pic>
      <p:sp>
        <p:nvSpPr>
          <p:cNvPr id="6" name="Rectangle 5">
            <a:extLst>
              <a:ext uri="{FF2B5EF4-FFF2-40B4-BE49-F238E27FC236}">
                <a16:creationId xmlns:a16="http://schemas.microsoft.com/office/drawing/2014/main" id="{4257C273-1968-401B-896C-6DE460F1691F}"/>
              </a:ext>
            </a:extLst>
          </p:cNvPr>
          <p:cNvSpPr>
            <a:spLocks noGrp="1"/>
          </p:cNvSpPr>
          <p:nvPr/>
        </p:nvSpPr>
        <p:spPr>
          <a:xfrm>
            <a:off x="1000125" y="5753100"/>
            <a:ext cx="3905250" cy="266700"/>
          </a:xfrm>
          <a:prstGeom prst="rect">
            <a:avLst/>
          </a:prstGeom>
          <a:noFill/>
          <a:ln w="0">
            <a:noFill/>
            <a:prstDash val="solid"/>
          </a:ln>
        </p:spPr>
        <p:txBody>
          <a:bodyPr anchor="ctr"/>
          <a:lstStyle/>
          <a:p>
            <a:pPr algn="ctr">
              <a:defRPr sz="1275" b="1">
                <a:solidFill>
                  <a:srgbClr val="D8B86A"/>
                </a:solidFill>
              </a:defRPr>
            </a:pPr>
            <a:r>
              <a:rPr sz="1275" b="1">
                <a:solidFill>
                  <a:srgbClr val="D8B86A"/>
                </a:solidFill>
              </a:rPr>
              <a:t>MASTER BERTRAM</a:t>
            </a:r>
          </a:p>
        </p:txBody>
      </p:sp>
      <p:sp>
        <p:nvSpPr>
          <p:cNvPr id="7" name="Rectangle 6">
            <a:extLst>
              <a:ext uri="{FF2B5EF4-FFF2-40B4-BE49-F238E27FC236}">
                <a16:creationId xmlns:a16="http://schemas.microsoft.com/office/drawing/2014/main" id="{E96C15B8-ED48-4A23-BE78-23B0A86C51B2}"/>
              </a:ext>
            </a:extLst>
          </p:cNvPr>
          <p:cNvSpPr>
            <a:spLocks noGrp="1"/>
          </p:cNvSpPr>
          <p:nvPr/>
        </p:nvSpPr>
        <p:spPr>
          <a:xfrm>
            <a:off x="7286625" y="5753100"/>
            <a:ext cx="3905250" cy="266700"/>
          </a:xfrm>
          <a:prstGeom prst="rect">
            <a:avLst/>
          </a:prstGeom>
          <a:noFill/>
          <a:ln w="0">
            <a:noFill/>
            <a:prstDash val="solid"/>
          </a:ln>
        </p:spPr>
        <p:txBody>
          <a:bodyPr anchor="ctr"/>
          <a:lstStyle/>
          <a:p>
            <a:pPr algn="ctr">
              <a:defRPr sz="1275" b="1">
                <a:solidFill>
                  <a:srgbClr val="D8B86A"/>
                </a:solidFill>
              </a:defRPr>
            </a:pPr>
            <a:r>
              <a:rPr sz="1275" b="1">
                <a:solidFill>
                  <a:srgbClr val="D8B86A"/>
                </a:solidFill>
              </a:rPr>
              <a:t>MASTER FRANCKE</a:t>
            </a:r>
          </a:p>
        </p:txBody>
      </p:sp>
      <p:sp>
        <p:nvSpPr>
          <p:cNvPr id="8" name="Rectangle 7">
            <a:extLst>
              <a:ext uri="{FF2B5EF4-FFF2-40B4-BE49-F238E27FC236}">
                <a16:creationId xmlns:a16="http://schemas.microsoft.com/office/drawing/2014/main" id="{D9950B33-BD87-452E-89D9-A23DFE21242A}"/>
              </a:ext>
            </a:extLst>
          </p:cNvPr>
          <p:cNvSpPr>
            <a:spLocks noGrp="1"/>
          </p:cNvSpPr>
          <p:nvPr/>
        </p:nvSpPr>
        <p:spPr>
          <a:xfrm>
            <a:off x="5191125" y="3095625"/>
            <a:ext cx="1809750" cy="323850"/>
          </a:xfrm>
          <a:prstGeom prst="rect">
            <a:avLst/>
          </a:prstGeom>
          <a:noFill/>
          <a:ln w="0">
            <a:noFill/>
            <a:prstDash val="solid"/>
          </a:ln>
        </p:spPr>
        <p:txBody>
          <a:bodyPr anchor="ctr"/>
          <a:lstStyle/>
          <a:p>
            <a:pPr algn="ctr">
              <a:defRPr sz="1575" b="1">
                <a:solidFill>
                  <a:srgbClr val="F5EBD1"/>
                </a:solidFill>
              </a:defRPr>
            </a:pPr>
            <a:r>
              <a:rPr sz="1575" b="1">
                <a:solidFill>
                  <a:srgbClr val="F5EBD1"/>
                </a:solidFill>
              </a:rPr>
              <a:t>ORDER</a:t>
            </a:r>
          </a:p>
        </p:txBody>
      </p:sp>
      <p:sp>
        <p:nvSpPr>
          <p:cNvPr id="9" name="Rectangle 8">
            <a:extLst>
              <a:ext uri="{FF2B5EF4-FFF2-40B4-BE49-F238E27FC236}">
                <a16:creationId xmlns:a16="http://schemas.microsoft.com/office/drawing/2014/main" id="{13366461-B3FB-4626-958C-8B23C3FA3950}"/>
              </a:ext>
            </a:extLst>
          </p:cNvPr>
          <p:cNvSpPr>
            <a:spLocks noGrp="1"/>
          </p:cNvSpPr>
          <p:nvPr/>
        </p:nvSpPr>
        <p:spPr>
          <a:xfrm>
            <a:off x="5667375" y="3476625"/>
            <a:ext cx="857250" cy="457200"/>
          </a:xfrm>
          <a:prstGeom prst="rect">
            <a:avLst/>
          </a:prstGeom>
          <a:noFill/>
          <a:ln w="0">
            <a:noFill/>
            <a:prstDash val="solid"/>
          </a:ln>
        </p:spPr>
        <p:txBody>
          <a:bodyPr anchor="ctr"/>
          <a:lstStyle/>
          <a:p>
            <a:pPr algn="ctr">
              <a:defRPr sz="3000">
                <a:solidFill>
                  <a:srgbClr val="D8B86A"/>
                </a:solidFill>
              </a:defRPr>
            </a:pPr>
            <a:r>
              <a:rPr sz="3000">
                <a:solidFill>
                  <a:srgbClr val="D8B86A"/>
                </a:solidFill>
              </a:rPr>
              <a:t>→</a:t>
            </a:r>
          </a:p>
        </p:txBody>
      </p:sp>
      <p:sp>
        <p:nvSpPr>
          <p:cNvPr id="10" name="Rectangle 9">
            <a:extLst>
              <a:ext uri="{FF2B5EF4-FFF2-40B4-BE49-F238E27FC236}">
                <a16:creationId xmlns:a16="http://schemas.microsoft.com/office/drawing/2014/main" id="{C42A54AB-4C61-481E-BC89-00B9F788553D}"/>
              </a:ext>
            </a:extLst>
          </p:cNvPr>
          <p:cNvSpPr>
            <a:spLocks noGrp="1"/>
          </p:cNvSpPr>
          <p:nvPr/>
        </p:nvSpPr>
        <p:spPr>
          <a:xfrm>
            <a:off x="5095875" y="4000500"/>
            <a:ext cx="2000250" cy="476250"/>
          </a:xfrm>
          <a:prstGeom prst="rect">
            <a:avLst/>
          </a:prstGeom>
          <a:noFill/>
          <a:ln w="0">
            <a:noFill/>
            <a:prstDash val="solid"/>
          </a:ln>
        </p:spPr>
        <p:txBody>
          <a:bodyPr anchor="ctr"/>
          <a:lstStyle/>
          <a:p>
            <a:pPr algn="ctr">
              <a:defRPr sz="1350" b="1">
                <a:solidFill>
                  <a:srgbClr val="F5EBD1"/>
                </a:solidFill>
              </a:defRPr>
            </a:pPr>
            <a:r>
              <a:rPr sz="1350" b="1">
                <a:solidFill>
                  <a:srgbClr val="F5EBD1"/>
                </a:solidFill>
              </a:rPr>
              <a:t>WEIGHT &amp; EMOTION</a:t>
            </a:r>
          </a:p>
        </p:txBody>
      </p:sp>
      <p:sp>
        <p:nvSpPr>
          <p:cNvPr id="11" name="Rectangle 10">
            <a:extLst>
              <a:ext uri="{FF2B5EF4-FFF2-40B4-BE49-F238E27FC236}">
                <a16:creationId xmlns:a16="http://schemas.microsoft.com/office/drawing/2014/main" id="{BB15F403-E725-4608-9AD7-BC3A84A42012}"/>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2" name="Rectangle 11">
            <a:extLst>
              <a:ext uri="{FF2B5EF4-FFF2-40B4-BE49-F238E27FC236}">
                <a16:creationId xmlns:a16="http://schemas.microsoft.com/office/drawing/2014/main" id="{38429CEA-7364-4CE0-AE26-118843668826}"/>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05</a:t>
            </a:r>
          </a:p>
        </p:txBody>
      </p:sp>
    </p:spTree>
    <p:extLst>
      <p:ext uri="{BB962C8B-B14F-4D97-AF65-F5344CB8AC3E}">
        <p14:creationId xmlns:p14="http://schemas.microsoft.com/office/powerpoint/2010/main" val="109880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5702EC1-9DFE-425E-9ABE-065E383AA82F}"/>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This is stylistic development, not a teacher–student lineage</a:t>
            </a:r>
          </a:p>
        </p:txBody>
      </p:sp>
      <p:sp>
        <p:nvSpPr>
          <p:cNvPr id="3" name="Rectangle 2">
            <a:extLst>
              <a:ext uri="{FF2B5EF4-FFF2-40B4-BE49-F238E27FC236}">
                <a16:creationId xmlns:a16="http://schemas.microsoft.com/office/drawing/2014/main" id="{F464E058-C7C5-4026-A8B5-591525F01EDF}"/>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From courtly order to bodily pressure: different choices by two Hamburg masters</a:t>
            </a:r>
          </a:p>
        </p:txBody>
      </p:sp>
      <p:sp>
        <p:nvSpPr>
          <p:cNvPr id="4" name="Rectangle: Rounded Corners 3">
            <a:extLst>
              <a:ext uri="{FF2B5EF4-FFF2-40B4-BE49-F238E27FC236}">
                <a16:creationId xmlns:a16="http://schemas.microsoft.com/office/drawing/2014/main" id="{AB4CAC54-C0BD-4F61-BF41-5B1A5DD3F15D}"/>
              </a:ext>
            </a:extLst>
          </p:cNvPr>
          <p:cNvSpPr>
            <a:spLocks noGrp="1"/>
          </p:cNvSpPr>
          <p:nvPr/>
        </p:nvSpPr>
        <p:spPr>
          <a:xfrm>
            <a:off x="781050" y="1952625"/>
            <a:ext cx="5095875" cy="3714750"/>
          </a:xfrm>
          <a:prstGeom prst="roundRect">
            <a:avLst>
              <a:gd name="adj" fmla="val 2051"/>
            </a:avLst>
          </a:prstGeom>
          <a:solidFill>
            <a:srgbClr val="23383E"/>
          </a:solidFill>
          <a:ln w="9525">
            <a:solidFill>
              <a:srgbClr val="806B43"/>
            </a:solidFill>
            <a:prstDash val="solid"/>
          </a:ln>
        </p:spPr>
        <p:txBody>
          <a:bodyPr/>
          <a:lstStyle/>
          <a:p>
            <a:endParaRPr lang="en-US"/>
          </a:p>
        </p:txBody>
      </p:sp>
      <p:sp>
        <p:nvSpPr>
          <p:cNvPr id="5" name="Rectangle: Rounded Corners 4">
            <a:extLst>
              <a:ext uri="{FF2B5EF4-FFF2-40B4-BE49-F238E27FC236}">
                <a16:creationId xmlns:a16="http://schemas.microsoft.com/office/drawing/2014/main" id="{083E82FD-CEA9-425B-9F35-17AD41ED4BA4}"/>
              </a:ext>
            </a:extLst>
          </p:cNvPr>
          <p:cNvSpPr>
            <a:spLocks noGrp="1"/>
          </p:cNvSpPr>
          <p:nvPr/>
        </p:nvSpPr>
        <p:spPr>
          <a:xfrm>
            <a:off x="6315075" y="1952625"/>
            <a:ext cx="5095875" cy="3714750"/>
          </a:xfrm>
          <a:prstGeom prst="roundRect">
            <a:avLst>
              <a:gd name="adj" fmla="val 2051"/>
            </a:avLst>
          </a:prstGeom>
          <a:solidFill>
            <a:srgbClr val="502C28"/>
          </a:solidFill>
          <a:ln w="9525">
            <a:solidFill>
              <a:srgbClr val="806B43"/>
            </a:solidFill>
            <a:prstDash val="solid"/>
          </a:ln>
        </p:spPr>
        <p:txBody>
          <a:bodyPr/>
          <a:lstStyle/>
          <a:p>
            <a:endParaRPr lang="en-US"/>
          </a:p>
        </p:txBody>
      </p:sp>
      <p:sp>
        <p:nvSpPr>
          <p:cNvPr id="6" name="Rectangle 5">
            <a:extLst>
              <a:ext uri="{FF2B5EF4-FFF2-40B4-BE49-F238E27FC236}">
                <a16:creationId xmlns:a16="http://schemas.microsoft.com/office/drawing/2014/main" id="{58B5085F-52DC-4593-8AE0-627ADD107D5D}"/>
              </a:ext>
            </a:extLst>
          </p:cNvPr>
          <p:cNvSpPr>
            <a:spLocks noGrp="1"/>
          </p:cNvSpPr>
          <p:nvPr/>
        </p:nvSpPr>
        <p:spPr>
          <a:xfrm>
            <a:off x="1095375" y="2238375"/>
            <a:ext cx="4476750" cy="342900"/>
          </a:xfrm>
          <a:prstGeom prst="rect">
            <a:avLst/>
          </a:prstGeom>
          <a:noFill/>
          <a:ln w="0">
            <a:noFill/>
            <a:prstDash val="solid"/>
          </a:ln>
        </p:spPr>
        <p:txBody>
          <a:bodyPr anchor="ctr"/>
          <a:lstStyle/>
          <a:p>
            <a:pPr algn="ctr">
              <a:defRPr sz="1500" b="1">
                <a:solidFill>
                  <a:srgbClr val="D8B86A"/>
                </a:solidFill>
              </a:defRPr>
            </a:pPr>
            <a:r>
              <a:rPr sz="1500" b="1">
                <a:solidFill>
                  <a:srgbClr val="D8B86A"/>
                </a:solidFill>
              </a:rPr>
              <a:t>MASTER BERTRAM</a:t>
            </a:r>
          </a:p>
        </p:txBody>
      </p:sp>
      <p:sp>
        <p:nvSpPr>
          <p:cNvPr id="7" name="Rectangle 6">
            <a:extLst>
              <a:ext uri="{FF2B5EF4-FFF2-40B4-BE49-F238E27FC236}">
                <a16:creationId xmlns:a16="http://schemas.microsoft.com/office/drawing/2014/main" id="{A535C75C-7D7C-49B3-A999-60F06F20FDA8}"/>
              </a:ext>
            </a:extLst>
          </p:cNvPr>
          <p:cNvSpPr>
            <a:spLocks noGrp="1"/>
          </p:cNvSpPr>
          <p:nvPr/>
        </p:nvSpPr>
        <p:spPr>
          <a:xfrm>
            <a:off x="6619875" y="2238375"/>
            <a:ext cx="4476750" cy="342900"/>
          </a:xfrm>
          <a:prstGeom prst="rect">
            <a:avLst/>
          </a:prstGeom>
          <a:noFill/>
          <a:ln w="0">
            <a:noFill/>
            <a:prstDash val="solid"/>
          </a:ln>
        </p:spPr>
        <p:txBody>
          <a:bodyPr anchor="ctr"/>
          <a:lstStyle/>
          <a:p>
            <a:pPr algn="ctr">
              <a:defRPr sz="1500" b="1">
                <a:solidFill>
                  <a:srgbClr val="D8B86A"/>
                </a:solidFill>
              </a:defRPr>
            </a:pPr>
            <a:r>
              <a:rPr sz="1500" b="1">
                <a:solidFill>
                  <a:srgbClr val="D8B86A"/>
                </a:solidFill>
              </a:rPr>
              <a:t>MASTER FRANCKE</a:t>
            </a:r>
          </a:p>
        </p:txBody>
      </p:sp>
      <p:sp>
        <p:nvSpPr>
          <p:cNvPr id="8" name="Rectangle 7">
            <a:extLst>
              <a:ext uri="{FF2B5EF4-FFF2-40B4-BE49-F238E27FC236}">
                <a16:creationId xmlns:a16="http://schemas.microsoft.com/office/drawing/2014/main" id="{AF490232-A5FE-4C1F-9C96-29A3B8A384E5}"/>
              </a:ext>
            </a:extLst>
          </p:cNvPr>
          <p:cNvSpPr>
            <a:spLocks noGrp="1"/>
          </p:cNvSpPr>
          <p:nvPr/>
        </p:nvSpPr>
        <p:spPr>
          <a:xfrm>
            <a:off x="1381125" y="2876550"/>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Clear contour</a:t>
            </a:r>
          </a:p>
        </p:txBody>
      </p:sp>
      <p:sp>
        <p:nvSpPr>
          <p:cNvPr id="9" name="Rectangle 8">
            <a:extLst>
              <a:ext uri="{FF2B5EF4-FFF2-40B4-BE49-F238E27FC236}">
                <a16:creationId xmlns:a16="http://schemas.microsoft.com/office/drawing/2014/main" id="{0C439BDB-B8DB-41B0-B0E7-7143D13DA731}"/>
              </a:ext>
            </a:extLst>
          </p:cNvPr>
          <p:cNvSpPr>
            <a:spLocks noGrp="1"/>
          </p:cNvSpPr>
          <p:nvPr/>
        </p:nvSpPr>
        <p:spPr>
          <a:xfrm>
            <a:off x="1381125" y="3495675"/>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Balanced placement</a:t>
            </a:r>
          </a:p>
        </p:txBody>
      </p:sp>
      <p:sp>
        <p:nvSpPr>
          <p:cNvPr id="10" name="Rectangle 9">
            <a:extLst>
              <a:ext uri="{FF2B5EF4-FFF2-40B4-BE49-F238E27FC236}">
                <a16:creationId xmlns:a16="http://schemas.microsoft.com/office/drawing/2014/main" id="{170BF553-BD8B-42A9-96F1-12A23DAB86F4}"/>
              </a:ext>
            </a:extLst>
          </p:cNvPr>
          <p:cNvSpPr>
            <a:spLocks noGrp="1"/>
          </p:cNvSpPr>
          <p:nvPr/>
        </p:nvSpPr>
        <p:spPr>
          <a:xfrm>
            <a:off x="1381125" y="4114800"/>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Decorative color</a:t>
            </a:r>
          </a:p>
        </p:txBody>
      </p:sp>
      <p:sp>
        <p:nvSpPr>
          <p:cNvPr id="11" name="Rectangle 10">
            <a:extLst>
              <a:ext uri="{FF2B5EF4-FFF2-40B4-BE49-F238E27FC236}">
                <a16:creationId xmlns:a16="http://schemas.microsoft.com/office/drawing/2014/main" id="{01E48730-C7D5-48B1-B0F7-D342EC97BB9C}"/>
              </a:ext>
            </a:extLst>
          </p:cNvPr>
          <p:cNvSpPr>
            <a:spLocks noGrp="1"/>
          </p:cNvSpPr>
          <p:nvPr/>
        </p:nvSpPr>
        <p:spPr>
          <a:xfrm>
            <a:off x="1381125" y="4733925"/>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Courtly elegance</a:t>
            </a:r>
          </a:p>
        </p:txBody>
      </p:sp>
      <p:sp>
        <p:nvSpPr>
          <p:cNvPr id="12" name="Rectangle 11">
            <a:extLst>
              <a:ext uri="{FF2B5EF4-FFF2-40B4-BE49-F238E27FC236}">
                <a16:creationId xmlns:a16="http://schemas.microsoft.com/office/drawing/2014/main" id="{E454E9C4-5643-41C0-B06B-D534767BB2E7}"/>
              </a:ext>
            </a:extLst>
          </p:cNvPr>
          <p:cNvSpPr>
            <a:spLocks noGrp="1"/>
          </p:cNvSpPr>
          <p:nvPr/>
        </p:nvSpPr>
        <p:spPr>
          <a:xfrm>
            <a:off x="6905625" y="2876550"/>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Stronger volume</a:t>
            </a:r>
          </a:p>
        </p:txBody>
      </p:sp>
      <p:sp>
        <p:nvSpPr>
          <p:cNvPr id="13" name="Rectangle 12">
            <a:extLst>
              <a:ext uri="{FF2B5EF4-FFF2-40B4-BE49-F238E27FC236}">
                <a16:creationId xmlns:a16="http://schemas.microsoft.com/office/drawing/2014/main" id="{C6B6A490-4C68-4B86-A5D3-41842E447175}"/>
              </a:ext>
            </a:extLst>
          </p:cNvPr>
          <p:cNvSpPr>
            <a:spLocks noGrp="1"/>
          </p:cNvSpPr>
          <p:nvPr/>
        </p:nvSpPr>
        <p:spPr>
          <a:xfrm>
            <a:off x="6905625" y="3495675"/>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Occluding bodies</a:t>
            </a:r>
          </a:p>
        </p:txBody>
      </p:sp>
      <p:sp>
        <p:nvSpPr>
          <p:cNvPr id="14" name="Rectangle 13">
            <a:extLst>
              <a:ext uri="{FF2B5EF4-FFF2-40B4-BE49-F238E27FC236}">
                <a16:creationId xmlns:a16="http://schemas.microsoft.com/office/drawing/2014/main" id="{6F5A3EDD-AF90-4F5A-B3F3-0366A1B7B4EB}"/>
              </a:ext>
            </a:extLst>
          </p:cNvPr>
          <p:cNvSpPr>
            <a:spLocks noGrp="1"/>
          </p:cNvSpPr>
          <p:nvPr/>
        </p:nvSpPr>
        <p:spPr>
          <a:xfrm>
            <a:off x="6905625" y="4114800"/>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Diagonal force</a:t>
            </a:r>
          </a:p>
        </p:txBody>
      </p:sp>
      <p:sp>
        <p:nvSpPr>
          <p:cNvPr id="15" name="Rectangle 14">
            <a:extLst>
              <a:ext uri="{FF2B5EF4-FFF2-40B4-BE49-F238E27FC236}">
                <a16:creationId xmlns:a16="http://schemas.microsoft.com/office/drawing/2014/main" id="{FDB8384E-6F9F-4CDD-B759-A17DDB99A28E}"/>
              </a:ext>
            </a:extLst>
          </p:cNvPr>
          <p:cNvSpPr>
            <a:spLocks noGrp="1"/>
          </p:cNvSpPr>
          <p:nvPr/>
        </p:nvSpPr>
        <p:spPr>
          <a:xfrm>
            <a:off x="6905625" y="4733925"/>
            <a:ext cx="3905250" cy="400050"/>
          </a:xfrm>
          <a:prstGeom prst="rect">
            <a:avLst/>
          </a:prstGeom>
          <a:noFill/>
          <a:ln w="0">
            <a:noFill/>
            <a:prstDash val="solid"/>
          </a:ln>
        </p:spPr>
        <p:txBody>
          <a:bodyPr anchor="ctr"/>
          <a:lstStyle/>
          <a:p>
            <a:pPr algn="ctr">
              <a:defRPr sz="1875">
                <a:solidFill>
                  <a:srgbClr val="F5EBD1"/>
                </a:solidFill>
              </a:defRPr>
            </a:pPr>
            <a:r>
              <a:rPr sz="1875">
                <a:solidFill>
                  <a:srgbClr val="F5EBD1"/>
                </a:solidFill>
              </a:rPr>
              <a:t>Emotional tension</a:t>
            </a:r>
          </a:p>
        </p:txBody>
      </p:sp>
      <p:sp>
        <p:nvSpPr>
          <p:cNvPr id="16" name="Rectangle 15">
            <a:extLst>
              <a:ext uri="{FF2B5EF4-FFF2-40B4-BE49-F238E27FC236}">
                <a16:creationId xmlns:a16="http://schemas.microsoft.com/office/drawing/2014/main" id="{8F0F744E-067E-45E7-AFFE-5216679C129E}"/>
              </a:ext>
            </a:extLst>
          </p:cNvPr>
          <p:cNvSpPr>
            <a:spLocks noGrp="1"/>
          </p:cNvSpPr>
          <p:nvPr/>
        </p:nvSpPr>
        <p:spPr>
          <a:xfrm>
            <a:off x="3333750" y="5905500"/>
            <a:ext cx="5524500" cy="285750"/>
          </a:xfrm>
          <a:prstGeom prst="rect">
            <a:avLst/>
          </a:prstGeom>
          <a:noFill/>
          <a:ln w="0">
            <a:noFill/>
            <a:prstDash val="solid"/>
          </a:ln>
        </p:spPr>
        <p:txBody>
          <a:bodyPr anchor="ctr"/>
          <a:lstStyle/>
          <a:p>
            <a:pPr algn="ctr">
              <a:defRPr sz="1275" b="1">
                <a:solidFill>
                  <a:srgbClr val="D8B86A"/>
                </a:solidFill>
              </a:defRPr>
            </a:pPr>
            <a:r>
              <a:rPr sz="1275" b="1">
                <a:solidFill>
                  <a:srgbClr val="D8B86A"/>
                </a:solidFill>
              </a:rPr>
              <a:t>NO DOCUMENTED TEACHER–STUDENT LINK</a:t>
            </a:r>
          </a:p>
        </p:txBody>
      </p:sp>
      <p:sp>
        <p:nvSpPr>
          <p:cNvPr id="17" name="Rectangle 16">
            <a:extLst>
              <a:ext uri="{FF2B5EF4-FFF2-40B4-BE49-F238E27FC236}">
                <a16:creationId xmlns:a16="http://schemas.microsoft.com/office/drawing/2014/main" id="{6FCE6BDD-336D-4B05-954C-AE5EF6A6576C}"/>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8" name="Rectangle 17">
            <a:extLst>
              <a:ext uri="{FF2B5EF4-FFF2-40B4-BE49-F238E27FC236}">
                <a16:creationId xmlns:a16="http://schemas.microsoft.com/office/drawing/2014/main" id="{7FD9DF26-E636-4A6F-8A72-5AEF486CF98C}"/>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06</a:t>
            </a:r>
          </a:p>
        </p:txBody>
      </p:sp>
    </p:spTree>
    <p:extLst>
      <p:ext uri="{BB962C8B-B14F-4D97-AF65-F5344CB8AC3E}">
        <p14:creationId xmlns:p14="http://schemas.microsoft.com/office/powerpoint/2010/main" val="1417378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4BAC670-15EF-44B7-9020-324F2D840804}"/>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The Thomas Altarpiece changed as its wings opened</a:t>
            </a:r>
          </a:p>
        </p:txBody>
      </p:sp>
      <p:sp>
        <p:nvSpPr>
          <p:cNvPr id="3" name="Rectangle 2">
            <a:extLst>
              <a:ext uri="{FF2B5EF4-FFF2-40B4-BE49-F238E27FC236}">
                <a16:creationId xmlns:a16="http://schemas.microsoft.com/office/drawing/2014/main" id="{54C4322E-7B09-4F63-8F55-064F44A55AB6}"/>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Nine panels survive: eight fuller scenes and one Crucifixion fragment</a:t>
            </a:r>
          </a:p>
        </p:txBody>
      </p:sp>
      <p:pic>
        <p:nvPicPr>
          <p:cNvPr id="14" name="Picture 13"/>
          <p:cNvPicPr>
            <a:picLocks noChangeAspect="1"/>
          </p:cNvPicPr>
          <p:nvPr/>
        </p:nvPicPr>
        <p:blipFill>
          <a:blip r:embed="rId4"/>
          <a:srcRect l="2660" r="2660"/>
          <a:stretch>
            <a:fillRect/>
          </a:stretch>
        </p:blipFill>
        <p:spPr>
          <a:xfrm>
            <a:off x="800100" y="1952625"/>
            <a:ext cx="2381250" cy="2952750"/>
          </a:xfrm>
          <a:prstGeom prst="rect">
            <a:avLst/>
          </a:prstGeom>
        </p:spPr>
      </p:pic>
      <p:pic>
        <p:nvPicPr>
          <p:cNvPr id="15" name="Picture 14"/>
          <p:cNvPicPr>
            <a:picLocks noChangeAspect="1"/>
          </p:cNvPicPr>
          <p:nvPr/>
        </p:nvPicPr>
        <p:blipFill>
          <a:blip r:embed="rId5"/>
          <a:srcRect l="4000" r="4000"/>
          <a:stretch>
            <a:fillRect/>
          </a:stretch>
        </p:blipFill>
        <p:spPr>
          <a:xfrm>
            <a:off x="3533775" y="1952625"/>
            <a:ext cx="2381250" cy="2952750"/>
          </a:xfrm>
          <a:prstGeom prst="rect">
            <a:avLst/>
          </a:prstGeom>
        </p:spPr>
      </p:pic>
      <p:pic>
        <p:nvPicPr>
          <p:cNvPr id="16" name="Picture 15"/>
          <p:cNvPicPr>
            <a:picLocks noChangeAspect="1"/>
          </p:cNvPicPr>
          <p:nvPr/>
        </p:nvPicPr>
        <p:blipFill>
          <a:blip r:embed="rId6"/>
          <a:srcRect l="4219" r="4219"/>
          <a:stretch>
            <a:fillRect/>
          </a:stretch>
        </p:blipFill>
        <p:spPr>
          <a:xfrm>
            <a:off x="6267450" y="1952625"/>
            <a:ext cx="2381250" cy="2952750"/>
          </a:xfrm>
          <a:prstGeom prst="rect">
            <a:avLst/>
          </a:prstGeom>
        </p:spPr>
      </p:pic>
      <p:pic>
        <p:nvPicPr>
          <p:cNvPr id="17" name="Picture 16"/>
          <p:cNvPicPr>
            <a:picLocks noChangeAspect="1"/>
          </p:cNvPicPr>
          <p:nvPr/>
        </p:nvPicPr>
        <p:blipFill>
          <a:blip r:embed="rId7"/>
          <a:srcRect l="8781" r="8781"/>
          <a:stretch>
            <a:fillRect/>
          </a:stretch>
        </p:blipFill>
        <p:spPr>
          <a:xfrm>
            <a:off x="9001125" y="1952625"/>
            <a:ext cx="2381250" cy="2952750"/>
          </a:xfrm>
          <a:prstGeom prst="rect">
            <a:avLst/>
          </a:prstGeom>
        </p:spPr>
      </p:pic>
      <p:sp>
        <p:nvSpPr>
          <p:cNvPr id="8" name="Rectangle 7">
            <a:extLst>
              <a:ext uri="{FF2B5EF4-FFF2-40B4-BE49-F238E27FC236}">
                <a16:creationId xmlns:a16="http://schemas.microsoft.com/office/drawing/2014/main" id="{CCDC2A60-3BBE-49F3-A01F-C1E6F2F03126}"/>
              </a:ext>
            </a:extLst>
          </p:cNvPr>
          <p:cNvSpPr>
            <a:spLocks noGrp="1"/>
          </p:cNvSpPr>
          <p:nvPr/>
        </p:nvSpPr>
        <p:spPr>
          <a:xfrm>
            <a:off x="1238250" y="5286375"/>
            <a:ext cx="9715500" cy="514350"/>
          </a:xfrm>
          <a:prstGeom prst="rect">
            <a:avLst/>
          </a:prstGeom>
          <a:noFill/>
          <a:ln w="0">
            <a:noFill/>
            <a:prstDash val="solid"/>
          </a:ln>
        </p:spPr>
        <p:txBody>
          <a:bodyPr anchor="ctr"/>
          <a:lstStyle/>
          <a:p>
            <a:pPr algn="ctr">
              <a:defRPr sz="1650" b="1">
                <a:solidFill>
                  <a:srgbClr val="F5EBD1"/>
                </a:solidFill>
              </a:defRPr>
            </a:pPr>
            <a:r>
              <a:rPr sz="1650" b="1">
                <a:solidFill>
                  <a:srgbClr val="F5EBD1"/>
                </a:solidFill>
              </a:rPr>
              <a:t>Opening changed the imagery; today's arrangement is a reconstruction, not the intact original.</a:t>
            </a:r>
          </a:p>
        </p:txBody>
      </p:sp>
      <p:sp>
        <p:nvSpPr>
          <p:cNvPr id="9" name="Rectangle 8">
            <a:extLst>
              <a:ext uri="{FF2B5EF4-FFF2-40B4-BE49-F238E27FC236}">
                <a16:creationId xmlns:a16="http://schemas.microsoft.com/office/drawing/2014/main" id="{A1A951BF-8015-4BD4-9BE0-C25A60399926}"/>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0" name="Rectangle 9">
            <a:extLst>
              <a:ext uri="{FF2B5EF4-FFF2-40B4-BE49-F238E27FC236}">
                <a16:creationId xmlns:a16="http://schemas.microsoft.com/office/drawing/2014/main" id="{0574BA38-7189-4012-A7B9-6500105A41F5}"/>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07</a:t>
            </a:r>
          </a:p>
        </p:txBody>
      </p:sp>
    </p:spTree>
    <p:extLst>
      <p:ext uri="{BB962C8B-B14F-4D97-AF65-F5344CB8AC3E}">
        <p14:creationId xmlns:p14="http://schemas.microsoft.com/office/powerpoint/2010/main" val="208897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102B36D-613B-4259-8252-4E642868E34B}"/>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Adoration of the Child: light becomes theology</a:t>
            </a:r>
          </a:p>
        </p:txBody>
      </p:sp>
      <p:sp>
        <p:nvSpPr>
          <p:cNvPr id="3" name="Rectangle 2">
            <a:extLst>
              <a:ext uri="{FF2B5EF4-FFF2-40B4-BE49-F238E27FC236}">
                <a16:creationId xmlns:a16="http://schemas.microsoft.com/office/drawing/2014/main" id="{E8448B16-3BF2-4BF6-9300-B42331E3D1C7}"/>
              </a:ext>
            </a:extLst>
          </p:cNvPr>
          <p:cNvSpPr>
            <a:spLocks noGrp="1"/>
          </p:cNvSpPr>
          <p:nvPr/>
        </p:nvSpPr>
        <p:spPr>
          <a:xfrm>
            <a:off x="666750" y="1762125"/>
            <a:ext cx="5238750" cy="4333875"/>
          </a:xfrm>
          <a:prstGeom prst="rect">
            <a:avLst/>
          </a:prstGeom>
          <a:solidFill>
            <a:srgbClr val="E9D8AA"/>
          </a:solidFill>
          <a:ln w="0">
            <a:noFill/>
            <a:prstDash val="solid"/>
          </a:ln>
        </p:spPr>
        <p:txBody>
          <a:bodyPr/>
          <a:lstStyle/>
          <a:p>
            <a:endParaRPr lang="en-US"/>
          </a:p>
        </p:txBody>
      </p:sp>
      <p:pic>
        <p:nvPicPr>
          <p:cNvPr id="18" name="Picture 17"/>
          <p:cNvPicPr>
            <a:picLocks noChangeAspect="1"/>
          </p:cNvPicPr>
          <p:nvPr/>
        </p:nvPicPr>
        <p:blipFill>
          <a:blip r:embed="rId4"/>
          <a:stretch/>
        </p:blipFill>
        <p:spPr>
          <a:xfrm>
            <a:off x="1537760" y="1876425"/>
            <a:ext cx="3496731" cy="4105275"/>
          </a:xfrm>
          <a:prstGeom prst="rect">
            <a:avLst/>
          </a:prstGeom>
        </p:spPr>
      </p:pic>
      <p:sp>
        <p:nvSpPr>
          <p:cNvPr id="5" name="Rectangle 4">
            <a:extLst>
              <a:ext uri="{FF2B5EF4-FFF2-40B4-BE49-F238E27FC236}">
                <a16:creationId xmlns:a16="http://schemas.microsoft.com/office/drawing/2014/main" id="{1593A99F-47C6-4A73-9AB3-F3E53133EAA4}"/>
              </a:ext>
            </a:extLst>
          </p:cNvPr>
          <p:cNvSpPr>
            <a:spLocks noGrp="1"/>
          </p:cNvSpPr>
          <p:nvPr/>
        </p:nvSpPr>
        <p:spPr>
          <a:xfrm>
            <a:off x="6667500" y="2000250"/>
            <a:ext cx="1714500" cy="304800"/>
          </a:xfrm>
          <a:prstGeom prst="rect">
            <a:avLst/>
          </a:prstGeom>
          <a:noFill/>
          <a:ln w="0">
            <a:noFill/>
            <a:prstDash val="solid"/>
          </a:ln>
        </p:spPr>
        <p:txBody>
          <a:bodyPr anchor="ctr"/>
          <a:lstStyle/>
          <a:p>
            <a:pPr>
              <a:defRPr sz="1350" b="1">
                <a:solidFill>
                  <a:srgbClr val="D8B86A"/>
                </a:solidFill>
              </a:defRPr>
            </a:pPr>
            <a:r>
              <a:rPr sz="1350" b="1">
                <a:solidFill>
                  <a:srgbClr val="D8B86A"/>
                </a:solidFill>
              </a:rPr>
              <a:t>01 / 07</a:t>
            </a:r>
          </a:p>
        </p:txBody>
      </p:sp>
      <p:sp>
        <p:nvSpPr>
          <p:cNvPr id="6" name="Rectangle 5">
            <a:extLst>
              <a:ext uri="{FF2B5EF4-FFF2-40B4-BE49-F238E27FC236}">
                <a16:creationId xmlns:a16="http://schemas.microsoft.com/office/drawing/2014/main" id="{04F1E471-CD1B-4049-A3ED-E29FABFE16FB}"/>
              </a:ext>
            </a:extLst>
          </p:cNvPr>
          <p:cNvSpPr>
            <a:spLocks noGrp="1"/>
          </p:cNvSpPr>
          <p:nvPr/>
        </p:nvSpPr>
        <p:spPr>
          <a:xfrm>
            <a:off x="6667500" y="2400300"/>
            <a:ext cx="4524375" cy="457200"/>
          </a:xfrm>
          <a:prstGeom prst="rect">
            <a:avLst/>
          </a:prstGeom>
          <a:noFill/>
          <a:ln w="0">
            <a:noFill/>
            <a:prstDash val="solid"/>
          </a:ln>
        </p:spPr>
        <p:txBody>
          <a:bodyPr anchor="ctr"/>
          <a:lstStyle/>
          <a:p>
            <a:pPr>
              <a:defRPr sz="1425">
                <a:solidFill>
                  <a:srgbClr val="D8B86A"/>
                </a:solidFill>
              </a:defRPr>
            </a:pPr>
            <a:r>
              <a:rPr sz="1425">
                <a:solidFill>
                  <a:srgbClr val="D8B86A"/>
                </a:solidFill>
              </a:rPr>
              <a:t>c. 1426 | Hamburger Kunsthalle, HK-492</a:t>
            </a:r>
          </a:p>
        </p:txBody>
      </p:sp>
      <p:sp>
        <p:nvSpPr>
          <p:cNvPr id="7" name="Rectangle 6">
            <a:extLst>
              <a:ext uri="{FF2B5EF4-FFF2-40B4-BE49-F238E27FC236}">
                <a16:creationId xmlns:a16="http://schemas.microsoft.com/office/drawing/2014/main" id="{FB89D6E4-51C1-4FAA-9B6D-D29385CAEAD8}"/>
              </a:ext>
            </a:extLst>
          </p:cNvPr>
          <p:cNvSpPr>
            <a:spLocks noGrp="1"/>
          </p:cNvSpPr>
          <p:nvPr/>
        </p:nvSpPr>
        <p:spPr>
          <a:xfrm>
            <a:off x="6667500" y="3190875"/>
            <a:ext cx="142875" cy="142875"/>
          </a:xfrm>
          <a:prstGeom prst="rect">
            <a:avLst/>
          </a:prstGeom>
          <a:solidFill>
            <a:srgbClr val="B592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C229D8F4-AD05-442B-8A9A-926C6E5CDCDD}"/>
              </a:ext>
            </a:extLst>
          </p:cNvPr>
          <p:cNvSpPr>
            <a:spLocks noGrp="1"/>
          </p:cNvSpPr>
          <p:nvPr/>
        </p:nvSpPr>
        <p:spPr>
          <a:xfrm>
            <a:off x="7000875" y="30480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The Virgin kneels in white</a:t>
            </a:r>
          </a:p>
        </p:txBody>
      </p:sp>
      <p:sp>
        <p:nvSpPr>
          <p:cNvPr id="9" name="Rectangle 8">
            <a:extLst>
              <a:ext uri="{FF2B5EF4-FFF2-40B4-BE49-F238E27FC236}">
                <a16:creationId xmlns:a16="http://schemas.microsoft.com/office/drawing/2014/main" id="{DC37D4B3-31B2-4A9A-AE24-7815FF8EA5CC}"/>
              </a:ext>
            </a:extLst>
          </p:cNvPr>
          <p:cNvSpPr>
            <a:spLocks noGrp="1"/>
          </p:cNvSpPr>
          <p:nvPr/>
        </p:nvSpPr>
        <p:spPr>
          <a:xfrm>
            <a:off x="6667500" y="3933825"/>
            <a:ext cx="142875" cy="142875"/>
          </a:xfrm>
          <a:prstGeom prst="rect">
            <a:avLst/>
          </a:prstGeom>
          <a:solidFill>
            <a:srgbClr val="B592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3C1C469E-7D33-4089-9BA4-728B8DF02728}"/>
              </a:ext>
            </a:extLst>
          </p:cNvPr>
          <p:cNvSpPr>
            <a:spLocks noGrp="1"/>
          </p:cNvSpPr>
          <p:nvPr/>
        </p:nvSpPr>
        <p:spPr>
          <a:xfrm>
            <a:off x="7000875" y="379095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Angels hold her blue mantle</a:t>
            </a:r>
          </a:p>
        </p:txBody>
      </p:sp>
      <p:sp>
        <p:nvSpPr>
          <p:cNvPr id="11" name="Rectangle 10">
            <a:extLst>
              <a:ext uri="{FF2B5EF4-FFF2-40B4-BE49-F238E27FC236}">
                <a16:creationId xmlns:a16="http://schemas.microsoft.com/office/drawing/2014/main" id="{BE532E70-DA5F-4C36-A31D-1B96DBE3A78F}"/>
              </a:ext>
            </a:extLst>
          </p:cNvPr>
          <p:cNvSpPr>
            <a:spLocks noGrp="1"/>
          </p:cNvSpPr>
          <p:nvPr/>
        </p:nvSpPr>
        <p:spPr>
          <a:xfrm>
            <a:off x="6667500" y="4676775"/>
            <a:ext cx="142875" cy="142875"/>
          </a:xfrm>
          <a:prstGeom prst="rect">
            <a:avLst/>
          </a:prstGeom>
          <a:solidFill>
            <a:srgbClr val="B5924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367AE87-55D5-4904-8E5E-B497D4C5CCA8}"/>
              </a:ext>
            </a:extLst>
          </p:cNvPr>
          <p:cNvSpPr>
            <a:spLocks noGrp="1"/>
          </p:cNvSpPr>
          <p:nvPr/>
        </p:nvSpPr>
        <p:spPr>
          <a:xfrm>
            <a:off x="7000875" y="45339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Gold rays cross a red, starry sky</a:t>
            </a:r>
          </a:p>
        </p:txBody>
      </p:sp>
      <p:sp>
        <p:nvSpPr>
          <p:cNvPr id="13" name="Rectangle 12">
            <a:extLst>
              <a:ext uri="{FF2B5EF4-FFF2-40B4-BE49-F238E27FC236}">
                <a16:creationId xmlns:a16="http://schemas.microsoft.com/office/drawing/2014/main" id="{66ED23F4-3D01-4D81-A73C-01617C62477C}"/>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17721E8C-51C6-449F-B6A5-C060B49BF34E}"/>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08</a:t>
            </a:r>
          </a:p>
        </p:txBody>
      </p:sp>
    </p:spTree>
    <p:extLst>
      <p:ext uri="{BB962C8B-B14F-4D97-AF65-F5344CB8AC3E}">
        <p14:creationId xmlns:p14="http://schemas.microsoft.com/office/powerpoint/2010/main" val="51090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1C4F26D-0461-4A53-BF37-34DA475DEC60}"/>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Martyrdom of Thomas Becket: beauty makes violence abrupt</a:t>
            </a:r>
          </a:p>
        </p:txBody>
      </p:sp>
      <p:sp>
        <p:nvSpPr>
          <p:cNvPr id="3" name="Rectangle 2">
            <a:extLst>
              <a:ext uri="{FF2B5EF4-FFF2-40B4-BE49-F238E27FC236}">
                <a16:creationId xmlns:a16="http://schemas.microsoft.com/office/drawing/2014/main" id="{78A98DEC-9154-43BC-9AE0-D8405CEC2D6A}"/>
              </a:ext>
            </a:extLst>
          </p:cNvPr>
          <p:cNvSpPr>
            <a:spLocks noGrp="1"/>
          </p:cNvSpPr>
          <p:nvPr/>
        </p:nvSpPr>
        <p:spPr>
          <a:xfrm>
            <a:off x="666750" y="1762125"/>
            <a:ext cx="5238750" cy="4333875"/>
          </a:xfrm>
          <a:prstGeom prst="rect">
            <a:avLst/>
          </a:prstGeom>
          <a:solidFill>
            <a:srgbClr val="E9D8AA"/>
          </a:solidFill>
          <a:ln w="0">
            <a:noFill/>
            <a:prstDash val="solid"/>
          </a:ln>
        </p:spPr>
        <p:txBody>
          <a:bodyPr/>
          <a:lstStyle/>
          <a:p>
            <a:endParaRPr lang="en-US"/>
          </a:p>
        </p:txBody>
      </p:sp>
      <p:pic>
        <p:nvPicPr>
          <p:cNvPr id="18" name="Picture 17"/>
          <p:cNvPicPr>
            <a:picLocks noChangeAspect="1"/>
          </p:cNvPicPr>
          <p:nvPr/>
        </p:nvPicPr>
        <p:blipFill>
          <a:blip r:embed="rId4"/>
          <a:stretch/>
        </p:blipFill>
        <p:spPr>
          <a:xfrm>
            <a:off x="1486845" y="1876425"/>
            <a:ext cx="3598561" cy="4105275"/>
          </a:xfrm>
          <a:prstGeom prst="rect">
            <a:avLst/>
          </a:prstGeom>
        </p:spPr>
      </p:pic>
      <p:sp>
        <p:nvSpPr>
          <p:cNvPr id="5" name="Rectangle 4">
            <a:extLst>
              <a:ext uri="{FF2B5EF4-FFF2-40B4-BE49-F238E27FC236}">
                <a16:creationId xmlns:a16="http://schemas.microsoft.com/office/drawing/2014/main" id="{E79756BE-1A92-489D-89D7-3C67630A41F1}"/>
              </a:ext>
            </a:extLst>
          </p:cNvPr>
          <p:cNvSpPr>
            <a:spLocks noGrp="1"/>
          </p:cNvSpPr>
          <p:nvPr/>
        </p:nvSpPr>
        <p:spPr>
          <a:xfrm>
            <a:off x="6667500" y="2000250"/>
            <a:ext cx="1714500" cy="304800"/>
          </a:xfrm>
          <a:prstGeom prst="rect">
            <a:avLst/>
          </a:prstGeom>
          <a:noFill/>
          <a:ln w="0">
            <a:noFill/>
            <a:prstDash val="solid"/>
          </a:ln>
        </p:spPr>
        <p:txBody>
          <a:bodyPr anchor="ctr"/>
          <a:lstStyle/>
          <a:p>
            <a:pPr>
              <a:defRPr sz="1350" b="1">
                <a:solidFill>
                  <a:srgbClr val="D8B86A"/>
                </a:solidFill>
              </a:defRPr>
            </a:pPr>
            <a:r>
              <a:rPr sz="1350" b="1">
                <a:solidFill>
                  <a:srgbClr val="D8B86A"/>
                </a:solidFill>
              </a:rPr>
              <a:t>02 / 07</a:t>
            </a:r>
          </a:p>
        </p:txBody>
      </p:sp>
      <p:sp>
        <p:nvSpPr>
          <p:cNvPr id="6" name="Rectangle 5">
            <a:extLst>
              <a:ext uri="{FF2B5EF4-FFF2-40B4-BE49-F238E27FC236}">
                <a16:creationId xmlns:a16="http://schemas.microsoft.com/office/drawing/2014/main" id="{802D14B9-BC89-4C88-A195-21D7CC39358B}"/>
              </a:ext>
            </a:extLst>
          </p:cNvPr>
          <p:cNvSpPr>
            <a:spLocks noGrp="1"/>
          </p:cNvSpPr>
          <p:nvPr/>
        </p:nvSpPr>
        <p:spPr>
          <a:xfrm>
            <a:off x="6667500" y="2400300"/>
            <a:ext cx="4524375" cy="457200"/>
          </a:xfrm>
          <a:prstGeom prst="rect">
            <a:avLst/>
          </a:prstGeom>
          <a:noFill/>
          <a:ln w="0">
            <a:noFill/>
            <a:prstDash val="solid"/>
          </a:ln>
        </p:spPr>
        <p:txBody>
          <a:bodyPr anchor="ctr"/>
          <a:lstStyle/>
          <a:p>
            <a:pPr>
              <a:defRPr sz="1425">
                <a:solidFill>
                  <a:srgbClr val="D8B86A"/>
                </a:solidFill>
              </a:defRPr>
            </a:pPr>
            <a:r>
              <a:rPr sz="1425">
                <a:solidFill>
                  <a:srgbClr val="D8B86A"/>
                </a:solidFill>
              </a:rPr>
              <a:t>c. 1426 | Hamburger Kunsthalle, HK-491</a:t>
            </a:r>
          </a:p>
        </p:txBody>
      </p:sp>
      <p:sp>
        <p:nvSpPr>
          <p:cNvPr id="7" name="Rectangle 6">
            <a:extLst>
              <a:ext uri="{FF2B5EF4-FFF2-40B4-BE49-F238E27FC236}">
                <a16:creationId xmlns:a16="http://schemas.microsoft.com/office/drawing/2014/main" id="{B7C586E8-BDCC-4C00-9E0B-76F59705BD4C}"/>
              </a:ext>
            </a:extLst>
          </p:cNvPr>
          <p:cNvSpPr>
            <a:spLocks noGrp="1"/>
          </p:cNvSpPr>
          <p:nvPr/>
        </p:nvSpPr>
        <p:spPr>
          <a:xfrm>
            <a:off x="6667500" y="3190875"/>
            <a:ext cx="142875" cy="142875"/>
          </a:xfrm>
          <a:prstGeom prst="rect">
            <a:avLst/>
          </a:prstGeom>
          <a:solidFill>
            <a:srgbClr val="B592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5DDE2D44-8636-4935-B92C-52C3A3A2A9EB}"/>
              </a:ext>
            </a:extLst>
          </p:cNvPr>
          <p:cNvSpPr>
            <a:spLocks noGrp="1"/>
          </p:cNvSpPr>
          <p:nvPr/>
        </p:nvSpPr>
        <p:spPr>
          <a:xfrm>
            <a:off x="7000875" y="30480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Weapons cut diagonal paths</a:t>
            </a:r>
          </a:p>
        </p:txBody>
      </p:sp>
      <p:sp>
        <p:nvSpPr>
          <p:cNvPr id="9" name="Rectangle 8">
            <a:extLst>
              <a:ext uri="{FF2B5EF4-FFF2-40B4-BE49-F238E27FC236}">
                <a16:creationId xmlns:a16="http://schemas.microsoft.com/office/drawing/2014/main" id="{3633B870-20A5-4C8A-BC08-3A4B45F933AE}"/>
              </a:ext>
            </a:extLst>
          </p:cNvPr>
          <p:cNvSpPr>
            <a:spLocks noGrp="1"/>
          </p:cNvSpPr>
          <p:nvPr/>
        </p:nvSpPr>
        <p:spPr>
          <a:xfrm>
            <a:off x="6667500" y="3933825"/>
            <a:ext cx="142875" cy="142875"/>
          </a:xfrm>
          <a:prstGeom prst="rect">
            <a:avLst/>
          </a:prstGeom>
          <a:solidFill>
            <a:srgbClr val="B592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74C1A6E-FC19-43B4-B4EC-C70F216884F9}"/>
              </a:ext>
            </a:extLst>
          </p:cNvPr>
          <p:cNvSpPr>
            <a:spLocks noGrp="1"/>
          </p:cNvSpPr>
          <p:nvPr/>
        </p:nvSpPr>
        <p:spPr>
          <a:xfrm>
            <a:off x="7000875" y="379095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Bodies overlap</a:t>
            </a:r>
          </a:p>
        </p:txBody>
      </p:sp>
      <p:sp>
        <p:nvSpPr>
          <p:cNvPr id="11" name="Rectangle 10">
            <a:extLst>
              <a:ext uri="{FF2B5EF4-FFF2-40B4-BE49-F238E27FC236}">
                <a16:creationId xmlns:a16="http://schemas.microsoft.com/office/drawing/2014/main" id="{795B5173-B7C2-4878-994B-7428A416338E}"/>
              </a:ext>
            </a:extLst>
          </p:cNvPr>
          <p:cNvSpPr>
            <a:spLocks noGrp="1"/>
          </p:cNvSpPr>
          <p:nvPr/>
        </p:nvSpPr>
        <p:spPr>
          <a:xfrm>
            <a:off x="6667500" y="4676775"/>
            <a:ext cx="142875" cy="142875"/>
          </a:xfrm>
          <a:prstGeom prst="rect">
            <a:avLst/>
          </a:prstGeom>
          <a:solidFill>
            <a:srgbClr val="B5924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DE79F302-CF75-42A3-827A-42AEB2F4AA2E}"/>
              </a:ext>
            </a:extLst>
          </p:cNvPr>
          <p:cNvSpPr>
            <a:spLocks noGrp="1"/>
          </p:cNvSpPr>
          <p:nvPr/>
        </p:nvSpPr>
        <p:spPr>
          <a:xfrm>
            <a:off x="7000875" y="45339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The archbishop's mitre falls</a:t>
            </a:r>
          </a:p>
        </p:txBody>
      </p:sp>
      <p:sp>
        <p:nvSpPr>
          <p:cNvPr id="13" name="Rectangle 12">
            <a:extLst>
              <a:ext uri="{FF2B5EF4-FFF2-40B4-BE49-F238E27FC236}">
                <a16:creationId xmlns:a16="http://schemas.microsoft.com/office/drawing/2014/main" id="{6A92B69B-2C01-4009-BA82-F151D1855AA2}"/>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B7B8CAF0-6EE6-46E9-AC55-E74537F3352F}"/>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09</a:t>
            </a:r>
          </a:p>
        </p:txBody>
      </p:sp>
    </p:spTree>
    <p:extLst>
      <p:ext uri="{BB962C8B-B14F-4D97-AF65-F5344CB8AC3E}">
        <p14:creationId xmlns:p14="http://schemas.microsoft.com/office/powerpoint/2010/main" val="1877850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9BA02B9-935A-41D2-98F2-E5BA1ED9A0B7}"/>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Christ Carrying the Cross: crowding becomes pain</a:t>
            </a:r>
          </a:p>
        </p:txBody>
      </p:sp>
      <p:sp>
        <p:nvSpPr>
          <p:cNvPr id="3" name="Rectangle 2">
            <a:extLst>
              <a:ext uri="{FF2B5EF4-FFF2-40B4-BE49-F238E27FC236}">
                <a16:creationId xmlns:a16="http://schemas.microsoft.com/office/drawing/2014/main" id="{90D5AD69-31F1-4F16-85CD-940D49D29581}"/>
              </a:ext>
            </a:extLst>
          </p:cNvPr>
          <p:cNvSpPr>
            <a:spLocks noGrp="1"/>
          </p:cNvSpPr>
          <p:nvPr/>
        </p:nvSpPr>
        <p:spPr>
          <a:xfrm>
            <a:off x="666750" y="1762125"/>
            <a:ext cx="5238750" cy="4333875"/>
          </a:xfrm>
          <a:prstGeom prst="rect">
            <a:avLst/>
          </a:prstGeom>
          <a:solidFill>
            <a:srgbClr val="E9D8AA"/>
          </a:solidFill>
          <a:ln w="0">
            <a:noFill/>
            <a:prstDash val="solid"/>
          </a:ln>
        </p:spPr>
        <p:txBody>
          <a:bodyPr/>
          <a:lstStyle/>
          <a:p>
            <a:endParaRPr lang="en-US"/>
          </a:p>
        </p:txBody>
      </p:sp>
      <p:pic>
        <p:nvPicPr>
          <p:cNvPr id="18" name="Picture 17"/>
          <p:cNvPicPr>
            <a:picLocks noChangeAspect="1"/>
          </p:cNvPicPr>
          <p:nvPr/>
        </p:nvPicPr>
        <p:blipFill>
          <a:blip r:embed="rId4"/>
          <a:stretch/>
        </p:blipFill>
        <p:spPr>
          <a:xfrm>
            <a:off x="1478232" y="1876425"/>
            <a:ext cx="3615786" cy="4105275"/>
          </a:xfrm>
          <a:prstGeom prst="rect">
            <a:avLst/>
          </a:prstGeom>
        </p:spPr>
      </p:pic>
      <p:sp>
        <p:nvSpPr>
          <p:cNvPr id="5" name="Rectangle 4">
            <a:extLst>
              <a:ext uri="{FF2B5EF4-FFF2-40B4-BE49-F238E27FC236}">
                <a16:creationId xmlns:a16="http://schemas.microsoft.com/office/drawing/2014/main" id="{8FA3264E-7465-472E-BB46-685E5976F6F7}"/>
              </a:ext>
            </a:extLst>
          </p:cNvPr>
          <p:cNvSpPr>
            <a:spLocks noGrp="1"/>
          </p:cNvSpPr>
          <p:nvPr/>
        </p:nvSpPr>
        <p:spPr>
          <a:xfrm>
            <a:off x="6667500" y="2000250"/>
            <a:ext cx="1714500" cy="304800"/>
          </a:xfrm>
          <a:prstGeom prst="rect">
            <a:avLst/>
          </a:prstGeom>
          <a:noFill/>
          <a:ln w="0">
            <a:noFill/>
            <a:prstDash val="solid"/>
          </a:ln>
        </p:spPr>
        <p:txBody>
          <a:bodyPr anchor="ctr"/>
          <a:lstStyle/>
          <a:p>
            <a:pPr>
              <a:defRPr sz="1350" b="1">
                <a:solidFill>
                  <a:srgbClr val="D8B86A"/>
                </a:solidFill>
              </a:defRPr>
            </a:pPr>
            <a:r>
              <a:rPr sz="1350" b="1">
                <a:solidFill>
                  <a:srgbClr val="D8B86A"/>
                </a:solidFill>
              </a:rPr>
              <a:t>03 / 07</a:t>
            </a:r>
          </a:p>
        </p:txBody>
      </p:sp>
      <p:sp>
        <p:nvSpPr>
          <p:cNvPr id="6" name="Rectangle 5">
            <a:extLst>
              <a:ext uri="{FF2B5EF4-FFF2-40B4-BE49-F238E27FC236}">
                <a16:creationId xmlns:a16="http://schemas.microsoft.com/office/drawing/2014/main" id="{FD95376C-BC8F-4F5E-8628-98EF2E32CF7A}"/>
              </a:ext>
            </a:extLst>
          </p:cNvPr>
          <p:cNvSpPr>
            <a:spLocks noGrp="1"/>
          </p:cNvSpPr>
          <p:nvPr/>
        </p:nvSpPr>
        <p:spPr>
          <a:xfrm>
            <a:off x="6667500" y="2400300"/>
            <a:ext cx="4524375" cy="457200"/>
          </a:xfrm>
          <a:prstGeom prst="rect">
            <a:avLst/>
          </a:prstGeom>
          <a:noFill/>
          <a:ln w="0">
            <a:noFill/>
            <a:prstDash val="solid"/>
          </a:ln>
        </p:spPr>
        <p:txBody>
          <a:bodyPr anchor="ctr"/>
          <a:lstStyle/>
          <a:p>
            <a:pPr>
              <a:defRPr sz="1425">
                <a:solidFill>
                  <a:srgbClr val="D8B86A"/>
                </a:solidFill>
              </a:defRPr>
            </a:pPr>
            <a:r>
              <a:rPr sz="1425">
                <a:solidFill>
                  <a:srgbClr val="D8B86A"/>
                </a:solidFill>
              </a:rPr>
              <a:t>c. 1428 | Hamburger Kunsthalle, HK-495</a:t>
            </a:r>
          </a:p>
        </p:txBody>
      </p:sp>
      <p:sp>
        <p:nvSpPr>
          <p:cNvPr id="7" name="Rectangle 6">
            <a:extLst>
              <a:ext uri="{FF2B5EF4-FFF2-40B4-BE49-F238E27FC236}">
                <a16:creationId xmlns:a16="http://schemas.microsoft.com/office/drawing/2014/main" id="{F3F4C250-66BE-4D77-AC9B-864E111BD7F6}"/>
              </a:ext>
            </a:extLst>
          </p:cNvPr>
          <p:cNvSpPr>
            <a:spLocks noGrp="1"/>
          </p:cNvSpPr>
          <p:nvPr/>
        </p:nvSpPr>
        <p:spPr>
          <a:xfrm>
            <a:off x="6667500" y="3190875"/>
            <a:ext cx="142875" cy="142875"/>
          </a:xfrm>
          <a:prstGeom prst="rect">
            <a:avLst/>
          </a:prstGeom>
          <a:solidFill>
            <a:srgbClr val="B592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6ED3408E-443E-4DCD-BD8B-26D41CCB6183}"/>
              </a:ext>
            </a:extLst>
          </p:cNvPr>
          <p:cNvSpPr>
            <a:spLocks noGrp="1"/>
          </p:cNvSpPr>
          <p:nvPr/>
        </p:nvSpPr>
        <p:spPr>
          <a:xfrm>
            <a:off x="7000875" y="30480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Almost no breathing room</a:t>
            </a:r>
          </a:p>
        </p:txBody>
      </p:sp>
      <p:sp>
        <p:nvSpPr>
          <p:cNvPr id="9" name="Rectangle 8">
            <a:extLst>
              <a:ext uri="{FF2B5EF4-FFF2-40B4-BE49-F238E27FC236}">
                <a16:creationId xmlns:a16="http://schemas.microsoft.com/office/drawing/2014/main" id="{24073E3D-8D27-4968-8FB4-D9BC2604F400}"/>
              </a:ext>
            </a:extLst>
          </p:cNvPr>
          <p:cNvSpPr>
            <a:spLocks noGrp="1"/>
          </p:cNvSpPr>
          <p:nvPr/>
        </p:nvSpPr>
        <p:spPr>
          <a:xfrm>
            <a:off x="6667500" y="3933825"/>
            <a:ext cx="142875" cy="142875"/>
          </a:xfrm>
          <a:prstGeom prst="rect">
            <a:avLst/>
          </a:prstGeom>
          <a:solidFill>
            <a:srgbClr val="B592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7C4CA3E-0421-444A-BB95-AA87A20516FB}"/>
              </a:ext>
            </a:extLst>
          </p:cNvPr>
          <p:cNvSpPr>
            <a:spLocks noGrp="1"/>
          </p:cNvSpPr>
          <p:nvPr/>
        </p:nvSpPr>
        <p:spPr>
          <a:xfrm>
            <a:off x="7000875" y="379095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Cross, arms, and faces create pressure</a:t>
            </a:r>
          </a:p>
        </p:txBody>
      </p:sp>
      <p:sp>
        <p:nvSpPr>
          <p:cNvPr id="11" name="Rectangle 10">
            <a:extLst>
              <a:ext uri="{FF2B5EF4-FFF2-40B4-BE49-F238E27FC236}">
                <a16:creationId xmlns:a16="http://schemas.microsoft.com/office/drawing/2014/main" id="{E9672452-B271-4D5F-8D13-C5AD792A8410}"/>
              </a:ext>
            </a:extLst>
          </p:cNvPr>
          <p:cNvSpPr>
            <a:spLocks noGrp="1"/>
          </p:cNvSpPr>
          <p:nvPr/>
        </p:nvSpPr>
        <p:spPr>
          <a:xfrm>
            <a:off x="6667500" y="4676775"/>
            <a:ext cx="142875" cy="142875"/>
          </a:xfrm>
          <a:prstGeom prst="rect">
            <a:avLst/>
          </a:prstGeom>
          <a:solidFill>
            <a:srgbClr val="B5924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7F740846-8E88-4387-8CFC-BE218BA080EB}"/>
              </a:ext>
            </a:extLst>
          </p:cNvPr>
          <p:cNvSpPr>
            <a:spLocks noGrp="1"/>
          </p:cNvSpPr>
          <p:nvPr/>
        </p:nvSpPr>
        <p:spPr>
          <a:xfrm>
            <a:off x="7000875" y="45339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Medieval anti-Jewish stereotypes require context</a:t>
            </a:r>
          </a:p>
        </p:txBody>
      </p:sp>
      <p:sp>
        <p:nvSpPr>
          <p:cNvPr id="13" name="Rectangle 12">
            <a:extLst>
              <a:ext uri="{FF2B5EF4-FFF2-40B4-BE49-F238E27FC236}">
                <a16:creationId xmlns:a16="http://schemas.microsoft.com/office/drawing/2014/main" id="{DAD8C775-1C44-41C9-B8AC-D32FBE44D3C0}"/>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F00EE83D-CA66-4620-85DB-79A80125D906}"/>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10</a:t>
            </a:r>
          </a:p>
        </p:txBody>
      </p:sp>
    </p:spTree>
    <p:extLst>
      <p:ext uri="{BB962C8B-B14F-4D97-AF65-F5344CB8AC3E}">
        <p14:creationId xmlns:p14="http://schemas.microsoft.com/office/powerpoint/2010/main" val="72222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7D2CCBB-473C-41E3-9880-028B7342E186}"/>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Mourning Women: grief is carried by a group</a:t>
            </a:r>
          </a:p>
        </p:txBody>
      </p:sp>
      <p:sp>
        <p:nvSpPr>
          <p:cNvPr id="3" name="Rectangle 2">
            <a:extLst>
              <a:ext uri="{FF2B5EF4-FFF2-40B4-BE49-F238E27FC236}">
                <a16:creationId xmlns:a16="http://schemas.microsoft.com/office/drawing/2014/main" id="{9B174C29-63CD-4013-939D-C2165E360A67}"/>
              </a:ext>
            </a:extLst>
          </p:cNvPr>
          <p:cNvSpPr>
            <a:spLocks noGrp="1"/>
          </p:cNvSpPr>
          <p:nvPr/>
        </p:nvSpPr>
        <p:spPr>
          <a:xfrm>
            <a:off x="666750" y="1762125"/>
            <a:ext cx="5238750" cy="4333875"/>
          </a:xfrm>
          <a:prstGeom prst="rect">
            <a:avLst/>
          </a:prstGeom>
          <a:solidFill>
            <a:srgbClr val="E9D8AA"/>
          </a:solidFill>
          <a:ln w="0">
            <a:noFill/>
            <a:prstDash val="solid"/>
          </a:ln>
        </p:spPr>
        <p:txBody>
          <a:bodyPr/>
          <a:lstStyle/>
          <a:p>
            <a:endParaRPr lang="en-US"/>
          </a:p>
        </p:txBody>
      </p:sp>
      <p:pic>
        <p:nvPicPr>
          <p:cNvPr id="18" name="Picture 17"/>
          <p:cNvPicPr>
            <a:picLocks noChangeAspect="1"/>
          </p:cNvPicPr>
          <p:nvPr/>
        </p:nvPicPr>
        <p:blipFill>
          <a:blip r:embed="rId4"/>
          <a:stretch/>
        </p:blipFill>
        <p:spPr>
          <a:xfrm>
            <a:off x="1278132" y="1876425"/>
            <a:ext cx="4015987" cy="4105275"/>
          </a:xfrm>
          <a:prstGeom prst="rect">
            <a:avLst/>
          </a:prstGeom>
        </p:spPr>
      </p:pic>
      <p:sp>
        <p:nvSpPr>
          <p:cNvPr id="5" name="Rectangle 4">
            <a:extLst>
              <a:ext uri="{FF2B5EF4-FFF2-40B4-BE49-F238E27FC236}">
                <a16:creationId xmlns:a16="http://schemas.microsoft.com/office/drawing/2014/main" id="{2F4E5E97-75E8-4654-BD5B-1D90ED5103F0}"/>
              </a:ext>
            </a:extLst>
          </p:cNvPr>
          <p:cNvSpPr>
            <a:spLocks noGrp="1"/>
          </p:cNvSpPr>
          <p:nvPr/>
        </p:nvSpPr>
        <p:spPr>
          <a:xfrm>
            <a:off x="6667500" y="2000250"/>
            <a:ext cx="1714500" cy="304800"/>
          </a:xfrm>
          <a:prstGeom prst="rect">
            <a:avLst/>
          </a:prstGeom>
          <a:noFill/>
          <a:ln w="0">
            <a:noFill/>
            <a:prstDash val="solid"/>
          </a:ln>
        </p:spPr>
        <p:txBody>
          <a:bodyPr anchor="ctr"/>
          <a:lstStyle/>
          <a:p>
            <a:pPr>
              <a:defRPr sz="1350" b="1">
                <a:solidFill>
                  <a:srgbClr val="D8B86A"/>
                </a:solidFill>
              </a:defRPr>
            </a:pPr>
            <a:r>
              <a:rPr sz="1350" b="1">
                <a:solidFill>
                  <a:srgbClr val="D8B86A"/>
                </a:solidFill>
              </a:rPr>
              <a:t>04 / 07</a:t>
            </a:r>
          </a:p>
        </p:txBody>
      </p:sp>
      <p:sp>
        <p:nvSpPr>
          <p:cNvPr id="6" name="Rectangle 5">
            <a:extLst>
              <a:ext uri="{FF2B5EF4-FFF2-40B4-BE49-F238E27FC236}">
                <a16:creationId xmlns:a16="http://schemas.microsoft.com/office/drawing/2014/main" id="{8549CF8C-4C3D-4B27-8CC7-0C42A41C3797}"/>
              </a:ext>
            </a:extLst>
          </p:cNvPr>
          <p:cNvSpPr>
            <a:spLocks noGrp="1"/>
          </p:cNvSpPr>
          <p:nvPr/>
        </p:nvSpPr>
        <p:spPr>
          <a:xfrm>
            <a:off x="6667500" y="2400300"/>
            <a:ext cx="4524375" cy="457200"/>
          </a:xfrm>
          <a:prstGeom prst="rect">
            <a:avLst/>
          </a:prstGeom>
          <a:noFill/>
          <a:ln w="0">
            <a:noFill/>
            <a:prstDash val="solid"/>
          </a:ln>
        </p:spPr>
        <p:txBody>
          <a:bodyPr anchor="ctr"/>
          <a:lstStyle/>
          <a:p>
            <a:pPr>
              <a:defRPr sz="1425">
                <a:solidFill>
                  <a:srgbClr val="D8B86A"/>
                </a:solidFill>
              </a:defRPr>
            </a:pPr>
            <a:r>
              <a:rPr sz="1425">
                <a:solidFill>
                  <a:srgbClr val="D8B86A"/>
                </a:solidFill>
              </a:rPr>
              <a:t>c. 1435 | Hamburger Kunsthalle, HK-496 | Crucifixion fragment</a:t>
            </a:r>
          </a:p>
        </p:txBody>
      </p:sp>
      <p:sp>
        <p:nvSpPr>
          <p:cNvPr id="7" name="Rectangle 6">
            <a:extLst>
              <a:ext uri="{FF2B5EF4-FFF2-40B4-BE49-F238E27FC236}">
                <a16:creationId xmlns:a16="http://schemas.microsoft.com/office/drawing/2014/main" id="{F09C0151-8759-4EBD-9641-1C6C6370819D}"/>
              </a:ext>
            </a:extLst>
          </p:cNvPr>
          <p:cNvSpPr>
            <a:spLocks noGrp="1"/>
          </p:cNvSpPr>
          <p:nvPr/>
        </p:nvSpPr>
        <p:spPr>
          <a:xfrm>
            <a:off x="6667500" y="3190875"/>
            <a:ext cx="142875" cy="142875"/>
          </a:xfrm>
          <a:prstGeom prst="rect">
            <a:avLst/>
          </a:prstGeom>
          <a:solidFill>
            <a:srgbClr val="B592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91465825-3AC2-4AE5-A379-B2B727A66D74}"/>
              </a:ext>
            </a:extLst>
          </p:cNvPr>
          <p:cNvSpPr>
            <a:spLocks noGrp="1"/>
          </p:cNvSpPr>
          <p:nvPr/>
        </p:nvSpPr>
        <p:spPr>
          <a:xfrm>
            <a:off x="7000875" y="30480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Bowed heads</a:t>
            </a:r>
          </a:p>
        </p:txBody>
      </p:sp>
      <p:sp>
        <p:nvSpPr>
          <p:cNvPr id="9" name="Rectangle 8">
            <a:extLst>
              <a:ext uri="{FF2B5EF4-FFF2-40B4-BE49-F238E27FC236}">
                <a16:creationId xmlns:a16="http://schemas.microsoft.com/office/drawing/2014/main" id="{142CAF27-6DFD-4A8C-9EE4-DF460DB326BC}"/>
              </a:ext>
            </a:extLst>
          </p:cNvPr>
          <p:cNvSpPr>
            <a:spLocks noGrp="1"/>
          </p:cNvSpPr>
          <p:nvPr/>
        </p:nvSpPr>
        <p:spPr>
          <a:xfrm>
            <a:off x="6667500" y="3933825"/>
            <a:ext cx="142875" cy="142875"/>
          </a:xfrm>
          <a:prstGeom prst="rect">
            <a:avLst/>
          </a:prstGeom>
          <a:solidFill>
            <a:srgbClr val="B592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2AE47790-7167-48A3-B0ED-6E25262EECB8}"/>
              </a:ext>
            </a:extLst>
          </p:cNvPr>
          <p:cNvSpPr>
            <a:spLocks noGrp="1"/>
          </p:cNvSpPr>
          <p:nvPr/>
        </p:nvSpPr>
        <p:spPr>
          <a:xfrm>
            <a:off x="7000875" y="379095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Interlocking arms</a:t>
            </a:r>
          </a:p>
        </p:txBody>
      </p:sp>
      <p:sp>
        <p:nvSpPr>
          <p:cNvPr id="11" name="Rectangle 10">
            <a:extLst>
              <a:ext uri="{FF2B5EF4-FFF2-40B4-BE49-F238E27FC236}">
                <a16:creationId xmlns:a16="http://schemas.microsoft.com/office/drawing/2014/main" id="{070DFFB5-CAAD-4E30-8148-2B307951F87B}"/>
              </a:ext>
            </a:extLst>
          </p:cNvPr>
          <p:cNvSpPr>
            <a:spLocks noGrp="1"/>
          </p:cNvSpPr>
          <p:nvPr/>
        </p:nvSpPr>
        <p:spPr>
          <a:xfrm>
            <a:off x="6667500" y="4676775"/>
            <a:ext cx="142875" cy="142875"/>
          </a:xfrm>
          <a:prstGeom prst="rect">
            <a:avLst/>
          </a:prstGeom>
          <a:solidFill>
            <a:srgbClr val="B5924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BAAAC2C-1A08-4B96-A817-E2C9434D7559}"/>
              </a:ext>
            </a:extLst>
          </p:cNvPr>
          <p:cNvSpPr>
            <a:spLocks noGrp="1"/>
          </p:cNvSpPr>
          <p:nvPr/>
        </p:nvSpPr>
        <p:spPr>
          <a:xfrm>
            <a:off x="7000875" y="45339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Folds draw the group inward</a:t>
            </a:r>
          </a:p>
        </p:txBody>
      </p:sp>
      <p:sp>
        <p:nvSpPr>
          <p:cNvPr id="13" name="Rectangle 12">
            <a:extLst>
              <a:ext uri="{FF2B5EF4-FFF2-40B4-BE49-F238E27FC236}">
                <a16:creationId xmlns:a16="http://schemas.microsoft.com/office/drawing/2014/main" id="{3E5D8B6A-0F8B-4E6F-9BFA-220C4FA8E7A1}"/>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201B9989-B9AE-43B4-A22B-1C336C637380}"/>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11</a:t>
            </a:r>
          </a:p>
        </p:txBody>
      </p:sp>
    </p:spTree>
    <p:extLst>
      <p:ext uri="{BB962C8B-B14F-4D97-AF65-F5344CB8AC3E}">
        <p14:creationId xmlns:p14="http://schemas.microsoft.com/office/powerpoint/2010/main" val="353892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C02E7C3-54B9-423F-A381-B0741B71A1C5}"/>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The Kalanti Altarpiece: an object crosses the Baltic</a:t>
            </a:r>
          </a:p>
        </p:txBody>
      </p:sp>
      <p:sp>
        <p:nvSpPr>
          <p:cNvPr id="3" name="Rectangle 2">
            <a:extLst>
              <a:ext uri="{FF2B5EF4-FFF2-40B4-BE49-F238E27FC236}">
                <a16:creationId xmlns:a16="http://schemas.microsoft.com/office/drawing/2014/main" id="{323E20B6-3014-44A7-8CCE-8F2FD345998D}"/>
              </a:ext>
            </a:extLst>
          </p:cNvPr>
          <p:cNvSpPr>
            <a:spLocks noGrp="1"/>
          </p:cNvSpPr>
          <p:nvPr/>
        </p:nvSpPr>
        <p:spPr>
          <a:xfrm>
            <a:off x="704850" y="1809750"/>
            <a:ext cx="10782300" cy="2781300"/>
          </a:xfrm>
          <a:prstGeom prst="rect">
            <a:avLst/>
          </a:prstGeom>
          <a:solidFill>
            <a:srgbClr val="E9D8AA"/>
          </a:solidFill>
          <a:ln w="0">
            <a:noFill/>
            <a:prstDash val="solid"/>
          </a:ln>
        </p:spPr>
        <p:txBody>
          <a:bodyPr/>
          <a:lstStyle/>
          <a:p>
            <a:endParaRPr lang="en-US"/>
          </a:p>
        </p:txBody>
      </p:sp>
      <p:pic>
        <p:nvPicPr>
          <p:cNvPr id="15" name="Picture 14"/>
          <p:cNvPicPr>
            <a:picLocks noChangeAspect="1"/>
          </p:cNvPicPr>
          <p:nvPr/>
        </p:nvPicPr>
        <p:blipFill>
          <a:blip r:embed="rId4"/>
          <a:stretch/>
        </p:blipFill>
        <p:spPr>
          <a:xfrm>
            <a:off x="3194538" y="1943100"/>
            <a:ext cx="5802923" cy="2514600"/>
          </a:xfrm>
          <a:prstGeom prst="rect">
            <a:avLst/>
          </a:prstGeom>
        </p:spPr>
      </p:pic>
      <p:sp>
        <p:nvSpPr>
          <p:cNvPr id="5" name="Rectangle 4">
            <a:extLst>
              <a:ext uri="{FF2B5EF4-FFF2-40B4-BE49-F238E27FC236}">
                <a16:creationId xmlns:a16="http://schemas.microsoft.com/office/drawing/2014/main" id="{A9D87F06-5F3F-4E40-8B8C-475A706BB632}"/>
              </a:ext>
            </a:extLst>
          </p:cNvPr>
          <p:cNvSpPr>
            <a:spLocks noGrp="1"/>
          </p:cNvSpPr>
          <p:nvPr/>
        </p:nvSpPr>
        <p:spPr>
          <a:xfrm>
            <a:off x="876300" y="4810125"/>
            <a:ext cx="1238250" cy="285750"/>
          </a:xfrm>
          <a:prstGeom prst="rect">
            <a:avLst/>
          </a:prstGeom>
          <a:noFill/>
          <a:ln w="0">
            <a:noFill/>
            <a:prstDash val="solid"/>
          </a:ln>
        </p:spPr>
        <p:txBody>
          <a:bodyPr anchor="ctr"/>
          <a:lstStyle/>
          <a:p>
            <a:pPr>
              <a:defRPr sz="1350" b="1">
                <a:solidFill>
                  <a:srgbClr val="D8B86A"/>
                </a:solidFill>
              </a:defRPr>
            </a:pPr>
            <a:r>
              <a:rPr sz="1350" b="1">
                <a:solidFill>
                  <a:srgbClr val="D8B86A"/>
                </a:solidFill>
              </a:rPr>
              <a:t>05 / 07</a:t>
            </a:r>
          </a:p>
        </p:txBody>
      </p:sp>
      <p:sp>
        <p:nvSpPr>
          <p:cNvPr id="6" name="Rectangle 5">
            <a:extLst>
              <a:ext uri="{FF2B5EF4-FFF2-40B4-BE49-F238E27FC236}">
                <a16:creationId xmlns:a16="http://schemas.microsoft.com/office/drawing/2014/main" id="{86814A41-B18A-4B72-9D55-0DF6D9564FBD}"/>
              </a:ext>
            </a:extLst>
          </p:cNvPr>
          <p:cNvSpPr>
            <a:spLocks noGrp="1"/>
          </p:cNvSpPr>
          <p:nvPr/>
        </p:nvSpPr>
        <p:spPr>
          <a:xfrm>
            <a:off x="2238375" y="4772025"/>
            <a:ext cx="8953500" cy="342900"/>
          </a:xfrm>
          <a:prstGeom prst="rect">
            <a:avLst/>
          </a:prstGeom>
          <a:noFill/>
          <a:ln w="0">
            <a:noFill/>
            <a:prstDash val="solid"/>
          </a:ln>
        </p:spPr>
        <p:txBody>
          <a:bodyPr anchor="ctr"/>
          <a:lstStyle/>
          <a:p>
            <a:pPr>
              <a:defRPr sz="1425">
                <a:solidFill>
                  <a:srgbClr val="D8B86A"/>
                </a:solidFill>
              </a:defRPr>
            </a:pPr>
            <a:r>
              <a:rPr sz="1425">
                <a:solidFill>
                  <a:srgbClr val="D8B86A"/>
                </a:solidFill>
              </a:rPr>
              <a:t>National Museum of Finland's current dating: 1430s | open: c. 200 × 260 cm</a:t>
            </a:r>
          </a:p>
        </p:txBody>
      </p:sp>
      <p:sp>
        <p:nvSpPr>
          <p:cNvPr id="7" name="Rectangle 6">
            <a:extLst>
              <a:ext uri="{FF2B5EF4-FFF2-40B4-BE49-F238E27FC236}">
                <a16:creationId xmlns:a16="http://schemas.microsoft.com/office/drawing/2014/main" id="{729E149D-8E2C-4185-B917-D0EB1B8311D9}"/>
              </a:ext>
            </a:extLst>
          </p:cNvPr>
          <p:cNvSpPr>
            <a:spLocks noGrp="1"/>
          </p:cNvSpPr>
          <p:nvPr/>
        </p:nvSpPr>
        <p:spPr>
          <a:xfrm>
            <a:off x="1143000" y="5219700"/>
            <a:ext cx="10001250" cy="285750"/>
          </a:xfrm>
          <a:prstGeom prst="rect">
            <a:avLst/>
          </a:prstGeom>
          <a:noFill/>
          <a:ln w="0">
            <a:noFill/>
            <a:prstDash val="solid"/>
          </a:ln>
        </p:spPr>
        <p:txBody>
          <a:bodyPr anchor="ctr"/>
          <a:lstStyle/>
          <a:p>
            <a:pPr>
              <a:defRPr sz="1350">
                <a:solidFill>
                  <a:srgbClr val="F5EBD1"/>
                </a:solidFill>
              </a:defRPr>
            </a:pPr>
            <a:r>
              <a:rPr sz="1350">
                <a:solidFill>
                  <a:srgbClr val="F5EBD1"/>
                </a:solidFill>
              </a:rPr>
              <a:t>—  Eight wing scenes narrate Saint Barbara's martyrdom</a:t>
            </a:r>
          </a:p>
        </p:txBody>
      </p:sp>
      <p:sp>
        <p:nvSpPr>
          <p:cNvPr id="8" name="Rectangle 7">
            <a:extLst>
              <a:ext uri="{FF2B5EF4-FFF2-40B4-BE49-F238E27FC236}">
                <a16:creationId xmlns:a16="http://schemas.microsoft.com/office/drawing/2014/main" id="{C986FBC6-5363-4772-BBE2-DBD3A007677E}"/>
              </a:ext>
            </a:extLst>
          </p:cNvPr>
          <p:cNvSpPr>
            <a:spLocks noGrp="1"/>
          </p:cNvSpPr>
          <p:nvPr/>
        </p:nvSpPr>
        <p:spPr>
          <a:xfrm>
            <a:off x="1143000" y="5562600"/>
            <a:ext cx="10001250" cy="285750"/>
          </a:xfrm>
          <a:prstGeom prst="rect">
            <a:avLst/>
          </a:prstGeom>
          <a:noFill/>
          <a:ln w="0">
            <a:noFill/>
            <a:prstDash val="solid"/>
          </a:ln>
        </p:spPr>
        <p:txBody>
          <a:bodyPr anchor="ctr"/>
          <a:lstStyle/>
          <a:p>
            <a:pPr>
              <a:defRPr sz="1350">
                <a:solidFill>
                  <a:srgbClr val="F5EBD1"/>
                </a:solidFill>
              </a:defRPr>
            </a:pPr>
            <a:r>
              <a:rPr sz="1350">
                <a:solidFill>
                  <a:srgbClr val="F5EBD1"/>
                </a:solidFill>
              </a:rPr>
              <a:t>—  Painting and sculpture came from different makers</a:t>
            </a:r>
          </a:p>
        </p:txBody>
      </p:sp>
      <p:sp>
        <p:nvSpPr>
          <p:cNvPr id="9" name="Rectangle 8">
            <a:extLst>
              <a:ext uri="{FF2B5EF4-FFF2-40B4-BE49-F238E27FC236}">
                <a16:creationId xmlns:a16="http://schemas.microsoft.com/office/drawing/2014/main" id="{397BBD24-A0C7-4818-B499-AF731B7BEA8F}"/>
              </a:ext>
            </a:extLst>
          </p:cNvPr>
          <p:cNvSpPr>
            <a:spLocks noGrp="1"/>
          </p:cNvSpPr>
          <p:nvPr/>
        </p:nvSpPr>
        <p:spPr>
          <a:xfrm>
            <a:off x="1143000" y="5905500"/>
            <a:ext cx="10001250" cy="285750"/>
          </a:xfrm>
          <a:prstGeom prst="rect">
            <a:avLst/>
          </a:prstGeom>
          <a:noFill/>
          <a:ln w="0">
            <a:noFill/>
            <a:prstDash val="solid"/>
          </a:ln>
        </p:spPr>
        <p:txBody>
          <a:bodyPr anchor="ctr"/>
          <a:lstStyle/>
          <a:p>
            <a:pPr>
              <a:defRPr sz="1350">
                <a:solidFill>
                  <a:srgbClr val="F5EBD1"/>
                </a:solidFill>
              </a:defRPr>
            </a:pPr>
            <a:r>
              <a:rPr sz="1350">
                <a:solidFill>
                  <a:srgbClr val="F5EBD1"/>
                </a:solidFill>
              </a:rPr>
              <a:t>—  No document proves the patron or transport route</a:t>
            </a:r>
          </a:p>
        </p:txBody>
      </p:sp>
      <p:sp>
        <p:nvSpPr>
          <p:cNvPr id="10" name="Rectangle 9">
            <a:extLst>
              <a:ext uri="{FF2B5EF4-FFF2-40B4-BE49-F238E27FC236}">
                <a16:creationId xmlns:a16="http://schemas.microsoft.com/office/drawing/2014/main" id="{52914F2C-C909-437D-AB3A-730827777FC1}"/>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1" name="Rectangle 10">
            <a:extLst>
              <a:ext uri="{FF2B5EF4-FFF2-40B4-BE49-F238E27FC236}">
                <a16:creationId xmlns:a16="http://schemas.microsoft.com/office/drawing/2014/main" id="{879EC67D-7843-48B2-A290-49E321F84813}"/>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12</a:t>
            </a:r>
          </a:p>
        </p:txBody>
      </p:sp>
    </p:spTree>
    <p:extLst>
      <p:ext uri="{BB962C8B-B14F-4D97-AF65-F5344CB8AC3E}">
        <p14:creationId xmlns:p14="http://schemas.microsoft.com/office/powerpoint/2010/main" val="1697918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9F3F6A2-C50B-412E-A465-603A81663FA7}"/>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Leipzig Man of Sorrows: narrative recedes and wounds approach</a:t>
            </a:r>
          </a:p>
        </p:txBody>
      </p:sp>
      <p:sp>
        <p:nvSpPr>
          <p:cNvPr id="3" name="Rectangle 2">
            <a:extLst>
              <a:ext uri="{FF2B5EF4-FFF2-40B4-BE49-F238E27FC236}">
                <a16:creationId xmlns:a16="http://schemas.microsoft.com/office/drawing/2014/main" id="{1C1FC711-ABD5-4F1D-B082-D6461501D5E7}"/>
              </a:ext>
            </a:extLst>
          </p:cNvPr>
          <p:cNvSpPr>
            <a:spLocks noGrp="1"/>
          </p:cNvSpPr>
          <p:nvPr/>
        </p:nvSpPr>
        <p:spPr>
          <a:xfrm>
            <a:off x="666750" y="1762125"/>
            <a:ext cx="5238750" cy="4333875"/>
          </a:xfrm>
          <a:prstGeom prst="rect">
            <a:avLst/>
          </a:prstGeom>
          <a:solidFill>
            <a:srgbClr val="E9D8AA"/>
          </a:solidFill>
          <a:ln w="0">
            <a:noFill/>
            <a:prstDash val="solid"/>
          </a:ln>
        </p:spPr>
        <p:txBody>
          <a:bodyPr/>
          <a:lstStyle/>
          <a:p>
            <a:endParaRPr lang="en-US"/>
          </a:p>
        </p:txBody>
      </p:sp>
      <p:pic>
        <p:nvPicPr>
          <p:cNvPr id="18" name="Picture 17"/>
          <p:cNvPicPr>
            <a:picLocks noChangeAspect="1"/>
          </p:cNvPicPr>
          <p:nvPr/>
        </p:nvPicPr>
        <p:blipFill>
          <a:blip r:embed="rId4"/>
          <a:stretch/>
        </p:blipFill>
        <p:spPr>
          <a:xfrm>
            <a:off x="1892384" y="1876425"/>
            <a:ext cx="2787482" cy="4105275"/>
          </a:xfrm>
          <a:prstGeom prst="rect">
            <a:avLst/>
          </a:prstGeom>
        </p:spPr>
      </p:pic>
      <p:sp>
        <p:nvSpPr>
          <p:cNvPr id="5" name="Rectangle 4">
            <a:extLst>
              <a:ext uri="{FF2B5EF4-FFF2-40B4-BE49-F238E27FC236}">
                <a16:creationId xmlns:a16="http://schemas.microsoft.com/office/drawing/2014/main" id="{1783BC3B-7D7A-4272-B64E-5AD26EE45960}"/>
              </a:ext>
            </a:extLst>
          </p:cNvPr>
          <p:cNvSpPr>
            <a:spLocks noGrp="1"/>
          </p:cNvSpPr>
          <p:nvPr/>
        </p:nvSpPr>
        <p:spPr>
          <a:xfrm>
            <a:off x="6667500" y="2000250"/>
            <a:ext cx="1714500" cy="304800"/>
          </a:xfrm>
          <a:prstGeom prst="rect">
            <a:avLst/>
          </a:prstGeom>
          <a:noFill/>
          <a:ln w="0">
            <a:noFill/>
            <a:prstDash val="solid"/>
          </a:ln>
        </p:spPr>
        <p:txBody>
          <a:bodyPr anchor="ctr"/>
          <a:lstStyle/>
          <a:p>
            <a:pPr>
              <a:defRPr sz="1350" b="1">
                <a:solidFill>
                  <a:srgbClr val="D8B86A"/>
                </a:solidFill>
              </a:defRPr>
            </a:pPr>
            <a:r>
              <a:rPr sz="1350" b="1">
                <a:solidFill>
                  <a:srgbClr val="D8B86A"/>
                </a:solidFill>
              </a:rPr>
              <a:t>06 / 07</a:t>
            </a:r>
          </a:p>
        </p:txBody>
      </p:sp>
      <p:sp>
        <p:nvSpPr>
          <p:cNvPr id="6" name="Rectangle 5">
            <a:extLst>
              <a:ext uri="{FF2B5EF4-FFF2-40B4-BE49-F238E27FC236}">
                <a16:creationId xmlns:a16="http://schemas.microsoft.com/office/drawing/2014/main" id="{8F8734DC-C781-4245-9F62-8846DC6F9510}"/>
              </a:ext>
            </a:extLst>
          </p:cNvPr>
          <p:cNvSpPr>
            <a:spLocks noGrp="1"/>
          </p:cNvSpPr>
          <p:nvPr/>
        </p:nvSpPr>
        <p:spPr>
          <a:xfrm>
            <a:off x="6667500" y="2400300"/>
            <a:ext cx="4524375" cy="457200"/>
          </a:xfrm>
          <a:prstGeom prst="rect">
            <a:avLst/>
          </a:prstGeom>
          <a:noFill/>
          <a:ln w="0">
            <a:noFill/>
            <a:prstDash val="solid"/>
          </a:ln>
        </p:spPr>
        <p:txBody>
          <a:bodyPr anchor="ctr"/>
          <a:lstStyle/>
          <a:p>
            <a:pPr>
              <a:defRPr sz="1425">
                <a:solidFill>
                  <a:srgbClr val="D8B86A"/>
                </a:solidFill>
              </a:defRPr>
            </a:pPr>
            <a:r>
              <a:rPr sz="1425">
                <a:solidFill>
                  <a:srgbClr val="D8B86A"/>
                </a:solidFill>
              </a:rPr>
              <a:t>c. 1420 | Museum der bildenden Künste Leipzig</a:t>
            </a:r>
          </a:p>
        </p:txBody>
      </p:sp>
      <p:sp>
        <p:nvSpPr>
          <p:cNvPr id="7" name="Rectangle 6">
            <a:extLst>
              <a:ext uri="{FF2B5EF4-FFF2-40B4-BE49-F238E27FC236}">
                <a16:creationId xmlns:a16="http://schemas.microsoft.com/office/drawing/2014/main" id="{8BB42278-251D-4237-A5F6-00796B9BC79F}"/>
              </a:ext>
            </a:extLst>
          </p:cNvPr>
          <p:cNvSpPr>
            <a:spLocks noGrp="1"/>
          </p:cNvSpPr>
          <p:nvPr/>
        </p:nvSpPr>
        <p:spPr>
          <a:xfrm>
            <a:off x="6667500" y="3190875"/>
            <a:ext cx="142875" cy="142875"/>
          </a:xfrm>
          <a:prstGeom prst="rect">
            <a:avLst/>
          </a:prstGeom>
          <a:solidFill>
            <a:srgbClr val="B592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554213EE-1CCD-4FC3-BD9E-040A0AAD0700}"/>
              </a:ext>
            </a:extLst>
          </p:cNvPr>
          <p:cNvSpPr>
            <a:spLocks noGrp="1"/>
          </p:cNvSpPr>
          <p:nvPr/>
        </p:nvSpPr>
        <p:spPr>
          <a:xfrm>
            <a:off x="7000875" y="30480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Angels support the wounded Christ</a:t>
            </a:r>
          </a:p>
        </p:txBody>
      </p:sp>
      <p:sp>
        <p:nvSpPr>
          <p:cNvPr id="9" name="Rectangle 8">
            <a:extLst>
              <a:ext uri="{FF2B5EF4-FFF2-40B4-BE49-F238E27FC236}">
                <a16:creationId xmlns:a16="http://schemas.microsoft.com/office/drawing/2014/main" id="{CBA08A29-384B-4879-83CF-BD60D88EADE8}"/>
              </a:ext>
            </a:extLst>
          </p:cNvPr>
          <p:cNvSpPr>
            <a:spLocks noGrp="1"/>
          </p:cNvSpPr>
          <p:nvPr/>
        </p:nvSpPr>
        <p:spPr>
          <a:xfrm>
            <a:off x="6667500" y="3933825"/>
            <a:ext cx="142875" cy="142875"/>
          </a:xfrm>
          <a:prstGeom prst="rect">
            <a:avLst/>
          </a:prstGeom>
          <a:solidFill>
            <a:srgbClr val="B592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DE8A860-3CC1-43A1-99B2-7BDB302D7B98}"/>
              </a:ext>
            </a:extLst>
          </p:cNvPr>
          <p:cNvSpPr>
            <a:spLocks noGrp="1"/>
          </p:cNvSpPr>
          <p:nvPr/>
        </p:nvSpPr>
        <p:spPr>
          <a:xfrm>
            <a:off x="7000875" y="379095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No continuous Passion narrative</a:t>
            </a:r>
          </a:p>
        </p:txBody>
      </p:sp>
      <p:sp>
        <p:nvSpPr>
          <p:cNvPr id="11" name="Rectangle 10">
            <a:extLst>
              <a:ext uri="{FF2B5EF4-FFF2-40B4-BE49-F238E27FC236}">
                <a16:creationId xmlns:a16="http://schemas.microsoft.com/office/drawing/2014/main" id="{AD543459-6EE5-4FA8-BA27-0C194A4F80CC}"/>
              </a:ext>
            </a:extLst>
          </p:cNvPr>
          <p:cNvSpPr>
            <a:spLocks noGrp="1"/>
          </p:cNvSpPr>
          <p:nvPr/>
        </p:nvSpPr>
        <p:spPr>
          <a:xfrm>
            <a:off x="6667500" y="4676775"/>
            <a:ext cx="142875" cy="142875"/>
          </a:xfrm>
          <a:prstGeom prst="rect">
            <a:avLst/>
          </a:prstGeom>
          <a:solidFill>
            <a:srgbClr val="B5924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3A7E3D24-DDF1-48B2-B44B-E518EFCB4ED6}"/>
              </a:ext>
            </a:extLst>
          </p:cNvPr>
          <p:cNvSpPr>
            <a:spLocks noGrp="1"/>
          </p:cNvSpPr>
          <p:nvPr/>
        </p:nvSpPr>
        <p:spPr>
          <a:xfrm>
            <a:off x="7000875" y="45339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Designed for close devotional looking</a:t>
            </a:r>
          </a:p>
        </p:txBody>
      </p:sp>
      <p:sp>
        <p:nvSpPr>
          <p:cNvPr id="13" name="Rectangle 12">
            <a:extLst>
              <a:ext uri="{FF2B5EF4-FFF2-40B4-BE49-F238E27FC236}">
                <a16:creationId xmlns:a16="http://schemas.microsoft.com/office/drawing/2014/main" id="{DDB927B1-87A0-47C0-89B3-6B72901B3DBC}"/>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2F200188-20FC-4E94-AA68-75E483D2BA68}"/>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13</a:t>
            </a:r>
          </a:p>
        </p:txBody>
      </p:sp>
    </p:spTree>
    <p:extLst>
      <p:ext uri="{BB962C8B-B14F-4D97-AF65-F5344CB8AC3E}">
        <p14:creationId xmlns:p14="http://schemas.microsoft.com/office/powerpoint/2010/main" val="1156859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127FAA4-78FF-4B07-AECE-C69A7338D7B1}"/>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Hamburg Man of Sorrows: “attributed to” keeps doubt visible</a:t>
            </a:r>
          </a:p>
        </p:txBody>
      </p:sp>
      <p:sp>
        <p:nvSpPr>
          <p:cNvPr id="3" name="Rectangle 2">
            <a:extLst>
              <a:ext uri="{FF2B5EF4-FFF2-40B4-BE49-F238E27FC236}">
                <a16:creationId xmlns:a16="http://schemas.microsoft.com/office/drawing/2014/main" id="{684B795D-F3B7-4445-90A0-61F4D81D66EA}"/>
              </a:ext>
            </a:extLst>
          </p:cNvPr>
          <p:cNvSpPr>
            <a:spLocks noGrp="1"/>
          </p:cNvSpPr>
          <p:nvPr/>
        </p:nvSpPr>
        <p:spPr>
          <a:xfrm>
            <a:off x="666750" y="1762125"/>
            <a:ext cx="5238750" cy="4333875"/>
          </a:xfrm>
          <a:prstGeom prst="rect">
            <a:avLst/>
          </a:prstGeom>
          <a:solidFill>
            <a:srgbClr val="E9D8AA"/>
          </a:solidFill>
          <a:ln w="0">
            <a:noFill/>
            <a:prstDash val="solid"/>
          </a:ln>
        </p:spPr>
        <p:txBody>
          <a:bodyPr/>
          <a:lstStyle/>
          <a:p>
            <a:endParaRPr lang="en-US"/>
          </a:p>
        </p:txBody>
      </p:sp>
      <p:pic>
        <p:nvPicPr>
          <p:cNvPr id="18" name="Picture 17"/>
          <p:cNvPicPr>
            <a:picLocks noChangeAspect="1"/>
          </p:cNvPicPr>
          <p:nvPr/>
        </p:nvPicPr>
        <p:blipFill>
          <a:blip r:embed="rId4"/>
          <a:stretch/>
        </p:blipFill>
        <p:spPr>
          <a:xfrm>
            <a:off x="1819721" y="1876425"/>
            <a:ext cx="2932808" cy="4105275"/>
          </a:xfrm>
          <a:prstGeom prst="rect">
            <a:avLst/>
          </a:prstGeom>
        </p:spPr>
      </p:pic>
      <p:sp>
        <p:nvSpPr>
          <p:cNvPr id="5" name="Rectangle 4">
            <a:extLst>
              <a:ext uri="{FF2B5EF4-FFF2-40B4-BE49-F238E27FC236}">
                <a16:creationId xmlns:a16="http://schemas.microsoft.com/office/drawing/2014/main" id="{C5682D02-E684-407E-A9B4-E0BBCD7E04DF}"/>
              </a:ext>
            </a:extLst>
          </p:cNvPr>
          <p:cNvSpPr>
            <a:spLocks noGrp="1"/>
          </p:cNvSpPr>
          <p:nvPr/>
        </p:nvSpPr>
        <p:spPr>
          <a:xfrm>
            <a:off x="6667500" y="2000250"/>
            <a:ext cx="1714500" cy="304800"/>
          </a:xfrm>
          <a:prstGeom prst="rect">
            <a:avLst/>
          </a:prstGeom>
          <a:noFill/>
          <a:ln w="0">
            <a:noFill/>
            <a:prstDash val="solid"/>
          </a:ln>
        </p:spPr>
        <p:txBody>
          <a:bodyPr anchor="ctr"/>
          <a:lstStyle/>
          <a:p>
            <a:pPr>
              <a:defRPr sz="1350" b="1">
                <a:solidFill>
                  <a:srgbClr val="D8B86A"/>
                </a:solidFill>
              </a:defRPr>
            </a:pPr>
            <a:r>
              <a:rPr sz="1350" b="1">
                <a:solidFill>
                  <a:srgbClr val="D8B86A"/>
                </a:solidFill>
              </a:rPr>
              <a:t>07 / 07</a:t>
            </a:r>
          </a:p>
        </p:txBody>
      </p:sp>
      <p:sp>
        <p:nvSpPr>
          <p:cNvPr id="6" name="Rectangle 5">
            <a:extLst>
              <a:ext uri="{FF2B5EF4-FFF2-40B4-BE49-F238E27FC236}">
                <a16:creationId xmlns:a16="http://schemas.microsoft.com/office/drawing/2014/main" id="{A6C73757-6BCB-42D6-ABAB-F5BBABC3AAC2}"/>
              </a:ext>
            </a:extLst>
          </p:cNvPr>
          <p:cNvSpPr>
            <a:spLocks noGrp="1"/>
          </p:cNvSpPr>
          <p:nvPr/>
        </p:nvSpPr>
        <p:spPr>
          <a:xfrm>
            <a:off x="6667500" y="2400300"/>
            <a:ext cx="4524375" cy="457200"/>
          </a:xfrm>
          <a:prstGeom prst="rect">
            <a:avLst/>
          </a:prstGeom>
          <a:noFill/>
          <a:ln w="0">
            <a:noFill/>
            <a:prstDash val="solid"/>
          </a:ln>
        </p:spPr>
        <p:txBody>
          <a:bodyPr anchor="ctr"/>
          <a:lstStyle/>
          <a:p>
            <a:pPr>
              <a:defRPr sz="1425">
                <a:solidFill>
                  <a:srgbClr val="D8B86A"/>
                </a:solidFill>
              </a:defRPr>
            </a:pPr>
            <a:r>
              <a:rPr sz="1425">
                <a:solidFill>
                  <a:srgbClr val="D8B86A"/>
                </a:solidFill>
              </a:rPr>
              <a:t>c. 1435 | Hamburger Kunsthalle | attributed to Francke / workshop</a:t>
            </a:r>
          </a:p>
        </p:txBody>
      </p:sp>
      <p:sp>
        <p:nvSpPr>
          <p:cNvPr id="7" name="Rectangle 6">
            <a:extLst>
              <a:ext uri="{FF2B5EF4-FFF2-40B4-BE49-F238E27FC236}">
                <a16:creationId xmlns:a16="http://schemas.microsoft.com/office/drawing/2014/main" id="{0AAB3A0A-4D36-4200-8B69-5A5FD9990442}"/>
              </a:ext>
            </a:extLst>
          </p:cNvPr>
          <p:cNvSpPr>
            <a:spLocks noGrp="1"/>
          </p:cNvSpPr>
          <p:nvPr/>
        </p:nvSpPr>
        <p:spPr>
          <a:xfrm>
            <a:off x="6667500" y="3190875"/>
            <a:ext cx="142875" cy="142875"/>
          </a:xfrm>
          <a:prstGeom prst="rect">
            <a:avLst/>
          </a:prstGeom>
          <a:solidFill>
            <a:srgbClr val="B592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D2F750F3-C31A-4321-9764-4A34E181A174}"/>
              </a:ext>
            </a:extLst>
          </p:cNvPr>
          <p:cNvSpPr>
            <a:spLocks noGrp="1"/>
          </p:cNvSpPr>
          <p:nvPr/>
        </p:nvSpPr>
        <p:spPr>
          <a:xfrm>
            <a:off x="7000875" y="30480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Style and technique support the attribution</a:t>
            </a:r>
          </a:p>
        </p:txBody>
      </p:sp>
      <p:sp>
        <p:nvSpPr>
          <p:cNvPr id="9" name="Rectangle 8">
            <a:extLst>
              <a:ext uri="{FF2B5EF4-FFF2-40B4-BE49-F238E27FC236}">
                <a16:creationId xmlns:a16="http://schemas.microsoft.com/office/drawing/2014/main" id="{621EE8AC-549D-4A1C-82EC-9D1FC683CCAF}"/>
              </a:ext>
            </a:extLst>
          </p:cNvPr>
          <p:cNvSpPr>
            <a:spLocks noGrp="1"/>
          </p:cNvSpPr>
          <p:nvPr/>
        </p:nvSpPr>
        <p:spPr>
          <a:xfrm>
            <a:off x="6667500" y="3933825"/>
            <a:ext cx="142875" cy="142875"/>
          </a:xfrm>
          <a:prstGeom prst="rect">
            <a:avLst/>
          </a:prstGeom>
          <a:solidFill>
            <a:srgbClr val="B592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332C67A-AAA8-4AD3-B1AB-52BBBC6FB559}"/>
              </a:ext>
            </a:extLst>
          </p:cNvPr>
          <p:cNvSpPr>
            <a:spLocks noGrp="1"/>
          </p:cNvSpPr>
          <p:nvPr/>
        </p:nvSpPr>
        <p:spPr>
          <a:xfrm>
            <a:off x="7000875" y="379095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Not every stroke can be proven autograph</a:t>
            </a:r>
          </a:p>
        </p:txBody>
      </p:sp>
      <p:sp>
        <p:nvSpPr>
          <p:cNvPr id="11" name="Rectangle 10">
            <a:extLst>
              <a:ext uri="{FF2B5EF4-FFF2-40B4-BE49-F238E27FC236}">
                <a16:creationId xmlns:a16="http://schemas.microsoft.com/office/drawing/2014/main" id="{EFA159B9-9AAE-4CC2-82BA-85638B24E192}"/>
              </a:ext>
            </a:extLst>
          </p:cNvPr>
          <p:cNvSpPr>
            <a:spLocks noGrp="1"/>
          </p:cNvSpPr>
          <p:nvPr/>
        </p:nvSpPr>
        <p:spPr>
          <a:xfrm>
            <a:off x="6667500" y="4676775"/>
            <a:ext cx="142875" cy="142875"/>
          </a:xfrm>
          <a:prstGeom prst="rect">
            <a:avLst/>
          </a:prstGeom>
          <a:solidFill>
            <a:srgbClr val="B5924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42E83955-C09F-43C9-881B-DD4F13CCBF4E}"/>
              </a:ext>
            </a:extLst>
          </p:cNvPr>
          <p:cNvSpPr>
            <a:spLocks noGrp="1"/>
          </p:cNvSpPr>
          <p:nvPr/>
        </p:nvSpPr>
        <p:spPr>
          <a:xfrm>
            <a:off x="7000875" y="4533900"/>
            <a:ext cx="4191000" cy="457200"/>
          </a:xfrm>
          <a:prstGeom prst="rect">
            <a:avLst/>
          </a:prstGeom>
          <a:noFill/>
          <a:ln w="0">
            <a:noFill/>
            <a:prstDash val="solid"/>
          </a:ln>
        </p:spPr>
        <p:txBody>
          <a:bodyPr anchor="ctr"/>
          <a:lstStyle/>
          <a:p>
            <a:pPr>
              <a:defRPr sz="1575">
                <a:solidFill>
                  <a:srgbClr val="F5EBD1"/>
                </a:solidFill>
              </a:defRPr>
            </a:pPr>
            <a:r>
              <a:rPr sz="1575">
                <a:solidFill>
                  <a:srgbClr val="F5EBD1"/>
                </a:solidFill>
              </a:rPr>
              <a:t>The catalogue can still change</a:t>
            </a:r>
          </a:p>
        </p:txBody>
      </p:sp>
      <p:sp>
        <p:nvSpPr>
          <p:cNvPr id="13" name="Rectangle 12">
            <a:extLst>
              <a:ext uri="{FF2B5EF4-FFF2-40B4-BE49-F238E27FC236}">
                <a16:creationId xmlns:a16="http://schemas.microsoft.com/office/drawing/2014/main" id="{FA677380-8AA5-4056-8B64-5388BE9603EE}"/>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4" name="Rectangle 13">
            <a:extLst>
              <a:ext uri="{FF2B5EF4-FFF2-40B4-BE49-F238E27FC236}">
                <a16:creationId xmlns:a16="http://schemas.microsoft.com/office/drawing/2014/main" id="{1B06A75B-FB72-4524-A8EA-2C88A3E08F4F}"/>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14</a:t>
            </a:r>
          </a:p>
        </p:txBody>
      </p:sp>
    </p:spTree>
    <p:extLst>
      <p:ext uri="{BB962C8B-B14F-4D97-AF65-F5344CB8AC3E}">
        <p14:creationId xmlns:p14="http://schemas.microsoft.com/office/powerpoint/2010/main" val="1887236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36CDADC-FD40-4AC7-98FC-D44DBC9B500B}"/>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The works returned before the name did</a:t>
            </a:r>
          </a:p>
        </p:txBody>
      </p:sp>
      <p:sp>
        <p:nvSpPr>
          <p:cNvPr id="3" name="Rectangle 2">
            <a:extLst>
              <a:ext uri="{FF2B5EF4-FFF2-40B4-BE49-F238E27FC236}">
                <a16:creationId xmlns:a16="http://schemas.microsoft.com/office/drawing/2014/main" id="{7BEE0D71-787C-42A8-A245-3402178F5B10}"/>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1859: group recognized → 1898: panels return to Hamburg → 1899: the 1424 name surfaces</a:t>
            </a:r>
          </a:p>
        </p:txBody>
      </p:sp>
      <p:sp>
        <p:nvSpPr>
          <p:cNvPr id="4" name="Rectangle 3">
            <a:extLst>
              <a:ext uri="{FF2B5EF4-FFF2-40B4-BE49-F238E27FC236}">
                <a16:creationId xmlns:a16="http://schemas.microsoft.com/office/drawing/2014/main" id="{D181D13D-6EA9-4DDF-B168-0059EC1254A5}"/>
              </a:ext>
            </a:extLst>
          </p:cNvPr>
          <p:cNvSpPr>
            <a:spLocks noGrp="1"/>
          </p:cNvSpPr>
          <p:nvPr/>
        </p:nvSpPr>
        <p:spPr>
          <a:xfrm>
            <a:off x="1428750" y="3581400"/>
            <a:ext cx="9334500" cy="28575"/>
          </a:xfrm>
          <a:prstGeom prst="rect">
            <a:avLst/>
          </a:prstGeom>
          <a:solidFill>
            <a:srgbClr val="B5924B"/>
          </a:solidFill>
          <a:ln w="0">
            <a:noFill/>
            <a:prstDash val="solid"/>
          </a:ln>
        </p:spPr>
        <p:txBody>
          <a:bodyPr/>
          <a:lstStyle/>
          <a:p>
            <a:endParaRPr lang="en-US"/>
          </a:p>
        </p:txBody>
      </p:sp>
      <p:sp>
        <p:nvSpPr>
          <p:cNvPr id="5" name="Oval 4">
            <a:extLst>
              <a:ext uri="{FF2B5EF4-FFF2-40B4-BE49-F238E27FC236}">
                <a16:creationId xmlns:a16="http://schemas.microsoft.com/office/drawing/2014/main" id="{53374A57-999B-4FE5-84B6-3A89E82FFE51}"/>
              </a:ext>
            </a:extLst>
          </p:cNvPr>
          <p:cNvSpPr>
            <a:spLocks noGrp="1"/>
          </p:cNvSpPr>
          <p:nvPr/>
        </p:nvSpPr>
        <p:spPr>
          <a:xfrm>
            <a:off x="2238375" y="3276600"/>
            <a:ext cx="619125" cy="619125"/>
          </a:xfrm>
          <a:prstGeom prst="ellipse">
            <a:avLst/>
          </a:prstGeom>
          <a:solidFill>
            <a:srgbClr val="263D44"/>
          </a:solidFill>
          <a:ln w="19050">
            <a:solidFill>
              <a:srgbClr val="D8B86A"/>
            </a:solidFill>
            <a:prstDash val="solid"/>
          </a:ln>
        </p:spPr>
        <p:txBody>
          <a:bodyPr/>
          <a:lstStyle/>
          <a:p>
            <a:endParaRPr lang="en-US"/>
          </a:p>
        </p:txBody>
      </p:sp>
      <p:sp>
        <p:nvSpPr>
          <p:cNvPr id="6" name="Rectangle 5">
            <a:extLst>
              <a:ext uri="{FF2B5EF4-FFF2-40B4-BE49-F238E27FC236}">
                <a16:creationId xmlns:a16="http://schemas.microsoft.com/office/drawing/2014/main" id="{9B6D1E24-2C86-4444-9766-2A7CC2170059}"/>
              </a:ext>
            </a:extLst>
          </p:cNvPr>
          <p:cNvSpPr>
            <a:spLocks noGrp="1"/>
          </p:cNvSpPr>
          <p:nvPr/>
        </p:nvSpPr>
        <p:spPr>
          <a:xfrm>
            <a:off x="2000250" y="2524125"/>
            <a:ext cx="1095375" cy="438150"/>
          </a:xfrm>
          <a:prstGeom prst="rect">
            <a:avLst/>
          </a:prstGeom>
          <a:noFill/>
          <a:ln w="0">
            <a:noFill/>
            <a:prstDash val="solid"/>
          </a:ln>
        </p:spPr>
        <p:txBody>
          <a:bodyPr anchor="ctr"/>
          <a:lstStyle/>
          <a:p>
            <a:pPr algn="ctr">
              <a:defRPr sz="2175" b="1">
                <a:solidFill>
                  <a:srgbClr val="FFF4D6"/>
                </a:solidFill>
              </a:defRPr>
            </a:pPr>
            <a:r>
              <a:rPr sz="2175" b="1">
                <a:solidFill>
                  <a:srgbClr val="FFF4D6"/>
                </a:solidFill>
              </a:rPr>
              <a:t>1859</a:t>
            </a:r>
          </a:p>
        </p:txBody>
      </p:sp>
      <p:sp>
        <p:nvSpPr>
          <p:cNvPr id="7" name="Rectangle 6">
            <a:extLst>
              <a:ext uri="{FF2B5EF4-FFF2-40B4-BE49-F238E27FC236}">
                <a16:creationId xmlns:a16="http://schemas.microsoft.com/office/drawing/2014/main" id="{29442116-DA07-47AA-9D3B-4A67100740DB}"/>
              </a:ext>
            </a:extLst>
          </p:cNvPr>
          <p:cNvSpPr>
            <a:spLocks noGrp="1"/>
          </p:cNvSpPr>
          <p:nvPr/>
        </p:nvSpPr>
        <p:spPr>
          <a:xfrm>
            <a:off x="1333500" y="4238625"/>
            <a:ext cx="2428875" cy="609600"/>
          </a:xfrm>
          <a:prstGeom prst="rect">
            <a:avLst/>
          </a:prstGeom>
          <a:noFill/>
          <a:ln w="0">
            <a:noFill/>
            <a:prstDash val="solid"/>
          </a:ln>
        </p:spPr>
        <p:txBody>
          <a:bodyPr anchor="ctr"/>
          <a:lstStyle/>
          <a:p>
            <a:pPr algn="ctr">
              <a:defRPr sz="1425">
                <a:solidFill>
                  <a:srgbClr val="F5EBD1"/>
                </a:solidFill>
              </a:defRPr>
            </a:pPr>
            <a:r>
              <a:rPr sz="1425">
                <a:solidFill>
                  <a:srgbClr val="F5EBD1"/>
                </a:solidFill>
              </a:rPr>
              <a:t>The group is recognized</a:t>
            </a:r>
          </a:p>
        </p:txBody>
      </p:sp>
      <p:sp>
        <p:nvSpPr>
          <p:cNvPr id="8" name="Oval 7">
            <a:extLst>
              <a:ext uri="{FF2B5EF4-FFF2-40B4-BE49-F238E27FC236}">
                <a16:creationId xmlns:a16="http://schemas.microsoft.com/office/drawing/2014/main" id="{8A63605B-942B-4454-9335-F3B1F6D58A53}"/>
              </a:ext>
            </a:extLst>
          </p:cNvPr>
          <p:cNvSpPr>
            <a:spLocks noGrp="1"/>
          </p:cNvSpPr>
          <p:nvPr/>
        </p:nvSpPr>
        <p:spPr>
          <a:xfrm>
            <a:off x="5429250" y="3276600"/>
            <a:ext cx="619125" cy="619125"/>
          </a:xfrm>
          <a:prstGeom prst="ellipse">
            <a:avLst/>
          </a:prstGeom>
          <a:solidFill>
            <a:srgbClr val="263D44"/>
          </a:solidFill>
          <a:ln w="19050">
            <a:solidFill>
              <a:srgbClr val="D8B86A"/>
            </a:solidFill>
            <a:prstDash val="solid"/>
          </a:ln>
        </p:spPr>
        <p:txBody>
          <a:bodyPr/>
          <a:lstStyle/>
          <a:p>
            <a:endParaRPr lang="en-US"/>
          </a:p>
        </p:txBody>
      </p:sp>
      <p:sp>
        <p:nvSpPr>
          <p:cNvPr id="9" name="Rectangle 8">
            <a:extLst>
              <a:ext uri="{FF2B5EF4-FFF2-40B4-BE49-F238E27FC236}">
                <a16:creationId xmlns:a16="http://schemas.microsoft.com/office/drawing/2014/main" id="{6D826C95-EF92-4B44-BE00-78A75856EB41}"/>
              </a:ext>
            </a:extLst>
          </p:cNvPr>
          <p:cNvSpPr>
            <a:spLocks noGrp="1"/>
          </p:cNvSpPr>
          <p:nvPr/>
        </p:nvSpPr>
        <p:spPr>
          <a:xfrm>
            <a:off x="5191125" y="2524125"/>
            <a:ext cx="1095375" cy="438150"/>
          </a:xfrm>
          <a:prstGeom prst="rect">
            <a:avLst/>
          </a:prstGeom>
          <a:noFill/>
          <a:ln w="0">
            <a:noFill/>
            <a:prstDash val="solid"/>
          </a:ln>
        </p:spPr>
        <p:txBody>
          <a:bodyPr anchor="ctr"/>
          <a:lstStyle/>
          <a:p>
            <a:pPr algn="ctr">
              <a:defRPr sz="2175" b="1">
                <a:solidFill>
                  <a:srgbClr val="FFF4D6"/>
                </a:solidFill>
              </a:defRPr>
            </a:pPr>
            <a:r>
              <a:rPr sz="2175" b="1">
                <a:solidFill>
                  <a:srgbClr val="FFF4D6"/>
                </a:solidFill>
              </a:rPr>
              <a:t>1898</a:t>
            </a:r>
          </a:p>
        </p:txBody>
      </p:sp>
      <p:sp>
        <p:nvSpPr>
          <p:cNvPr id="10" name="Rectangle 9">
            <a:extLst>
              <a:ext uri="{FF2B5EF4-FFF2-40B4-BE49-F238E27FC236}">
                <a16:creationId xmlns:a16="http://schemas.microsoft.com/office/drawing/2014/main" id="{323ADB8B-8FDF-4DDD-A52F-036B95D738C7}"/>
              </a:ext>
            </a:extLst>
          </p:cNvPr>
          <p:cNvSpPr>
            <a:spLocks noGrp="1"/>
          </p:cNvSpPr>
          <p:nvPr/>
        </p:nvSpPr>
        <p:spPr>
          <a:xfrm>
            <a:off x="4524375" y="4238625"/>
            <a:ext cx="2428875" cy="609600"/>
          </a:xfrm>
          <a:prstGeom prst="rect">
            <a:avLst/>
          </a:prstGeom>
          <a:noFill/>
          <a:ln w="0">
            <a:noFill/>
            <a:prstDash val="solid"/>
          </a:ln>
        </p:spPr>
        <p:txBody>
          <a:bodyPr anchor="ctr"/>
          <a:lstStyle/>
          <a:p>
            <a:pPr algn="ctr">
              <a:defRPr sz="1425">
                <a:solidFill>
                  <a:srgbClr val="F5EBD1"/>
                </a:solidFill>
              </a:defRPr>
            </a:pPr>
            <a:r>
              <a:rPr sz="1425">
                <a:solidFill>
                  <a:srgbClr val="F5EBD1"/>
                </a:solidFill>
              </a:rPr>
              <a:t>Nine panels return to Hamburg</a:t>
            </a:r>
          </a:p>
        </p:txBody>
      </p:sp>
      <p:sp>
        <p:nvSpPr>
          <p:cNvPr id="11" name="Oval 10">
            <a:extLst>
              <a:ext uri="{FF2B5EF4-FFF2-40B4-BE49-F238E27FC236}">
                <a16:creationId xmlns:a16="http://schemas.microsoft.com/office/drawing/2014/main" id="{10A03DA8-252B-4ED1-AD40-F782498831E2}"/>
              </a:ext>
            </a:extLst>
          </p:cNvPr>
          <p:cNvSpPr>
            <a:spLocks noGrp="1"/>
          </p:cNvSpPr>
          <p:nvPr/>
        </p:nvSpPr>
        <p:spPr>
          <a:xfrm>
            <a:off x="8620125" y="3276600"/>
            <a:ext cx="619125" cy="619125"/>
          </a:xfrm>
          <a:prstGeom prst="ellipse">
            <a:avLst/>
          </a:prstGeom>
          <a:solidFill>
            <a:srgbClr val="7B3D34"/>
          </a:solidFill>
          <a:ln w="19050">
            <a:solidFill>
              <a:srgbClr val="D8B86A"/>
            </a:solidFill>
            <a:prstDash val="solid"/>
          </a:ln>
        </p:spPr>
        <p:txBody>
          <a:bodyPr/>
          <a:lstStyle/>
          <a:p>
            <a:endParaRPr lang="en-US"/>
          </a:p>
        </p:txBody>
      </p:sp>
      <p:sp>
        <p:nvSpPr>
          <p:cNvPr id="12" name="Rectangle 11">
            <a:extLst>
              <a:ext uri="{FF2B5EF4-FFF2-40B4-BE49-F238E27FC236}">
                <a16:creationId xmlns:a16="http://schemas.microsoft.com/office/drawing/2014/main" id="{2B022F93-F293-47BF-B668-461DD7A488A1}"/>
              </a:ext>
            </a:extLst>
          </p:cNvPr>
          <p:cNvSpPr>
            <a:spLocks noGrp="1"/>
          </p:cNvSpPr>
          <p:nvPr/>
        </p:nvSpPr>
        <p:spPr>
          <a:xfrm>
            <a:off x="8382000" y="2524125"/>
            <a:ext cx="1095375" cy="438150"/>
          </a:xfrm>
          <a:prstGeom prst="rect">
            <a:avLst/>
          </a:prstGeom>
          <a:noFill/>
          <a:ln w="0">
            <a:noFill/>
            <a:prstDash val="solid"/>
          </a:ln>
        </p:spPr>
        <p:txBody>
          <a:bodyPr anchor="ctr"/>
          <a:lstStyle/>
          <a:p>
            <a:pPr algn="ctr">
              <a:defRPr sz="2175" b="1">
                <a:solidFill>
                  <a:srgbClr val="FFF4D6"/>
                </a:solidFill>
              </a:defRPr>
            </a:pPr>
            <a:r>
              <a:rPr sz="2175" b="1">
                <a:solidFill>
                  <a:srgbClr val="FFF4D6"/>
                </a:solidFill>
              </a:rPr>
              <a:t>1899</a:t>
            </a:r>
          </a:p>
        </p:txBody>
      </p:sp>
      <p:sp>
        <p:nvSpPr>
          <p:cNvPr id="13" name="Rectangle 12">
            <a:extLst>
              <a:ext uri="{FF2B5EF4-FFF2-40B4-BE49-F238E27FC236}">
                <a16:creationId xmlns:a16="http://schemas.microsoft.com/office/drawing/2014/main" id="{BF994939-FF83-4D4A-AD45-C6B6A831C2C9}"/>
              </a:ext>
            </a:extLst>
          </p:cNvPr>
          <p:cNvSpPr>
            <a:spLocks noGrp="1"/>
          </p:cNvSpPr>
          <p:nvPr/>
        </p:nvSpPr>
        <p:spPr>
          <a:xfrm>
            <a:off x="7715250" y="4238625"/>
            <a:ext cx="2428875" cy="609600"/>
          </a:xfrm>
          <a:prstGeom prst="rect">
            <a:avLst/>
          </a:prstGeom>
          <a:noFill/>
          <a:ln w="0">
            <a:noFill/>
            <a:prstDash val="solid"/>
          </a:ln>
        </p:spPr>
        <p:txBody>
          <a:bodyPr anchor="ctr"/>
          <a:lstStyle/>
          <a:p>
            <a:pPr algn="ctr">
              <a:defRPr sz="1425">
                <a:solidFill>
                  <a:srgbClr val="F5EBD1"/>
                </a:solidFill>
              </a:defRPr>
            </a:pPr>
            <a:r>
              <a:rPr sz="1425">
                <a:solidFill>
                  <a:srgbClr val="F5EBD1"/>
                </a:solidFill>
              </a:rPr>
              <a:t>The 1424 name is found</a:t>
            </a:r>
          </a:p>
        </p:txBody>
      </p:sp>
      <p:sp>
        <p:nvSpPr>
          <p:cNvPr id="14" name="Rectangle 13">
            <a:extLst>
              <a:ext uri="{FF2B5EF4-FFF2-40B4-BE49-F238E27FC236}">
                <a16:creationId xmlns:a16="http://schemas.microsoft.com/office/drawing/2014/main" id="{959F4DE4-CD5E-4DC3-A6C5-7B1910DD345A}"/>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5" name="Rectangle 14">
            <a:extLst>
              <a:ext uri="{FF2B5EF4-FFF2-40B4-BE49-F238E27FC236}">
                <a16:creationId xmlns:a16="http://schemas.microsoft.com/office/drawing/2014/main" id="{536748E4-4A4A-4DE4-9822-B951DA24D3E0}"/>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15</a:t>
            </a:r>
          </a:p>
        </p:txBody>
      </p:sp>
    </p:spTree>
    <p:extLst>
      <p:ext uri="{BB962C8B-B14F-4D97-AF65-F5344CB8AC3E}">
        <p14:creationId xmlns:p14="http://schemas.microsoft.com/office/powerpoint/2010/main" val="1740855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1B4E072-BAC2-49EA-9F6B-C33D395E582B}"/>
              </a:ext>
            </a:extLst>
          </p:cNvPr>
          <p:cNvSpPr>
            <a:spLocks noGrp="1"/>
          </p:cNvSpPr>
          <p:nvPr/>
        </p:nvSpPr>
        <p:spPr>
          <a:xfrm>
            <a:off x="647700" y="438150"/>
            <a:ext cx="10896600" cy="800100"/>
          </a:xfrm>
          <a:prstGeom prst="rect">
            <a:avLst/>
          </a:prstGeom>
          <a:noFill/>
          <a:ln w="0">
            <a:noFill/>
            <a:prstDash val="solid"/>
          </a:ln>
        </p:spPr>
        <p:txBody>
          <a:bodyPr anchor="ctr"/>
          <a:lstStyle/>
          <a:p>
            <a:pPr>
              <a:defRPr sz="3000" b="1">
                <a:solidFill>
                  <a:srgbClr val="FFF4D6"/>
                </a:solidFill>
              </a:defRPr>
            </a:pPr>
            <a:r>
              <a:rPr sz="3000" b="1">
                <a:solidFill>
                  <a:srgbClr val="FFF4D6"/>
                </a:solidFill>
              </a:rPr>
              <a:t>Recognizing a style is not the same as recognizing a person</a:t>
            </a:r>
          </a:p>
        </p:txBody>
      </p:sp>
      <p:sp>
        <p:nvSpPr>
          <p:cNvPr id="3" name="Rectangle 2">
            <a:extLst>
              <a:ext uri="{FF2B5EF4-FFF2-40B4-BE49-F238E27FC236}">
                <a16:creationId xmlns:a16="http://schemas.microsoft.com/office/drawing/2014/main" id="{7F871FA9-C6B1-4FFE-A456-6D26B451AB97}"/>
              </a:ext>
            </a:extLst>
          </p:cNvPr>
          <p:cNvSpPr>
            <a:spLocks noGrp="1"/>
          </p:cNvSpPr>
          <p:nvPr/>
        </p:nvSpPr>
        <p:spPr>
          <a:xfrm>
            <a:off x="685800" y="1238250"/>
            <a:ext cx="10744200" cy="400050"/>
          </a:xfrm>
          <a:prstGeom prst="rect">
            <a:avLst/>
          </a:prstGeom>
          <a:noFill/>
          <a:ln w="0">
            <a:noFill/>
            <a:prstDash val="solid"/>
          </a:ln>
        </p:spPr>
        <p:txBody>
          <a:bodyPr anchor="ctr"/>
          <a:lstStyle/>
          <a:p>
            <a:pPr>
              <a:defRPr sz="1500">
                <a:solidFill>
                  <a:srgbClr val="D8B86A"/>
                </a:solidFill>
              </a:defRPr>
            </a:pPr>
            <a:r>
              <a:rPr sz="1500">
                <a:solidFill>
                  <a:srgbClr val="D8B86A"/>
                </a:solidFill>
              </a:rPr>
              <a:t>Flowing folds | saturated red, blue, white, and gold | compressed groups | elegance beside pain</a:t>
            </a:r>
          </a:p>
        </p:txBody>
      </p:sp>
      <p:sp>
        <p:nvSpPr>
          <p:cNvPr id="4" name="Rectangle: Rounded Corners 3">
            <a:extLst>
              <a:ext uri="{FF2B5EF4-FFF2-40B4-BE49-F238E27FC236}">
                <a16:creationId xmlns:a16="http://schemas.microsoft.com/office/drawing/2014/main" id="{C875646A-6B64-48BB-9DC8-8786FAEA193A}"/>
              </a:ext>
            </a:extLst>
          </p:cNvPr>
          <p:cNvSpPr>
            <a:spLocks noGrp="1"/>
          </p:cNvSpPr>
          <p:nvPr/>
        </p:nvSpPr>
        <p:spPr>
          <a:xfrm>
            <a:off x="904875" y="2190750"/>
            <a:ext cx="4810125" cy="1190625"/>
          </a:xfrm>
          <a:prstGeom prst="roundRect">
            <a:avLst>
              <a:gd name="adj" fmla="val 6400"/>
            </a:avLst>
          </a:prstGeom>
          <a:solidFill>
            <a:srgbClr val="263D44"/>
          </a:solidFill>
          <a:ln w="9525">
            <a:solidFill>
              <a:srgbClr val="8E7440"/>
            </a:solidFill>
            <a:prstDash val="solid"/>
          </a:ln>
        </p:spPr>
        <p:txBody>
          <a:bodyPr/>
          <a:lstStyle/>
          <a:p>
            <a:endParaRPr lang="en-US"/>
          </a:p>
        </p:txBody>
      </p:sp>
      <p:sp>
        <p:nvSpPr>
          <p:cNvPr id="5" name="Rectangle 4">
            <a:extLst>
              <a:ext uri="{FF2B5EF4-FFF2-40B4-BE49-F238E27FC236}">
                <a16:creationId xmlns:a16="http://schemas.microsoft.com/office/drawing/2014/main" id="{D787C13D-7753-4398-8881-6997D8880B3A}"/>
              </a:ext>
            </a:extLst>
          </p:cNvPr>
          <p:cNvSpPr>
            <a:spLocks noGrp="1"/>
          </p:cNvSpPr>
          <p:nvPr/>
        </p:nvSpPr>
        <p:spPr>
          <a:xfrm>
            <a:off x="1143000" y="2428875"/>
            <a:ext cx="4333875" cy="714375"/>
          </a:xfrm>
          <a:prstGeom prst="rect">
            <a:avLst/>
          </a:prstGeom>
          <a:noFill/>
          <a:ln w="0">
            <a:noFill/>
            <a:prstDash val="solid"/>
          </a:ln>
        </p:spPr>
        <p:txBody>
          <a:bodyPr anchor="ctr"/>
          <a:lstStyle/>
          <a:p>
            <a:pPr algn="ctr">
              <a:defRPr sz="2025" b="1">
                <a:solidFill>
                  <a:srgbClr val="FFF4D6"/>
                </a:solidFill>
              </a:defRPr>
            </a:pPr>
            <a:r>
              <a:rPr sz="2025" b="1">
                <a:solidFill>
                  <a:srgbClr val="FFF4D6"/>
                </a:solidFill>
              </a:rPr>
              <a:t>FLOWING FOLDS</a:t>
            </a:r>
          </a:p>
        </p:txBody>
      </p:sp>
      <p:sp>
        <p:nvSpPr>
          <p:cNvPr id="6" name="Rectangle: Rounded Corners 5">
            <a:extLst>
              <a:ext uri="{FF2B5EF4-FFF2-40B4-BE49-F238E27FC236}">
                <a16:creationId xmlns:a16="http://schemas.microsoft.com/office/drawing/2014/main" id="{F3B6B965-1014-4AF7-A515-64BDBB46E68A}"/>
              </a:ext>
            </a:extLst>
          </p:cNvPr>
          <p:cNvSpPr>
            <a:spLocks noGrp="1"/>
          </p:cNvSpPr>
          <p:nvPr/>
        </p:nvSpPr>
        <p:spPr>
          <a:xfrm>
            <a:off x="6477000" y="2190750"/>
            <a:ext cx="4810125" cy="1190625"/>
          </a:xfrm>
          <a:prstGeom prst="roundRect">
            <a:avLst>
              <a:gd name="adj" fmla="val 6400"/>
            </a:avLst>
          </a:prstGeom>
          <a:solidFill>
            <a:srgbClr val="263D44"/>
          </a:solidFill>
          <a:ln w="9525">
            <a:solidFill>
              <a:srgbClr val="8E7440"/>
            </a:solidFill>
            <a:prstDash val="solid"/>
          </a:ln>
        </p:spPr>
        <p:txBody>
          <a:bodyPr/>
          <a:lstStyle/>
          <a:p>
            <a:endParaRPr lang="en-US"/>
          </a:p>
        </p:txBody>
      </p:sp>
      <p:sp>
        <p:nvSpPr>
          <p:cNvPr id="7" name="Rectangle 6">
            <a:extLst>
              <a:ext uri="{FF2B5EF4-FFF2-40B4-BE49-F238E27FC236}">
                <a16:creationId xmlns:a16="http://schemas.microsoft.com/office/drawing/2014/main" id="{1ECE5124-0B45-4B47-932A-DA49F9B7BB33}"/>
              </a:ext>
            </a:extLst>
          </p:cNvPr>
          <p:cNvSpPr>
            <a:spLocks noGrp="1"/>
          </p:cNvSpPr>
          <p:nvPr/>
        </p:nvSpPr>
        <p:spPr>
          <a:xfrm>
            <a:off x="6715125" y="2428875"/>
            <a:ext cx="4333875" cy="714375"/>
          </a:xfrm>
          <a:prstGeom prst="rect">
            <a:avLst/>
          </a:prstGeom>
          <a:noFill/>
          <a:ln w="0">
            <a:noFill/>
            <a:prstDash val="solid"/>
          </a:ln>
        </p:spPr>
        <p:txBody>
          <a:bodyPr anchor="ctr"/>
          <a:lstStyle/>
          <a:p>
            <a:pPr algn="ctr">
              <a:defRPr sz="2025" b="1">
                <a:solidFill>
                  <a:srgbClr val="FFF4D6"/>
                </a:solidFill>
              </a:defRPr>
            </a:pPr>
            <a:r>
              <a:rPr sz="2025" b="1">
                <a:solidFill>
                  <a:srgbClr val="FFF4D6"/>
                </a:solidFill>
              </a:rPr>
              <a:t>SATURATED COLOR</a:t>
            </a:r>
          </a:p>
        </p:txBody>
      </p:sp>
      <p:sp>
        <p:nvSpPr>
          <p:cNvPr id="8" name="Rectangle: Rounded Corners 7">
            <a:extLst>
              <a:ext uri="{FF2B5EF4-FFF2-40B4-BE49-F238E27FC236}">
                <a16:creationId xmlns:a16="http://schemas.microsoft.com/office/drawing/2014/main" id="{80926865-844A-498C-A865-61585CAFBDCC}"/>
              </a:ext>
            </a:extLst>
          </p:cNvPr>
          <p:cNvSpPr>
            <a:spLocks noGrp="1"/>
          </p:cNvSpPr>
          <p:nvPr/>
        </p:nvSpPr>
        <p:spPr>
          <a:xfrm>
            <a:off x="904875" y="3762375"/>
            <a:ext cx="4810125" cy="1190625"/>
          </a:xfrm>
          <a:prstGeom prst="roundRect">
            <a:avLst>
              <a:gd name="adj" fmla="val 6400"/>
            </a:avLst>
          </a:prstGeom>
          <a:solidFill>
            <a:srgbClr val="263D44"/>
          </a:solidFill>
          <a:ln w="9525">
            <a:solidFill>
              <a:srgbClr val="8E7440"/>
            </a:solidFill>
            <a:prstDash val="solid"/>
          </a:ln>
        </p:spPr>
        <p:txBody>
          <a:bodyPr/>
          <a:lstStyle/>
          <a:p>
            <a:endParaRPr lang="en-US"/>
          </a:p>
        </p:txBody>
      </p:sp>
      <p:sp>
        <p:nvSpPr>
          <p:cNvPr id="9" name="Rectangle 8">
            <a:extLst>
              <a:ext uri="{FF2B5EF4-FFF2-40B4-BE49-F238E27FC236}">
                <a16:creationId xmlns:a16="http://schemas.microsoft.com/office/drawing/2014/main" id="{77C39A94-2E7F-4A5A-BE13-200C10F41876}"/>
              </a:ext>
            </a:extLst>
          </p:cNvPr>
          <p:cNvSpPr>
            <a:spLocks noGrp="1"/>
          </p:cNvSpPr>
          <p:nvPr/>
        </p:nvSpPr>
        <p:spPr>
          <a:xfrm>
            <a:off x="1143000" y="4000500"/>
            <a:ext cx="4333875" cy="714375"/>
          </a:xfrm>
          <a:prstGeom prst="rect">
            <a:avLst/>
          </a:prstGeom>
          <a:noFill/>
          <a:ln w="0">
            <a:noFill/>
            <a:prstDash val="solid"/>
          </a:ln>
        </p:spPr>
        <p:txBody>
          <a:bodyPr anchor="ctr"/>
          <a:lstStyle/>
          <a:p>
            <a:pPr algn="ctr">
              <a:defRPr sz="2025" b="1">
                <a:solidFill>
                  <a:srgbClr val="FFF4D6"/>
                </a:solidFill>
              </a:defRPr>
            </a:pPr>
            <a:r>
              <a:rPr sz="2025" b="1">
                <a:solidFill>
                  <a:srgbClr val="FFF4D6"/>
                </a:solidFill>
              </a:rPr>
              <a:t>COMPRESSED GROUPS</a:t>
            </a:r>
          </a:p>
        </p:txBody>
      </p:sp>
      <p:sp>
        <p:nvSpPr>
          <p:cNvPr id="10" name="Rectangle: Rounded Corners 9">
            <a:extLst>
              <a:ext uri="{FF2B5EF4-FFF2-40B4-BE49-F238E27FC236}">
                <a16:creationId xmlns:a16="http://schemas.microsoft.com/office/drawing/2014/main" id="{7355E92A-C848-4DE0-8B9B-DBB8C4BD1742}"/>
              </a:ext>
            </a:extLst>
          </p:cNvPr>
          <p:cNvSpPr>
            <a:spLocks noGrp="1"/>
          </p:cNvSpPr>
          <p:nvPr/>
        </p:nvSpPr>
        <p:spPr>
          <a:xfrm>
            <a:off x="6477000" y="3762375"/>
            <a:ext cx="4810125" cy="1190625"/>
          </a:xfrm>
          <a:prstGeom prst="roundRect">
            <a:avLst>
              <a:gd name="adj" fmla="val 6400"/>
            </a:avLst>
          </a:prstGeom>
          <a:solidFill>
            <a:srgbClr val="642F2B"/>
          </a:solidFill>
          <a:ln w="9525">
            <a:solidFill>
              <a:srgbClr val="8E7440"/>
            </a:solidFill>
            <a:prstDash val="solid"/>
          </a:ln>
        </p:spPr>
        <p:txBody>
          <a:bodyPr/>
          <a:lstStyle/>
          <a:p>
            <a:endParaRPr lang="en-US"/>
          </a:p>
        </p:txBody>
      </p:sp>
      <p:sp>
        <p:nvSpPr>
          <p:cNvPr id="11" name="Rectangle 10">
            <a:extLst>
              <a:ext uri="{FF2B5EF4-FFF2-40B4-BE49-F238E27FC236}">
                <a16:creationId xmlns:a16="http://schemas.microsoft.com/office/drawing/2014/main" id="{C1A1F4AC-BB6C-49B5-89EA-359F2110A961}"/>
              </a:ext>
            </a:extLst>
          </p:cNvPr>
          <p:cNvSpPr>
            <a:spLocks noGrp="1"/>
          </p:cNvSpPr>
          <p:nvPr/>
        </p:nvSpPr>
        <p:spPr>
          <a:xfrm>
            <a:off x="6715125" y="4000500"/>
            <a:ext cx="4333875" cy="714375"/>
          </a:xfrm>
          <a:prstGeom prst="rect">
            <a:avLst/>
          </a:prstGeom>
          <a:noFill/>
          <a:ln w="0">
            <a:noFill/>
            <a:prstDash val="solid"/>
          </a:ln>
        </p:spPr>
        <p:txBody>
          <a:bodyPr anchor="ctr"/>
          <a:lstStyle/>
          <a:p>
            <a:pPr algn="ctr">
              <a:defRPr sz="2025" b="1">
                <a:solidFill>
                  <a:srgbClr val="FFF4D6"/>
                </a:solidFill>
              </a:defRPr>
            </a:pPr>
            <a:r>
              <a:rPr sz="2025" b="1">
                <a:solidFill>
                  <a:srgbClr val="FFF4D6"/>
                </a:solidFill>
              </a:rPr>
              <a:t>ELEGANCE × PAIN</a:t>
            </a:r>
          </a:p>
        </p:txBody>
      </p:sp>
      <p:sp>
        <p:nvSpPr>
          <p:cNvPr id="12" name="Rectangle 11">
            <a:extLst>
              <a:ext uri="{FF2B5EF4-FFF2-40B4-BE49-F238E27FC236}">
                <a16:creationId xmlns:a16="http://schemas.microsoft.com/office/drawing/2014/main" id="{6AC35A27-8F0E-4582-8078-CA2FAC5512DA}"/>
              </a:ext>
            </a:extLst>
          </p:cNvPr>
          <p:cNvSpPr>
            <a:spLocks noGrp="1"/>
          </p:cNvSpPr>
          <p:nvPr/>
        </p:nvSpPr>
        <p:spPr>
          <a:xfrm>
            <a:off x="666750" y="6467475"/>
            <a:ext cx="9334500" cy="209550"/>
          </a:xfrm>
          <a:prstGeom prst="rect">
            <a:avLst/>
          </a:prstGeom>
          <a:noFill/>
          <a:ln w="0">
            <a:noFill/>
            <a:prstDash val="solid"/>
          </a:ln>
        </p:spPr>
        <p:txBody>
          <a:bodyPr anchor="ctr"/>
          <a:lstStyle/>
          <a:p>
            <a:pPr>
              <a:defRPr sz="975">
                <a:solidFill>
                  <a:srgbClr val="C9B98E"/>
                </a:solidFill>
              </a:defRPr>
            </a:pPr>
            <a:r>
              <a:rPr sz="975">
                <a:solidFill>
                  <a:srgbClr val="C9B98E"/>
                </a:solidFill>
              </a:rPr>
              <a:t>MASTER FRANCKE · SEVEN WORKS</a:t>
            </a:r>
          </a:p>
        </p:txBody>
      </p:sp>
      <p:sp>
        <p:nvSpPr>
          <p:cNvPr id="13" name="Rectangle 12">
            <a:extLst>
              <a:ext uri="{FF2B5EF4-FFF2-40B4-BE49-F238E27FC236}">
                <a16:creationId xmlns:a16="http://schemas.microsoft.com/office/drawing/2014/main" id="{0ECB8245-3B41-431E-BF25-BD77349EDAE6}"/>
              </a:ext>
            </a:extLst>
          </p:cNvPr>
          <p:cNvSpPr>
            <a:spLocks noGrp="1"/>
          </p:cNvSpPr>
          <p:nvPr/>
        </p:nvSpPr>
        <p:spPr>
          <a:xfrm>
            <a:off x="10953750" y="6438900"/>
            <a:ext cx="571500" cy="228600"/>
          </a:xfrm>
          <a:prstGeom prst="rect">
            <a:avLst/>
          </a:prstGeom>
          <a:noFill/>
          <a:ln w="0">
            <a:noFill/>
            <a:prstDash val="solid"/>
          </a:ln>
        </p:spPr>
        <p:txBody>
          <a:bodyPr anchor="ctr"/>
          <a:lstStyle/>
          <a:p>
            <a:pPr algn="r">
              <a:defRPr sz="1050" b="1">
                <a:solidFill>
                  <a:srgbClr val="D8B86A"/>
                </a:solidFill>
              </a:defRPr>
            </a:pPr>
            <a:r>
              <a:rPr sz="1050" b="1">
                <a:solidFill>
                  <a:srgbClr val="D8B86A"/>
                </a:solidFill>
              </a:rPr>
              <a:t>16</a:t>
            </a:r>
          </a:p>
        </p:txBody>
      </p:sp>
    </p:spTree>
    <p:extLst>
      <p:ext uri="{BB962C8B-B14F-4D97-AF65-F5344CB8AC3E}">
        <p14:creationId xmlns:p14="http://schemas.microsoft.com/office/powerpoint/2010/main" val="111839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242A"/>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F7FDE4-CD60-64F5-9109-852613D57D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8640" y="1691640"/>
            <a:ext cx="3474720" cy="3474720"/>
          </a:xfrm>
          <a:prstGeom prst="rect">
            <a:avLst/>
          </a:prstGeom>
        </p:spPr>
      </p:pic>
    </p:spTree>
    <p:extLst>
      <p:ext uri="{BB962C8B-B14F-4D97-AF65-F5344CB8AC3E}">
        <p14:creationId xmlns:p14="http://schemas.microsoft.com/office/powerpoint/2010/main" val="15717287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2825</Words>
  <Application>Microsoft Office PowerPoint</Application>
  <DocSecurity>0</DocSecurity>
  <PresentationFormat>Widescreen</PresentationFormat>
  <Paragraphs>216</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1</cp:revision>
  <dcterms:created xsi:type="dcterms:W3CDTF">2026-08-25T12:07:41Z</dcterms:created>
  <dcterms:modified xsi:type="dcterms:W3CDTF">2026-08-25T13:47:38Z</dcterms:modified>
</cp:coreProperties>
</file>