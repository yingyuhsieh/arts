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d31f8b691a49a5" /><Relationship Type="http://schemas.openxmlformats.org/officeDocument/2006/relationships/extended-properties" Target="/docProps/app.xml" Id="R8e195298d967400a" /><Relationship Type="http://schemas.openxmlformats.org/officeDocument/2006/relationships/officeDocument" Target="/ppt/presentation.xml" Id="R16dd88cd1227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5534180ff4f34"/>
  </p:sldMasterIdLst>
  <p:notesMasterIdLst>
    <p:notesMasterId xmlns:r="http://schemas.openxmlformats.org/officeDocument/2006/relationships" r:id="R1f23b1a22d6f453f"/>
  </p:notesMasterIdLst>
  <p:sldIdLst>
    <p:sldId xmlns:r="http://schemas.openxmlformats.org/officeDocument/2006/relationships" id="256" r:id="Rc5625b7f62b646ae"/>
    <p:sldId xmlns:r="http://schemas.openxmlformats.org/officeDocument/2006/relationships" id="257" r:id="R2b121782adff4cff"/>
    <p:sldId xmlns:r="http://schemas.openxmlformats.org/officeDocument/2006/relationships" id="258" r:id="Raf1dc5b10e9a46b7"/>
    <p:sldId xmlns:r="http://schemas.openxmlformats.org/officeDocument/2006/relationships" id="259" r:id="R87efbe1933e04594"/>
    <p:sldId xmlns:r="http://schemas.openxmlformats.org/officeDocument/2006/relationships" id="260" r:id="R8d720f1d3a0c44ee"/>
    <p:sldId xmlns:r="http://schemas.openxmlformats.org/officeDocument/2006/relationships" id="261" r:id="R591d2310042a4600"/>
    <p:sldId xmlns:r="http://schemas.openxmlformats.org/officeDocument/2006/relationships" id="262" r:id="Rc7b94f2dbdd34617"/>
    <p:sldId xmlns:r="http://schemas.openxmlformats.org/officeDocument/2006/relationships" id="263" r:id="R6044471c76644de5"/>
    <p:sldId xmlns:r="http://schemas.openxmlformats.org/officeDocument/2006/relationships" id="264" r:id="R5d77cfef1edd4649"/>
    <p:sldId xmlns:r="http://schemas.openxmlformats.org/officeDocument/2006/relationships" id="265" r:id="R1141ee9eea7545bd"/>
    <p:sldId xmlns:r="http://schemas.openxmlformats.org/officeDocument/2006/relationships" id="266" r:id="Redb4e12c87844055"/>
    <p:sldId xmlns:r="http://schemas.openxmlformats.org/officeDocument/2006/relationships" id="267" r:id="R0e4b15b7adf14019"/>
    <p:sldId xmlns:r="http://schemas.openxmlformats.org/officeDocument/2006/relationships" id="268" r:id="R54caaf2223b44bce"/>
    <p:sldId xmlns:r="http://schemas.openxmlformats.org/officeDocument/2006/relationships" id="269" r:id="R5190806e0fe64acd"/>
    <p:sldId xmlns:r="http://schemas.openxmlformats.org/officeDocument/2006/relationships" id="270" r:id="Rdedd798ea18e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cb3d1b05a04372" /><Relationship Type="http://schemas.openxmlformats.org/officeDocument/2006/relationships/slideMaster" Target="/ppt/slideMasters/slideMaster1.xml" Id="R9795534180ff4f34" /><Relationship Type="http://schemas.openxmlformats.org/officeDocument/2006/relationships/notesMaster" Target="/ppt/notesMasters/notesMaster1.xml" Id="R1f23b1a22d6f453f" /><Relationship Type="http://schemas.openxmlformats.org/officeDocument/2006/relationships/presProps" Target="/ppt/presProps.xml" Id="Rd1ce928ce33e4339" /><Relationship Type="http://schemas.openxmlformats.org/officeDocument/2006/relationships/tableStyles" Target="/ppt/tableStyles.xml" Id="R15efc67d7029408f" /><Relationship Type="http://schemas.openxmlformats.org/officeDocument/2006/relationships/slide" Target="/ppt/slides/slide1.xml" Id="Rc5625b7f62b646ae" /><Relationship Type="http://schemas.openxmlformats.org/officeDocument/2006/relationships/slide" Target="/ppt/slides/slide2.xml" Id="R2b121782adff4cff" /><Relationship Type="http://schemas.openxmlformats.org/officeDocument/2006/relationships/slide" Target="/ppt/slides/slide3.xml" Id="Raf1dc5b10e9a46b7" /><Relationship Type="http://schemas.openxmlformats.org/officeDocument/2006/relationships/slide" Target="/ppt/slides/slide4.xml" Id="R87efbe1933e04594" /><Relationship Type="http://schemas.openxmlformats.org/officeDocument/2006/relationships/slide" Target="/ppt/slides/slide5.xml" Id="R8d720f1d3a0c44ee" /><Relationship Type="http://schemas.openxmlformats.org/officeDocument/2006/relationships/slide" Target="/ppt/slides/slide6.xml" Id="R591d2310042a4600" /><Relationship Type="http://schemas.openxmlformats.org/officeDocument/2006/relationships/slide" Target="/ppt/slides/slide7.xml" Id="Rc7b94f2dbdd34617" /><Relationship Type="http://schemas.openxmlformats.org/officeDocument/2006/relationships/slide" Target="/ppt/slides/slide8.xml" Id="R6044471c76644de5" /><Relationship Type="http://schemas.openxmlformats.org/officeDocument/2006/relationships/slide" Target="/ppt/slides/slide9.xml" Id="R5d77cfef1edd4649" /><Relationship Type="http://schemas.openxmlformats.org/officeDocument/2006/relationships/slide" Target="/ppt/slides/slide10.xml" Id="R1141ee9eea7545bd" /><Relationship Type="http://schemas.openxmlformats.org/officeDocument/2006/relationships/slide" Target="/ppt/slides/slide11.xml" Id="Redb4e12c87844055" /><Relationship Type="http://schemas.openxmlformats.org/officeDocument/2006/relationships/slide" Target="/ppt/slides/slide12.xml" Id="R0e4b15b7adf14019" /><Relationship Type="http://schemas.openxmlformats.org/officeDocument/2006/relationships/slide" Target="/ppt/slides/slide13.xml" Id="R54caaf2223b44bce" /><Relationship Type="http://schemas.openxmlformats.org/officeDocument/2006/relationships/slide" Target="/ppt/slides/slide14.xml" Id="R5190806e0fe64acd" /><Relationship Type="http://schemas.openxmlformats.org/officeDocument/2006/relationships/slide" Target="/ppt/slides/slide15.xml" Id="Rdedd798ea18e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a25c82df4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c6ece96e54d75" /><Relationship Type="http://schemas.openxmlformats.org/officeDocument/2006/relationships/notesMaster" Target="/ppt/notesMasters/notesMaster1.xml" Id="R0def47dee34f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8a5d0ce6674de1" /><Relationship Type="http://schemas.openxmlformats.org/officeDocument/2006/relationships/notesMaster" Target="/ppt/notesMasters/notesMaster1.xml" Id="R4d777c891fa4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6e44ec588b4551" /><Relationship Type="http://schemas.openxmlformats.org/officeDocument/2006/relationships/notesMaster" Target="/ppt/notesMasters/notesMaster1.xml" Id="R01f4109724aa40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7c267c287b498b" /><Relationship Type="http://schemas.openxmlformats.org/officeDocument/2006/relationships/notesMaster" Target="/ppt/notesMasters/notesMaster1.xml" Id="R0c12b85cf44f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1c0aee7249450e" /><Relationship Type="http://schemas.openxmlformats.org/officeDocument/2006/relationships/notesMaster" Target="/ppt/notesMasters/notesMaster1.xml" Id="Rfc14be35b5b6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b28be4727f4860" /><Relationship Type="http://schemas.openxmlformats.org/officeDocument/2006/relationships/notesMaster" Target="/ppt/notesMasters/notesMaster1.xml" Id="R4c029b49e482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a623de1f8e4c7d" /><Relationship Type="http://schemas.openxmlformats.org/officeDocument/2006/relationships/notesMaster" Target="/ppt/notesMasters/notesMaster1.xml" Id="R2d3ed6aefba943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cba1c0bf4b4823" /><Relationship Type="http://schemas.openxmlformats.org/officeDocument/2006/relationships/notesMaster" Target="/ppt/notesMasters/notesMaster1.xml" Id="Rc02c676ad3cc4a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668a5d0c5f4d6f" /><Relationship Type="http://schemas.openxmlformats.org/officeDocument/2006/relationships/notesMaster" Target="/ppt/notesMasters/notesMaster1.xml" Id="R655b9a99318f46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d623484524828" /><Relationship Type="http://schemas.openxmlformats.org/officeDocument/2006/relationships/notesMaster" Target="/ppt/notesMasters/notesMaster1.xml" Id="Rb05330f44baa42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92a46ac09349e2" /><Relationship Type="http://schemas.openxmlformats.org/officeDocument/2006/relationships/notesMaster" Target="/ppt/notesMasters/notesMaster1.xml" Id="Racfb0767febb43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1cd6bb51e54987" /><Relationship Type="http://schemas.openxmlformats.org/officeDocument/2006/relationships/notesMaster" Target="/ppt/notesMasters/notesMaster1.xml" Id="Rac3b07651bee48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72a8cec9d6437b" /><Relationship Type="http://schemas.openxmlformats.org/officeDocument/2006/relationships/notesMaster" Target="/ppt/notesMasters/notesMaster1.xml" Id="R6708a735a28e40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34131d655e4f6c" /><Relationship Type="http://schemas.openxmlformats.org/officeDocument/2006/relationships/notesMaster" Target="/ppt/notesMasters/notesMaster1.xml" Id="R68924a4c7a224d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e8272626d04de6" /><Relationship Type="http://schemas.openxmlformats.org/officeDocument/2006/relationships/notesMaster" Target="/ppt/notesMasters/notesMaster1.xml" Id="R0f6b084f2376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一位連出生地、確切生年與長相都沒有留下的修士，如何成為俄羅斯六百年來最重要的畫家之一？ 安德烈・魯布廖夫沒有自傳、沒有書信，也沒有可信的肖像。真正可靠的資料，只是編年史中幾次教堂工程的簡短記錄。然而，他的名字卻和一幅畫牢牢相連——《聖三位一體》。 三位天使安靜地坐在桌旁，沒有戲劇性的動作，也沒有恐怖的神蹟。真正的事件，是三個身體如何彼此傾向，三道目光如何循環，以及中央的杯如何把差異連結成一個整體。 今天，我們要從少數史料、幾組殘缺作品與一幅六百年的聖像出發，理解魯布廖夫如何在暴力與政治動盪的年代，畫出一種不以征服為中心的秩序。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https://commons.wikimedia.org/wiki/File:Andrey_Rublev_-_Св._Троица_-_Google_Art_Project.jpg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魯布廖夫大約出生於 1360 至 1370 年代，但出生地與家庭背景均不詳。他成長的羅斯世界，仍處於金帳汗國的宗主權與徵貢體系之下。 1380 年庫里科沃戰役提高了莫斯科的政治聲望，卻沒有立即終結蒙古勢力。1382 年，脫脫迷失汗攻陷並焚燒莫斯科；1408 年，亦迪古再度進攻莫斯科地區，聖三一修道院也遭焚毀。 戰爭之外，另一股力量正在成長：修道院擴張、石造教堂興建，莫斯科也逐漸成為政治與宗教中心。在這個世界裡，聖像不是掛在牆上的裝飾品。它位於祭壇與聖像屏之中，參與祈禱、節期、權力與共同記憶。 因此，魯布廖夫畫面的寧靜不是逃避歷史，而是在不安定的世界中，提出另一種可能的秩序。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https://whc.unesco.org/en/list/657/</a:t>
            </a:r>
          </a:p>
          <a:p xmlns:a="http://schemas.openxmlformats.org/drawingml/2006/main">
            <a:r>
              <a:t>- https://www.lavra.ru/languages/en/page4.php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魯布廖夫是一名修士，也是一名聖像畫家。在東方基督宗教傳統裡，聖像不是單純模仿外表的圖畫，而是讓信仰內容成為可觀看、可敬禮的形象。 畫家必須遵循既有題材、姿態與象徵，卻仍能透過輪廓、比例、色彩和人物之間的關係，改變作品的精神語調。聖像也不只存在於木板上，還包括壁畫、馬賽克、手抄本與其他媒材。 魯布廖夫承接拜占庭視覺傳統。人物不追求自然肉體的重量，空間也不服從文藝復興式的單一消失點。金色背景取消日常景深，多重視點與常被稱為「反透視」的空間，使畫面不只向內延伸，也朝觀看者展開。 他的創新不是推翻傳統，而是在傳統之中讓威嚴變得柔和，讓凝視、傾身與彼此回應承載慈悲。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https://whc.unesco.org/en/list/633/</a:t>
            </a:r>
          </a:p>
          <a:p xmlns:a="http://schemas.openxmlformats.org/drawingml/2006/main">
            <a:r>
              <a:t>- https://commons.wikimedia.org/wiki/File:Dormition_Cathedral_(19964269815).jpg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1405 年，魯布廖夫的名字第一次出現在編年史。他與戈羅傑茨的普羅霍爾，以及著名拜占庭畫家希臘人塞奧法尼斯，共同裝飾莫斯科克里姆林宮聖母領報教堂的前身。 編年史把魯布廖夫列在三人最後，可能暗示他較年輕或地位較低，但名單順序不足以證明具體分工。後世也常說塞奧法尼斯是他的老師，然而目前沒有直接史料證實正式師徒關係。 可以確定的是，魯布廖夫曾和一位成熟的拜占庭大師共同工作。塞奧法尼斯的人物常以強烈光痕、迅疾筆觸與禁欲性的面孔帶來精神震撼；魯布廖夫後來則傾向明亮色彩、柔和輪廓和像在傾聽般的姿態。 1405 年的原建築與壁畫後來消失。今天聖像屏中的部分作品是否來自當年工程、是否出自魯布廖夫或其藝術圈，仍有爭議。這也是理解中世紀藝術的第一個提醒：有文獻記錄一項工程，不代表我們能把每件現存作品都交給同一位大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https://commons.wikimedia.org/wiki/File:1400-10_Theophanes_the_Greek_Transfiguration_anagoria.JPG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1408 年，編年史記載魯布廖夫與丹尼爾・喬爾尼為弗拉基米爾聖母安息主教座堂繪製壁畫。UNESCO 資料也確認兩位大師參與，《最後的審判》等部分壁畫至今仍保存在原地。 這是魯布廖夫少數同時具有文獻、準確年代與原地遺存支持的核心工程。不過，大型教堂壁畫必須由團隊完成，個別人物和衣褶仍無法精確分配給某一位畫家。 傳統的《最後的審判》常強調刑罰、怪物與恐懼；這裡殘存的人物卻呈現較溫和的面容、明亮色調和有秩序的群體。許多藝術史家因此認為，作品把重心從恐怖的刑罰移向救贖與世界秩序的恢復。 這不是編年史直接記下的「情緒」，而是根據形式所作的藝術史解讀。但它提供了一條理解魯布廖夫的重要線索：他沒有取消審判，而是拒絕讓恐懼成為畫面最後的秩序。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https://whc.unesco.org/en/list/633/</a:t>
            </a:r>
          </a:p>
          <a:p xmlns:a="http://schemas.openxmlformats.org/drawingml/2006/main">
            <a:r>
              <a:t>- https://commons.wikimedia.org/wiki/File:Rublev_fresco,_Vladimir_cathedral_02.jpg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《希特羅沃福音書》以八幅細密畫、精緻首字母和花飾聞名。最常被歸於魯布廖夫的，是圓形構圖中的《福音書作者馬太的象徵》：一位有翼天使手持卷軸，輪廓清晰而平衡。 UNESCO 將這些細密畫與魯布廖夫及其周圍藝術家相連，但研究者並未對個別手筆取得一致結論。它們也可能涉及塞奧法尼斯、丹尼爾或多位工坊成員。 手抄本通常由書寫者、繪圖者、上金者和裝飾者共同完成。這部福音書的價值，正是讓我們離開「孤獨天才」的想像，看見構圖、色彩與神學象徵如何在書籍工坊、教堂壁畫和聖像屏之間流動。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https://www.unesco.org/en/memory-world/khitrovo-gospel</a:t>
            </a:r>
          </a:p>
          <a:p xmlns:a="http://schemas.openxmlformats.org/drawingml/2006/main">
            <a:r>
              <a:t>- https://commons.wikimedia.org/wiki/Category:Khitrovo_Gospels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1918 年，一支古代繪畫保存考察隊在莫斯科近郊茲韋尼哥羅德主教座堂附近，發現三幅嚴重受損的聖像：《救世主》、《大天使米迦勒》和《使徒保羅》。它們被認為是原本更完整的祈禱列殘存部分。 其中《救世主》損傷最重，卻也最令人難忘。殘缺表面把所有注意力集中到基督的眼睛：莊嚴而不冷酷，像同時看見人的脆弱與可能性。 這組作品長期被視為魯布廖夫風格的代表，但沒有書面文獻直接證明作者。2015 至 2016 年的技術研究比較底層輪廓、顏料層與製作方法，對三幅作品均為魯布廖夫親筆的傳統說法提出質疑。它們可能來自同時代的拜占庭—俄羅斯藝術圈，也可能由不只一位畫家完成。 科學檢驗沒有降低作品的力量，卻改變了我們提問的方式：我們是在尋找一位名人的手，還是在理解一個共同創作的視覺世界？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https://commons.wikimedia.org/wiki/Category:Zvenigorodskiy_chin</a:t>
            </a:r>
          </a:p>
          <a:p xmlns:a="http://schemas.openxmlformats.org/drawingml/2006/main">
            <a:r>
              <a:t>- https://www.tretyakovgallerymagazine.com/node/7196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魯布廖夫最著名、歸屬也最穩固的作品，是《聖三位一體》，又稱《舊約聖三位一體》。它以多塊木板拼接、施作蛋彩，高約 141.5 公分，並不是一件小型私人敬禮物。 作品年代有兩種主要假說：一說約作於 1411 年，原為較早的木造教堂而繪；另一說約在 1425 至 1427 年，配合石造聖三一主教座堂及聖像屏工程。這項斷代至今仍未完全解決。 題材來自《創世記》第 18 章，亞伯拉罕在幔利橡樹旁接待三位神祕訪客。傳統圖像通常包括亞伯拉罕、撒拉、僕人、食物與建築。魯布廖夫卻大幅刪除敘事，只留下三位天使、桌上的杯，以及背景中的房屋、樹與山。 故事沒有消失，而是被集中成關係：房屋提示款待與救贖計畫；樹讓人想到幔利橡樹、生命樹與十字架；山可以象徵啟示與靈性上升；中央的杯則把筵席連向犧牲。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https://commons.wikimedia.org/wiki/File:Andrey_Rublev_-_Св._Троица_-_Google_Art_Project.jpg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三位天使的頭部、翅膀與身體形成環繞桌面的圓形節奏。這不是用尺規畫出的幾何圖形，而是由傾斜的頭部、流動的視線和衣袍曲線共同完成。 常見解讀把左、中、右三位天使理解為聖父、聖子與聖靈，但不同神學傳統對人物對應、手勢與色彩並不完全一致。與其把每一種顏色都當成密碼，更重要的是看見三位如何相似又不同：彼此面向，卻沒有任何一位以權力壓倒其他兩位。 中央的杯位於關係核心。目光沿著杯、手勢、面孔與翅膀循環，沒有一個人物獨占畫面。魯布廖夫把「合一」畫成一種動態：不是消除差異，而是讓差異彼此回應。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https://commons.wikimedia.org/wiki/Category:Holy_Trinity_Icon_(Andrej_Rublëv)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桌子在觀眾這一側留下開放空間。傳統線性透視把空間向畫面深處收縮，將觀看者留在外面；這裡的桌面與座台斜線卻向外展開，彷彿把視線帶到觀眾身前。 這種常被稱為「反透視」的效果，加上取消日常景深的金色背景，使觀者不只是遠遠觀看一場神聖筵席，而像被構圖邀請到桌旁。 我們不必因此想像原本存在一張神祕的「第四把椅子」。真正重要的是，畫面沒有封閉自己。它以視線、手勢和空間為觀看者保留了進入關係的可能。 1551 年莫斯科百章會議要求三位一體依古代範例與魯布廖夫的方式描繪。這不等於教會宣布這幅畫是唯一答案，卻說明到了 16 世紀，他的視覺方式已成為正統聖像的重要典範。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https://commons.wikimedia.org/wiki/Category:Holy_Trinity_Icon_(Andrej_Rublëv)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《聖三位一體》沒有以 15 世紀的原貌直接來到今天。數百年來，它受到香火煙燻、油層變暗、溫濕度變化與後期重繪影響，也曾覆蓋金銀珠寶護罩，只露出面孔和雙手。 1904 至 1905 年，瓦西里・古里亞諾夫揭露部分原作色彩，卻又依當時修復觀念補畫。1918 至 1919 年，專業團隊才更系統地辨識原作、後期重繪與缺損。 因此，我們今天看到的明亮藍、綠與赭紅，不是簡單地把灰塵擦掉後「找回原作」，而是原始顏料、材料老化、缺損和歷次修復共同形成的表面。 修復讓魯布廖夫重新進入現代藝術史，也讓我們明白：觀看古代作品，永遠同時是在觀看它被保存、遮蔽與重新揭露的歷史。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https://commons.wikimedia.org/wiki/File:Rublev_trinity_riza.jpg</a:t>
            </a:r>
          </a:p>
          <a:p xmlns:a="http://schemas.openxmlformats.org/drawingml/2006/main">
            <a:r>
              <a:t>- https://commons.wikimedia.org/wiki/File:Rublev_troitsa_raschistka.jpg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1966 年，安德烈・塔可夫斯基完成電影《安德烈・魯布廖夫》。影片不是可靠史料的影像化傳記。沉默誓言、鑄鐘少年與許多事件，都是導演在生平空白之中進行的藝術創造。 電影真正關心的，是藝術家如何在暴力、政治壓力與信仰危機中繼續創作。大部分黑白影像在結尾轉成彩色，魯布廖夫的聖像彷彿從苦難世界中被重新揭露。 影片完成後受到蘇聯限制。約 205 分鐘的初剪版曾被壓下；1969 年以非競賽方式在坎城放映並獲 FIPRESCI 獎；塔可夫斯基後來認可的約 183 分鐘版本，直到 1971 年才在蘇聯有限上映。 電影不能替代魯布廖夫的歷史，卻重塑了現代人想像他的方式：他不再只是一位中世紀修士，而成為藝術家如何面對暴力與道德責任的文化象徵。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https://www.criterion.com/films/300-andrei-rublev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《聖三位一體》的現代命運，再次把信仰與保存放在同一張桌上。 1929 年，作品進入特列季亞科夫畫廊，在受控制的環境中保存。2022 年，原作曾短期送回聖三一主教座堂供敬禮，引起保存專家對木板、底料、顏料層和環境變化的憂慮。2023 年，俄羅斯政府決定把它交由俄羅斯東正教會；2024 年 6 月，作品回到聖三一謝爾蓋修道院，安置在特製保護櫃中。 這場爭議沒有簡單答案。只把聖像當成美術館物件，可能切斷它與禮儀及祈禱的關係；但如果象徵性的「回歸」凌駕保存需要，六百年的木板與顏料也可能遭受不可逆損害。 一件作品可以同時是活的信仰、國家象徵與全人類文化遺產。正因如此，擁有權從來不等於可以免除保存責任。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https://lavra.ru/lavra-news/svyataya-troitsa-prepodobnogo-andreya-rublyeva-vernulas-v-troitse-sergievu-lavru/</a:t>
            </a:r>
          </a:p>
          <a:p xmlns:a="http://schemas.openxmlformats.org/drawingml/2006/main">
            <a:r>
              <a:t>- https://whc.unesco.org/en/list/657/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魯布廖夫的重要性，不只在於「俄羅斯最偉大的聖像畫家」這句稱號。他讓我們看見，創新不一定需要推翻傳統。 在既定的題材、人物類型與材料程序中，他以色彩、輪廓、凝視與人物關係改變了作品的精神重心。《最後的審判》可以少一點恐怖，多一點秩序恢復的盼望；基督可以同時莊嚴而慈悲；三位天使可以各自不同，卻沒有任何一位征服其他兩位。 魯布廖夫也迫使我們重新思考作者。當壁畫、手抄本與聖像屏都可能由工作坊共同完成，大師的偉大是否因此減少？或許正好相反。他留下的不是孤獨天才的神話，而是一種能在群體中被學習、延續和轉化的視覺倫理。 和平不一定要畫成戰爭結束後的慶典。它也可以存在於一個頭部如何向另一個頭部傾斜，一種藍色如何回應另一件衣袍，以及一張桌子如何為陌生人保留位置。 魯布廖夫沒有用文字回答「差異如何共處而不彼此征服」。他讓三位天使安靜地坐在同一張桌旁，讓目光、手勢與色彩完成答案。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https://www.tretyakovgallerymagazine.com/node/7196</a:t>
            </a:r>
          </a:p>
          <a:p xmlns:a="http://schemas.openxmlformats.org/drawingml/2006/main">
            <a:r>
              <a:t>- https://whc.unesco.org/en/list/633/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感謝你的觀看。歡迎訂閱 Our Famous Artists，和我們繼續沿著藝術史的時間軸，認識下一位藝術家與他的時代。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Channel end card;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c0a0dfa2d4c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11d8d8000425d" /><Relationship Type="http://schemas.openxmlformats.org/officeDocument/2006/relationships/slideLayout" Target="/ppt/slideLayouts/slideLayout1.xml" Id="R392f6fd2800f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f6fd2800f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88d37ecf427a" /><Relationship Type="http://schemas.openxmlformats.org/officeDocument/2006/relationships/image" Target="/ppt/media/image.jpeg" Id="R85fcd31e7e294143" /><Relationship Type="http://schemas.openxmlformats.org/officeDocument/2006/relationships/image" Target="/ppt/media/image2.jpeg" Id="R106d482bac414596" /><Relationship Type="http://schemas.openxmlformats.org/officeDocument/2006/relationships/notesSlide" Target="/ppt/notesSlides/notesSlide1.xml" Id="R4f48c8299050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7ebf222a94d29" /><Relationship Type="http://schemas.openxmlformats.org/officeDocument/2006/relationships/image" Target="/ppt/media/image3.jpeg" Id="R375d3ebc255946ce" /><Relationship Type="http://schemas.openxmlformats.org/officeDocument/2006/relationships/notesSlide" Target="/ppt/notesSlides/notesSlide2.xml" Id="R0b3448cc314742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2de179f84037" /><Relationship Type="http://schemas.openxmlformats.org/officeDocument/2006/relationships/image" Target="/ppt/media/image4.jpeg" Id="Rd1d480e8608844fc" /><Relationship Type="http://schemas.openxmlformats.org/officeDocument/2006/relationships/image" Target="/ppt/media/image5.jpeg" Id="Rce7e3416abdb4ff4" /><Relationship Type="http://schemas.openxmlformats.org/officeDocument/2006/relationships/notesSlide" Target="/ppt/notesSlides/notesSlide3.xml" Id="R45d2d72dbf7642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6839117a64176" /><Relationship Type="http://schemas.openxmlformats.org/officeDocument/2006/relationships/image" Target="/ppt/media/image6.jpeg" Id="Ra041e9f864fe420b" /><Relationship Type="http://schemas.openxmlformats.org/officeDocument/2006/relationships/image" Target="/ppt/media/image7.jpeg" Id="R56720bf8791540cd" /><Relationship Type="http://schemas.openxmlformats.org/officeDocument/2006/relationships/image" Target="/ppt/media/image8.jpeg" Id="R50ded6ebf2964b12" /><Relationship Type="http://schemas.openxmlformats.org/officeDocument/2006/relationships/notesSlide" Target="/ppt/notesSlides/notesSlide4.xml" Id="R88c37ddd436e4c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43d539a2e4a42" /><Relationship Type="http://schemas.openxmlformats.org/officeDocument/2006/relationships/image" Target="/ppt/media/image9.jpeg" Id="R43085f3a143f405e" /><Relationship Type="http://schemas.openxmlformats.org/officeDocument/2006/relationships/image" Target="/ppt/media/image10.jpeg" Id="R9d7c496b27054217" /><Relationship Type="http://schemas.openxmlformats.org/officeDocument/2006/relationships/notesSlide" Target="/ppt/notesSlides/notesSlide5.xml" Id="R2161c3b6cbe84a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fadd78f2b49ef" /><Relationship Type="http://schemas.openxmlformats.org/officeDocument/2006/relationships/image" Target="/ppt/media/image11.jpeg" Id="R8caf8ca98b184a32" /><Relationship Type="http://schemas.openxmlformats.org/officeDocument/2006/relationships/image" Target="/ppt/media/image12.jpeg" Id="R7f485d000cc048fa" /><Relationship Type="http://schemas.openxmlformats.org/officeDocument/2006/relationships/notesSlide" Target="/ppt/notesSlides/notesSlide6.xml" Id="R28a12f1f6b3148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120c430ce437a" /><Relationship Type="http://schemas.openxmlformats.org/officeDocument/2006/relationships/image" Target="/ppt/media/image13.jpeg" Id="Rf431b6fd36b843b2" /><Relationship Type="http://schemas.openxmlformats.org/officeDocument/2006/relationships/image" Target="/ppt/media/image14.jpeg" Id="R74909572727b4725" /><Relationship Type="http://schemas.openxmlformats.org/officeDocument/2006/relationships/image" Target="/ppt/media/image15.jpeg" Id="Rac7bb42029e74910" /><Relationship Type="http://schemas.openxmlformats.org/officeDocument/2006/relationships/image" Target="/ppt/media/image16.jpeg" Id="Rec1f07ec48fb4bc2" /><Relationship Type="http://schemas.openxmlformats.org/officeDocument/2006/relationships/notesSlide" Target="/ppt/notesSlides/notesSlide7.xml" Id="R705ffd69d7c9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4fee3595d4b49" /><Relationship Type="http://schemas.openxmlformats.org/officeDocument/2006/relationships/image" Target="/ppt/media/image17.jpeg" Id="Rf0e043ec82f44832" /><Relationship Type="http://schemas.openxmlformats.org/officeDocument/2006/relationships/image" Target="/ppt/media/image18.jpeg" Id="Rc206da707aae452b" /><Relationship Type="http://schemas.openxmlformats.org/officeDocument/2006/relationships/notesSlide" Target="/ppt/notesSlides/notesSlide8.xml" Id="R4bd2e30cf2db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108fd59f74850" /><Relationship Type="http://schemas.openxmlformats.org/officeDocument/2006/relationships/image" Target="/ppt/media/image19.jpeg" Id="R92f47c6ab9564d7a" /><Relationship Type="http://schemas.openxmlformats.org/officeDocument/2006/relationships/image" Target="/ppt/media/image20.jpeg" Id="R27218a407687439e" /><Relationship Type="http://schemas.openxmlformats.org/officeDocument/2006/relationships/notesSlide" Target="/ppt/notesSlides/notesSlide9.xml" Id="Ree62a9c23a264e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8de4bbd3d4859" /><Relationship Type="http://schemas.openxmlformats.org/officeDocument/2006/relationships/image" Target="/ppt/media/image21.jpeg" Id="R95c94d9111114857" /><Relationship Type="http://schemas.openxmlformats.org/officeDocument/2006/relationships/image" Target="/ppt/media/image22.jpeg" Id="R0a942a63bb244be6" /><Relationship Type="http://schemas.openxmlformats.org/officeDocument/2006/relationships/notesSlide" Target="/ppt/notesSlides/notesSlide10.xml" Id="Rc63ef9c77e0e49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b15cf1624f5b" /><Relationship Type="http://schemas.openxmlformats.org/officeDocument/2006/relationships/image" Target="/ppt/media/image23.jpeg" Id="Rf5b4dc793d0b4235" /><Relationship Type="http://schemas.openxmlformats.org/officeDocument/2006/relationships/image" Target="/ppt/media/image24.jpeg" Id="R446255d6a56148ff" /><Relationship Type="http://schemas.openxmlformats.org/officeDocument/2006/relationships/image" Target="/ppt/media/image25.jpeg" Id="Rc0624d6cec2347ac" /><Relationship Type="http://schemas.openxmlformats.org/officeDocument/2006/relationships/image" Target="/ppt/media/image26.jpeg" Id="Ra9f83fbb77c841bd" /><Relationship Type="http://schemas.openxmlformats.org/officeDocument/2006/relationships/notesSlide" Target="/ppt/notesSlides/notesSlide11.xml" Id="R54d371e2ba1242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3b1ce72104106" /><Relationship Type="http://schemas.openxmlformats.org/officeDocument/2006/relationships/image" Target="/ppt/media/image27.jpeg" Id="Ra3abec93164e416b" /><Relationship Type="http://schemas.openxmlformats.org/officeDocument/2006/relationships/image" Target="/ppt/media/image28.jpeg" Id="Ra9c90deebcdd45b5" /><Relationship Type="http://schemas.openxmlformats.org/officeDocument/2006/relationships/notesSlide" Target="/ppt/notesSlides/notesSlide12.xml" Id="R065babd68ef940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f0359cc4245de" /><Relationship Type="http://schemas.openxmlformats.org/officeDocument/2006/relationships/image" Target="/ppt/media/image29.jpeg" Id="R775356bdb1224506" /><Relationship Type="http://schemas.openxmlformats.org/officeDocument/2006/relationships/image" Target="/ppt/media/image30.jpeg" Id="R02df72c84e0d45ef" /><Relationship Type="http://schemas.openxmlformats.org/officeDocument/2006/relationships/notesSlide" Target="/ppt/notesSlides/notesSlide13.xml" Id="R13b2f1b696da49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f83d6ae044d0a" /><Relationship Type="http://schemas.openxmlformats.org/officeDocument/2006/relationships/image" Target="/ppt/media/image31.jpeg" Id="Rffd54a4f790f4d33" /><Relationship Type="http://schemas.openxmlformats.org/officeDocument/2006/relationships/image" Target="/ppt/media/image32.jpeg" Id="Rf28cb20693834fb2" /><Relationship Type="http://schemas.openxmlformats.org/officeDocument/2006/relationships/image" Target="/ppt/media/image33.jpeg" Id="R66df891214664209" /><Relationship Type="http://schemas.openxmlformats.org/officeDocument/2006/relationships/image" Target="/ppt/media/image34.jpeg" Id="R52e3ba18d1774ebb" /><Relationship Type="http://schemas.openxmlformats.org/officeDocument/2006/relationships/notesSlide" Target="/ppt/notesSlides/notesSlide14.xml" Id="Rf6849a0b2df144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8f1bece214587" /><Relationship Type="http://schemas.openxmlformats.org/officeDocument/2006/relationships/image" Target="/ppt/media/image35.jpeg" Id="R273adc05a1de4a65" /><Relationship Type="http://schemas.openxmlformats.org/officeDocument/2006/relationships/notesSlide" Target="/ppt/notesSlides/notesSlide15.xml" Id="R765f4e617f8348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cd31e7e2941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8FBDF-839F-4344-B163-9D39121D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1950"/>
            <a:ext cx="666750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3700B-A92A-4D46-8179-DDE6E8D6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67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D6AD4B"/>
                </a:solidFill>
              </a:defRPr>
            </a:pPr>
            <a:r>
              <a:rPr sz="1050" b="1" i="0">
                <a:solidFill>
                  <a:srgbClr val="D6AD4B"/>
                </a:solidFill>
              </a:rPr>
              <a:t>大師與名作｜俄羅斯聖像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C3E8D-E5AF-4CBF-803D-21CD463C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192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EF7"/>
                </a:solidFill>
              </a:defRPr>
            </a:pPr>
            <a:r>
              <a:rPr sz="3900" b="1" i="0">
                <a:solidFill>
                  <a:srgbClr val="FFFEF7"/>
                </a:solidFill>
              </a:rPr>
              <a:t>安德烈・魯布廖夫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7A858-E48D-4926-9EDF-D7D0F858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3DDA0"/>
                </a:solidFill>
              </a:defRPr>
            </a:pPr>
            <a:r>
              <a:rPr sz="2250" b="1" i="0">
                <a:solidFill>
                  <a:srgbClr val="F3DDA0"/>
                </a:solidFill>
              </a:rPr>
              <a:t>和平，可以是一種構圖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F3FCF-9F12-4B3E-B48F-CE82CD13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B772-5BDC-4FCD-93D8-B0C63E4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6D9"/>
                </a:solidFill>
              </a:defRPr>
            </a:pPr>
            <a:r>
              <a:rPr sz="1650" b="0" i="0">
                <a:solidFill>
                  <a:srgbClr val="FFF6D9"/>
                </a:solidFill>
              </a:rPr>
              <a:t>從殘缺史料到《聖三位一體》</a:t>
            </a:r>
          </a:p>
          <a:p xmlns:a="http://schemas.openxmlformats.org/drawingml/2006/main">
            <a:pPr>
              <a:defRPr sz="1650" b="0" i="0">
                <a:solidFill>
                  <a:srgbClr val="FFF6D9"/>
                </a:solidFill>
              </a:defRPr>
            </a:pPr>
            <a:r>
              <a:rPr sz="1650" b="0" i="0">
                <a:solidFill>
                  <a:srgbClr val="FFF6D9"/>
                </a:solidFill>
              </a:rPr>
              <a:t>理解一種不以征服為中心的秩序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F8CBC-AA45-43EB-892C-2FC17D9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5775"/>
            <a:ext cx="3314700" cy="54102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d482bac414596"/>
          <a:stretch xmlns:a="http://schemas.openxmlformats.org/drawingml/2006/main"/>
        </p:blipFill>
        <p:spPr>
          <a:xfrm xmlns:a="http://schemas.openxmlformats.org/drawingml/2006/main">
            <a:off x="7810500" y="1245259"/>
            <a:ext cx="3143250" cy="3891231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20227927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d3ebc255946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88900-F662-410C-B2AD-48EC57D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56458-9198-4F2D-9520-CB67D23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CDAC2-C56F-404B-83C7-7727546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蒙古陰影下的莫斯科世界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3381-676F-4A67-9B08-55C4DABC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A0084-A76E-480A-AD85-DACDDD0B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3A21C-4FCB-4EB0-A975-3E93B07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04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C3334-3D7F-45C2-9E28-BE0BBFC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5277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B5D"/>
          </a:solidFill>
          <a:ln xmlns:a="http://schemas.openxmlformats.org/drawingml/2006/main" w="19050">
            <a:solidFill>
              <a:srgbClr val="F3DD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A5E10-936C-4C6A-A125-AE7619D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EF7"/>
                </a:solidFill>
              </a:defRPr>
            </a:pPr>
            <a:r>
              <a:rPr sz="2550" b="1" i="0">
                <a:solidFill>
                  <a:srgbClr val="FFFEF7"/>
                </a:solidFill>
              </a:rPr>
              <a:t>1380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1140C-FE8F-4A35-9B4F-6819347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21315"/>
                </a:solidFill>
              </a:defRPr>
            </a:pPr>
            <a:r>
              <a:rPr sz="1125" b="1" i="0">
                <a:solidFill>
                  <a:srgbClr val="121315"/>
                </a:solidFill>
              </a:rPr>
              <a:t>庫里科沃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8FF3F-A8DA-4D9E-8F56-2B014E4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5277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19050">
            <a:solidFill>
              <a:srgbClr val="F3DD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3F08E-32F3-48B7-8F54-A7168802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EF7"/>
                </a:solidFill>
              </a:defRPr>
            </a:pPr>
            <a:r>
              <a:rPr sz="2550" b="1" i="0">
                <a:solidFill>
                  <a:srgbClr val="FFFEF7"/>
                </a:solidFill>
              </a:rPr>
              <a:t>1382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85354-446F-4307-811E-2F91E74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21315"/>
                </a:solidFill>
              </a:defRPr>
            </a:pPr>
            <a:r>
              <a:rPr sz="1125" b="1" i="0">
                <a:solidFill>
                  <a:srgbClr val="121315"/>
                </a:solidFill>
              </a:rPr>
              <a:t>莫斯科焚毀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37B29-0856-4C1D-A2A2-DB8201C0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52775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93B5D"/>
          </a:solidFill>
          <a:ln xmlns:a="http://schemas.openxmlformats.org/drawingml/2006/main" w="19050">
            <a:solidFill>
              <a:srgbClr val="F3DD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ABB5A-B618-4C07-94AC-E5D566C3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EF7"/>
                </a:solidFill>
              </a:defRPr>
            </a:pPr>
            <a:r>
              <a:rPr sz="2550" b="1" i="0">
                <a:solidFill>
                  <a:srgbClr val="FFFEF7"/>
                </a:solidFill>
              </a:rPr>
              <a:t>1408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603B3-52E4-49A4-832A-65F8C92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21315"/>
                </a:solidFill>
              </a:defRPr>
            </a:pPr>
            <a:r>
              <a:rPr sz="1125" b="1" i="0">
                <a:solidFill>
                  <a:srgbClr val="121315"/>
                </a:solidFill>
              </a:rPr>
              <a:t>亦迪古進攻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7F884-3994-4F0E-91BE-9600915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62500"/>
            <a:ext cx="695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0179B-1BFD-49C1-ADD9-222E9F3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6D9"/>
                </a:solidFill>
              </a:defRPr>
            </a:pPr>
            <a:r>
              <a:rPr sz="1500" b="1" i="0">
                <a:solidFill>
                  <a:srgbClr val="FFF6D9"/>
                </a:solidFill>
              </a:rPr>
              <a:t>戰爭與修道院擴張同時發生。</a:t>
            </a:r>
          </a:p>
          <a:p xmlns:a="http://schemas.openxmlformats.org/drawingml/2006/main">
            <a:pPr>
              <a:defRPr sz="1500" b="1" i="0">
                <a:solidFill>
                  <a:srgbClr val="FFF6D9"/>
                </a:solidFill>
              </a:defRPr>
            </a:pPr>
            <a:r>
              <a:rPr sz="1500" b="1" i="0">
                <a:solidFill>
                  <a:srgbClr val="FFF6D9"/>
                </a:solidFill>
              </a:rPr>
              <a:t>寧靜不是逃離歷史，而是提出另一種秩序。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971D3-2974-49BB-BBC7-67C8DCC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19985-5509-4B2C-9DAF-73CEDD0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1360–1370s？｜1382 莫斯科焚毀｜1408 再受戰火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3EE4-2E5D-4D32-A352-65E7861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479397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480e8608844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302B2-532E-4B13-945C-77FE905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609C6-12D5-48DE-B8F9-BBCB2AC3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24B26-A294-4064-82E0-31F0863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聖像不是普通的肖像畫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C26FC-B8BE-4E0D-9B86-74E0CF1E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AB4C7-2A11-4CCC-B2C7-1725B3EE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A4DD-5061-46C2-BDF6-90AC6D8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5267325" cy="4124325"/>
          </a:xfrm>
          <a:prstGeom xmlns:a="http://schemas.openxmlformats.org/drawingml/2006/main" prst="roundRect">
            <a:avLst>
              <a:gd name="adj" fmla="val 2771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e3416abdb4ff4"/>
          <a:srcRect xmlns:a="http://schemas.openxmlformats.org/drawingml/2006/main" l="7028" t="0" r="7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733550"/>
            <a:ext cx="5095875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0C557-273D-4583-A016-3545216C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AF92C-A3BD-4FBB-89D8-0A1A272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EF7"/>
                </a:solidFill>
              </a:defRPr>
            </a:pPr>
            <a:r>
              <a:rPr sz="1350" b="1" i="0">
                <a:solidFill>
                  <a:srgbClr val="FFFEF7"/>
                </a:solidFill>
              </a:rPr>
              <a:t>木板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ACA3C-BEB4-4CAB-AA80-8969A54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288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FFF6D9"/>
                </a:solidFill>
              </a:defRPr>
            </a:pPr>
            <a:r>
              <a:rPr sz="1125" b="0" i="0">
                <a:solidFill>
                  <a:srgbClr val="FFF6D9"/>
                </a:solidFill>
              </a:rPr>
              <a:t>承托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7494D-FA91-4F16-890A-D871138D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8603B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8EA20-813E-453B-9562-73A6225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EF7"/>
                </a:solidFill>
              </a:defRPr>
            </a:pPr>
            <a:r>
              <a:rPr sz="1350" b="1" i="0">
                <a:solidFill>
                  <a:srgbClr val="FFFEF7"/>
                </a:solidFill>
              </a:rPr>
              <a:t>蛋彩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E5B3B-8EB2-4CD4-88CD-4BE28EC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FFF6D9"/>
                </a:solidFill>
              </a:defRPr>
            </a:pPr>
            <a:r>
              <a:rPr sz="1125" b="0" i="0">
                <a:solidFill>
                  <a:srgbClr val="FFF6D9"/>
                </a:solidFill>
              </a:rPr>
              <a:t>光色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65CFB-1D18-4D2C-B4C1-9727D2E1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B3274-81CF-4247-A5A0-B781949D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EF7"/>
                </a:solidFill>
              </a:defRPr>
            </a:pPr>
            <a:r>
              <a:rPr sz="1350" b="1" i="0">
                <a:solidFill>
                  <a:srgbClr val="FFFEF7"/>
                </a:solidFill>
              </a:rPr>
              <a:t>金地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9E80B-E065-48E9-B720-7D30862A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719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FFF6D9"/>
                </a:solidFill>
              </a:defRPr>
            </a:pPr>
            <a:r>
              <a:rPr sz="1125" b="0" i="0">
                <a:solidFill>
                  <a:srgbClr val="FFF6D9"/>
                </a:solidFill>
              </a:rPr>
              <a:t>非日常空間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53E77-8628-4BD7-8AA9-0AE3A3F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8603B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20DAB-3701-4DD5-B0CB-7F71BB0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EF7"/>
                </a:solidFill>
              </a:defRPr>
            </a:pPr>
            <a:r>
              <a:rPr sz="1350" b="1" i="0">
                <a:solidFill>
                  <a:srgbClr val="FFFEF7"/>
                </a:solidFill>
              </a:rPr>
              <a:t>反透視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3E715-C229-4312-B590-7EDEDBA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FFF6D9"/>
                </a:solidFill>
              </a:defRPr>
            </a:pPr>
            <a:r>
              <a:rPr sz="1125" b="0" i="0">
                <a:solidFill>
                  <a:srgbClr val="FFF6D9"/>
                </a:solidFill>
              </a:rPr>
              <a:t>向觀看者展開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FED6F-4DAA-4990-860C-5677180E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DCC08-9433-4450-91B4-60B920AA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聖像不是寫實肖像，而是進入禮儀、祈禱與共同記憶的形象。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7F185-D3CE-47B5-8EB8-4AAAA2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7506834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1e9f864fe42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A514F-4035-4D4A-BE00-5310136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818A-F8CB-4245-872E-D9D59CA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FAE9-2D29-487C-A31E-6C5519BA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1405：與希臘人塞奧法尼斯並肩工作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96F8F-4A49-471F-B0E6-979F5FC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4B72D-A6B4-4FAD-BCBB-5E492F9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C6A01-06DD-429A-9DD9-A0192963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628775"/>
            <a:ext cx="3362325" cy="4267200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20bf8791540cd"/>
          <a:stretch xmlns:a="http://schemas.openxmlformats.org/drawingml/2006/main"/>
        </p:blipFill>
        <p:spPr>
          <a:xfrm xmlns:a="http://schemas.openxmlformats.org/drawingml/2006/main">
            <a:off x="1212215" y="1714500"/>
            <a:ext cx="2976245" cy="4095750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D979-9BF1-4D61-9682-01882D95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28775"/>
            <a:ext cx="3362325" cy="4267200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d6ebf2964b12"/>
          <a:stretch xmlns:a="http://schemas.openxmlformats.org/drawingml/2006/main"/>
        </p:blipFill>
        <p:spPr>
          <a:xfrm xmlns:a="http://schemas.openxmlformats.org/drawingml/2006/main">
            <a:off x="7896225" y="1787280"/>
            <a:ext cx="3190875" cy="3950189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111FA-517A-4E11-A9C3-EC3711E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843629"/>
                </a:solidFill>
              </a:defRPr>
            </a:pPr>
            <a:r>
              <a:rPr sz="3600" b="1" i="0">
                <a:solidFill>
                  <a:srgbClr val="843629"/>
                </a:solidFill>
              </a:rPr>
              <a:t>1405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49CE7-CB81-4231-95C5-3E5F73B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21315"/>
                </a:solidFill>
              </a:defRPr>
            </a:pPr>
            <a:r>
              <a:rPr sz="1275" b="1" i="0">
                <a:solidFill>
                  <a:srgbClr val="121315"/>
                </a:solidFill>
              </a:rPr>
              <a:t>共同工程</a:t>
            </a:r>
          </a:p>
          <a:p xmlns:a="http://schemas.openxmlformats.org/drawingml/2006/main">
            <a:pPr>
              <a:defRPr sz="1275" b="1" i="0">
                <a:solidFill>
                  <a:srgbClr val="121315"/>
                </a:solidFill>
              </a:defRPr>
            </a:pPr>
            <a:r>
              <a:rPr sz="1275" b="1" i="0">
                <a:solidFill>
                  <a:srgbClr val="121315"/>
                </a:solidFill>
              </a:rPr>
              <a:t>不是可證明的師徒關係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C0157-DD7E-4183-A7FF-15F68A86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14950"/>
            <a:ext cx="3000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8436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F2688-6641-4C2C-BF49-62E5B808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91150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塞奧法尼斯｜強烈光痕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24841-21A1-4CA8-99A7-CBA3FC8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314950"/>
            <a:ext cx="3000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4C77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266E0-2B2C-4589-A0D4-C5E8A085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91150"/>
            <a:ext cx="280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魯布廖夫｜柔和回應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300DB-C663-4D3F-AC1E-17F16D65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B82A0-FAEA-48C5-8BFA-DE5B0CB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1405｜與希臘人塞奧法尼斯同工；正式師徒關係沒有直接證據。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BE845-EB54-46C0-AC5D-E2C198C4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2310519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85f3a143f40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CEF57-3C8B-4507-AA57-77E41D5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EC853-6CB5-4E0C-B062-ED2FCF7C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93C2-C6C1-4D2A-950E-F43DAF3F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1408：《最後的審判》可以不以恐懼為中心嗎？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55766-BAFA-4342-A91D-2800D7D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9A058-06B5-4260-A397-B04898B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8D92F-98AE-45F8-89E3-C3438AC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0896600" cy="4219575"/>
          </a:xfrm>
          <a:prstGeom xmlns:a="http://schemas.openxmlformats.org/drawingml/2006/main" prst="roundRect">
            <a:avLst>
              <a:gd name="adj" fmla="val 270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c496b27054217"/>
          <a:srcRect xmlns:a="http://schemas.openxmlformats.org/drawingml/2006/main" l="0" t="21539" r="0" b="215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" y="1676400"/>
            <a:ext cx="10725150" cy="4048125"/>
          </a:xfrm>
          <a:prstGeom xmlns:a="http://schemas.openxmlformats.org/drawingml/2006/main" prst="roundRect">
            <a:avLst>
              <a:gd name="adj" fmla="val 28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8D6EC-130C-403E-94FD-4E94FDA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6671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E7E85-C5E8-4E72-8894-AB98617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D6AD4B"/>
                </a:solidFill>
              </a:defRPr>
            </a:pPr>
            <a:r>
              <a:rPr sz="1275" b="1" i="0">
                <a:solidFill>
                  <a:srgbClr val="D6AD4B"/>
                </a:solidFill>
              </a:rPr>
              <a:t>有文獻、有年代、仍在原地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A857-34A0-4A9D-B1B4-2CE4D530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EF7"/>
                </a:solidFill>
              </a:defRPr>
            </a:pPr>
            <a:r>
              <a:rPr sz="1275" b="0" i="0">
                <a:solidFill>
                  <a:srgbClr val="FFFEF7"/>
                </a:solidFill>
              </a:rPr>
              <a:t>但大型壁畫仍是團隊工程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38DCD-31E0-4D78-949F-DA88A7E4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170E8-A6D6-4AA7-8591-18653C1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1408｜審判仍在，恐懼卻不再是畫面的最後秩序。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2127-0CF1-4A56-9519-A055D791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6147210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f8ca98b184a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BED7F-A522-4CFE-9774-D9DFF268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00251-3B80-4D38-AD3B-314242D4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8A9F6-2CCB-4A2B-8600-DA70874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一本福音書與看不見的工作坊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94DD-B454-4AE0-8D6B-B1A870F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685F0-C01B-4CAB-BF01-A6BE38C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3AC88-84A5-40B1-90B6-8B448DF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90675"/>
            <a:ext cx="3505200" cy="417195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85d000cc048fa"/>
          <a:stretch xmlns:a="http://schemas.openxmlformats.org/drawingml/2006/main"/>
        </p:blipFill>
        <p:spPr>
          <a:xfrm xmlns:a="http://schemas.openxmlformats.org/drawingml/2006/main">
            <a:off x="4429125" y="2022277"/>
            <a:ext cx="3333750" cy="3308747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D434E-6EED-4BFE-9E9B-EBF9D52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28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0F09E-681D-434B-9049-EBA3386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EF7"/>
                </a:solidFill>
              </a:defRPr>
            </a:pPr>
            <a:r>
              <a:rPr sz="1500" b="1" i="0">
                <a:solidFill>
                  <a:srgbClr val="FFFEF7"/>
                </a:solidFill>
              </a:rPr>
              <a:t>書寫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7E3E5-5069-4C68-9031-A8051EA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428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58603B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7E0E7-0606-48CD-A61A-87ED539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EF7"/>
                </a:solidFill>
              </a:defRPr>
            </a:pPr>
            <a:r>
              <a:rPr sz="1500" b="1" i="0">
                <a:solidFill>
                  <a:srgbClr val="FFFEF7"/>
                </a:solidFill>
              </a:rPr>
              <a:t>描線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AEE3B-08A4-449C-AE0B-E25E3C7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428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C870A-B799-49F0-9174-BD18BCF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9077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EF7"/>
                </a:solidFill>
              </a:defRPr>
            </a:pPr>
            <a:r>
              <a:rPr sz="1500" b="1" i="0">
                <a:solidFill>
                  <a:srgbClr val="FFFEF7"/>
                </a:solidFill>
              </a:rPr>
              <a:t>上金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581C4-EC54-4578-A244-65A69924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2428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58603B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FCDA4-E4A5-47A7-8E25-375E228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005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EF7"/>
                </a:solidFill>
              </a:defRPr>
            </a:pPr>
            <a:r>
              <a:rPr sz="1500" b="1" i="0">
                <a:solidFill>
                  <a:srgbClr val="FFFEF7"/>
                </a:solidFill>
              </a:rPr>
              <a:t>裝飾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6E263-E044-4C04-BEEE-411B185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4C77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460D3-95FE-4979-B819-70ECB89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歸於魯布廖夫與其藝術圈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34B9A-122D-4A13-996C-8A42E771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73E68-0216-46AD-B7D7-5AD8FC4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一本書背後，是書寫、描線、上金與裝飾共同完成的工作坊。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6FEE9-7203-4BD3-858E-85DA9403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6771883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1b6fd36b843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C88A6-F8F5-49D4-ADCB-CAE1AF3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C807E-4007-4F8A-862A-A329510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6A619-8169-490D-A020-BDB4282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《茲韋尼哥羅德祈禱列》：受傷的凝視與改寫中的作者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269E1-FAD8-48FB-9200-D2654E1B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7BF96-2CCD-4E01-B805-E175E66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1580D-06A5-4B43-B5B0-221B0DA8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28775"/>
            <a:ext cx="3028950" cy="40767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09572727b4725"/>
          <a:stretch xmlns:a="http://schemas.openxmlformats.org/drawingml/2006/main"/>
        </p:blipFill>
        <p:spPr>
          <a:xfrm xmlns:a="http://schemas.openxmlformats.org/drawingml/2006/main">
            <a:off x="1191022" y="1714500"/>
            <a:ext cx="2570956" cy="3905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2221E-3668-4C62-BC20-7E747279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2552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8436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A1E24-5772-4F41-9045-EFA9F72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救世主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DDD72-DB8F-421C-8B91-2C71E4F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28775"/>
            <a:ext cx="3028950" cy="40767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bb42029e74910"/>
          <a:stretch xmlns:a="http://schemas.openxmlformats.org/drawingml/2006/main"/>
        </p:blipFill>
        <p:spPr>
          <a:xfrm xmlns:a="http://schemas.openxmlformats.org/drawingml/2006/main">
            <a:off x="4580969" y="1714500"/>
            <a:ext cx="2649061" cy="3905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97390-27A5-4CDF-BBD8-2C7C12D5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2552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5CFDB-7C6B-46CD-AA4F-D9049BB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大天使米迦勒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A5F98-45B3-4635-8DA5-3534902C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628775"/>
            <a:ext cx="3028950" cy="40767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f07ec48fb4bc2"/>
          <a:stretch xmlns:a="http://schemas.openxmlformats.org/drawingml/2006/main"/>
        </p:blipFill>
        <p:spPr>
          <a:xfrm xmlns:a="http://schemas.openxmlformats.org/drawingml/2006/main">
            <a:off x="8052276" y="1714500"/>
            <a:ext cx="2564447" cy="3905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BE75F-72AF-45F3-989E-94F80C6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2552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9C85F-ECEA-4BAB-B8A7-BF3045A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使徒保羅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611C2-0DD3-4DAF-B728-7829558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24525"/>
            <a:ext cx="82867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C04E8-9730-4CA0-A68E-820894E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F3DDA0"/>
                </a:solidFill>
              </a:defRPr>
            </a:pPr>
            <a:r>
              <a:rPr sz="1013" b="1" i="0">
                <a:solidFill>
                  <a:srgbClr val="F3DDA0"/>
                </a:solidFill>
              </a:rPr>
              <a:t>1918 發現｜2015–2016 技術研究重新打開作者問題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49B7F-220B-40D0-BF49-82569B1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67FC7-678E-4BF5-81D6-930C9C53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《救世主》《大天使米迦勒》《使徒保羅》｜傳統歸屬仍受檢驗。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48BA6-940C-4038-856D-BBA6D411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292417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043ec82f448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FE8FC-583D-4C95-B9C2-71C8B21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C0A48-5E3E-41B4-B751-D61DA0F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323FA-AD9C-4C6B-B417-93231AE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《聖三位一體》：把故事刪到只剩關係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B909F-28B1-4B0E-8050-BB69AA45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0623C-C3E3-4B2E-A977-ABF42662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7A7E-2BE4-407F-B729-77660B7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81150"/>
            <a:ext cx="4029075" cy="4314825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6da707aae452b"/>
          <a:stretch xmlns:a="http://schemas.openxmlformats.org/drawingml/2006/main"/>
        </p:blipFill>
        <p:spPr>
          <a:xfrm xmlns:a="http://schemas.openxmlformats.org/drawingml/2006/main">
            <a:off x="1379299" y="1666875"/>
            <a:ext cx="3346926" cy="414337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3ECBC-F79A-41A4-8B41-488F478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28800"/>
            <a:ext cx="4905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6EAC-A7C1-4856-B733-EDCC344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6AD4B"/>
                </a:solidFill>
              </a:defRPr>
            </a:pPr>
            <a:r>
              <a:rPr sz="1350" b="1" i="0">
                <a:solidFill>
                  <a:srgbClr val="D6AD4B"/>
                </a:solidFill>
              </a:rPr>
              <a:t>房屋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3E636-7806-4FC5-9F76-DCA76900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1930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63" b="0" i="0">
                <a:solidFill>
                  <a:srgbClr val="FFFEF7"/>
                </a:solidFill>
              </a:defRPr>
            </a:pPr>
            <a:r>
              <a:rPr sz="1163" b="0" i="0">
                <a:solidFill>
                  <a:srgbClr val="FFFEF7"/>
                </a:solidFill>
              </a:rPr>
              <a:t>款待／救贖計畫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996A1-9424-4E3E-BCB1-396BA3FB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52725"/>
            <a:ext cx="4905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13EA9-E90E-48F7-84F8-6F1D5E23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241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6AD4B"/>
                </a:solidFill>
              </a:defRPr>
            </a:pPr>
            <a:r>
              <a:rPr sz="1350" b="1" i="0">
                <a:solidFill>
                  <a:srgbClr val="D6AD4B"/>
                </a:solidFill>
              </a:rPr>
              <a:t>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F79E0-4895-42E6-BD5B-58627022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4322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63" b="0" i="0">
                <a:solidFill>
                  <a:srgbClr val="FFFEF7"/>
                </a:solidFill>
              </a:defRPr>
            </a:pPr>
            <a:r>
              <a:rPr sz="1163" b="0" i="0">
                <a:solidFill>
                  <a:srgbClr val="FFFEF7"/>
                </a:solidFill>
              </a:rPr>
              <a:t>幔利／生命／十字架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5D89D-EE28-40A3-9053-5D45A6A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76650"/>
            <a:ext cx="4905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F9B11-3EAD-4B72-86DF-1A09D46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481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6AD4B"/>
                </a:solidFill>
              </a:defRPr>
            </a:pPr>
            <a:r>
              <a:rPr sz="1350" b="1" i="0">
                <a:solidFill>
                  <a:srgbClr val="D6AD4B"/>
                </a:solidFill>
              </a:rPr>
              <a:t>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0BFA2-FB37-4645-8158-28B562E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671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63" b="0" i="0">
                <a:solidFill>
                  <a:srgbClr val="FFFEF7"/>
                </a:solidFill>
              </a:defRPr>
            </a:pPr>
            <a:r>
              <a:rPr sz="1163" b="0" i="0">
                <a:solidFill>
                  <a:srgbClr val="FFFEF7"/>
                </a:solidFill>
              </a:rPr>
              <a:t>啟示／上升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AC14D-EC00-494C-A6EC-63D6FA70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00575"/>
            <a:ext cx="4905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43629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4A982-BACF-44AC-8434-AB480B41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72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6AD4B"/>
                </a:solidFill>
              </a:defRPr>
            </a:pPr>
            <a:r>
              <a:rPr sz="1350" b="1" i="0">
                <a:solidFill>
                  <a:srgbClr val="D6AD4B"/>
                </a:solidFill>
              </a:rPr>
              <a:t>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36B28-D0B6-43BB-B1AF-1A87E6E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91075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63" b="0" i="0">
                <a:solidFill>
                  <a:srgbClr val="FFFEF7"/>
                </a:solidFill>
              </a:defRPr>
            </a:pPr>
            <a:r>
              <a:rPr sz="1163" b="0" i="0">
                <a:solidFill>
                  <a:srgbClr val="FFFEF7"/>
                </a:solidFill>
              </a:rPr>
              <a:t>筵席／犧牲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7ABED-D4AC-4BBA-AE2C-03E75240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3667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7D7C3-F268-479D-AB14-567E6DC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86425"/>
            <a:ext cx="3381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88" b="1" i="0">
                <a:solidFill>
                  <a:srgbClr val="F3DDA0"/>
                </a:solidFill>
              </a:defRPr>
            </a:pPr>
            <a:r>
              <a:rPr sz="1088" b="1" i="0">
                <a:solidFill>
                  <a:srgbClr val="F3DDA0"/>
                </a:solidFill>
              </a:rPr>
              <a:t>c. 1411  或  c. 1425–1427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7A125-6583-464F-92EC-4EF508B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766E4-D613-47A4-B0CC-AF407380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魯布廖夫刪去大部分敘事，把故事集中成三位天使的關係。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7E857-BD33-4D2C-81B0-C656E319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7601667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47c6ab9564d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999DF-821F-449E-88A4-C148927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B68CF-0539-4981-B719-71392AB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552A-B2F2-49CA-A42F-6D20254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三位天使如何形成一個圓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81997-E661-4937-925B-95B1D3C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F412D-8013-4DCE-A8DB-04095C0A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93D49-CA5A-4F69-AC91-1561689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33525"/>
            <a:ext cx="4857750" cy="4410075"/>
          </a:xfrm>
          <a:prstGeom xmlns:a="http://schemas.openxmlformats.org/drawingml/2006/main" prst="roundRect">
            <a:avLst>
              <a:gd name="adj" fmla="val 2592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8a407687439e"/>
          <a:stretch xmlns:a="http://schemas.openxmlformats.org/drawingml/2006/main"/>
        </p:blipFill>
        <p:spPr>
          <a:xfrm xmlns:a="http://schemas.openxmlformats.org/drawingml/2006/main">
            <a:off x="4384066" y="1619250"/>
            <a:ext cx="3423867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46400-12B6-4191-94FB-A9B8224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3333750" cy="3333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DD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A15B9-0378-4BB9-AB52-8C3C366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4C77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C7600-AC39-424D-8C57-FF5FD6B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頭部・翅膀・衣袍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7D7C4-745F-46EB-8891-96043EF5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476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8436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BB5AE-26BC-4A51-BCD3-602AC999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杯・手勢・目光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67487-3532-490A-A150-25EDECB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29250"/>
            <a:ext cx="7334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9D4D1-2C89-4576-B64A-B4C5678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245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3DDA0"/>
                </a:solidFill>
              </a:defRPr>
            </a:pPr>
            <a:r>
              <a:rPr sz="1350" b="1" i="0">
                <a:solidFill>
                  <a:srgbClr val="F3DDA0"/>
                </a:solidFill>
              </a:rPr>
              <a:t>不是密碼表，而是流動的關係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D1A29-E423-4FC0-BDDB-5771820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8C5AC-C857-4441-86B8-7664F1D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合一不是消除差異，而是讓差異彼此回應。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70452-A868-45DB-803A-B755090A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8636459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94d91111148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25910-F1EA-4774-98BE-3DF1EEF7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607AD-C393-4BE9-ACE7-2D495F6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3DAE2-8097-4705-9F1C-9B900456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畫面為觀看者保留的位置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59C73-8312-4CD4-B3C8-AE42E07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172B2-DEA0-48B5-97FD-7E18EF0E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27B5E-1743-4AA9-9E58-990B234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95425"/>
            <a:ext cx="4029075" cy="4505325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42a63bb244be6"/>
          <a:srcRect xmlns:a="http://schemas.openxmlformats.org/drawingml/2006/main" l="0" t="4625" r="0" b="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1581150"/>
            <a:ext cx="3857625" cy="433387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301D2-2E4C-4EF6-A26E-5660B67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5AC7D-7B2C-45A2-9F26-4B07C00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6AD4B"/>
                </a:solidFill>
              </a:defRPr>
            </a:pPr>
            <a:r>
              <a:rPr sz="1500" b="1" i="0">
                <a:solidFill>
                  <a:srgbClr val="D6AD4B"/>
                </a:solidFill>
              </a:rPr>
              <a:t>畫面深處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DF5BD-F65D-472F-B692-72A997D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FEF7"/>
                </a:solidFill>
              </a:defRPr>
            </a:pPr>
            <a:r>
              <a:rPr sz="3750" b="1" i="0">
                <a:solidFill>
                  <a:srgbClr val="FFFEF7"/>
                </a:solidFill>
              </a:rPr>
              <a:t>↘    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BDF0B-DA6F-4A6E-BE87-A4B4E5C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59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6D9"/>
                </a:solidFill>
              </a:defRPr>
            </a:pPr>
            <a:r>
              <a:rPr sz="1350" b="1" i="0">
                <a:solidFill>
                  <a:srgbClr val="FFF6D9"/>
                </a:solidFill>
              </a:rPr>
              <a:t>桌面向外展開</a:t>
            </a:r>
          </a:p>
          <a:p xmlns:a="http://schemas.openxmlformats.org/drawingml/2006/main">
            <a:pPr>
              <a:defRPr sz="1350" b="1" i="0">
                <a:solidFill>
                  <a:srgbClr val="FFF6D9"/>
                </a:solidFill>
              </a:defRPr>
            </a:pPr>
            <a:r>
              <a:rPr sz="1350" b="1" i="0">
                <a:solidFill>
                  <a:srgbClr val="FFF6D9"/>
                </a:solidFill>
              </a:rPr>
              <a:t>邀請觀看者靠近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124C2-5183-436F-A80E-B34F512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843629"/>
                </a:solidFill>
              </a:defRPr>
            </a:pPr>
            <a:r>
              <a:rPr sz="1575" b="1" i="0">
                <a:solidFill>
                  <a:srgbClr val="843629"/>
                </a:solidFill>
              </a:rPr>
              <a:t>觀看者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CA1E6-3F58-40B0-A597-2E112EF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03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843629"/>
                </a:solidFill>
              </a:defRPr>
            </a:pPr>
            <a:r>
              <a:rPr sz="3450" b="1" i="0">
                <a:solidFill>
                  <a:srgbClr val="843629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D9222-4F96-4274-9329-265F821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C3476-B55D-4DC8-AE40-F0EFC2C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反透視般的桌面向外展開，為觀看者保留進入關係的位置。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26D17-6374-4B47-91AB-3DA375B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4302462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4dc793d0b42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EC7DD-01CA-4E76-BF6E-B0114F5A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1702A-D236-46DB-99E7-9670ACE5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2981-80CC-4406-BBD9-33F67FBB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我們今天看到的是哪一層《聖三位一體》？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BE4B5-6FB5-4C0C-B956-DAA54FA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F98C8-5579-4A9B-983C-1DE8ADE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0498F-AD36-4EAF-9FE4-DDD153B7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24025"/>
            <a:ext cx="3124200" cy="3886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255d6a56148ff"/>
          <a:stretch xmlns:a="http://schemas.openxmlformats.org/drawingml/2006/main"/>
        </p:blipFill>
        <p:spPr>
          <a:xfrm xmlns:a="http://schemas.openxmlformats.org/drawingml/2006/main">
            <a:off x="904875" y="1881188"/>
            <a:ext cx="2952750" cy="3571875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5A7F3-99AC-4FED-A176-00E9BBF9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0C85C-3FB0-499B-B58A-6EAB0F2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1904 前｜護罩與暗層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A0129-5E04-4C99-83DF-6319B82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24025"/>
            <a:ext cx="3124200" cy="3886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24d6cec2347ac"/>
          <a:stretch xmlns:a="http://schemas.openxmlformats.org/drawingml/2006/main"/>
        </p:blipFill>
        <p:spPr>
          <a:xfrm xmlns:a="http://schemas.openxmlformats.org/drawingml/2006/main">
            <a:off x="4619625" y="1813935"/>
            <a:ext cx="2952750" cy="3706381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F2578-76C8-4EF2-989C-00F8FC28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9A17A-4C0C-46A6-921E-5AC7361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清理中的表面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EACFD-C029-4ADA-837B-A265C2C2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24025"/>
            <a:ext cx="3124200" cy="3886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83fbb77c841bd"/>
          <a:stretch xmlns:a="http://schemas.openxmlformats.org/drawingml/2006/main"/>
        </p:blipFill>
        <p:spPr>
          <a:xfrm xmlns:a="http://schemas.openxmlformats.org/drawingml/2006/main">
            <a:off x="8334375" y="1839426"/>
            <a:ext cx="2952750" cy="3655399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3187E-477B-4241-8146-D08F949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4C77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9E97D-1CE2-4BF9-A4F5-62D0C4C7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816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今天所見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DB2A3-5D32-43AC-85B7-0682A8D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95950"/>
            <a:ext cx="7048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2BF77-0230-4F40-A0B2-54B297D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63" b="1" i="0">
                <a:solidFill>
                  <a:srgbClr val="F3DDA0"/>
                </a:solidFill>
              </a:defRPr>
            </a:pPr>
            <a:r>
              <a:rPr sz="1163" b="1" i="0">
                <a:solidFill>
                  <a:srgbClr val="F3DDA0"/>
                </a:solidFill>
              </a:rPr>
              <a:t>原始顏料 ＋ 老化 ＋ 缺損 ＋ 修復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1770C-A76E-4572-AB6F-6EBF687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9D9AF-228B-43E6-8635-8E9035E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我們看到的，是原始顏料、老化、缺損與歷次修復共同形成的表面。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59643-A6A6-4ADD-8E1A-BE993CF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5681090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bec93164e41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F8FA-9003-41BB-A21F-ABB8D98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98E74-D99F-4FF7-80D6-FBF97A3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C618C-AF50-4ED0-B0AF-4B69094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塔可夫斯基：當史料空白變成電影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E623-A130-42A1-B767-0CEAF4E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39525-C7D2-465A-8A97-13597DC4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6645-9A91-4909-9D75-23271D5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53BBE-6B36-4048-8312-DDA2A70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19300"/>
            <a:ext cx="2714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D6AD4B"/>
                </a:solidFill>
              </a:defRPr>
            </a:pPr>
            <a:r>
              <a:rPr sz="5100" b="1" i="0">
                <a:solidFill>
                  <a:srgbClr val="D6AD4B"/>
                </a:solidFill>
              </a:rPr>
              <a:t>1966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04B4A-9EB1-4F3E-B5F1-4BDC6DA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EF7"/>
                </a:solidFill>
              </a:defRPr>
            </a:pPr>
            <a:r>
              <a:rPr sz="1950" b="1" i="0">
                <a:solidFill>
                  <a:srgbClr val="FFFEF7"/>
                </a:solidFill>
              </a:rPr>
              <a:t>電影 ≠ 史料傳記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6917F-B475-4B86-A9DD-26BF51B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暴力・沉默・創作・道德責任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6447-7A7C-48C0-8F06-5028509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66900"/>
            <a:ext cx="3124200" cy="34099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90deebcdd45b5"/>
          <a:stretch xmlns:a="http://schemas.openxmlformats.org/drawingml/2006/main"/>
        </p:blipFill>
        <p:spPr>
          <a:xfrm xmlns:a="http://schemas.openxmlformats.org/drawingml/2006/main">
            <a:off x="7502631" y="1952625"/>
            <a:ext cx="2615988" cy="323850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73991-23FE-40CB-8CDE-6D29996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71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5853-F1A7-498F-A627-0C75E69D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171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4428-62C7-4CDF-BC7E-AA1EDBFE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171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47573-0BAE-487B-B773-0744B1E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EC012-C255-43BF-BE09-92EF166D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1966｜塔可夫斯基的電影是藝術創造，不是魯布廖夫的影像傳記。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8FE13-8D8F-4ACB-8906-68ADDB8D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5180282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356bdb12245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28553-F699-4970-AC41-041C79B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9318-A078-4316-9A1D-86DA677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42F9B-0CA9-4715-A643-3BDFCB1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一幅聖像應該屬於教堂，還是美術館？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9B91-BF11-4BA1-BEE6-78A7213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2AC04-86D1-46F2-912E-B12301A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02FB3-E209-412D-9FC0-09DAE48F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00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93B5D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DAFE8-C0D6-484F-8890-5BF337F4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000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D6AD4B"/>
          </a:solidFill>
          <a:ln xmlns:a="http://schemas.openxmlformats.org/drawingml/2006/main" w="9525">
            <a:solidFill>
              <a:srgbClr val="8436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7EB6A-135C-435D-AED6-B195CF5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81150"/>
            <a:ext cx="2838450" cy="407670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f72c84e0d45ef"/>
          <a:stretch xmlns:a="http://schemas.openxmlformats.org/drawingml/2006/main"/>
        </p:blipFill>
        <p:spPr>
          <a:xfrm xmlns:a="http://schemas.openxmlformats.org/drawingml/2006/main">
            <a:off x="4762500" y="1968675"/>
            <a:ext cx="2667000" cy="3301651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A942F-C9BD-46A3-BBF5-238A420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EF7"/>
                </a:solidFill>
              </a:defRPr>
            </a:pPr>
            <a:r>
              <a:rPr sz="2250" b="1" i="0">
                <a:solidFill>
                  <a:srgbClr val="FFFEF7"/>
                </a:solidFill>
              </a:rPr>
              <a:t>美術館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F38BF-E898-4E84-970E-6E0962F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6D9"/>
                </a:solidFill>
              </a:defRPr>
            </a:pPr>
            <a:r>
              <a:rPr sz="1425" b="0" i="0">
                <a:solidFill>
                  <a:srgbClr val="FFF6D9"/>
                </a:solidFill>
              </a:rPr>
              <a:t>穩定環境</a:t>
            </a:r>
          </a:p>
          <a:p xmlns:a="http://schemas.openxmlformats.org/drawingml/2006/main">
            <a:pPr>
              <a:defRPr sz="1425" b="0" i="0">
                <a:solidFill>
                  <a:srgbClr val="FFF6D9"/>
                </a:solidFill>
              </a:defRPr>
            </a:pPr>
            <a:r>
              <a:rPr sz="1425" b="0" i="0">
                <a:solidFill>
                  <a:srgbClr val="FFF6D9"/>
                </a:solidFill>
              </a:rPr>
              <a:t>研究・修復</a:t>
            </a:r>
          </a:p>
          <a:p xmlns:a="http://schemas.openxmlformats.org/drawingml/2006/main">
            <a:pPr>
              <a:defRPr sz="1425" b="0" i="0">
                <a:solidFill>
                  <a:srgbClr val="FFF6D9"/>
                </a:solidFill>
              </a:defRPr>
            </a:pPr>
            <a:r>
              <a:rPr sz="1425" b="0" i="0">
                <a:solidFill>
                  <a:srgbClr val="FFF6D9"/>
                </a:solidFill>
              </a:rPr>
              <a:t>全人類文化遺產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C3558-942E-447A-9CB8-5EF3FF8A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21315"/>
                </a:solidFill>
              </a:defRPr>
            </a:pPr>
            <a:r>
              <a:rPr sz="2250" b="1" i="0">
                <a:solidFill>
                  <a:srgbClr val="121315"/>
                </a:solidFill>
              </a:rPr>
              <a:t>教堂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D5497-2627-4637-8B7E-207B19CD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21315"/>
                </a:solidFill>
              </a:defRPr>
            </a:pPr>
            <a:r>
              <a:rPr sz="1425" b="0" i="0">
                <a:solidFill>
                  <a:srgbClr val="121315"/>
                </a:solidFill>
              </a:rPr>
              <a:t>活的敬禮</a:t>
            </a:r>
          </a:p>
          <a:p xmlns:a="http://schemas.openxmlformats.org/drawingml/2006/main">
            <a:pPr>
              <a:defRPr sz="1425" b="0" i="0">
                <a:solidFill>
                  <a:srgbClr val="121315"/>
                </a:solidFill>
              </a:defRPr>
            </a:pPr>
            <a:r>
              <a:rPr sz="1425" b="0" i="0">
                <a:solidFill>
                  <a:srgbClr val="121315"/>
                </a:solidFill>
              </a:rPr>
              <a:t>祈禱・共同體</a:t>
            </a:r>
          </a:p>
          <a:p xmlns:a="http://schemas.openxmlformats.org/drawingml/2006/main">
            <a:pPr>
              <a:defRPr sz="1425" b="0" i="0">
                <a:solidFill>
                  <a:srgbClr val="121315"/>
                </a:solidFill>
              </a:defRPr>
            </a:pPr>
            <a:r>
              <a:rPr sz="1425" b="0" i="0">
                <a:solidFill>
                  <a:srgbClr val="121315"/>
                </a:solidFill>
              </a:rPr>
              <a:t>象徵性回歸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ADAD7-464D-42C3-AA9F-0AF445E3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4381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8C125-BB01-4FE7-AF1B-610F442A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721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3DDA0"/>
                </a:solidFill>
              </a:defRPr>
            </a:pPr>
            <a:r>
              <a:rPr sz="1125" b="1" i="0">
                <a:solidFill>
                  <a:srgbClr val="F3DDA0"/>
                </a:solidFill>
              </a:rPr>
              <a:t>擁有權 ≠ 免除保存責任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3D167-F70D-4AC4-97D4-697AA10A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36909-9951-415C-818C-8CFF320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1929 美術館｜2022–2023 移動爭議｜2024 回到聖三一修道院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D1FD9-31E0-45CB-BB04-465EF99B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387267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54a4f790f4d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B3F7A-EE81-4BA2-95D1-35622E08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F09CD-236D-431E-B3F1-0B87C766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6AD4B"/>
                </a:solidFill>
              </a:defRPr>
            </a:pPr>
            <a:r>
              <a:rPr sz="900" b="1" i="0">
                <a:solidFill>
                  <a:srgbClr val="D6AD4B"/>
                </a:solidFill>
              </a:rPr>
              <a:t>大師與名作｜安德烈・魯布廖夫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7B56B-3B8E-4E04-8B43-F352B78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7"/>
                </a:solidFill>
              </a:defRPr>
            </a:pPr>
            <a:r>
              <a:rPr sz="2925" b="1" i="0">
                <a:solidFill>
                  <a:srgbClr val="FFFEF7"/>
                </a:solidFill>
              </a:rPr>
              <a:t>結尾：和平可以是一種構圖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8BCF7-948C-40DA-A773-1C84C4B5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E6F50-227F-4A68-AA33-88116DB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3DDA0"/>
                </a:solidFill>
              </a:defRPr>
            </a:pPr>
            <a:r>
              <a:rPr sz="975" b="1" i="0">
                <a:solidFill>
                  <a:srgbClr val="F3DDA0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8448C-B37C-4021-8BF5-95EAE0B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DA00F-8920-4D8D-8535-CE7FF74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EF7"/>
                </a:solidFill>
              </a:defRPr>
            </a:pPr>
            <a:r>
              <a:rPr sz="3450" b="1" i="0">
                <a:solidFill>
                  <a:srgbClr val="FFFEF7"/>
                </a:solidFill>
              </a:rPr>
              <a:t>和平，可以是一種構圖。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C46DB-E945-48AE-8AF9-33A36C6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3028950" cy="3409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cb20693834fb2"/>
          <a:srcRect xmlns:a="http://schemas.openxmlformats.org/drawingml/2006/main" l="20746" t="0" r="207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" y="1809750"/>
            <a:ext cx="2857500" cy="3238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4F2DA-53F9-42E2-BC7C-118C690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8630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91DA1-355F-4F23-A1E7-F3962B47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恐懼 → 盼望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95D5C-1B53-4F69-A739-B2C988A7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24025"/>
            <a:ext cx="3028950" cy="3409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f891214664209"/>
          <a:stretch xmlns:a="http://schemas.openxmlformats.org/drawingml/2006/main"/>
        </p:blipFill>
        <p:spPr>
          <a:xfrm xmlns:a="http://schemas.openxmlformats.org/drawingml/2006/main">
            <a:off x="5077619" y="1809750"/>
            <a:ext cx="2132013" cy="3238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C0CC1-19F3-4D0E-809B-47B3C690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D6AD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27E3E-64B6-418A-B238-3EFC4C9D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威嚴 → 慈悲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7DB68-647A-4A5C-AA01-FEDEB17D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24025"/>
            <a:ext cx="3028950" cy="3409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F3DDA0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3ba18d1774ebb"/>
          <a:stretch xmlns:a="http://schemas.openxmlformats.org/drawingml/2006/main"/>
        </p:blipFill>
        <p:spPr>
          <a:xfrm xmlns:a="http://schemas.openxmlformats.org/drawingml/2006/main">
            <a:off x="8550381" y="1809750"/>
            <a:ext cx="2615988" cy="3238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4E38D-38FC-4173-893F-A13BD7C8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8630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21315"/>
          </a:solidFill>
          <a:ln xmlns:a="http://schemas.openxmlformats.org/drawingml/2006/main" w="9525">
            <a:solidFill>
              <a:srgbClr val="4C77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8199A-FB60-4218-97DA-3E89A079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FFFEF7"/>
                </a:solidFill>
              </a:defRPr>
            </a:pPr>
            <a:r>
              <a:rPr sz="938" b="1" i="0">
                <a:solidFill>
                  <a:srgbClr val="FFFEF7"/>
                </a:solidFill>
              </a:rPr>
              <a:t>差異 → 回應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FB615-B83C-4583-813D-CD28C2E6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81625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3DDA0"/>
                </a:solidFill>
              </a:defRPr>
            </a:pPr>
            <a:r>
              <a:rPr sz="1500" b="1" i="0">
                <a:solidFill>
                  <a:srgbClr val="F3DDA0"/>
                </a:solidFill>
              </a:rPr>
              <a:t>差異如何共處，而不彼此征服？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DB56D-03AA-4C88-BDB1-F923163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8875"/>
            <a:ext cx="1219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2F1A7-13C1-4B2A-9E79-C3CB426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6D9"/>
                </a:solidFill>
              </a:defRPr>
            </a:pPr>
            <a:r>
              <a:rPr sz="1350" b="0" i="0">
                <a:solidFill>
                  <a:srgbClr val="FFF6D9"/>
                </a:solidFill>
              </a:rPr>
              <a:t>和平可以是一種構圖：沒有任何一位以權力征服另外兩位。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D33D6-9DE4-4F99-A2CC-6067DA67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67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38" b="1" i="0">
                <a:solidFill>
                  <a:srgbClr val="D6AD4B"/>
                </a:solidFill>
              </a:defRPr>
            </a:pPr>
            <a:r>
              <a:rPr sz="638" b="1" i="0">
                <a:solidFill>
                  <a:srgbClr val="D6AD4B"/>
                </a:solidFill>
              </a:rPr>
              <a:t>OUR FAMOUS ARTISTS</a:t>
            </a:r>
          </a:p>
        </p:txBody>
      </p:sp>
    </p:spTree>
    <p:extLst>
      <p:ext uri="{BB962C8B-B14F-4D97-AF65-F5344CB8AC3E}">
        <p14:creationId xmlns:p14="http://schemas.microsoft.com/office/powerpoint/2010/main" val="10299992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4D84A-14DE-48C9-915E-7CEA71D2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D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adc05a1de4a65"/>
          <a:stretch xmlns:a="http://schemas.openxmlformats.org/drawingml/2006/main"/>
        </p:blipFill>
        <p:spPr>
          <a:xfrm xmlns:a="http://schemas.openxmlformats.org/drawingml/2006/main">
            <a:off x="4038600" y="1371600"/>
            <a:ext cx="4114800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54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2026-08-30T14:42:43.7790000Z</dcterms:created>
  <dcterms:modified xsi:type="dcterms:W3CDTF">2026-08-30T14:42:43.7790000Z</dcterms:modified>
</coreProperties>
</file>