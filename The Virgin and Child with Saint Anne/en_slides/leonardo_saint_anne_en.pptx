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 mother sees her child moving toward danger, surely she pulls him back. Yet in Leonardo da Vinci’s The Virgin and Child with Saint Anne, Mary reaches forward and leans toward Jesus without fully stopping him.</a:t>
            </a:r>
          </a:p>
          <a:p>
            <a:endParaRPr/>
          </a:p>
          <a:p>
            <a:r>
              <a:t>The child plays with a lamb. To a Christian viewer, however, the lamb also evokes the Lamb of God and Christ’s future sacrifice. A gentle family scene therefore becomes an unsettling question: is Mary trying to protect her son, or learning to accept a destiny she cannot prevent?</a:t>
            </a:r>
          </a:p>
          <a:p>
            <a:endParaRPr/>
          </a:p>
          <a:p>
            <a:r>
              <a:t>Leonardo offers no written answer. He lets arms, glances, smiles, and interlocking bodies hold love, resistance, and surrender together.</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Louvre dates Leonardo’s painting to about 1503–1519. It is oil on a poplar panel, now approximately 168 centimeters high and 130 centimeters wide, and carries the inventory number INV 776.</a:t>
            </a:r>
          </a:p>
          <a:p>
            <a:endParaRPr/>
          </a:p>
          <a:p>
            <a:r>
              <a:t>It hangs in the Grande Galerie on the first floor of the Denon wing, beside the room containing the Mona Lisa. If the Mona Lisa concentrates mystery within one face, Saint Anne distributes uncertainty across four bodies: Anne, her daughter Mary, the Christ Child, and a lamb.</a:t>
            </a:r>
          </a:p>
          <a:p>
            <a:endParaRPr/>
          </a:p>
          <a:p>
            <a:r>
              <a:t>This was not a picture completed in a single campaign and delivered. Leonardo adjusted figures, drapery, and landscape over many years. When he died in 1519, parts of the foreground and terrain remained visibly unfinished. The painting is both a masterpiece and the record of an extended working process.</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Saint Anne is Mary’s mother and Christ’s grandmother. Some traditions held that Anne died before Christ’s birth, so this gathering is not ordinary family history. It is a theological construction that brings lineage, motherhood, and redemption into the same space.</a:t>
            </a:r>
          </a:p>
          <a:p>
            <a:endParaRPr/>
          </a:p>
          <a:p>
            <a:r>
              <a:t>Anne sits higher and farther back. Mary appears almost to sit across her mother’s lap while leaning forward. Christ twists toward the lamb below. The generations are not displayed side by side; movement seems to pass from Anne to Mary, and then from Mary to Jesus.</a:t>
            </a:r>
          </a:p>
          <a:p>
            <a:endParaRPr/>
          </a:p>
          <a:p>
            <a:r>
              <a:t>The oldest figure is the most stable. The mother is suspended between holding and releasing. The child moves most energetically toward the future. Leonardo compresses years of family and sacred history into the bodily rhythm of a single second.</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first, the figures form a stable pyramid, with Anne’s head at the summit and Mary and Christ expanding below. Look longer, however, and Mary’s position becomes surprisingly strange. She seems to sit across Anne’s legs, rotate her pelvis, lean forward, and extend both arms in another direction.</a:t>
            </a:r>
          </a:p>
          <a:p>
            <a:endParaRPr/>
          </a:p>
          <a:p>
            <a:r>
              <a:t>Leonardo did not organize the body according to an ordinary seated pose. Every joint serves the narrative. Anne supplies the stable anchor; Mary becomes the active hinge between generations; Christ carries the accumulated movement toward the lamb.</a:t>
            </a:r>
          </a:p>
          <a:p>
            <a:endParaRPr/>
          </a:p>
          <a:p>
            <a:r>
              <a:t>Sfumato softens the boundaries so that the bodies merge through subtle transitions of light and shade. A pose that is highly artificial, even nearly impossible, begins to feel graceful, continuous, and alive.</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Jesus does not sit quietly in Mary’s arms. He presses against or straddles the lamb, holds its neck, and turns with the energy of a child at play. Yet the lamb had long represented the Lamb of God—Christ offered in sacrifice.</a:t>
            </a:r>
          </a:p>
          <a:p>
            <a:endParaRPr/>
          </a:p>
          <a:p>
            <a:r>
              <a:t>Leonardo therefore places the future inside a childhood game. Jesus seems both to embrace the lamb and to accept what it signifies. Mary’s approaching hands can be read as an effort to pull him away, or as hesitation between maternal love and obedience.</a:t>
            </a:r>
          </a:p>
          <a:p>
            <a:endParaRPr/>
          </a:p>
          <a:p>
            <a:r>
              <a:t>There is no cross, blade, or blood in the painting, but the Passion is already present. It has been condensed into the small distance between a mother’s fingers and a child she cannot quite reclaim.</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Anne watches her daughter and grandson with a calm, elusive smile. Mary is absorbed in the child’s movement, expressing tenderness but perhaps also anxiety. Jesus turns back toward his mother even as his body continues toward the lamb.</a:t>
            </a:r>
          </a:p>
          <a:p>
            <a:endParaRPr/>
          </a:p>
          <a:p>
            <a:r>
              <a:t>The three faces seem to inhabit different times. Anne may suggest a longer sacred order; Mary occupies the immediate tension of maternal love; Jesus moves physically toward the future.</a:t>
            </a:r>
          </a:p>
          <a:p>
            <a:endParaRPr/>
          </a:p>
          <a:p>
            <a:r>
              <a:t>Still, no document proves that Leonardo intended Anne to be the one who “already knows.” What he gives us is a precise choreography of glances and expressions that remain open enough for affection, sorrow, understanding, and submission to coexist.</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Many viewers notice that the two adult women seem to possess only three clearly readable legs. Some then connect the number three to the Trinity and treat it as a hidden Leonardo code.</a:t>
            </a:r>
          </a:p>
          <a:p>
            <a:endParaRPr/>
          </a:p>
          <a:p>
            <a:r>
              <a:t>A more direct explanation lies in the overlap of Mary’s blue mantle, Anne’s drapery, underlying lines, and incompletely resolved paint. Leonardo left no statement identifying a deliberate three-legged design, and technical evidence does not establish one.</a:t>
            </a:r>
          </a:p>
          <a:p>
            <a:endParaRPr/>
          </a:p>
          <a:p>
            <a:r>
              <a:t>The integration of three generations into an almost indivisible group may certainly evoke a visual sense of “three in one.” But that is a later theological association, not a secret that scholarship has conclusively decoded.</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Leonardo’s sfumato is not simply blur placed around the figures. Fine tonal transitions weaken fixed contours. Cheeks dissolve into shadow, mouths lack a hard line that could lock an emotion in place, and arms and drapery seem to emerge gradually through air.</a:t>
            </a:r>
          </a:p>
          <a:p>
            <a:endParaRPr/>
          </a:p>
          <a:p>
            <a:r>
              <a:t>That is why Anne and Mary cannot be classified simply as smiling or grieving. Emotion appears as an ongoing formation rather than a completed statement.</a:t>
            </a:r>
          </a:p>
          <a:p>
            <a:endParaRPr/>
          </a:p>
          <a:p>
            <a:r>
              <a:t>The landscape uses atmospheric perspective: distant mountains become bluer, lighter, and less distinct. Rocks and water also reflect Leonardo’s long interest in geology and natural movement. The figures do not sit like cut-outs before a background. Body, air, and terrain seem to participate in one slow current.</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faces, hands, and parts of the clothing are astonishingly refined. Yet the foreground, rocky stream, and middle ground between the figures and blue mountains remain substantially unfinished. This is not simply the result of later damage; the painting itself stopped at different stages.</a:t>
            </a:r>
          </a:p>
          <a:p>
            <a:endParaRPr/>
          </a:p>
          <a:p>
            <a:r>
              <a:t>Infrared reflectography, X-rays, ultraviolet fluorescence, and material analysis show that Leonardo continued to revise drapery, hairstyles, gestures, and relationships after painting had begun. He did not finish a perfect drawing and merely fill it with color. Thought continued inside the paint layers.</a:t>
            </a:r>
          </a:p>
          <a:p>
            <a:endParaRPr/>
          </a:p>
          <a:p>
            <a:r>
              <a:t>The work is therefore both image and laboratory. Areas that were never fully covered allow us to watch an artist repeatedly refuse his previous answer.</a:t>
            </a:r>
          </a:p>
          <a:p>
            <a:endParaRPr/>
          </a:p>
          <a:p>
            <a:r>
              <a:t>[Sources]</a:t>
            </a:r>
          </a:p>
          <a:p>
            <a:r>
              <a:t>- https://c2rmf.fr/actualite/la-sainte-anne-une-restauration-majeure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Vasari wrote that friars at Santissima Annunziata in Florence waited for Leonardo to develop a Saint Anne composition, and that a publicly displayed cartoon drew crowds for two days. The story shows that the design attracted enormous attention, but no surviving contract proves that the Louvre panel was the intended altarpiece.</a:t>
            </a:r>
          </a:p>
          <a:p>
            <a:endParaRPr/>
          </a:p>
          <a:p>
            <a:r>
              <a:t>Another older theory proposed that Louis XII commissioned the painting to celebrate the birth of his daughter Claude, partly because Queen Anne of Brittany shared the saint’s name. Current Louvre scholarship does not treat this as established evidence.</a:t>
            </a:r>
          </a:p>
          <a:p>
            <a:endParaRPr/>
          </a:p>
          <a:p>
            <a:r>
              <a:t>The most honest conclusion is that Saint Anne had strong religious visibility in Florence around 1500, and the painting later became connected with the French court. The original patron, however, remains uncertain.</a:t>
            </a:r>
          </a:p>
          <a:p>
            <a:endParaRPr/>
          </a:p>
          <a:p>
            <a:r>
              <a:t>[Sources]</a:t>
            </a:r>
          </a:p>
          <a:p>
            <a:r>
              <a:t>- https://collections.louvre.fr/en/ark:/53355/cl010066107</a:t>
            </a:r>
          </a:p>
          <a:p>
            <a:r>
              <a:t>- Giorgio Vasari, Lives, 1568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National Gallery’s Burlington House Cartoon shows Anne, Mary, Christ, and the young John the Baptist—without a lamb. The museum currently dates it to about 1506–1508 and describes it as a full-scale presentation drawing rather than an ordinary transfer cartoon.</a:t>
            </a:r>
          </a:p>
          <a:p>
            <a:endParaRPr/>
          </a:p>
          <a:p>
            <a:r>
              <a:t>On 3 April 1501, Fra’ Pietro da Novellara described another Saint Anne cartoon that included a lamb. That sheet is lost. From the letter and later copies, scholars reconstruct a design in which Mary’s effort to restrain Christ, and Anne’s effort to restrain Mary, may have been more explicit than in the Louvre panel.</a:t>
            </a:r>
          </a:p>
          <a:p>
            <a:endParaRPr/>
          </a:p>
          <a:p>
            <a:r>
              <a:t>This is not a simple straight line, and not merely John replaced by a lamb. Leonardo repeatedly tested figures, orientations, and gestures. The surviving painting preserves one late state of a much longer process.</a:t>
            </a:r>
          </a:p>
          <a:p>
            <a:endParaRPr/>
          </a:p>
          <a:p>
            <a:r>
              <a:t>[Sources]</a:t>
            </a:r>
          </a:p>
          <a:p>
            <a:r>
              <a:t>- https://www.nationalgallery.org.uk/paintings/leonardo-da-vinci-the-burlington-house-cartoon</a:t>
            </a:r>
          </a:p>
          <a:p>
            <a:r>
              <a:t>- Fra’ Pietro da Novellara letter, 3 April 1501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2005, scholars identified a note written in October 1503 by the Florentine official Agostino Vespucci in a volume of Cicero at Heidelberg University Library.</a:t>
            </a:r>
          </a:p>
          <a:p>
            <a:endParaRPr/>
          </a:p>
          <a:p>
            <a:r>
              <a:t>Vespucci compared Leonardo to the ancient painter Apelles and mentioned both the head of Lisa del Giocondo and the head of “Anne, mother of the Virgin.” This brief note gives the Mona Lisa and the Saint Anne project a rare contemporary coordinate.</a:t>
            </a:r>
          </a:p>
          <a:p>
            <a:endParaRPr/>
          </a:p>
          <a:p>
            <a:r>
              <a:t>It does not describe the entire composition or tell us which state of the painting existed. What it demonstrates is that by 1503, these two subjects—later among Leonardo’s most famous works—were already present together in his working life.</a:t>
            </a:r>
          </a:p>
          <a:p>
            <a:endParaRPr/>
          </a:p>
          <a:p>
            <a:r>
              <a:t>[Sources]</a:t>
            </a:r>
          </a:p>
          <a:p>
            <a:r>
              <a:t>- https://www.uni-heidelberg.de/press/news/press536e.html</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Leonardo probably began the panel in Florence and continued to revise it while moving between cities. In 1516 or 1517 he settled in France. In October 1517, Antonio de Beatis recorded seeing a painting of the Virgin, Christ Child, and Saint Anne at Leonardo’s residence at Clos Lucé.</a:t>
            </a:r>
          </a:p>
          <a:p>
            <a:endParaRPr/>
          </a:p>
          <a:p>
            <a:r>
              <a:t>The Louvre considers it likely that Francis I acquired the work around 1518, but no complete sale contract survives. Large gaps remain after Leonardo’s death; a royal inventory of 1683 offers another clearer point in the history.</a:t>
            </a:r>
          </a:p>
          <a:p>
            <a:endParaRPr/>
          </a:p>
          <a:p>
            <a:r>
              <a:t>After the French Revolution, the royal collection became national property. When the Louvre opened to the public in 1793, the painting’s identity gradually shifted from a monarch’s possession to a work of public cultural heritage.</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Examination in 2008 and the conservation campaign begun in 2009 directed new attention to the back of the panel. Beyond a horse’s head already visible to the eye, infrared imaging revealed a skull and the figure of a child.</a:t>
            </a:r>
          </a:p>
          <a:p>
            <a:endParaRPr/>
          </a:p>
          <a:p>
            <a:r>
              <a:t>The lines demonstrate that the reverse was used for drawing, but they do not prove that all three images were made by Leonardo himself. The child should not be identified automatically as Christ with the lamb.</a:t>
            </a:r>
          </a:p>
          <a:p>
            <a:endParaRPr/>
          </a:p>
          <a:p>
            <a:r>
              <a:t>The uncertainty is part of the fascination. One of the most intensively studied artists in history could still leave unidentified lines on the back of a panel that had been viewed for centuries, waiting for scientific imaging to make them visible again.</a:t>
            </a:r>
          </a:p>
          <a:p>
            <a:endParaRPr/>
          </a:p>
          <a:p>
            <a:r>
              <a:t>[Sources]</a:t>
            </a:r>
          </a:p>
          <a:p>
            <a:r>
              <a:t>- https://c2rmf.fr/actualite/la-sainte-anne-une-restauration-majeure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2009 to 2012, the Louvre and C2RMF conducted a major conservation and research campaign. Cleaning made the complex ultramarine layers and color relationships in Mary’s garment more visible. Research also clarified unfinished areas, later overpaint, and the condition of the paint. Conservators did not simply remove every later intervention.</a:t>
            </a:r>
          </a:p>
          <a:p>
            <a:endParaRPr/>
          </a:p>
          <a:p>
            <a:r>
              <a:t>Critics including Ségolène Bergeon Langle and Jean-Pierre Cuzin worried that cleaning went too far, perhaps removing a white layer from Christ’s body or weakening the smoky effect created by Leonardo’s glazes.</a:t>
            </a:r>
          </a:p>
          <a:p>
            <a:endParaRPr/>
          </a:p>
          <a:p>
            <a:r>
              <a:t>It is therefore inaccurate to claim either that the painting was restored perfectly to its original state or that it was unquestionably ruined. Conservation revealed some relationships while sharpening an unavoidable question: after five centuries, what exactly counts as the original appearance?</a:t>
            </a:r>
          </a:p>
          <a:p>
            <a:endParaRPr/>
          </a:p>
          <a:p>
            <a:r>
              <a:t>[Sources]</a:t>
            </a:r>
          </a:p>
          <a:p>
            <a:r>
              <a:t>- https://c2rmf.fr/actualite/la-sainte-anne-une-restauration-majeure</a:t>
            </a:r>
          </a:p>
          <a:p>
            <a:r>
              <a:t>- https://journals.openedition.org/imagesrevues/9684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1910, Sigmund Freud connected the similarly aged Anne and Mary—the two mothers visually intertwined—with Leonardo’s separation from his birth mother and upbringing within his father’s household. This became the influential “two mothers” interpretation.</a:t>
            </a:r>
          </a:p>
          <a:p>
            <a:endParaRPr/>
          </a:p>
          <a:p>
            <a:r>
              <a:t>Freud also saw a vulture in Mary’s drapery and linked it to Egyptian maternal mythology. But the Italian word in Leonardo’s remembered passage, nibbio, means a kite, not a vulture. The translation mistake seriously weakened the vulture argument.</a:t>
            </a:r>
          </a:p>
          <a:p>
            <a:endParaRPr/>
          </a:p>
          <a:p>
            <a:r>
              <a:t>This does not make every connection between Leonardo’s life and the image’s multiple motherhood meaningless. It reminds us that even a compelling interpretation may rest on a mistaken word. Biography can open a route into the painting, but it cannot replace historical, iconographic, and material evidence.</a:t>
            </a:r>
          </a:p>
          <a:p>
            <a:endParaRPr/>
          </a:p>
          <a:p>
            <a:r>
              <a:t>[Sources]</a:t>
            </a:r>
          </a:p>
          <a:p>
            <a:r>
              <a:t>- Sigmund Freud, Leonardo da Vinci and a Memory of His Childhood, 1910</a:t>
            </a:r>
          </a:p>
          <a:p>
            <a:r>
              <a:t>- https://www.jstor.org/stable/2707740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Virgin and Child with Saint Anne appears to show three generations of a family. Beneath that surface, it compresses family, nature, salvation, and artistic creation into one suspended instant.</a:t>
            </a:r>
          </a:p>
          <a:p>
            <a:endParaRPr/>
          </a:p>
          <a:p>
            <a:r>
              <a:t>Anne does not clearly restrain her daughter. Mary reaches forward but does not take Jesus away. The child looks back toward his mother while his body continues toward the lamb. Everyone is joined by love, yet everyone is being carried toward the next moment.</a:t>
            </a:r>
          </a:p>
          <a:p>
            <a:endParaRPr/>
          </a:p>
          <a:p>
            <a:r>
              <a:t>Leonardo’s achievement is not to explain theology neatly, but to turn love itself into a question. Does protection have a limit? Can letting go also be an act of love? When we cannot walk another person’s path for them, does the hand we still extend mean resistance—or blessing?</a:t>
            </a:r>
          </a:p>
          <a:p>
            <a:endParaRPr/>
          </a:p>
          <a:p>
            <a:r>
              <a:t>Perhaps that is why the painting has refused to become quiet after five centuries. It does not remain safely inside a story about saints. It draws into the image everyone who has ever tried to protect, release, or lose someone they love.</a:t>
            </a:r>
          </a:p>
          <a:p>
            <a:endParaRPr/>
          </a:p>
          <a:p>
            <a:r>
              <a:t>[Sources]</a:t>
            </a:r>
          </a:p>
          <a:p>
            <a:r>
              <a:t>- https://collections.louvre.fr/en/ark:/53355/cl010066107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Famous Artists. If you enjoy looking again with evidence, subscribe and join us for the next masterpiece.</a:t>
            </a:r>
          </a:p>
          <a:p>
            <a:endParaRPr/>
          </a:p>
          <a:p>
            <a:r>
              <a:t>[Sources]</a:t>
            </a:r>
          </a:p>
          <a:p>
            <a:r>
              <a:t>- Channel end card; no external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16.jpe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97E45FE-FD0C-4577-81AF-AD469F58A59B}"/>
              </a:ext>
            </a:extLst>
          </p:cNvPr>
          <p:cNvSpPr>
            <a:spLocks noGrp="1"/>
          </p:cNvSpPr>
          <p:nvPr/>
        </p:nvSpPr>
        <p:spPr>
          <a:xfrm>
            <a:off x="0" y="0"/>
            <a:ext cx="6572250" cy="6858000"/>
          </a:xfrm>
          <a:prstGeom prst="rect">
            <a:avLst/>
          </a:prstGeom>
          <a:solidFill>
            <a:srgbClr val="090C0B"/>
          </a:solidFill>
          <a:ln w="0">
            <a:noFill/>
            <a:prstDash val="solid"/>
          </a:ln>
        </p:spPr>
        <p:txBody>
          <a:bodyPr/>
          <a:lstStyle/>
          <a:p>
            <a:endParaRPr lang="en-US"/>
          </a:p>
        </p:txBody>
      </p:sp>
      <p:sp>
        <p:nvSpPr>
          <p:cNvPr id="3" name="Rectangle 2">
            <a:extLst>
              <a:ext uri="{FF2B5EF4-FFF2-40B4-BE49-F238E27FC236}">
                <a16:creationId xmlns:a16="http://schemas.microsoft.com/office/drawing/2014/main" id="{34CB4135-B605-459E-A9E1-07F601093B63}"/>
              </a:ext>
            </a:extLst>
          </p:cNvPr>
          <p:cNvSpPr>
            <a:spLocks noGrp="1"/>
          </p:cNvSpPr>
          <p:nvPr/>
        </p:nvSpPr>
        <p:spPr>
          <a:xfrm>
            <a:off x="552450" y="457200"/>
            <a:ext cx="6572250" cy="247650"/>
          </a:xfrm>
          <a:prstGeom prst="rect">
            <a:avLst/>
          </a:prstGeom>
          <a:noFill/>
          <a:ln w="0">
            <a:noFill/>
            <a:prstDash val="solid"/>
          </a:ln>
        </p:spPr>
        <p:txBody>
          <a:bodyPr anchor="t"/>
          <a:lstStyle/>
          <a:p>
            <a:pPr>
              <a:defRPr sz="975" b="1" i="0">
                <a:solidFill>
                  <a:srgbClr val="C3944A"/>
                </a:solidFill>
              </a:defRPr>
            </a:pPr>
            <a:r>
              <a:rPr sz="975" b="1" i="0">
                <a:solidFill>
                  <a:srgbClr val="C3944A"/>
                </a:solidFill>
              </a:rPr>
              <a:t>OUR FAMOUS ARTISTS | LEONARDO DA VINCI | c.1503–1519</a:t>
            </a:r>
          </a:p>
        </p:txBody>
      </p:sp>
      <p:sp>
        <p:nvSpPr>
          <p:cNvPr id="4" name="Rectangle 3">
            <a:extLst>
              <a:ext uri="{FF2B5EF4-FFF2-40B4-BE49-F238E27FC236}">
                <a16:creationId xmlns:a16="http://schemas.microsoft.com/office/drawing/2014/main" id="{F7AB28A3-7428-463D-AC4A-4DD179BBB738}"/>
              </a:ext>
            </a:extLst>
          </p:cNvPr>
          <p:cNvSpPr>
            <a:spLocks noGrp="1"/>
          </p:cNvSpPr>
          <p:nvPr/>
        </p:nvSpPr>
        <p:spPr>
          <a:xfrm>
            <a:off x="552450" y="1162050"/>
            <a:ext cx="6286500" cy="1657350"/>
          </a:xfrm>
          <a:prstGeom prst="rect">
            <a:avLst/>
          </a:prstGeom>
          <a:noFill/>
          <a:ln w="0">
            <a:noFill/>
            <a:prstDash val="solid"/>
          </a:ln>
        </p:spPr>
        <p:txBody>
          <a:bodyPr anchor="t"/>
          <a:lstStyle/>
          <a:p>
            <a:pPr>
              <a:defRPr sz="3825" b="1" i="0">
                <a:solidFill>
                  <a:srgbClr val="FFFDF6"/>
                </a:solidFill>
              </a:defRPr>
            </a:pPr>
            <a:r>
              <a:rPr sz="3825" b="1" i="0">
                <a:solidFill>
                  <a:srgbClr val="FFFDF6"/>
                </a:solidFill>
              </a:rPr>
              <a:t>Is She Protecting Him—or Letting Him Go?</a:t>
            </a:r>
          </a:p>
        </p:txBody>
      </p:sp>
      <p:sp>
        <p:nvSpPr>
          <p:cNvPr id="5" name="Rectangle 4">
            <a:extLst>
              <a:ext uri="{FF2B5EF4-FFF2-40B4-BE49-F238E27FC236}">
                <a16:creationId xmlns:a16="http://schemas.microsoft.com/office/drawing/2014/main" id="{E13BFF30-43E9-432B-AD5B-07FBF73B66E8}"/>
              </a:ext>
            </a:extLst>
          </p:cNvPr>
          <p:cNvSpPr>
            <a:spLocks noGrp="1"/>
          </p:cNvSpPr>
          <p:nvPr/>
        </p:nvSpPr>
        <p:spPr>
          <a:xfrm>
            <a:off x="552450" y="3124200"/>
            <a:ext cx="914400" cy="47625"/>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DF8C2B63-E104-4D7A-B74E-8125311DDF65}"/>
              </a:ext>
            </a:extLst>
          </p:cNvPr>
          <p:cNvSpPr>
            <a:spLocks noGrp="1"/>
          </p:cNvSpPr>
          <p:nvPr/>
        </p:nvSpPr>
        <p:spPr>
          <a:xfrm>
            <a:off x="552450" y="3524250"/>
            <a:ext cx="6286500" cy="609600"/>
          </a:xfrm>
          <a:prstGeom prst="rect">
            <a:avLst/>
          </a:prstGeom>
          <a:noFill/>
          <a:ln w="0">
            <a:noFill/>
            <a:prstDash val="solid"/>
          </a:ln>
        </p:spPr>
        <p:txBody>
          <a:bodyPr anchor="t"/>
          <a:lstStyle/>
          <a:p>
            <a:pPr>
              <a:defRPr sz="1800" b="0" i="0">
                <a:solidFill>
                  <a:srgbClr val="EFE4CF"/>
                </a:solidFill>
              </a:defRPr>
            </a:pPr>
            <a:r>
              <a:rPr sz="1800" b="0" i="0">
                <a:solidFill>
                  <a:srgbClr val="EFE4CF"/>
                </a:solidFill>
              </a:rPr>
              <a:t>THE VIRGIN AND CHILD WITH SAINT ANNE</a:t>
            </a:r>
          </a:p>
        </p:txBody>
      </p:sp>
      <p:pic>
        <p:nvPicPr>
          <p:cNvPr id="17" name="Picture 16"/>
          <p:cNvPicPr>
            <a:picLocks noChangeAspect="1"/>
          </p:cNvPicPr>
          <p:nvPr/>
        </p:nvPicPr>
        <p:blipFill>
          <a:blip r:embed="rId4"/>
          <a:stretch/>
        </p:blipFill>
        <p:spPr>
          <a:xfrm>
            <a:off x="8020050" y="1114721"/>
            <a:ext cx="3143250" cy="3904658"/>
          </a:xfrm>
          <a:prstGeom prst="roundRect">
            <a:avLst>
              <a:gd name="adj" fmla="val 3636"/>
            </a:avLst>
          </a:prstGeom>
        </p:spPr>
      </p:pic>
      <p:sp>
        <p:nvSpPr>
          <p:cNvPr id="8" name="Rectangle: Rounded Corners 7">
            <a:extLst>
              <a:ext uri="{FF2B5EF4-FFF2-40B4-BE49-F238E27FC236}">
                <a16:creationId xmlns:a16="http://schemas.microsoft.com/office/drawing/2014/main" id="{BEB636A7-51B9-4ED3-85FF-C3C0A9CE54B4}"/>
              </a:ext>
            </a:extLst>
          </p:cNvPr>
          <p:cNvSpPr>
            <a:spLocks noGrp="1"/>
          </p:cNvSpPr>
          <p:nvPr/>
        </p:nvSpPr>
        <p:spPr>
          <a:xfrm>
            <a:off x="7734300" y="285750"/>
            <a:ext cx="3714750" cy="5581650"/>
          </a:xfrm>
          <a:prstGeom prst="roundRect">
            <a:avLst>
              <a:gd name="adj" fmla="val 3077"/>
            </a:avLst>
          </a:prstGeom>
          <a:noFill/>
          <a:ln w="19050">
            <a:solidFill>
              <a:srgbClr val="C3944A"/>
            </a:solidFill>
            <a:prstDash val="solid"/>
          </a:ln>
        </p:spPr>
        <p:txBody>
          <a:bodyPr/>
          <a:lstStyle/>
          <a:p>
            <a:endParaRPr lang="en-US"/>
          </a:p>
        </p:txBody>
      </p:sp>
      <p:sp>
        <p:nvSpPr>
          <p:cNvPr id="9" name="Rectangle 8">
            <a:extLst>
              <a:ext uri="{FF2B5EF4-FFF2-40B4-BE49-F238E27FC236}">
                <a16:creationId xmlns:a16="http://schemas.microsoft.com/office/drawing/2014/main" id="{689F4DEF-8DDB-41E8-9441-64D1EE96503E}"/>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B336512-4404-4B6D-B09D-0D7831CDF00F}"/>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A lamb turns a tender family scene toward a destiny no mother can prevent.</a:t>
            </a:r>
          </a:p>
        </p:txBody>
      </p:sp>
    </p:spTree>
    <p:extLst>
      <p:ext uri="{BB962C8B-B14F-4D97-AF65-F5344CB8AC3E}">
        <p14:creationId xmlns:p14="http://schemas.microsoft.com/office/powerpoint/2010/main" val="158481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40714A2-C014-499B-90C2-DE0FABCDD16A}"/>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038108AC-FFBD-4F12-83A0-0D19D6D68CFF}"/>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What Are We Looking At?</a:t>
            </a:r>
          </a:p>
        </p:txBody>
      </p:sp>
      <p:sp>
        <p:nvSpPr>
          <p:cNvPr id="5" name="Rectangle 4">
            <a:extLst>
              <a:ext uri="{FF2B5EF4-FFF2-40B4-BE49-F238E27FC236}">
                <a16:creationId xmlns:a16="http://schemas.microsoft.com/office/drawing/2014/main" id="{106D3FE9-883B-46C6-886E-993421D7DCC1}"/>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09AF20B7-0FA4-4A36-BCB1-941EEB5572A2}"/>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02</a:t>
            </a:r>
          </a:p>
        </p:txBody>
      </p:sp>
      <p:sp>
        <p:nvSpPr>
          <p:cNvPr id="7" name="Rectangle 6">
            <a:extLst>
              <a:ext uri="{FF2B5EF4-FFF2-40B4-BE49-F238E27FC236}">
                <a16:creationId xmlns:a16="http://schemas.microsoft.com/office/drawing/2014/main" id="{A8805EE1-1DE5-49BD-843F-9DFC96EAAC0D}"/>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0A57C481-4C9A-4150-9131-5940CB245AD6}"/>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Oil on poplar｜about 168 × 130 cm｜Louvre INV 776</a:t>
            </a:r>
          </a:p>
        </p:txBody>
      </p:sp>
      <p:pic>
        <p:nvPicPr>
          <p:cNvPr id="26" name="Picture 25"/>
          <p:cNvPicPr>
            <a:picLocks noChangeAspect="1"/>
          </p:cNvPicPr>
          <p:nvPr/>
        </p:nvPicPr>
        <p:blipFill>
          <a:blip r:embed="rId4"/>
          <a:stretch/>
        </p:blipFill>
        <p:spPr>
          <a:xfrm>
            <a:off x="692039" y="1571625"/>
            <a:ext cx="3511772" cy="4362450"/>
          </a:xfrm>
          <a:prstGeom prst="roundRect">
            <a:avLst>
              <a:gd name="adj" fmla="val 3243"/>
            </a:avLst>
          </a:prstGeom>
        </p:spPr>
      </p:pic>
      <p:sp>
        <p:nvSpPr>
          <p:cNvPr id="10" name="Rectangle: Rounded Corners 9">
            <a:extLst>
              <a:ext uri="{FF2B5EF4-FFF2-40B4-BE49-F238E27FC236}">
                <a16:creationId xmlns:a16="http://schemas.microsoft.com/office/drawing/2014/main" id="{CF258301-E646-4D6F-B90C-435760387438}"/>
              </a:ext>
            </a:extLst>
          </p:cNvPr>
          <p:cNvSpPr>
            <a:spLocks noGrp="1"/>
          </p:cNvSpPr>
          <p:nvPr/>
        </p:nvSpPr>
        <p:spPr>
          <a:xfrm>
            <a:off x="4667250" y="1752600"/>
            <a:ext cx="6191250" cy="2286000"/>
          </a:xfrm>
          <a:prstGeom prst="roundRect">
            <a:avLst>
              <a:gd name="adj" fmla="val 5000"/>
            </a:avLst>
          </a:prstGeom>
          <a:solidFill>
            <a:srgbClr val="111411"/>
          </a:solidFill>
          <a:ln w="9525">
            <a:solidFill>
              <a:srgbClr val="6E695F"/>
            </a:solidFill>
            <a:prstDash val="solid"/>
          </a:ln>
        </p:spPr>
        <p:txBody>
          <a:bodyPr/>
          <a:lstStyle/>
          <a:p>
            <a:endParaRPr lang="en-US" sz="6600"/>
          </a:p>
        </p:txBody>
      </p:sp>
      <p:sp>
        <p:nvSpPr>
          <p:cNvPr id="11" name="Rectangle: Rounded Corners 10">
            <a:extLst>
              <a:ext uri="{FF2B5EF4-FFF2-40B4-BE49-F238E27FC236}">
                <a16:creationId xmlns:a16="http://schemas.microsoft.com/office/drawing/2014/main" id="{D98F4EF4-EBB1-46AA-91EA-626F6352404F}"/>
              </a:ext>
            </a:extLst>
          </p:cNvPr>
          <p:cNvSpPr>
            <a:spLocks noGrp="1"/>
          </p:cNvSpPr>
          <p:nvPr/>
        </p:nvSpPr>
        <p:spPr>
          <a:xfrm>
            <a:off x="4667250" y="1752600"/>
            <a:ext cx="57150" cy="2286000"/>
          </a:xfrm>
          <a:prstGeom prst="roundRect">
            <a:avLst>
              <a:gd name="adj" fmla="val 50000"/>
            </a:avLst>
          </a:prstGeom>
          <a:solidFill>
            <a:srgbClr val="C3944A"/>
          </a:solidFill>
          <a:ln w="0">
            <a:noFill/>
            <a:prstDash val="solid"/>
          </a:ln>
        </p:spPr>
        <p:txBody>
          <a:bodyPr/>
          <a:lstStyle/>
          <a:p>
            <a:endParaRPr lang="en-US" sz="6600"/>
          </a:p>
        </p:txBody>
      </p:sp>
      <p:sp>
        <p:nvSpPr>
          <p:cNvPr id="12" name="Rectangle 11">
            <a:extLst>
              <a:ext uri="{FF2B5EF4-FFF2-40B4-BE49-F238E27FC236}">
                <a16:creationId xmlns:a16="http://schemas.microsoft.com/office/drawing/2014/main" id="{5EA8B330-026D-4A3B-907C-01F1157F2E25}"/>
              </a:ext>
            </a:extLst>
          </p:cNvPr>
          <p:cNvSpPr>
            <a:spLocks noGrp="1"/>
          </p:cNvSpPr>
          <p:nvPr/>
        </p:nvSpPr>
        <p:spPr>
          <a:xfrm>
            <a:off x="4876800" y="1905000"/>
            <a:ext cx="5791200" cy="266700"/>
          </a:xfrm>
          <a:prstGeom prst="rect">
            <a:avLst/>
          </a:prstGeom>
          <a:noFill/>
          <a:ln w="0">
            <a:noFill/>
            <a:prstDash val="solid"/>
          </a:ln>
        </p:spPr>
        <p:txBody>
          <a:bodyPr anchor="t"/>
          <a:lstStyle/>
          <a:p>
            <a:pPr>
              <a:defRPr sz="1350" b="1" i="0">
                <a:solidFill>
                  <a:srgbClr val="C3944A"/>
                </a:solidFill>
              </a:defRPr>
            </a:pPr>
            <a:r>
              <a:rPr sz="1600" b="1" i="0" dirty="0">
                <a:solidFill>
                  <a:srgbClr val="C3944A"/>
                </a:solidFill>
              </a:rPr>
              <a:t>OBJECT DATA</a:t>
            </a:r>
          </a:p>
        </p:txBody>
      </p:sp>
      <p:sp>
        <p:nvSpPr>
          <p:cNvPr id="13" name="Rectangle 12">
            <a:extLst>
              <a:ext uri="{FF2B5EF4-FFF2-40B4-BE49-F238E27FC236}">
                <a16:creationId xmlns:a16="http://schemas.microsoft.com/office/drawing/2014/main" id="{63960C7C-505D-483D-80EC-26C21B2D3236}"/>
              </a:ext>
            </a:extLst>
          </p:cNvPr>
          <p:cNvSpPr>
            <a:spLocks noGrp="1"/>
          </p:cNvSpPr>
          <p:nvPr/>
        </p:nvSpPr>
        <p:spPr>
          <a:xfrm>
            <a:off x="4876800" y="2247900"/>
            <a:ext cx="5791200" cy="1695450"/>
          </a:xfrm>
          <a:prstGeom prst="rect">
            <a:avLst/>
          </a:prstGeom>
          <a:noFill/>
          <a:ln w="0">
            <a:noFill/>
            <a:prstDash val="solid"/>
          </a:ln>
        </p:spPr>
        <p:txBody>
          <a:bodyPr anchor="t"/>
          <a:lstStyle/>
          <a:p>
            <a:pPr>
              <a:defRPr sz="1163" b="0" i="0">
                <a:solidFill>
                  <a:srgbClr val="EFE4CF"/>
                </a:solidFill>
              </a:defRPr>
            </a:pPr>
            <a:r>
              <a:rPr sz="1600" b="0" i="0" dirty="0">
                <a:solidFill>
                  <a:srgbClr val="EFE4CF"/>
                </a:solidFill>
              </a:rPr>
              <a:t>c.1503–1519</a:t>
            </a:r>
          </a:p>
          <a:p>
            <a:pPr>
              <a:defRPr sz="1163" b="0" i="0">
                <a:solidFill>
                  <a:srgbClr val="EFE4CF"/>
                </a:solidFill>
              </a:defRPr>
            </a:pPr>
            <a:r>
              <a:rPr sz="1600" b="0" i="0" dirty="0">
                <a:solidFill>
                  <a:srgbClr val="EFE4CF"/>
                </a:solidFill>
              </a:rPr>
              <a:t>Oil on poplar</a:t>
            </a:r>
          </a:p>
          <a:p>
            <a:pPr>
              <a:defRPr sz="1163" b="0" i="0">
                <a:solidFill>
                  <a:srgbClr val="EFE4CF"/>
                </a:solidFill>
              </a:defRPr>
            </a:pPr>
            <a:r>
              <a:rPr sz="1600" b="0" i="0" dirty="0" err="1">
                <a:solidFill>
                  <a:srgbClr val="EFE4CF"/>
                </a:solidFill>
              </a:rPr>
              <a:t>Louvre｜INV</a:t>
            </a:r>
            <a:r>
              <a:rPr sz="1600" b="0" i="0" dirty="0">
                <a:solidFill>
                  <a:srgbClr val="EFE4CF"/>
                </a:solidFill>
              </a:rPr>
              <a:t> 776</a:t>
            </a:r>
          </a:p>
        </p:txBody>
      </p:sp>
      <p:sp>
        <p:nvSpPr>
          <p:cNvPr id="14" name="Rectangle: Rounded Corners 13">
            <a:extLst>
              <a:ext uri="{FF2B5EF4-FFF2-40B4-BE49-F238E27FC236}">
                <a16:creationId xmlns:a16="http://schemas.microsoft.com/office/drawing/2014/main" id="{03B5726D-49C9-4AEE-89D7-0A5676572198}"/>
              </a:ext>
            </a:extLst>
          </p:cNvPr>
          <p:cNvSpPr>
            <a:spLocks noGrp="1"/>
          </p:cNvSpPr>
          <p:nvPr/>
        </p:nvSpPr>
        <p:spPr>
          <a:xfrm>
            <a:off x="4667250" y="4267200"/>
            <a:ext cx="6191250" cy="1295400"/>
          </a:xfrm>
          <a:prstGeom prst="roundRect">
            <a:avLst>
              <a:gd name="adj" fmla="val 8824"/>
            </a:avLst>
          </a:prstGeom>
          <a:solidFill>
            <a:srgbClr val="111411"/>
          </a:solidFill>
          <a:ln w="9525">
            <a:solidFill>
              <a:srgbClr val="6E695F"/>
            </a:solidFill>
            <a:prstDash val="solid"/>
          </a:ln>
        </p:spPr>
        <p:txBody>
          <a:bodyPr/>
          <a:lstStyle/>
          <a:p>
            <a:endParaRPr lang="en-US" sz="6600"/>
          </a:p>
        </p:txBody>
      </p:sp>
      <p:sp>
        <p:nvSpPr>
          <p:cNvPr id="15" name="Rectangle: Rounded Corners 14">
            <a:extLst>
              <a:ext uri="{FF2B5EF4-FFF2-40B4-BE49-F238E27FC236}">
                <a16:creationId xmlns:a16="http://schemas.microsoft.com/office/drawing/2014/main" id="{0206173C-58F7-48EC-98E5-3B0F634DB24F}"/>
              </a:ext>
            </a:extLst>
          </p:cNvPr>
          <p:cNvSpPr>
            <a:spLocks noGrp="1"/>
          </p:cNvSpPr>
          <p:nvPr/>
        </p:nvSpPr>
        <p:spPr>
          <a:xfrm>
            <a:off x="4667250" y="4267200"/>
            <a:ext cx="57150" cy="1295400"/>
          </a:xfrm>
          <a:prstGeom prst="roundRect">
            <a:avLst>
              <a:gd name="adj" fmla="val 50000"/>
            </a:avLst>
          </a:prstGeom>
          <a:solidFill>
            <a:srgbClr val="9A5B53"/>
          </a:solidFill>
          <a:ln w="0">
            <a:noFill/>
            <a:prstDash val="solid"/>
          </a:ln>
        </p:spPr>
        <p:txBody>
          <a:bodyPr/>
          <a:lstStyle/>
          <a:p>
            <a:endParaRPr lang="en-US" sz="6600"/>
          </a:p>
        </p:txBody>
      </p:sp>
      <p:sp>
        <p:nvSpPr>
          <p:cNvPr id="16" name="Rectangle 15">
            <a:extLst>
              <a:ext uri="{FF2B5EF4-FFF2-40B4-BE49-F238E27FC236}">
                <a16:creationId xmlns:a16="http://schemas.microsoft.com/office/drawing/2014/main" id="{FDD5B47B-5B98-48A0-B82E-EF058C29EA44}"/>
              </a:ext>
            </a:extLst>
          </p:cNvPr>
          <p:cNvSpPr>
            <a:spLocks noGrp="1"/>
          </p:cNvSpPr>
          <p:nvPr/>
        </p:nvSpPr>
        <p:spPr>
          <a:xfrm>
            <a:off x="4876800" y="4419600"/>
            <a:ext cx="5791200" cy="266700"/>
          </a:xfrm>
          <a:prstGeom prst="rect">
            <a:avLst/>
          </a:prstGeom>
          <a:noFill/>
          <a:ln w="0">
            <a:noFill/>
            <a:prstDash val="solid"/>
          </a:ln>
        </p:spPr>
        <p:txBody>
          <a:bodyPr anchor="t"/>
          <a:lstStyle/>
          <a:p>
            <a:pPr>
              <a:defRPr sz="1350" b="1" i="0">
                <a:solidFill>
                  <a:srgbClr val="9A5B53"/>
                </a:solidFill>
              </a:defRPr>
            </a:pPr>
            <a:r>
              <a:rPr sz="1600" b="1" i="0">
                <a:solidFill>
                  <a:srgbClr val="9A5B53"/>
                </a:solidFill>
              </a:rPr>
              <a:t>CENTRAL QUESTION</a:t>
            </a:r>
          </a:p>
        </p:txBody>
      </p:sp>
      <p:sp>
        <p:nvSpPr>
          <p:cNvPr id="17" name="Rectangle 16">
            <a:extLst>
              <a:ext uri="{FF2B5EF4-FFF2-40B4-BE49-F238E27FC236}">
                <a16:creationId xmlns:a16="http://schemas.microsoft.com/office/drawing/2014/main" id="{1C7640C6-F340-4BE3-B6AF-266EE71E3C68}"/>
              </a:ext>
            </a:extLst>
          </p:cNvPr>
          <p:cNvSpPr>
            <a:spLocks noGrp="1"/>
          </p:cNvSpPr>
          <p:nvPr/>
        </p:nvSpPr>
        <p:spPr>
          <a:xfrm>
            <a:off x="4876800" y="4762500"/>
            <a:ext cx="5791200" cy="70485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Is Mary pulling her child back—or allowing him to move forward?</a:t>
            </a:r>
          </a:p>
        </p:txBody>
      </p:sp>
    </p:spTree>
    <p:extLst>
      <p:ext uri="{BB962C8B-B14F-4D97-AF65-F5344CB8AC3E}">
        <p14:creationId xmlns:p14="http://schemas.microsoft.com/office/powerpoint/2010/main" val="2125197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A7FEABD-E514-4080-AC02-80E679BB3F9A}"/>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4F3B0143-9176-4B06-84F7-C3B250C32F8B}"/>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A Family Portrait That Could Never Have Happened</a:t>
            </a:r>
          </a:p>
        </p:txBody>
      </p:sp>
      <p:sp>
        <p:nvSpPr>
          <p:cNvPr id="5" name="Rectangle 4">
            <a:extLst>
              <a:ext uri="{FF2B5EF4-FFF2-40B4-BE49-F238E27FC236}">
                <a16:creationId xmlns:a16="http://schemas.microsoft.com/office/drawing/2014/main" id="{8C32C781-9063-4490-B317-4DD815A32552}"/>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210FF8A1-D765-47B1-89F7-D6190F830016}"/>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03</a:t>
            </a:r>
          </a:p>
        </p:txBody>
      </p:sp>
      <p:sp>
        <p:nvSpPr>
          <p:cNvPr id="7" name="Rectangle 6">
            <a:extLst>
              <a:ext uri="{FF2B5EF4-FFF2-40B4-BE49-F238E27FC236}">
                <a16:creationId xmlns:a16="http://schemas.microsoft.com/office/drawing/2014/main" id="{ED48AC97-55D4-4BE0-8926-75948E79410F}"/>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C4EE3E68-68CE-4CD2-A0B3-5F1B8AEFCDBE}"/>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Anne, Mary, Christ, and the lamb compress lineage and salvation into one instant.</a:t>
            </a:r>
          </a:p>
        </p:txBody>
      </p:sp>
      <p:pic>
        <p:nvPicPr>
          <p:cNvPr id="31" name="Picture 30"/>
          <p:cNvPicPr>
            <a:picLocks noChangeAspect="1"/>
          </p:cNvPicPr>
          <p:nvPr/>
        </p:nvPicPr>
        <p:blipFill>
          <a:blip r:embed="rId4"/>
          <a:stretch/>
        </p:blipFill>
        <p:spPr>
          <a:xfrm>
            <a:off x="882063" y="1524000"/>
            <a:ext cx="3665125" cy="4552950"/>
          </a:xfrm>
          <a:prstGeom prst="roundRect">
            <a:avLst>
              <a:gd name="adj" fmla="val 2791"/>
            </a:avLst>
          </a:prstGeom>
        </p:spPr>
      </p:pic>
      <p:sp>
        <p:nvSpPr>
          <p:cNvPr id="10" name="Rectangle: Rounded Corners 9">
            <a:extLst>
              <a:ext uri="{FF2B5EF4-FFF2-40B4-BE49-F238E27FC236}">
                <a16:creationId xmlns:a16="http://schemas.microsoft.com/office/drawing/2014/main" id="{CCAB051D-B773-4876-97ED-0E02CEBE1600}"/>
              </a:ext>
            </a:extLst>
          </p:cNvPr>
          <p:cNvSpPr>
            <a:spLocks noGrp="1"/>
          </p:cNvSpPr>
          <p:nvPr/>
        </p:nvSpPr>
        <p:spPr>
          <a:xfrm>
            <a:off x="5219700" y="17526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800"/>
          </a:p>
        </p:txBody>
      </p:sp>
      <p:sp>
        <p:nvSpPr>
          <p:cNvPr id="11" name="Rectangle: Rounded Corners 10">
            <a:extLst>
              <a:ext uri="{FF2B5EF4-FFF2-40B4-BE49-F238E27FC236}">
                <a16:creationId xmlns:a16="http://schemas.microsoft.com/office/drawing/2014/main" id="{F632DBBE-EB02-4984-8DFF-E13FA581582E}"/>
              </a:ext>
            </a:extLst>
          </p:cNvPr>
          <p:cNvSpPr>
            <a:spLocks noGrp="1"/>
          </p:cNvSpPr>
          <p:nvPr/>
        </p:nvSpPr>
        <p:spPr>
          <a:xfrm>
            <a:off x="5219700" y="1752600"/>
            <a:ext cx="57150" cy="971550"/>
          </a:xfrm>
          <a:prstGeom prst="roundRect">
            <a:avLst>
              <a:gd name="adj" fmla="val 50000"/>
            </a:avLst>
          </a:prstGeom>
          <a:solidFill>
            <a:srgbClr val="C3944A"/>
          </a:solidFill>
          <a:ln w="0">
            <a:noFill/>
            <a:prstDash val="solid"/>
          </a:ln>
        </p:spPr>
        <p:txBody>
          <a:bodyPr/>
          <a:lstStyle/>
          <a:p>
            <a:endParaRPr lang="en-US" sz="2800"/>
          </a:p>
        </p:txBody>
      </p:sp>
      <p:sp>
        <p:nvSpPr>
          <p:cNvPr id="12" name="Rectangle 11">
            <a:extLst>
              <a:ext uri="{FF2B5EF4-FFF2-40B4-BE49-F238E27FC236}">
                <a16:creationId xmlns:a16="http://schemas.microsoft.com/office/drawing/2014/main" id="{29F3C404-E282-463A-BDB4-279B6B3BAAB5}"/>
              </a:ext>
            </a:extLst>
          </p:cNvPr>
          <p:cNvSpPr>
            <a:spLocks noGrp="1"/>
          </p:cNvSpPr>
          <p:nvPr/>
        </p:nvSpPr>
        <p:spPr>
          <a:xfrm>
            <a:off x="5429250" y="1905000"/>
            <a:ext cx="5410200" cy="266700"/>
          </a:xfrm>
          <a:prstGeom prst="rect">
            <a:avLst/>
          </a:prstGeom>
          <a:noFill/>
          <a:ln w="0">
            <a:noFill/>
            <a:prstDash val="solid"/>
          </a:ln>
        </p:spPr>
        <p:txBody>
          <a:bodyPr anchor="t"/>
          <a:lstStyle/>
          <a:p>
            <a:pPr>
              <a:defRPr sz="1350" b="1" i="0">
                <a:solidFill>
                  <a:srgbClr val="C3944A"/>
                </a:solidFill>
              </a:defRPr>
            </a:pPr>
            <a:r>
              <a:rPr b="1" i="0">
                <a:solidFill>
                  <a:srgbClr val="C3944A"/>
                </a:solidFill>
              </a:rPr>
              <a:t>01</a:t>
            </a:r>
          </a:p>
        </p:txBody>
      </p:sp>
      <p:sp>
        <p:nvSpPr>
          <p:cNvPr id="13" name="Rectangle 12">
            <a:extLst>
              <a:ext uri="{FF2B5EF4-FFF2-40B4-BE49-F238E27FC236}">
                <a16:creationId xmlns:a16="http://schemas.microsoft.com/office/drawing/2014/main" id="{438C0D76-32D8-48BA-9D9D-159A38AC5A04}"/>
              </a:ext>
            </a:extLst>
          </p:cNvPr>
          <p:cNvSpPr>
            <a:spLocks noGrp="1"/>
          </p:cNvSpPr>
          <p:nvPr/>
        </p:nvSpPr>
        <p:spPr>
          <a:xfrm>
            <a:off x="5429250" y="2247900"/>
            <a:ext cx="5410200" cy="3810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SAINT ANNE｜the anchor</a:t>
            </a:r>
          </a:p>
        </p:txBody>
      </p:sp>
      <p:sp>
        <p:nvSpPr>
          <p:cNvPr id="14" name="Rectangle: Rounded Corners 13">
            <a:extLst>
              <a:ext uri="{FF2B5EF4-FFF2-40B4-BE49-F238E27FC236}">
                <a16:creationId xmlns:a16="http://schemas.microsoft.com/office/drawing/2014/main" id="{0648BC2F-D354-46B4-8AFE-81AA8084D756}"/>
              </a:ext>
            </a:extLst>
          </p:cNvPr>
          <p:cNvSpPr>
            <a:spLocks noGrp="1"/>
          </p:cNvSpPr>
          <p:nvPr/>
        </p:nvSpPr>
        <p:spPr>
          <a:xfrm>
            <a:off x="5219700" y="29718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800"/>
          </a:p>
        </p:txBody>
      </p:sp>
      <p:sp>
        <p:nvSpPr>
          <p:cNvPr id="15" name="Rectangle: Rounded Corners 14">
            <a:extLst>
              <a:ext uri="{FF2B5EF4-FFF2-40B4-BE49-F238E27FC236}">
                <a16:creationId xmlns:a16="http://schemas.microsoft.com/office/drawing/2014/main" id="{5D1F605D-972D-4145-BBDF-15B9259F3F3F}"/>
              </a:ext>
            </a:extLst>
          </p:cNvPr>
          <p:cNvSpPr>
            <a:spLocks noGrp="1"/>
          </p:cNvSpPr>
          <p:nvPr/>
        </p:nvSpPr>
        <p:spPr>
          <a:xfrm>
            <a:off x="5219700" y="2971800"/>
            <a:ext cx="57150" cy="971550"/>
          </a:xfrm>
          <a:prstGeom prst="roundRect">
            <a:avLst>
              <a:gd name="adj" fmla="val 50000"/>
            </a:avLst>
          </a:prstGeom>
          <a:solidFill>
            <a:srgbClr val="9A5B53"/>
          </a:solidFill>
          <a:ln w="0">
            <a:noFill/>
            <a:prstDash val="solid"/>
          </a:ln>
        </p:spPr>
        <p:txBody>
          <a:bodyPr/>
          <a:lstStyle/>
          <a:p>
            <a:endParaRPr lang="en-US" sz="2800"/>
          </a:p>
        </p:txBody>
      </p:sp>
      <p:sp>
        <p:nvSpPr>
          <p:cNvPr id="16" name="Rectangle 15">
            <a:extLst>
              <a:ext uri="{FF2B5EF4-FFF2-40B4-BE49-F238E27FC236}">
                <a16:creationId xmlns:a16="http://schemas.microsoft.com/office/drawing/2014/main" id="{75B4E299-C01C-4882-8605-7DF773835358}"/>
              </a:ext>
            </a:extLst>
          </p:cNvPr>
          <p:cNvSpPr>
            <a:spLocks noGrp="1"/>
          </p:cNvSpPr>
          <p:nvPr/>
        </p:nvSpPr>
        <p:spPr>
          <a:xfrm>
            <a:off x="5429250" y="3124200"/>
            <a:ext cx="5410200" cy="266700"/>
          </a:xfrm>
          <a:prstGeom prst="rect">
            <a:avLst/>
          </a:prstGeom>
          <a:noFill/>
          <a:ln w="0">
            <a:noFill/>
            <a:prstDash val="solid"/>
          </a:ln>
        </p:spPr>
        <p:txBody>
          <a:bodyPr anchor="t"/>
          <a:lstStyle/>
          <a:p>
            <a:pPr>
              <a:defRPr sz="1350" b="1" i="0">
                <a:solidFill>
                  <a:srgbClr val="9A5B53"/>
                </a:solidFill>
              </a:defRPr>
            </a:pPr>
            <a:r>
              <a:rPr b="1" i="0">
                <a:solidFill>
                  <a:srgbClr val="9A5B53"/>
                </a:solidFill>
              </a:rPr>
              <a:t>02</a:t>
            </a:r>
          </a:p>
        </p:txBody>
      </p:sp>
      <p:sp>
        <p:nvSpPr>
          <p:cNvPr id="17" name="Rectangle 16">
            <a:extLst>
              <a:ext uri="{FF2B5EF4-FFF2-40B4-BE49-F238E27FC236}">
                <a16:creationId xmlns:a16="http://schemas.microsoft.com/office/drawing/2014/main" id="{B9E75226-3528-426D-B47C-E826106558C8}"/>
              </a:ext>
            </a:extLst>
          </p:cNvPr>
          <p:cNvSpPr>
            <a:spLocks noGrp="1"/>
          </p:cNvSpPr>
          <p:nvPr/>
        </p:nvSpPr>
        <p:spPr>
          <a:xfrm>
            <a:off x="5429250" y="3467100"/>
            <a:ext cx="5410200" cy="3810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MARY｜between holding and release</a:t>
            </a:r>
          </a:p>
        </p:txBody>
      </p:sp>
      <p:sp>
        <p:nvSpPr>
          <p:cNvPr id="18" name="Rectangle: Rounded Corners 17">
            <a:extLst>
              <a:ext uri="{FF2B5EF4-FFF2-40B4-BE49-F238E27FC236}">
                <a16:creationId xmlns:a16="http://schemas.microsoft.com/office/drawing/2014/main" id="{9EBFEB9B-57A8-4785-A3F7-808F2F033108}"/>
              </a:ext>
            </a:extLst>
          </p:cNvPr>
          <p:cNvSpPr>
            <a:spLocks noGrp="1"/>
          </p:cNvSpPr>
          <p:nvPr/>
        </p:nvSpPr>
        <p:spPr>
          <a:xfrm>
            <a:off x="5219700" y="4191000"/>
            <a:ext cx="5810250" cy="971550"/>
          </a:xfrm>
          <a:prstGeom prst="roundRect">
            <a:avLst>
              <a:gd name="adj" fmla="val 11765"/>
            </a:avLst>
          </a:prstGeom>
          <a:solidFill>
            <a:srgbClr val="111411"/>
          </a:solidFill>
          <a:ln w="9525">
            <a:solidFill>
              <a:srgbClr val="6E695F"/>
            </a:solidFill>
            <a:prstDash val="solid"/>
          </a:ln>
        </p:spPr>
        <p:txBody>
          <a:bodyPr/>
          <a:lstStyle/>
          <a:p>
            <a:endParaRPr lang="en-US" sz="2800"/>
          </a:p>
        </p:txBody>
      </p:sp>
      <p:sp>
        <p:nvSpPr>
          <p:cNvPr id="19" name="Rectangle: Rounded Corners 18">
            <a:extLst>
              <a:ext uri="{FF2B5EF4-FFF2-40B4-BE49-F238E27FC236}">
                <a16:creationId xmlns:a16="http://schemas.microsoft.com/office/drawing/2014/main" id="{D674ADC0-3E6F-4386-AB41-57570FF47055}"/>
              </a:ext>
            </a:extLst>
          </p:cNvPr>
          <p:cNvSpPr>
            <a:spLocks noGrp="1"/>
          </p:cNvSpPr>
          <p:nvPr/>
        </p:nvSpPr>
        <p:spPr>
          <a:xfrm>
            <a:off x="5219700" y="4191000"/>
            <a:ext cx="57150" cy="971550"/>
          </a:xfrm>
          <a:prstGeom prst="roundRect">
            <a:avLst>
              <a:gd name="adj" fmla="val 50000"/>
            </a:avLst>
          </a:prstGeom>
          <a:solidFill>
            <a:srgbClr val="C3944A"/>
          </a:solidFill>
          <a:ln w="0">
            <a:noFill/>
            <a:prstDash val="solid"/>
          </a:ln>
        </p:spPr>
        <p:txBody>
          <a:bodyPr/>
          <a:lstStyle/>
          <a:p>
            <a:endParaRPr lang="en-US" sz="2800"/>
          </a:p>
        </p:txBody>
      </p:sp>
      <p:sp>
        <p:nvSpPr>
          <p:cNvPr id="20" name="Rectangle 19">
            <a:extLst>
              <a:ext uri="{FF2B5EF4-FFF2-40B4-BE49-F238E27FC236}">
                <a16:creationId xmlns:a16="http://schemas.microsoft.com/office/drawing/2014/main" id="{7F7EE945-4FB4-4E93-B4FC-AFE1D3C06D9E}"/>
              </a:ext>
            </a:extLst>
          </p:cNvPr>
          <p:cNvSpPr>
            <a:spLocks noGrp="1"/>
          </p:cNvSpPr>
          <p:nvPr/>
        </p:nvSpPr>
        <p:spPr>
          <a:xfrm>
            <a:off x="5429250" y="4343400"/>
            <a:ext cx="5410200" cy="266700"/>
          </a:xfrm>
          <a:prstGeom prst="rect">
            <a:avLst/>
          </a:prstGeom>
          <a:noFill/>
          <a:ln w="0">
            <a:noFill/>
            <a:prstDash val="solid"/>
          </a:ln>
        </p:spPr>
        <p:txBody>
          <a:bodyPr anchor="t"/>
          <a:lstStyle/>
          <a:p>
            <a:pPr>
              <a:defRPr sz="1350" b="1" i="0">
                <a:solidFill>
                  <a:srgbClr val="C3944A"/>
                </a:solidFill>
              </a:defRPr>
            </a:pPr>
            <a:r>
              <a:rPr b="1" i="0">
                <a:solidFill>
                  <a:srgbClr val="C3944A"/>
                </a:solidFill>
              </a:rPr>
              <a:t>03</a:t>
            </a:r>
          </a:p>
        </p:txBody>
      </p:sp>
      <p:sp>
        <p:nvSpPr>
          <p:cNvPr id="21" name="Rectangle 20">
            <a:extLst>
              <a:ext uri="{FF2B5EF4-FFF2-40B4-BE49-F238E27FC236}">
                <a16:creationId xmlns:a16="http://schemas.microsoft.com/office/drawing/2014/main" id="{A889DCC3-DA4A-4AB8-882A-1711280CA523}"/>
              </a:ext>
            </a:extLst>
          </p:cNvPr>
          <p:cNvSpPr>
            <a:spLocks noGrp="1"/>
          </p:cNvSpPr>
          <p:nvPr/>
        </p:nvSpPr>
        <p:spPr>
          <a:xfrm>
            <a:off x="5429250" y="4686300"/>
            <a:ext cx="5410200" cy="3810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CHRIST｜movement toward the future</a:t>
            </a:r>
          </a:p>
        </p:txBody>
      </p:sp>
      <p:sp>
        <p:nvSpPr>
          <p:cNvPr id="22" name="Rectangle 21">
            <a:extLst>
              <a:ext uri="{FF2B5EF4-FFF2-40B4-BE49-F238E27FC236}">
                <a16:creationId xmlns:a16="http://schemas.microsoft.com/office/drawing/2014/main" id="{923A5D5D-447D-456F-BD19-20D3E0358236}"/>
              </a:ext>
            </a:extLst>
          </p:cNvPr>
          <p:cNvSpPr>
            <a:spLocks noGrp="1"/>
          </p:cNvSpPr>
          <p:nvPr/>
        </p:nvSpPr>
        <p:spPr>
          <a:xfrm>
            <a:off x="5372100" y="5638800"/>
            <a:ext cx="5524500" cy="400050"/>
          </a:xfrm>
          <a:prstGeom prst="rect">
            <a:avLst/>
          </a:prstGeom>
          <a:noFill/>
          <a:ln w="0">
            <a:noFill/>
            <a:prstDash val="solid"/>
          </a:ln>
        </p:spPr>
        <p:txBody>
          <a:bodyPr anchor="t"/>
          <a:lstStyle/>
          <a:p>
            <a:pPr>
              <a:defRPr sz="1500" b="1" i="0">
                <a:solidFill>
                  <a:srgbClr val="C3944A"/>
                </a:solidFill>
              </a:defRPr>
            </a:pPr>
            <a:r>
              <a:rPr sz="1600" b="1" i="0" dirty="0">
                <a:solidFill>
                  <a:srgbClr val="C3944A"/>
                </a:solidFill>
              </a:rPr>
              <a:t>The generations are not aligned; they form a current.</a:t>
            </a:r>
          </a:p>
        </p:txBody>
      </p:sp>
    </p:spTree>
    <p:extLst>
      <p:ext uri="{BB962C8B-B14F-4D97-AF65-F5344CB8AC3E}">
        <p14:creationId xmlns:p14="http://schemas.microsoft.com/office/powerpoint/2010/main" val="148122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AFB43C2-2F15-405F-987D-A8A587DFB3AA}"/>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0FD0F98E-8FA4-490E-AFC4-8E58E9BABF14}"/>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Why Does an Impossible Pose Feel Natural?</a:t>
            </a:r>
          </a:p>
        </p:txBody>
      </p:sp>
      <p:sp>
        <p:nvSpPr>
          <p:cNvPr id="5" name="Rectangle 4">
            <a:extLst>
              <a:ext uri="{FF2B5EF4-FFF2-40B4-BE49-F238E27FC236}">
                <a16:creationId xmlns:a16="http://schemas.microsoft.com/office/drawing/2014/main" id="{3C9666F5-E6DC-4743-ACA3-6B94DA5B8306}"/>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B51C1A5E-2490-4ECD-8E69-395D1DD36F6D}"/>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04</a:t>
            </a:r>
          </a:p>
        </p:txBody>
      </p:sp>
      <p:sp>
        <p:nvSpPr>
          <p:cNvPr id="7" name="Rectangle 6">
            <a:extLst>
              <a:ext uri="{FF2B5EF4-FFF2-40B4-BE49-F238E27FC236}">
                <a16:creationId xmlns:a16="http://schemas.microsoft.com/office/drawing/2014/main" id="{EBE2C4EE-EC6B-40A7-850C-CBC0E48E3EA7}"/>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0C774492-636F-4764-B91B-4A3FD5FA06E1}"/>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Inside a stable pyramid, bodies rotate, lean, and reach.</a:t>
            </a:r>
          </a:p>
        </p:txBody>
      </p:sp>
      <p:pic>
        <p:nvPicPr>
          <p:cNvPr id="28" name="Picture 27"/>
          <p:cNvPicPr>
            <a:picLocks noChangeAspect="1"/>
          </p:cNvPicPr>
          <p:nvPr/>
        </p:nvPicPr>
        <p:blipFill>
          <a:blip r:embed="rId4"/>
          <a:stretch/>
        </p:blipFill>
        <p:spPr>
          <a:xfrm>
            <a:off x="893445" y="1504950"/>
            <a:ext cx="3680460" cy="4572000"/>
          </a:xfrm>
          <a:prstGeom prst="roundRect">
            <a:avLst>
              <a:gd name="adj" fmla="val 2740"/>
            </a:avLst>
          </a:prstGeom>
        </p:spPr>
      </p:pic>
      <p:sp>
        <p:nvSpPr>
          <p:cNvPr id="10" name="Rectangle 9">
            <a:extLst>
              <a:ext uri="{FF2B5EF4-FFF2-40B4-BE49-F238E27FC236}">
                <a16:creationId xmlns:a16="http://schemas.microsoft.com/office/drawing/2014/main" id="{96C31507-8A2D-44D2-B6F1-FA308DC4545B}"/>
              </a:ext>
            </a:extLst>
          </p:cNvPr>
          <p:cNvSpPr>
            <a:spLocks noGrp="1"/>
          </p:cNvSpPr>
          <p:nvPr/>
        </p:nvSpPr>
        <p:spPr>
          <a:xfrm>
            <a:off x="5505450" y="1847850"/>
            <a:ext cx="38100" cy="3143250"/>
          </a:xfrm>
          <a:prstGeom prst="rect">
            <a:avLst/>
          </a:prstGeom>
          <a:solidFill>
            <a:srgbClr val="C3944A"/>
          </a:solidFill>
          <a:ln w="0">
            <a:noFill/>
            <a:prstDash val="solid"/>
          </a:ln>
        </p:spPr>
        <p:txBody>
          <a:bodyPr/>
          <a:lstStyle/>
          <a:p>
            <a:endParaRPr lang="en-US" sz="3600"/>
          </a:p>
        </p:txBody>
      </p:sp>
      <p:sp>
        <p:nvSpPr>
          <p:cNvPr id="11" name="Rectangle 10">
            <a:extLst>
              <a:ext uri="{FF2B5EF4-FFF2-40B4-BE49-F238E27FC236}">
                <a16:creationId xmlns:a16="http://schemas.microsoft.com/office/drawing/2014/main" id="{38EA777C-B13A-422F-BEDD-CC9556EB0C4C}"/>
              </a:ext>
            </a:extLst>
          </p:cNvPr>
          <p:cNvSpPr>
            <a:spLocks noGrp="1"/>
          </p:cNvSpPr>
          <p:nvPr/>
        </p:nvSpPr>
        <p:spPr>
          <a:xfrm>
            <a:off x="5505450" y="1847850"/>
            <a:ext cx="4286250" cy="38100"/>
          </a:xfrm>
          <a:prstGeom prst="rect">
            <a:avLst/>
          </a:prstGeom>
          <a:solidFill>
            <a:srgbClr val="C3944A"/>
          </a:solidFill>
          <a:ln w="0">
            <a:noFill/>
            <a:prstDash val="solid"/>
          </a:ln>
        </p:spPr>
        <p:txBody>
          <a:bodyPr/>
          <a:lstStyle/>
          <a:p>
            <a:endParaRPr lang="en-US" sz="3600"/>
          </a:p>
        </p:txBody>
      </p:sp>
      <p:sp>
        <p:nvSpPr>
          <p:cNvPr id="12" name="Rectangle 11">
            <a:extLst>
              <a:ext uri="{FF2B5EF4-FFF2-40B4-BE49-F238E27FC236}">
                <a16:creationId xmlns:a16="http://schemas.microsoft.com/office/drawing/2014/main" id="{A3822DD7-D7F7-4584-AB81-3F86818EEB1F}"/>
              </a:ext>
            </a:extLst>
          </p:cNvPr>
          <p:cNvSpPr>
            <a:spLocks noGrp="1"/>
          </p:cNvSpPr>
          <p:nvPr/>
        </p:nvSpPr>
        <p:spPr>
          <a:xfrm>
            <a:off x="9753600" y="1847850"/>
            <a:ext cx="38100" cy="3143250"/>
          </a:xfrm>
          <a:prstGeom prst="rect">
            <a:avLst/>
          </a:prstGeom>
          <a:solidFill>
            <a:srgbClr val="C3944A"/>
          </a:solidFill>
          <a:ln w="0">
            <a:noFill/>
            <a:prstDash val="solid"/>
          </a:ln>
        </p:spPr>
        <p:txBody>
          <a:bodyPr/>
          <a:lstStyle/>
          <a:p>
            <a:endParaRPr lang="en-US" sz="3600"/>
          </a:p>
        </p:txBody>
      </p:sp>
      <p:sp>
        <p:nvSpPr>
          <p:cNvPr id="13" name="Rectangle: Rounded Corners 12">
            <a:extLst>
              <a:ext uri="{FF2B5EF4-FFF2-40B4-BE49-F238E27FC236}">
                <a16:creationId xmlns:a16="http://schemas.microsoft.com/office/drawing/2014/main" id="{ECA8F29F-34B2-4EC3-914C-260128ED3D19}"/>
              </a:ext>
            </a:extLst>
          </p:cNvPr>
          <p:cNvSpPr>
            <a:spLocks noGrp="1"/>
          </p:cNvSpPr>
          <p:nvPr/>
        </p:nvSpPr>
        <p:spPr>
          <a:xfrm>
            <a:off x="5981700" y="2095500"/>
            <a:ext cx="3276600" cy="685800"/>
          </a:xfrm>
          <a:prstGeom prst="roundRect">
            <a:avLst>
              <a:gd name="adj" fmla="val 16667"/>
            </a:avLst>
          </a:prstGeom>
          <a:solidFill>
            <a:srgbClr val="173534"/>
          </a:solidFill>
          <a:ln w="9525">
            <a:solidFill>
              <a:srgbClr val="C3944A"/>
            </a:solidFill>
            <a:prstDash val="solid"/>
          </a:ln>
        </p:spPr>
        <p:txBody>
          <a:bodyPr/>
          <a:lstStyle/>
          <a:p>
            <a:endParaRPr lang="en-US" sz="3600"/>
          </a:p>
        </p:txBody>
      </p:sp>
      <p:sp>
        <p:nvSpPr>
          <p:cNvPr id="14" name="Rectangle 13">
            <a:extLst>
              <a:ext uri="{FF2B5EF4-FFF2-40B4-BE49-F238E27FC236}">
                <a16:creationId xmlns:a16="http://schemas.microsoft.com/office/drawing/2014/main" id="{3A919E95-8C1D-4E26-8525-95F35142C73D}"/>
              </a:ext>
            </a:extLst>
          </p:cNvPr>
          <p:cNvSpPr>
            <a:spLocks noGrp="1"/>
          </p:cNvSpPr>
          <p:nvPr/>
        </p:nvSpPr>
        <p:spPr>
          <a:xfrm>
            <a:off x="6191250" y="2314575"/>
            <a:ext cx="2857500" cy="266700"/>
          </a:xfrm>
          <a:prstGeom prst="rect">
            <a:avLst/>
          </a:prstGeom>
          <a:noFill/>
          <a:ln w="0">
            <a:noFill/>
            <a:prstDash val="solid"/>
          </a:ln>
        </p:spPr>
        <p:txBody>
          <a:bodyPr anchor="t"/>
          <a:lstStyle/>
          <a:p>
            <a:pPr>
              <a:defRPr sz="1275" b="1" i="0">
                <a:solidFill>
                  <a:srgbClr val="FFFDF6"/>
                </a:solidFill>
              </a:defRPr>
            </a:pPr>
            <a:r>
              <a:rPr sz="1600" b="1" i="0">
                <a:solidFill>
                  <a:srgbClr val="FFFDF6"/>
                </a:solidFill>
              </a:rPr>
              <a:t>ANNE｜anchor</a:t>
            </a:r>
          </a:p>
        </p:txBody>
      </p:sp>
      <p:sp>
        <p:nvSpPr>
          <p:cNvPr id="15" name="Rectangle: Rounded Corners 14">
            <a:extLst>
              <a:ext uri="{FF2B5EF4-FFF2-40B4-BE49-F238E27FC236}">
                <a16:creationId xmlns:a16="http://schemas.microsoft.com/office/drawing/2014/main" id="{1098FD21-2275-428F-8770-77D73E7D29FD}"/>
              </a:ext>
            </a:extLst>
          </p:cNvPr>
          <p:cNvSpPr>
            <a:spLocks noGrp="1"/>
          </p:cNvSpPr>
          <p:nvPr/>
        </p:nvSpPr>
        <p:spPr>
          <a:xfrm>
            <a:off x="5981700" y="3086100"/>
            <a:ext cx="3276600" cy="685800"/>
          </a:xfrm>
          <a:prstGeom prst="roundRect">
            <a:avLst>
              <a:gd name="adj" fmla="val 16667"/>
            </a:avLst>
          </a:prstGeom>
          <a:solidFill>
            <a:srgbClr val="9A5B53"/>
          </a:solidFill>
          <a:ln w="9525">
            <a:solidFill>
              <a:srgbClr val="C3944A"/>
            </a:solidFill>
            <a:prstDash val="solid"/>
          </a:ln>
        </p:spPr>
        <p:txBody>
          <a:bodyPr/>
          <a:lstStyle/>
          <a:p>
            <a:endParaRPr lang="en-US" sz="3600"/>
          </a:p>
        </p:txBody>
      </p:sp>
      <p:sp>
        <p:nvSpPr>
          <p:cNvPr id="16" name="Rectangle 15">
            <a:extLst>
              <a:ext uri="{FF2B5EF4-FFF2-40B4-BE49-F238E27FC236}">
                <a16:creationId xmlns:a16="http://schemas.microsoft.com/office/drawing/2014/main" id="{9603A721-D3F2-4F45-9996-276C591227C1}"/>
              </a:ext>
            </a:extLst>
          </p:cNvPr>
          <p:cNvSpPr>
            <a:spLocks noGrp="1"/>
          </p:cNvSpPr>
          <p:nvPr/>
        </p:nvSpPr>
        <p:spPr>
          <a:xfrm>
            <a:off x="6191250" y="3305175"/>
            <a:ext cx="2857500" cy="266700"/>
          </a:xfrm>
          <a:prstGeom prst="rect">
            <a:avLst/>
          </a:prstGeom>
          <a:noFill/>
          <a:ln w="0">
            <a:noFill/>
            <a:prstDash val="solid"/>
          </a:ln>
        </p:spPr>
        <p:txBody>
          <a:bodyPr anchor="t"/>
          <a:lstStyle/>
          <a:p>
            <a:pPr>
              <a:defRPr sz="1275" b="1" i="0">
                <a:solidFill>
                  <a:srgbClr val="FFFDF6"/>
                </a:solidFill>
              </a:defRPr>
            </a:pPr>
            <a:r>
              <a:rPr sz="1600" b="1" i="0">
                <a:solidFill>
                  <a:srgbClr val="FFFDF6"/>
                </a:solidFill>
              </a:rPr>
              <a:t>MARY｜hinge</a:t>
            </a:r>
          </a:p>
        </p:txBody>
      </p:sp>
      <p:sp>
        <p:nvSpPr>
          <p:cNvPr id="17" name="Rectangle: Rounded Corners 16">
            <a:extLst>
              <a:ext uri="{FF2B5EF4-FFF2-40B4-BE49-F238E27FC236}">
                <a16:creationId xmlns:a16="http://schemas.microsoft.com/office/drawing/2014/main" id="{B6CE7CCE-C4AB-425D-BC5E-4492FC28ED42}"/>
              </a:ext>
            </a:extLst>
          </p:cNvPr>
          <p:cNvSpPr>
            <a:spLocks noGrp="1"/>
          </p:cNvSpPr>
          <p:nvPr/>
        </p:nvSpPr>
        <p:spPr>
          <a:xfrm>
            <a:off x="5981700" y="4076700"/>
            <a:ext cx="3276600" cy="685800"/>
          </a:xfrm>
          <a:prstGeom prst="roundRect">
            <a:avLst>
              <a:gd name="adj" fmla="val 16667"/>
            </a:avLst>
          </a:prstGeom>
          <a:solidFill>
            <a:srgbClr val="173534"/>
          </a:solidFill>
          <a:ln w="9525">
            <a:solidFill>
              <a:srgbClr val="C3944A"/>
            </a:solidFill>
            <a:prstDash val="solid"/>
          </a:ln>
        </p:spPr>
        <p:txBody>
          <a:bodyPr/>
          <a:lstStyle/>
          <a:p>
            <a:endParaRPr lang="en-US" sz="3600"/>
          </a:p>
        </p:txBody>
      </p:sp>
      <p:sp>
        <p:nvSpPr>
          <p:cNvPr id="18" name="Rectangle 17">
            <a:extLst>
              <a:ext uri="{FF2B5EF4-FFF2-40B4-BE49-F238E27FC236}">
                <a16:creationId xmlns:a16="http://schemas.microsoft.com/office/drawing/2014/main" id="{BA8F1BF6-C952-4CB4-9638-0385062B808C}"/>
              </a:ext>
            </a:extLst>
          </p:cNvPr>
          <p:cNvSpPr>
            <a:spLocks noGrp="1"/>
          </p:cNvSpPr>
          <p:nvPr/>
        </p:nvSpPr>
        <p:spPr>
          <a:xfrm>
            <a:off x="6191250" y="4295775"/>
            <a:ext cx="2857500" cy="266700"/>
          </a:xfrm>
          <a:prstGeom prst="rect">
            <a:avLst/>
          </a:prstGeom>
          <a:noFill/>
          <a:ln w="0">
            <a:noFill/>
            <a:prstDash val="solid"/>
          </a:ln>
        </p:spPr>
        <p:txBody>
          <a:bodyPr anchor="t"/>
          <a:lstStyle/>
          <a:p>
            <a:pPr>
              <a:defRPr sz="1275" b="1" i="0">
                <a:solidFill>
                  <a:srgbClr val="FFFDF6"/>
                </a:solidFill>
              </a:defRPr>
            </a:pPr>
            <a:r>
              <a:rPr sz="1600" b="1" i="0">
                <a:solidFill>
                  <a:srgbClr val="FFFDF6"/>
                </a:solidFill>
              </a:rPr>
              <a:t>CHRIST｜outward motion</a:t>
            </a:r>
          </a:p>
        </p:txBody>
      </p:sp>
      <p:sp>
        <p:nvSpPr>
          <p:cNvPr id="19" name="Rectangle 18">
            <a:extLst>
              <a:ext uri="{FF2B5EF4-FFF2-40B4-BE49-F238E27FC236}">
                <a16:creationId xmlns:a16="http://schemas.microsoft.com/office/drawing/2014/main" id="{3351186D-E586-4019-9D95-5D30641EFD28}"/>
              </a:ext>
            </a:extLst>
          </p:cNvPr>
          <p:cNvSpPr>
            <a:spLocks noGrp="1"/>
          </p:cNvSpPr>
          <p:nvPr/>
        </p:nvSpPr>
        <p:spPr>
          <a:xfrm>
            <a:off x="5772150" y="5238750"/>
            <a:ext cx="3733800" cy="342900"/>
          </a:xfrm>
          <a:prstGeom prst="rect">
            <a:avLst/>
          </a:prstGeom>
          <a:noFill/>
          <a:ln w="0">
            <a:noFill/>
            <a:prstDash val="solid"/>
          </a:ln>
        </p:spPr>
        <p:txBody>
          <a:bodyPr anchor="t"/>
          <a:lstStyle/>
          <a:p>
            <a:pPr>
              <a:defRPr sz="1425" b="1" i="0">
                <a:solidFill>
                  <a:srgbClr val="C3944A"/>
                </a:solidFill>
              </a:defRPr>
            </a:pPr>
            <a:r>
              <a:rPr sz="1600" b="1" i="0">
                <a:solidFill>
                  <a:srgbClr val="C3944A"/>
                </a:solidFill>
              </a:rPr>
              <a:t>STABLE SHAPE × CONTINUOUS MOTION</a:t>
            </a:r>
          </a:p>
        </p:txBody>
      </p:sp>
    </p:spTree>
    <p:extLst>
      <p:ext uri="{BB962C8B-B14F-4D97-AF65-F5344CB8AC3E}">
        <p14:creationId xmlns:p14="http://schemas.microsoft.com/office/powerpoint/2010/main" val="31670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B992D13-BC80-4381-8BB3-E6460B9FDD7B}"/>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E72A3A5B-2B01-47E6-AD1D-AAA918F51961}"/>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The Lamb: Play, Embrace, or Passion?</a:t>
            </a:r>
          </a:p>
        </p:txBody>
      </p:sp>
      <p:sp>
        <p:nvSpPr>
          <p:cNvPr id="5" name="Rectangle 4">
            <a:extLst>
              <a:ext uri="{FF2B5EF4-FFF2-40B4-BE49-F238E27FC236}">
                <a16:creationId xmlns:a16="http://schemas.microsoft.com/office/drawing/2014/main" id="{8A7694E0-38DE-4F37-98A4-B9313DFB2F9E}"/>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6062CB37-4B53-46FB-A90E-6EE7E447C93F}"/>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05</a:t>
            </a:r>
          </a:p>
        </p:txBody>
      </p:sp>
      <p:sp>
        <p:nvSpPr>
          <p:cNvPr id="7" name="Rectangle 6">
            <a:extLst>
              <a:ext uri="{FF2B5EF4-FFF2-40B4-BE49-F238E27FC236}">
                <a16:creationId xmlns:a16="http://schemas.microsoft.com/office/drawing/2014/main" id="{1E0EC276-B9DF-4F85-8CE5-502F695846C8}"/>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06947185-95E7-4F7E-9D99-B398302CA09A}"/>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Christ seems to play—and to embrace the symbol of future sacrifice.</a:t>
            </a:r>
          </a:p>
        </p:txBody>
      </p:sp>
      <p:pic>
        <p:nvPicPr>
          <p:cNvPr id="30" name="Picture 29"/>
          <p:cNvPicPr>
            <a:picLocks noChangeAspect="1"/>
          </p:cNvPicPr>
          <p:nvPr/>
        </p:nvPicPr>
        <p:blipFill>
          <a:blip r:embed="rId4"/>
          <a:srcRect t="21992" b="21992"/>
          <a:stretch>
            <a:fillRect/>
          </a:stretch>
        </p:blipFill>
        <p:spPr>
          <a:xfrm>
            <a:off x="590550" y="1524000"/>
            <a:ext cx="6096000" cy="4552950"/>
          </a:xfrm>
          <a:prstGeom prst="roundRect">
            <a:avLst>
              <a:gd name="adj" fmla="val 2510"/>
            </a:avLst>
          </a:prstGeom>
        </p:spPr>
      </p:pic>
      <p:sp>
        <p:nvSpPr>
          <p:cNvPr id="10" name="Rectangle: Rounded Corners 9">
            <a:extLst>
              <a:ext uri="{FF2B5EF4-FFF2-40B4-BE49-F238E27FC236}">
                <a16:creationId xmlns:a16="http://schemas.microsoft.com/office/drawing/2014/main" id="{DB4A8F74-A324-4197-8BD6-6C2F2D863EB1}"/>
              </a:ext>
            </a:extLst>
          </p:cNvPr>
          <p:cNvSpPr>
            <a:spLocks noGrp="1"/>
          </p:cNvSpPr>
          <p:nvPr/>
        </p:nvSpPr>
        <p:spPr>
          <a:xfrm>
            <a:off x="7124700" y="1695450"/>
            <a:ext cx="4057650" cy="990600"/>
          </a:xfrm>
          <a:prstGeom prst="roundRect">
            <a:avLst>
              <a:gd name="adj" fmla="val 11538"/>
            </a:avLst>
          </a:prstGeom>
          <a:solidFill>
            <a:srgbClr val="111411"/>
          </a:solidFill>
          <a:ln w="9525">
            <a:solidFill>
              <a:srgbClr val="6E695F"/>
            </a:solidFill>
            <a:prstDash val="solid"/>
          </a:ln>
        </p:spPr>
        <p:txBody>
          <a:bodyPr/>
          <a:lstStyle/>
          <a:p>
            <a:endParaRPr lang="en-US" sz="6600"/>
          </a:p>
        </p:txBody>
      </p:sp>
      <p:sp>
        <p:nvSpPr>
          <p:cNvPr id="11" name="Rectangle: Rounded Corners 10">
            <a:extLst>
              <a:ext uri="{FF2B5EF4-FFF2-40B4-BE49-F238E27FC236}">
                <a16:creationId xmlns:a16="http://schemas.microsoft.com/office/drawing/2014/main" id="{3C512DEF-F3F6-4724-878E-B1335D0D3C99}"/>
              </a:ext>
            </a:extLst>
          </p:cNvPr>
          <p:cNvSpPr>
            <a:spLocks noGrp="1"/>
          </p:cNvSpPr>
          <p:nvPr/>
        </p:nvSpPr>
        <p:spPr>
          <a:xfrm>
            <a:off x="7124700" y="1695450"/>
            <a:ext cx="57150" cy="990600"/>
          </a:xfrm>
          <a:prstGeom prst="roundRect">
            <a:avLst>
              <a:gd name="adj" fmla="val 50000"/>
            </a:avLst>
          </a:prstGeom>
          <a:solidFill>
            <a:srgbClr val="C3944A"/>
          </a:solidFill>
          <a:ln w="0">
            <a:noFill/>
            <a:prstDash val="solid"/>
          </a:ln>
        </p:spPr>
        <p:txBody>
          <a:bodyPr/>
          <a:lstStyle/>
          <a:p>
            <a:endParaRPr lang="en-US" sz="6600"/>
          </a:p>
        </p:txBody>
      </p:sp>
      <p:sp>
        <p:nvSpPr>
          <p:cNvPr id="12" name="Rectangle 11">
            <a:extLst>
              <a:ext uri="{FF2B5EF4-FFF2-40B4-BE49-F238E27FC236}">
                <a16:creationId xmlns:a16="http://schemas.microsoft.com/office/drawing/2014/main" id="{4D5853EC-B0F6-4889-B076-7E611AC7F084}"/>
              </a:ext>
            </a:extLst>
          </p:cNvPr>
          <p:cNvSpPr>
            <a:spLocks noGrp="1"/>
          </p:cNvSpPr>
          <p:nvPr/>
        </p:nvSpPr>
        <p:spPr>
          <a:xfrm>
            <a:off x="7334250" y="1847850"/>
            <a:ext cx="3657600" cy="266700"/>
          </a:xfrm>
          <a:prstGeom prst="rect">
            <a:avLst/>
          </a:prstGeom>
          <a:noFill/>
          <a:ln w="0">
            <a:noFill/>
            <a:prstDash val="solid"/>
          </a:ln>
        </p:spPr>
        <p:txBody>
          <a:bodyPr anchor="t"/>
          <a:lstStyle/>
          <a:p>
            <a:pPr>
              <a:defRPr sz="1350" b="1" i="0">
                <a:solidFill>
                  <a:srgbClr val="C3944A"/>
                </a:solidFill>
              </a:defRPr>
            </a:pPr>
            <a:r>
              <a:rPr sz="1600" b="1" i="0">
                <a:solidFill>
                  <a:srgbClr val="C3944A"/>
                </a:solidFill>
              </a:rPr>
              <a:t>01</a:t>
            </a:r>
          </a:p>
        </p:txBody>
      </p:sp>
      <p:sp>
        <p:nvSpPr>
          <p:cNvPr id="13" name="Rectangle 12">
            <a:extLst>
              <a:ext uri="{FF2B5EF4-FFF2-40B4-BE49-F238E27FC236}">
                <a16:creationId xmlns:a16="http://schemas.microsoft.com/office/drawing/2014/main" id="{E66EEED6-0393-4EC1-92AB-3FDC317EA5D4}"/>
              </a:ext>
            </a:extLst>
          </p:cNvPr>
          <p:cNvSpPr>
            <a:spLocks noGrp="1"/>
          </p:cNvSpPr>
          <p:nvPr/>
        </p:nvSpPr>
        <p:spPr>
          <a:xfrm>
            <a:off x="7334250" y="2190750"/>
            <a:ext cx="3657600" cy="40005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Childhood play</a:t>
            </a:r>
          </a:p>
        </p:txBody>
      </p:sp>
      <p:sp>
        <p:nvSpPr>
          <p:cNvPr id="14" name="Rectangle: Rounded Corners 13">
            <a:extLst>
              <a:ext uri="{FF2B5EF4-FFF2-40B4-BE49-F238E27FC236}">
                <a16:creationId xmlns:a16="http://schemas.microsoft.com/office/drawing/2014/main" id="{5B99165C-E8C8-4A24-8D4F-7B249D1BE4AC}"/>
              </a:ext>
            </a:extLst>
          </p:cNvPr>
          <p:cNvSpPr>
            <a:spLocks noGrp="1"/>
          </p:cNvSpPr>
          <p:nvPr/>
        </p:nvSpPr>
        <p:spPr>
          <a:xfrm>
            <a:off x="7124700" y="2914650"/>
            <a:ext cx="4057650" cy="990600"/>
          </a:xfrm>
          <a:prstGeom prst="roundRect">
            <a:avLst>
              <a:gd name="adj" fmla="val 11538"/>
            </a:avLst>
          </a:prstGeom>
          <a:solidFill>
            <a:srgbClr val="111411"/>
          </a:solidFill>
          <a:ln w="9525">
            <a:solidFill>
              <a:srgbClr val="6E695F"/>
            </a:solidFill>
            <a:prstDash val="solid"/>
          </a:ln>
        </p:spPr>
        <p:txBody>
          <a:bodyPr/>
          <a:lstStyle/>
          <a:p>
            <a:endParaRPr lang="en-US" sz="6600"/>
          </a:p>
        </p:txBody>
      </p:sp>
      <p:sp>
        <p:nvSpPr>
          <p:cNvPr id="15" name="Rectangle: Rounded Corners 14">
            <a:extLst>
              <a:ext uri="{FF2B5EF4-FFF2-40B4-BE49-F238E27FC236}">
                <a16:creationId xmlns:a16="http://schemas.microsoft.com/office/drawing/2014/main" id="{9D3D07E4-CBAF-4545-AB4C-EF3CFB357675}"/>
              </a:ext>
            </a:extLst>
          </p:cNvPr>
          <p:cNvSpPr>
            <a:spLocks noGrp="1"/>
          </p:cNvSpPr>
          <p:nvPr/>
        </p:nvSpPr>
        <p:spPr>
          <a:xfrm>
            <a:off x="7124700" y="2914650"/>
            <a:ext cx="57150" cy="990600"/>
          </a:xfrm>
          <a:prstGeom prst="roundRect">
            <a:avLst>
              <a:gd name="adj" fmla="val 50000"/>
            </a:avLst>
          </a:prstGeom>
          <a:solidFill>
            <a:srgbClr val="C3944A"/>
          </a:solidFill>
          <a:ln w="0">
            <a:noFill/>
            <a:prstDash val="solid"/>
          </a:ln>
        </p:spPr>
        <p:txBody>
          <a:bodyPr/>
          <a:lstStyle/>
          <a:p>
            <a:endParaRPr lang="en-US" sz="6600"/>
          </a:p>
        </p:txBody>
      </p:sp>
      <p:sp>
        <p:nvSpPr>
          <p:cNvPr id="16" name="Rectangle 15">
            <a:extLst>
              <a:ext uri="{FF2B5EF4-FFF2-40B4-BE49-F238E27FC236}">
                <a16:creationId xmlns:a16="http://schemas.microsoft.com/office/drawing/2014/main" id="{FEE8F4F6-8FFD-4B2F-A503-1A9A09F1B2CF}"/>
              </a:ext>
            </a:extLst>
          </p:cNvPr>
          <p:cNvSpPr>
            <a:spLocks noGrp="1"/>
          </p:cNvSpPr>
          <p:nvPr/>
        </p:nvSpPr>
        <p:spPr>
          <a:xfrm>
            <a:off x="7334250" y="3067050"/>
            <a:ext cx="3657600" cy="266700"/>
          </a:xfrm>
          <a:prstGeom prst="rect">
            <a:avLst/>
          </a:prstGeom>
          <a:noFill/>
          <a:ln w="0">
            <a:noFill/>
            <a:prstDash val="solid"/>
          </a:ln>
        </p:spPr>
        <p:txBody>
          <a:bodyPr anchor="t"/>
          <a:lstStyle/>
          <a:p>
            <a:pPr>
              <a:defRPr sz="1350" b="1" i="0">
                <a:solidFill>
                  <a:srgbClr val="C3944A"/>
                </a:solidFill>
              </a:defRPr>
            </a:pPr>
            <a:r>
              <a:rPr sz="1600" b="1" i="0">
                <a:solidFill>
                  <a:srgbClr val="C3944A"/>
                </a:solidFill>
              </a:rPr>
              <a:t>02</a:t>
            </a:r>
          </a:p>
        </p:txBody>
      </p:sp>
      <p:sp>
        <p:nvSpPr>
          <p:cNvPr id="17" name="Rectangle 16">
            <a:extLst>
              <a:ext uri="{FF2B5EF4-FFF2-40B4-BE49-F238E27FC236}">
                <a16:creationId xmlns:a16="http://schemas.microsoft.com/office/drawing/2014/main" id="{55D718E2-BC3A-4B34-B02A-8D3881063201}"/>
              </a:ext>
            </a:extLst>
          </p:cNvPr>
          <p:cNvSpPr>
            <a:spLocks noGrp="1"/>
          </p:cNvSpPr>
          <p:nvPr/>
        </p:nvSpPr>
        <p:spPr>
          <a:xfrm>
            <a:off x="7334250" y="3409950"/>
            <a:ext cx="3657600" cy="40005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The Lamb of God</a:t>
            </a:r>
          </a:p>
        </p:txBody>
      </p:sp>
      <p:sp>
        <p:nvSpPr>
          <p:cNvPr id="18" name="Rectangle: Rounded Corners 17">
            <a:extLst>
              <a:ext uri="{FF2B5EF4-FFF2-40B4-BE49-F238E27FC236}">
                <a16:creationId xmlns:a16="http://schemas.microsoft.com/office/drawing/2014/main" id="{02EDA7E7-3035-4D4C-8C43-9D26ACF2BE31}"/>
              </a:ext>
            </a:extLst>
          </p:cNvPr>
          <p:cNvSpPr>
            <a:spLocks noGrp="1"/>
          </p:cNvSpPr>
          <p:nvPr/>
        </p:nvSpPr>
        <p:spPr>
          <a:xfrm>
            <a:off x="7124700" y="4133850"/>
            <a:ext cx="4057650" cy="990600"/>
          </a:xfrm>
          <a:prstGeom prst="roundRect">
            <a:avLst>
              <a:gd name="adj" fmla="val 11538"/>
            </a:avLst>
          </a:prstGeom>
          <a:solidFill>
            <a:srgbClr val="111411"/>
          </a:solidFill>
          <a:ln w="9525">
            <a:solidFill>
              <a:srgbClr val="6E695F"/>
            </a:solidFill>
            <a:prstDash val="solid"/>
          </a:ln>
        </p:spPr>
        <p:txBody>
          <a:bodyPr/>
          <a:lstStyle/>
          <a:p>
            <a:endParaRPr lang="en-US" sz="6600"/>
          </a:p>
        </p:txBody>
      </p:sp>
      <p:sp>
        <p:nvSpPr>
          <p:cNvPr id="19" name="Rectangle: Rounded Corners 18">
            <a:extLst>
              <a:ext uri="{FF2B5EF4-FFF2-40B4-BE49-F238E27FC236}">
                <a16:creationId xmlns:a16="http://schemas.microsoft.com/office/drawing/2014/main" id="{233B1671-3B7D-4FA9-832A-BBE48341AC9C}"/>
              </a:ext>
            </a:extLst>
          </p:cNvPr>
          <p:cNvSpPr>
            <a:spLocks noGrp="1"/>
          </p:cNvSpPr>
          <p:nvPr/>
        </p:nvSpPr>
        <p:spPr>
          <a:xfrm>
            <a:off x="7124700" y="4133850"/>
            <a:ext cx="57150" cy="990600"/>
          </a:xfrm>
          <a:prstGeom prst="roundRect">
            <a:avLst>
              <a:gd name="adj" fmla="val 50000"/>
            </a:avLst>
          </a:prstGeom>
          <a:solidFill>
            <a:srgbClr val="9A5B53"/>
          </a:solidFill>
          <a:ln w="0">
            <a:noFill/>
            <a:prstDash val="solid"/>
          </a:ln>
        </p:spPr>
        <p:txBody>
          <a:bodyPr/>
          <a:lstStyle/>
          <a:p>
            <a:endParaRPr lang="en-US" sz="6600"/>
          </a:p>
        </p:txBody>
      </p:sp>
      <p:sp>
        <p:nvSpPr>
          <p:cNvPr id="20" name="Rectangle 19">
            <a:extLst>
              <a:ext uri="{FF2B5EF4-FFF2-40B4-BE49-F238E27FC236}">
                <a16:creationId xmlns:a16="http://schemas.microsoft.com/office/drawing/2014/main" id="{843A1732-8898-461E-885A-61FFF9A3BD35}"/>
              </a:ext>
            </a:extLst>
          </p:cNvPr>
          <p:cNvSpPr>
            <a:spLocks noGrp="1"/>
          </p:cNvSpPr>
          <p:nvPr/>
        </p:nvSpPr>
        <p:spPr>
          <a:xfrm>
            <a:off x="7334250" y="4286250"/>
            <a:ext cx="3657600" cy="266700"/>
          </a:xfrm>
          <a:prstGeom prst="rect">
            <a:avLst/>
          </a:prstGeom>
          <a:noFill/>
          <a:ln w="0">
            <a:noFill/>
            <a:prstDash val="solid"/>
          </a:ln>
        </p:spPr>
        <p:txBody>
          <a:bodyPr anchor="t"/>
          <a:lstStyle/>
          <a:p>
            <a:pPr>
              <a:defRPr sz="1350" b="1" i="0">
                <a:solidFill>
                  <a:srgbClr val="9A5B53"/>
                </a:solidFill>
              </a:defRPr>
            </a:pPr>
            <a:r>
              <a:rPr sz="1600" b="1" i="0">
                <a:solidFill>
                  <a:srgbClr val="9A5B53"/>
                </a:solidFill>
              </a:rPr>
              <a:t>03</a:t>
            </a:r>
          </a:p>
        </p:txBody>
      </p:sp>
      <p:sp>
        <p:nvSpPr>
          <p:cNvPr id="21" name="Rectangle 20">
            <a:extLst>
              <a:ext uri="{FF2B5EF4-FFF2-40B4-BE49-F238E27FC236}">
                <a16:creationId xmlns:a16="http://schemas.microsoft.com/office/drawing/2014/main" id="{CE2EA472-C89B-414F-A3DF-E2CACD3BA6A5}"/>
              </a:ext>
            </a:extLst>
          </p:cNvPr>
          <p:cNvSpPr>
            <a:spLocks noGrp="1"/>
          </p:cNvSpPr>
          <p:nvPr/>
        </p:nvSpPr>
        <p:spPr>
          <a:xfrm>
            <a:off x="7334250" y="4629150"/>
            <a:ext cx="3657600" cy="40005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A forecast of the Passion</a:t>
            </a:r>
          </a:p>
        </p:txBody>
      </p:sp>
    </p:spTree>
    <p:extLst>
      <p:ext uri="{BB962C8B-B14F-4D97-AF65-F5344CB8AC3E}">
        <p14:creationId xmlns:p14="http://schemas.microsoft.com/office/powerpoint/2010/main" val="181586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B496760-2B21-4013-BCFC-1D33F6351393}"/>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D4A22A41-B0FB-4128-BDC9-E56C92F494F0}"/>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Three Faces, Three Kinds of Time</a:t>
            </a:r>
          </a:p>
        </p:txBody>
      </p:sp>
      <p:sp>
        <p:nvSpPr>
          <p:cNvPr id="5" name="Rectangle 4">
            <a:extLst>
              <a:ext uri="{FF2B5EF4-FFF2-40B4-BE49-F238E27FC236}">
                <a16:creationId xmlns:a16="http://schemas.microsoft.com/office/drawing/2014/main" id="{8B33AA77-5F36-423F-8E45-ED98DFD955C5}"/>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FAA3AC61-462B-44C9-8A00-8FAF1BC6A80C}"/>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06</a:t>
            </a:r>
          </a:p>
        </p:txBody>
      </p:sp>
      <p:sp>
        <p:nvSpPr>
          <p:cNvPr id="7" name="Rectangle 6">
            <a:extLst>
              <a:ext uri="{FF2B5EF4-FFF2-40B4-BE49-F238E27FC236}">
                <a16:creationId xmlns:a16="http://schemas.microsoft.com/office/drawing/2014/main" id="{3F47A8A5-42F8-4830-9280-9C37687CA1BA}"/>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FA6E9BF4-3DED-4E60-B6A2-4EFD5C8FD313}"/>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Anne’s long order, Mary’s present tension, and Christ’s future movement.</a:t>
            </a:r>
          </a:p>
        </p:txBody>
      </p:sp>
      <p:pic>
        <p:nvPicPr>
          <p:cNvPr id="29" name="Picture 28"/>
          <p:cNvPicPr>
            <a:picLocks noChangeAspect="1"/>
          </p:cNvPicPr>
          <p:nvPr/>
        </p:nvPicPr>
        <p:blipFill>
          <a:blip r:embed="rId4"/>
          <a:srcRect t="13710" b="13710"/>
          <a:stretch>
            <a:fillRect/>
          </a:stretch>
        </p:blipFill>
        <p:spPr>
          <a:xfrm>
            <a:off x="514350" y="1676400"/>
            <a:ext cx="3543300" cy="2857500"/>
          </a:xfrm>
          <a:prstGeom prst="roundRect">
            <a:avLst>
              <a:gd name="adj" fmla="val 4000"/>
            </a:avLst>
          </a:prstGeom>
        </p:spPr>
      </p:pic>
      <p:sp>
        <p:nvSpPr>
          <p:cNvPr id="10" name="Rectangle: Rounded Corners 9">
            <a:extLst>
              <a:ext uri="{FF2B5EF4-FFF2-40B4-BE49-F238E27FC236}">
                <a16:creationId xmlns:a16="http://schemas.microsoft.com/office/drawing/2014/main" id="{01D7D5E2-C536-40DC-86C5-2E1FE6300C44}"/>
              </a:ext>
            </a:extLst>
          </p:cNvPr>
          <p:cNvSpPr>
            <a:spLocks noGrp="1"/>
          </p:cNvSpPr>
          <p:nvPr/>
        </p:nvSpPr>
        <p:spPr>
          <a:xfrm>
            <a:off x="666750" y="4210050"/>
            <a:ext cx="3238500" cy="342900"/>
          </a:xfrm>
          <a:prstGeom prst="roundRect">
            <a:avLst>
              <a:gd name="adj" fmla="val 33333"/>
            </a:avLst>
          </a:prstGeom>
          <a:solidFill>
            <a:srgbClr val="090C0B"/>
          </a:solidFill>
          <a:ln w="0">
            <a:noFill/>
            <a:prstDash val="solid"/>
          </a:ln>
        </p:spPr>
        <p:txBody>
          <a:bodyPr/>
          <a:lstStyle/>
          <a:p>
            <a:endParaRPr lang="en-US" sz="7200"/>
          </a:p>
        </p:txBody>
      </p:sp>
      <p:sp>
        <p:nvSpPr>
          <p:cNvPr id="11" name="Rectangle 10">
            <a:extLst>
              <a:ext uri="{FF2B5EF4-FFF2-40B4-BE49-F238E27FC236}">
                <a16:creationId xmlns:a16="http://schemas.microsoft.com/office/drawing/2014/main" id="{557ED383-6849-4FE6-AFCE-030107BF3D01}"/>
              </a:ext>
            </a:extLst>
          </p:cNvPr>
          <p:cNvSpPr>
            <a:spLocks noGrp="1"/>
          </p:cNvSpPr>
          <p:nvPr/>
        </p:nvSpPr>
        <p:spPr>
          <a:xfrm>
            <a:off x="742950" y="4240911"/>
            <a:ext cx="3086100" cy="190500"/>
          </a:xfrm>
          <a:prstGeom prst="rect">
            <a:avLst/>
          </a:prstGeom>
          <a:noFill/>
          <a:ln w="0">
            <a:noFill/>
            <a:prstDash val="solid"/>
          </a:ln>
        </p:spPr>
        <p:txBody>
          <a:bodyPr anchor="t"/>
          <a:lstStyle/>
          <a:p>
            <a:pPr>
              <a:defRPr sz="975" b="1" i="0">
                <a:solidFill>
                  <a:srgbClr val="C3944A"/>
                </a:solidFill>
              </a:defRPr>
            </a:pPr>
            <a:r>
              <a:rPr sz="1400" b="1" i="0" dirty="0">
                <a:solidFill>
                  <a:srgbClr val="C3944A"/>
                </a:solidFill>
              </a:rPr>
              <a:t>SAINT ANNE</a:t>
            </a:r>
          </a:p>
        </p:txBody>
      </p:sp>
      <p:sp>
        <p:nvSpPr>
          <p:cNvPr id="12" name="Rectangle 11">
            <a:extLst>
              <a:ext uri="{FF2B5EF4-FFF2-40B4-BE49-F238E27FC236}">
                <a16:creationId xmlns:a16="http://schemas.microsoft.com/office/drawing/2014/main" id="{A476531A-5582-47E5-9DD9-1FBF64010F4D}"/>
              </a:ext>
            </a:extLst>
          </p:cNvPr>
          <p:cNvSpPr>
            <a:spLocks noGrp="1"/>
          </p:cNvSpPr>
          <p:nvPr/>
        </p:nvSpPr>
        <p:spPr>
          <a:xfrm>
            <a:off x="723900" y="4800600"/>
            <a:ext cx="3124200" cy="590550"/>
          </a:xfrm>
          <a:prstGeom prst="rect">
            <a:avLst/>
          </a:prstGeom>
          <a:noFill/>
          <a:ln w="0">
            <a:noFill/>
            <a:prstDash val="solid"/>
          </a:ln>
        </p:spPr>
        <p:txBody>
          <a:bodyPr anchor="t"/>
          <a:lstStyle/>
          <a:p>
            <a:pPr>
              <a:defRPr sz="1275" b="0" i="0">
                <a:solidFill>
                  <a:srgbClr val="EFE4CF"/>
                </a:solidFill>
              </a:defRPr>
            </a:pPr>
            <a:r>
              <a:rPr b="0" i="0" dirty="0" err="1">
                <a:solidFill>
                  <a:srgbClr val="EFE4CF"/>
                </a:solidFill>
              </a:rPr>
              <a:t>ANNE｜calm</a:t>
            </a:r>
            <a:endParaRPr b="0" i="0" dirty="0">
              <a:solidFill>
                <a:srgbClr val="EFE4CF"/>
              </a:solidFill>
            </a:endParaRPr>
          </a:p>
        </p:txBody>
      </p:sp>
      <p:pic>
        <p:nvPicPr>
          <p:cNvPr id="33" name="Picture 32"/>
          <p:cNvPicPr>
            <a:picLocks noChangeAspect="1"/>
          </p:cNvPicPr>
          <p:nvPr/>
        </p:nvPicPr>
        <p:blipFill>
          <a:blip r:embed="rId5"/>
          <a:srcRect t="14260" b="14260"/>
          <a:stretch>
            <a:fillRect/>
          </a:stretch>
        </p:blipFill>
        <p:spPr>
          <a:xfrm>
            <a:off x="4400550" y="1676400"/>
            <a:ext cx="3543300" cy="2857500"/>
          </a:xfrm>
          <a:prstGeom prst="roundRect">
            <a:avLst>
              <a:gd name="adj" fmla="val 4000"/>
            </a:avLst>
          </a:prstGeom>
        </p:spPr>
      </p:pic>
      <p:sp>
        <p:nvSpPr>
          <p:cNvPr id="14" name="Rectangle: Rounded Corners 13">
            <a:extLst>
              <a:ext uri="{FF2B5EF4-FFF2-40B4-BE49-F238E27FC236}">
                <a16:creationId xmlns:a16="http://schemas.microsoft.com/office/drawing/2014/main" id="{236C82EA-2B80-454C-A5FF-87B2C4DD9CB0}"/>
              </a:ext>
            </a:extLst>
          </p:cNvPr>
          <p:cNvSpPr>
            <a:spLocks noGrp="1"/>
          </p:cNvSpPr>
          <p:nvPr/>
        </p:nvSpPr>
        <p:spPr>
          <a:xfrm>
            <a:off x="4552950" y="4210050"/>
            <a:ext cx="3238500" cy="342900"/>
          </a:xfrm>
          <a:prstGeom prst="roundRect">
            <a:avLst>
              <a:gd name="adj" fmla="val 33333"/>
            </a:avLst>
          </a:prstGeom>
          <a:solidFill>
            <a:srgbClr val="090C0B"/>
          </a:solidFill>
          <a:ln w="0">
            <a:noFill/>
            <a:prstDash val="solid"/>
          </a:ln>
        </p:spPr>
        <p:txBody>
          <a:bodyPr/>
          <a:lstStyle/>
          <a:p>
            <a:endParaRPr lang="en-US" sz="7200"/>
          </a:p>
        </p:txBody>
      </p:sp>
      <p:sp>
        <p:nvSpPr>
          <p:cNvPr id="15" name="Rectangle 14">
            <a:extLst>
              <a:ext uri="{FF2B5EF4-FFF2-40B4-BE49-F238E27FC236}">
                <a16:creationId xmlns:a16="http://schemas.microsoft.com/office/drawing/2014/main" id="{A02915E4-B54E-4485-BD15-59F8B676596A}"/>
              </a:ext>
            </a:extLst>
          </p:cNvPr>
          <p:cNvSpPr>
            <a:spLocks noGrp="1"/>
          </p:cNvSpPr>
          <p:nvPr/>
        </p:nvSpPr>
        <p:spPr>
          <a:xfrm>
            <a:off x="4629150" y="4240911"/>
            <a:ext cx="3086100" cy="190500"/>
          </a:xfrm>
          <a:prstGeom prst="rect">
            <a:avLst/>
          </a:prstGeom>
          <a:noFill/>
          <a:ln w="0">
            <a:noFill/>
            <a:prstDash val="solid"/>
          </a:ln>
        </p:spPr>
        <p:txBody>
          <a:bodyPr anchor="t"/>
          <a:lstStyle/>
          <a:p>
            <a:pPr>
              <a:defRPr sz="975" b="1" i="0">
                <a:solidFill>
                  <a:srgbClr val="C3944A"/>
                </a:solidFill>
              </a:defRPr>
            </a:pPr>
            <a:r>
              <a:rPr sz="1400" b="1" i="0" dirty="0">
                <a:solidFill>
                  <a:srgbClr val="C3944A"/>
                </a:solidFill>
              </a:rPr>
              <a:t>MARY</a:t>
            </a:r>
          </a:p>
        </p:txBody>
      </p:sp>
      <p:sp>
        <p:nvSpPr>
          <p:cNvPr id="16" name="Rectangle 15">
            <a:extLst>
              <a:ext uri="{FF2B5EF4-FFF2-40B4-BE49-F238E27FC236}">
                <a16:creationId xmlns:a16="http://schemas.microsoft.com/office/drawing/2014/main" id="{D0FC1DB8-C5F8-46DB-9305-7EDDE52B5999}"/>
              </a:ext>
            </a:extLst>
          </p:cNvPr>
          <p:cNvSpPr>
            <a:spLocks noGrp="1"/>
          </p:cNvSpPr>
          <p:nvPr/>
        </p:nvSpPr>
        <p:spPr>
          <a:xfrm>
            <a:off x="4610100" y="4800600"/>
            <a:ext cx="3124200" cy="590550"/>
          </a:xfrm>
          <a:prstGeom prst="rect">
            <a:avLst/>
          </a:prstGeom>
          <a:noFill/>
          <a:ln w="0">
            <a:noFill/>
            <a:prstDash val="solid"/>
          </a:ln>
        </p:spPr>
        <p:txBody>
          <a:bodyPr anchor="t"/>
          <a:lstStyle/>
          <a:p>
            <a:pPr>
              <a:defRPr sz="1275" b="0" i="0">
                <a:solidFill>
                  <a:srgbClr val="EFE4CF"/>
                </a:solidFill>
              </a:defRPr>
            </a:pPr>
            <a:r>
              <a:rPr b="0" i="0">
                <a:solidFill>
                  <a:srgbClr val="EFE4CF"/>
                </a:solidFill>
              </a:rPr>
              <a:t>MARY｜tenderness and anxiety</a:t>
            </a:r>
          </a:p>
        </p:txBody>
      </p:sp>
      <p:sp>
        <p:nvSpPr>
          <p:cNvPr id="20" name="Rectangle 19">
            <a:extLst>
              <a:ext uri="{FF2B5EF4-FFF2-40B4-BE49-F238E27FC236}">
                <a16:creationId xmlns:a16="http://schemas.microsoft.com/office/drawing/2014/main" id="{51C05407-3A69-4E94-9E02-7585EDEBBFE4}"/>
              </a:ext>
            </a:extLst>
          </p:cNvPr>
          <p:cNvSpPr>
            <a:spLocks noGrp="1"/>
          </p:cNvSpPr>
          <p:nvPr/>
        </p:nvSpPr>
        <p:spPr>
          <a:xfrm>
            <a:off x="8496300" y="4800600"/>
            <a:ext cx="3124200" cy="590550"/>
          </a:xfrm>
          <a:prstGeom prst="rect">
            <a:avLst/>
          </a:prstGeom>
          <a:noFill/>
          <a:ln w="0">
            <a:noFill/>
            <a:prstDash val="solid"/>
          </a:ln>
        </p:spPr>
        <p:txBody>
          <a:bodyPr anchor="t"/>
          <a:lstStyle/>
          <a:p>
            <a:pPr>
              <a:defRPr sz="1275" b="0" i="0">
                <a:solidFill>
                  <a:srgbClr val="EFE4CF"/>
                </a:solidFill>
              </a:defRPr>
            </a:pPr>
            <a:r>
              <a:rPr b="0" i="0">
                <a:solidFill>
                  <a:srgbClr val="EFE4CF"/>
                </a:solidFill>
              </a:rPr>
              <a:t>CHRIST｜looking back, moving on</a:t>
            </a:r>
          </a:p>
        </p:txBody>
      </p:sp>
      <p:pic>
        <p:nvPicPr>
          <p:cNvPr id="13" name="Picture 12">
            <a:extLst>
              <a:ext uri="{FF2B5EF4-FFF2-40B4-BE49-F238E27FC236}">
                <a16:creationId xmlns:a16="http://schemas.microsoft.com/office/drawing/2014/main" id="{207FE840-0459-51CF-7768-F630B8CD305D}"/>
              </a:ext>
            </a:extLst>
          </p:cNvPr>
          <p:cNvPicPr>
            <a:picLocks noChangeAspect="1"/>
          </p:cNvPicPr>
          <p:nvPr/>
        </p:nvPicPr>
        <p:blipFill>
          <a:blip r:embed="rId6"/>
          <a:stretch>
            <a:fillRect/>
          </a:stretch>
        </p:blipFill>
        <p:spPr>
          <a:xfrm>
            <a:off x="8319833" y="1661640"/>
            <a:ext cx="3477134" cy="2887020"/>
          </a:xfrm>
          <a:prstGeom prst="roundRect">
            <a:avLst>
              <a:gd name="adj" fmla="val 5582"/>
            </a:avLst>
          </a:prstGeom>
        </p:spPr>
      </p:pic>
      <p:sp>
        <p:nvSpPr>
          <p:cNvPr id="22" name="Rectangle: Rounded Corners 21">
            <a:extLst>
              <a:ext uri="{FF2B5EF4-FFF2-40B4-BE49-F238E27FC236}">
                <a16:creationId xmlns:a16="http://schemas.microsoft.com/office/drawing/2014/main" id="{82142FFA-1139-FC9F-5AB1-A7148933F124}"/>
              </a:ext>
            </a:extLst>
          </p:cNvPr>
          <p:cNvSpPr>
            <a:spLocks noGrp="1"/>
          </p:cNvSpPr>
          <p:nvPr/>
        </p:nvSpPr>
        <p:spPr>
          <a:xfrm>
            <a:off x="8439150" y="4210050"/>
            <a:ext cx="3238500" cy="342900"/>
          </a:xfrm>
          <a:prstGeom prst="roundRect">
            <a:avLst>
              <a:gd name="adj" fmla="val 33333"/>
            </a:avLst>
          </a:prstGeom>
          <a:solidFill>
            <a:srgbClr val="090C0B"/>
          </a:solidFill>
          <a:ln w="0">
            <a:noFill/>
            <a:prstDash val="solid"/>
          </a:ln>
        </p:spPr>
        <p:txBody>
          <a:bodyPr/>
          <a:lstStyle/>
          <a:p>
            <a:endParaRPr lang="en-US" sz="7200"/>
          </a:p>
        </p:txBody>
      </p:sp>
      <p:sp>
        <p:nvSpPr>
          <p:cNvPr id="24" name="Rectangle 23">
            <a:extLst>
              <a:ext uri="{FF2B5EF4-FFF2-40B4-BE49-F238E27FC236}">
                <a16:creationId xmlns:a16="http://schemas.microsoft.com/office/drawing/2014/main" id="{13D682AE-8A8A-DD6C-2BFC-F0868646BA44}"/>
              </a:ext>
            </a:extLst>
          </p:cNvPr>
          <p:cNvSpPr>
            <a:spLocks noGrp="1"/>
          </p:cNvSpPr>
          <p:nvPr/>
        </p:nvSpPr>
        <p:spPr>
          <a:xfrm>
            <a:off x="8515350" y="4240911"/>
            <a:ext cx="3086100" cy="190500"/>
          </a:xfrm>
          <a:prstGeom prst="rect">
            <a:avLst/>
          </a:prstGeom>
          <a:noFill/>
          <a:ln w="0">
            <a:noFill/>
            <a:prstDash val="solid"/>
          </a:ln>
        </p:spPr>
        <p:txBody>
          <a:bodyPr anchor="t"/>
          <a:lstStyle/>
          <a:p>
            <a:pPr>
              <a:defRPr sz="975" b="1" i="0">
                <a:solidFill>
                  <a:srgbClr val="C3944A"/>
                </a:solidFill>
              </a:defRPr>
            </a:pPr>
            <a:r>
              <a:rPr sz="1400" b="1" i="0" dirty="0">
                <a:solidFill>
                  <a:srgbClr val="C3944A"/>
                </a:solidFill>
              </a:rPr>
              <a:t>CHRIST</a:t>
            </a:r>
          </a:p>
        </p:txBody>
      </p:sp>
    </p:spTree>
    <p:extLst>
      <p:ext uri="{BB962C8B-B14F-4D97-AF65-F5344CB8AC3E}">
        <p14:creationId xmlns:p14="http://schemas.microsoft.com/office/powerpoint/2010/main" val="1602466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55041061-B177-45E9-AFD0-75FC87B0EE67}"/>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52822CC6-FC5F-48F2-8D67-B52A003A5697}"/>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Are There Really Only Three Legs?</a:t>
            </a:r>
          </a:p>
        </p:txBody>
      </p:sp>
      <p:sp>
        <p:nvSpPr>
          <p:cNvPr id="5" name="Rectangle 4">
            <a:extLst>
              <a:ext uri="{FF2B5EF4-FFF2-40B4-BE49-F238E27FC236}">
                <a16:creationId xmlns:a16="http://schemas.microsoft.com/office/drawing/2014/main" id="{660867AD-0871-4303-B0DD-E7F5115B8B28}"/>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248832AC-33CC-4BA1-B1C0-8B4F07157FB2}"/>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07</a:t>
            </a:r>
          </a:p>
        </p:txBody>
      </p:sp>
      <p:sp>
        <p:nvSpPr>
          <p:cNvPr id="7" name="Rectangle 6">
            <a:extLst>
              <a:ext uri="{FF2B5EF4-FFF2-40B4-BE49-F238E27FC236}">
                <a16:creationId xmlns:a16="http://schemas.microsoft.com/office/drawing/2014/main" id="{23BCC4E4-08EE-4A09-A6B0-CDFE6585E7CC}"/>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FCC76FAE-7450-4FD0-8AE8-B96B5C9E25F1}"/>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Overlapping drapery and unfinished paint explain more than a secret code.</a:t>
            </a:r>
          </a:p>
        </p:txBody>
      </p:sp>
      <p:pic>
        <p:nvPicPr>
          <p:cNvPr id="24" name="Picture 23"/>
          <p:cNvPicPr>
            <a:picLocks noChangeAspect="1"/>
          </p:cNvPicPr>
          <p:nvPr/>
        </p:nvPicPr>
        <p:blipFill>
          <a:blip r:embed="rId4"/>
          <a:srcRect t="12895" b="12895"/>
          <a:stretch>
            <a:fillRect/>
          </a:stretch>
        </p:blipFill>
        <p:spPr>
          <a:xfrm>
            <a:off x="590550" y="1562100"/>
            <a:ext cx="6191250" cy="4476750"/>
          </a:xfrm>
          <a:prstGeom prst="roundRect">
            <a:avLst>
              <a:gd name="adj" fmla="val 2553"/>
            </a:avLst>
          </a:prstGeom>
        </p:spPr>
      </p:pic>
      <p:sp>
        <p:nvSpPr>
          <p:cNvPr id="10" name="Rectangle: Rounded Corners 9">
            <a:extLst>
              <a:ext uri="{FF2B5EF4-FFF2-40B4-BE49-F238E27FC236}">
                <a16:creationId xmlns:a16="http://schemas.microsoft.com/office/drawing/2014/main" id="{5BA4E544-8068-40FF-BAC0-21A755B207FA}"/>
              </a:ext>
            </a:extLst>
          </p:cNvPr>
          <p:cNvSpPr>
            <a:spLocks noGrp="1"/>
          </p:cNvSpPr>
          <p:nvPr/>
        </p:nvSpPr>
        <p:spPr>
          <a:xfrm>
            <a:off x="7239000" y="1695450"/>
            <a:ext cx="4095750" cy="2457450"/>
          </a:xfrm>
          <a:prstGeom prst="roundRect">
            <a:avLst>
              <a:gd name="adj" fmla="val 4651"/>
            </a:avLst>
          </a:prstGeom>
          <a:solidFill>
            <a:srgbClr val="111411"/>
          </a:solidFill>
          <a:ln w="9525">
            <a:solidFill>
              <a:srgbClr val="6E695F"/>
            </a:solidFill>
            <a:prstDash val="solid"/>
          </a:ln>
        </p:spPr>
        <p:txBody>
          <a:bodyPr/>
          <a:lstStyle/>
          <a:p>
            <a:endParaRPr lang="en-US" sz="4400"/>
          </a:p>
        </p:txBody>
      </p:sp>
      <p:sp>
        <p:nvSpPr>
          <p:cNvPr id="11" name="Rectangle: Rounded Corners 10">
            <a:extLst>
              <a:ext uri="{FF2B5EF4-FFF2-40B4-BE49-F238E27FC236}">
                <a16:creationId xmlns:a16="http://schemas.microsoft.com/office/drawing/2014/main" id="{AD0E8087-A697-40F1-AFFC-431DA671F91F}"/>
              </a:ext>
            </a:extLst>
          </p:cNvPr>
          <p:cNvSpPr>
            <a:spLocks noGrp="1"/>
          </p:cNvSpPr>
          <p:nvPr/>
        </p:nvSpPr>
        <p:spPr>
          <a:xfrm>
            <a:off x="7239000" y="1695450"/>
            <a:ext cx="57150" cy="2457450"/>
          </a:xfrm>
          <a:prstGeom prst="roundRect">
            <a:avLst>
              <a:gd name="adj" fmla="val 50000"/>
            </a:avLst>
          </a:prstGeom>
          <a:solidFill>
            <a:srgbClr val="C3944A"/>
          </a:solidFill>
          <a:ln w="0">
            <a:noFill/>
            <a:prstDash val="solid"/>
          </a:ln>
        </p:spPr>
        <p:txBody>
          <a:bodyPr/>
          <a:lstStyle/>
          <a:p>
            <a:endParaRPr lang="en-US" sz="4400"/>
          </a:p>
        </p:txBody>
      </p:sp>
      <p:sp>
        <p:nvSpPr>
          <p:cNvPr id="12" name="Rectangle 11">
            <a:extLst>
              <a:ext uri="{FF2B5EF4-FFF2-40B4-BE49-F238E27FC236}">
                <a16:creationId xmlns:a16="http://schemas.microsoft.com/office/drawing/2014/main" id="{29A94E60-051E-4D45-A25F-5941DC630092}"/>
              </a:ext>
            </a:extLst>
          </p:cNvPr>
          <p:cNvSpPr>
            <a:spLocks noGrp="1"/>
          </p:cNvSpPr>
          <p:nvPr/>
        </p:nvSpPr>
        <p:spPr>
          <a:xfrm>
            <a:off x="7448550" y="1847850"/>
            <a:ext cx="3695700" cy="266700"/>
          </a:xfrm>
          <a:prstGeom prst="rect">
            <a:avLst/>
          </a:prstGeom>
          <a:noFill/>
          <a:ln w="0">
            <a:noFill/>
            <a:prstDash val="solid"/>
          </a:ln>
        </p:spPr>
        <p:txBody>
          <a:bodyPr anchor="t"/>
          <a:lstStyle/>
          <a:p>
            <a:pPr>
              <a:defRPr sz="1350" b="1" i="0">
                <a:solidFill>
                  <a:srgbClr val="C3944A"/>
                </a:solidFill>
              </a:defRPr>
            </a:pPr>
            <a:r>
              <a:rPr sz="1400" b="1" i="0">
                <a:solidFill>
                  <a:srgbClr val="C3944A"/>
                </a:solidFill>
              </a:rPr>
              <a:t>OBSERVE</a:t>
            </a:r>
          </a:p>
        </p:txBody>
      </p:sp>
      <p:sp>
        <p:nvSpPr>
          <p:cNvPr id="13" name="Rectangle 12">
            <a:extLst>
              <a:ext uri="{FF2B5EF4-FFF2-40B4-BE49-F238E27FC236}">
                <a16:creationId xmlns:a16="http://schemas.microsoft.com/office/drawing/2014/main" id="{08347B00-6E5E-49E5-9441-92342AD16AB2}"/>
              </a:ext>
            </a:extLst>
          </p:cNvPr>
          <p:cNvSpPr>
            <a:spLocks noGrp="1"/>
          </p:cNvSpPr>
          <p:nvPr/>
        </p:nvSpPr>
        <p:spPr>
          <a:xfrm>
            <a:off x="7448550" y="2190750"/>
            <a:ext cx="3695700" cy="18669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Readable legs</a:t>
            </a:r>
          </a:p>
          <a:p>
            <a:pPr>
              <a:defRPr sz="1163" b="0" i="0">
                <a:solidFill>
                  <a:srgbClr val="EFE4CF"/>
                </a:solidFill>
              </a:defRPr>
            </a:pPr>
            <a:r>
              <a:rPr sz="1600" b="0" i="0">
                <a:solidFill>
                  <a:srgbClr val="EFE4CF"/>
                </a:solidFill>
              </a:rPr>
              <a:t>Overlapping blue mantle</a:t>
            </a:r>
          </a:p>
          <a:p>
            <a:pPr>
              <a:defRPr sz="1163" b="0" i="0">
                <a:solidFill>
                  <a:srgbClr val="EFE4CF"/>
                </a:solidFill>
              </a:defRPr>
            </a:pPr>
            <a:r>
              <a:rPr sz="1600" b="0" i="0">
                <a:solidFill>
                  <a:srgbClr val="EFE4CF"/>
                </a:solidFill>
              </a:rPr>
              <a:t>Unresolved paint</a:t>
            </a:r>
          </a:p>
        </p:txBody>
      </p:sp>
      <p:sp>
        <p:nvSpPr>
          <p:cNvPr id="14" name="Rectangle: Rounded Corners 13">
            <a:extLst>
              <a:ext uri="{FF2B5EF4-FFF2-40B4-BE49-F238E27FC236}">
                <a16:creationId xmlns:a16="http://schemas.microsoft.com/office/drawing/2014/main" id="{CE4E096B-238D-46D7-8185-7151FE534CD7}"/>
              </a:ext>
            </a:extLst>
          </p:cNvPr>
          <p:cNvSpPr>
            <a:spLocks noGrp="1"/>
          </p:cNvSpPr>
          <p:nvPr/>
        </p:nvSpPr>
        <p:spPr>
          <a:xfrm>
            <a:off x="7239000" y="4400550"/>
            <a:ext cx="4095750" cy="1028700"/>
          </a:xfrm>
          <a:prstGeom prst="roundRect">
            <a:avLst>
              <a:gd name="adj" fmla="val 11111"/>
            </a:avLst>
          </a:prstGeom>
          <a:solidFill>
            <a:srgbClr val="9A5B53"/>
          </a:solidFill>
          <a:ln w="0">
            <a:noFill/>
            <a:prstDash val="solid"/>
          </a:ln>
        </p:spPr>
        <p:txBody>
          <a:bodyPr/>
          <a:lstStyle/>
          <a:p>
            <a:endParaRPr lang="en-US" sz="4400"/>
          </a:p>
        </p:txBody>
      </p:sp>
      <p:sp>
        <p:nvSpPr>
          <p:cNvPr id="15" name="Rectangle 14">
            <a:extLst>
              <a:ext uri="{FF2B5EF4-FFF2-40B4-BE49-F238E27FC236}">
                <a16:creationId xmlns:a16="http://schemas.microsoft.com/office/drawing/2014/main" id="{8409E378-B9B1-4946-B264-2894EC97F0E2}"/>
              </a:ext>
            </a:extLst>
          </p:cNvPr>
          <p:cNvSpPr>
            <a:spLocks noGrp="1"/>
          </p:cNvSpPr>
          <p:nvPr/>
        </p:nvSpPr>
        <p:spPr>
          <a:xfrm>
            <a:off x="7486650" y="4638675"/>
            <a:ext cx="3600450" cy="628650"/>
          </a:xfrm>
          <a:prstGeom prst="rect">
            <a:avLst/>
          </a:prstGeom>
          <a:noFill/>
          <a:ln w="0">
            <a:noFill/>
            <a:prstDash val="solid"/>
          </a:ln>
        </p:spPr>
        <p:txBody>
          <a:bodyPr anchor="t"/>
          <a:lstStyle/>
          <a:p>
            <a:pPr>
              <a:defRPr sz="1200" b="0" i="0">
                <a:solidFill>
                  <a:srgbClr val="FFFDF6"/>
                </a:solidFill>
              </a:defRPr>
            </a:pPr>
            <a:r>
              <a:rPr sz="1400" b="0" i="0">
                <a:solidFill>
                  <a:srgbClr val="FFFDF6"/>
                </a:solidFill>
              </a:rPr>
              <a:t>“Three legs = Trinity” is a later association, not a decoded secret.</a:t>
            </a:r>
          </a:p>
        </p:txBody>
      </p:sp>
    </p:spTree>
    <p:extLst>
      <p:ext uri="{BB962C8B-B14F-4D97-AF65-F5344CB8AC3E}">
        <p14:creationId xmlns:p14="http://schemas.microsoft.com/office/powerpoint/2010/main" val="1440337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39C12C6-6840-4EAE-95A2-0E6B204A79BE}"/>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76C3EECB-5FF5-451F-8C8E-667C2EB91BBA}"/>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Sfumato: Emotion Still Forming</a:t>
            </a:r>
          </a:p>
        </p:txBody>
      </p:sp>
      <p:sp>
        <p:nvSpPr>
          <p:cNvPr id="5" name="Rectangle 4">
            <a:extLst>
              <a:ext uri="{FF2B5EF4-FFF2-40B4-BE49-F238E27FC236}">
                <a16:creationId xmlns:a16="http://schemas.microsoft.com/office/drawing/2014/main" id="{FA314AF7-7D75-4BE9-9BF4-AADEF5153D78}"/>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08504716-E18F-40A3-BFE4-BF9086DD0B19}"/>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08</a:t>
            </a:r>
          </a:p>
        </p:txBody>
      </p:sp>
      <p:sp>
        <p:nvSpPr>
          <p:cNvPr id="7" name="Rectangle 6">
            <a:extLst>
              <a:ext uri="{FF2B5EF4-FFF2-40B4-BE49-F238E27FC236}">
                <a16:creationId xmlns:a16="http://schemas.microsoft.com/office/drawing/2014/main" id="{16F2A401-74AB-4B8F-A3DC-C9F9DA38A368}"/>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E8888DA2-AB89-4FC6-9DF4-D1C85A93A8A0}"/>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275" b="0" i="0">
                <a:solidFill>
                  <a:srgbClr val="EFE4CF"/>
                </a:solidFill>
              </a:rPr>
              <a:t>Edges dissolve into air, leaving emotion without a fixed verdict.</a:t>
            </a:r>
          </a:p>
        </p:txBody>
      </p:sp>
      <p:pic>
        <p:nvPicPr>
          <p:cNvPr id="23" name="Picture 22"/>
          <p:cNvPicPr>
            <a:picLocks noChangeAspect="1"/>
          </p:cNvPicPr>
          <p:nvPr/>
        </p:nvPicPr>
        <p:blipFill>
          <a:blip r:embed="rId4"/>
          <a:srcRect l="12519" r="12519"/>
          <a:stretch>
            <a:fillRect/>
          </a:stretch>
        </p:blipFill>
        <p:spPr>
          <a:xfrm>
            <a:off x="571500" y="1581150"/>
            <a:ext cx="6191250" cy="4267200"/>
          </a:xfrm>
          <a:prstGeom prst="roundRect">
            <a:avLst>
              <a:gd name="adj" fmla="val 2679"/>
            </a:avLst>
          </a:prstGeom>
        </p:spPr>
      </p:pic>
      <p:sp>
        <p:nvSpPr>
          <p:cNvPr id="10" name="Rectangle: Rounded Corners 9">
            <a:extLst>
              <a:ext uri="{FF2B5EF4-FFF2-40B4-BE49-F238E27FC236}">
                <a16:creationId xmlns:a16="http://schemas.microsoft.com/office/drawing/2014/main" id="{A5FE63A5-1340-4C70-BA3C-D9737EA913DB}"/>
              </a:ext>
            </a:extLst>
          </p:cNvPr>
          <p:cNvSpPr>
            <a:spLocks noGrp="1"/>
          </p:cNvSpPr>
          <p:nvPr/>
        </p:nvSpPr>
        <p:spPr>
          <a:xfrm>
            <a:off x="7181850" y="1676400"/>
            <a:ext cx="4095750" cy="2952750"/>
          </a:xfrm>
          <a:prstGeom prst="roundRect">
            <a:avLst>
              <a:gd name="adj" fmla="val 3871"/>
            </a:avLst>
          </a:prstGeom>
          <a:solidFill>
            <a:srgbClr val="111411"/>
          </a:solidFill>
          <a:ln w="9525">
            <a:solidFill>
              <a:srgbClr val="6E695F"/>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62D8A741-F677-48FD-83FF-828A739A92CD}"/>
              </a:ext>
            </a:extLst>
          </p:cNvPr>
          <p:cNvSpPr>
            <a:spLocks noGrp="1"/>
          </p:cNvSpPr>
          <p:nvPr/>
        </p:nvSpPr>
        <p:spPr>
          <a:xfrm>
            <a:off x="7181850" y="1676400"/>
            <a:ext cx="57150" cy="2952750"/>
          </a:xfrm>
          <a:prstGeom prst="roundRect">
            <a:avLst>
              <a:gd name="adj" fmla="val 50000"/>
            </a:avLst>
          </a:prstGeom>
          <a:solidFill>
            <a:srgbClr val="C3944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46A69B5-56B3-482F-BAB3-1462D26B323F}"/>
              </a:ext>
            </a:extLst>
          </p:cNvPr>
          <p:cNvSpPr>
            <a:spLocks noGrp="1"/>
          </p:cNvSpPr>
          <p:nvPr/>
        </p:nvSpPr>
        <p:spPr>
          <a:xfrm>
            <a:off x="7391400" y="1828800"/>
            <a:ext cx="3695700" cy="266700"/>
          </a:xfrm>
          <a:prstGeom prst="rect">
            <a:avLst/>
          </a:prstGeom>
          <a:noFill/>
          <a:ln w="0">
            <a:noFill/>
            <a:prstDash val="solid"/>
          </a:ln>
        </p:spPr>
        <p:txBody>
          <a:bodyPr anchor="t"/>
          <a:lstStyle/>
          <a:p>
            <a:pPr>
              <a:defRPr sz="1350" b="1" i="0">
                <a:solidFill>
                  <a:srgbClr val="C3944A"/>
                </a:solidFill>
              </a:defRPr>
            </a:pPr>
            <a:r>
              <a:rPr sz="1400" b="1" i="0">
                <a:solidFill>
                  <a:srgbClr val="C3944A"/>
                </a:solidFill>
              </a:rPr>
              <a:t>PAINTING THROUGH AIR</a:t>
            </a:r>
          </a:p>
        </p:txBody>
      </p:sp>
      <p:sp>
        <p:nvSpPr>
          <p:cNvPr id="13" name="Rectangle 12">
            <a:extLst>
              <a:ext uri="{FF2B5EF4-FFF2-40B4-BE49-F238E27FC236}">
                <a16:creationId xmlns:a16="http://schemas.microsoft.com/office/drawing/2014/main" id="{226AACA7-0AA4-47BE-A407-51FC802DAE0E}"/>
              </a:ext>
            </a:extLst>
          </p:cNvPr>
          <p:cNvSpPr>
            <a:spLocks noGrp="1"/>
          </p:cNvSpPr>
          <p:nvPr/>
        </p:nvSpPr>
        <p:spPr>
          <a:xfrm>
            <a:off x="7391400" y="2171700"/>
            <a:ext cx="3695700" cy="23622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SFUMATO｜weakened edges</a:t>
            </a:r>
          </a:p>
          <a:p>
            <a:pPr>
              <a:defRPr sz="1163" b="0" i="0">
                <a:solidFill>
                  <a:srgbClr val="EFE4CF"/>
                </a:solidFill>
              </a:defRPr>
            </a:pPr>
            <a:r>
              <a:rPr sz="1600" b="0" i="0">
                <a:solidFill>
                  <a:srgbClr val="EFE4CF"/>
                </a:solidFill>
              </a:rPr>
              <a:t>ATMOSPHERE｜blue distance</a:t>
            </a:r>
          </a:p>
          <a:p>
            <a:pPr>
              <a:defRPr sz="1163" b="0" i="0">
                <a:solidFill>
                  <a:srgbClr val="EFE4CF"/>
                </a:solidFill>
              </a:defRPr>
            </a:pPr>
            <a:r>
              <a:rPr sz="1600" b="0" i="0">
                <a:solidFill>
                  <a:srgbClr val="EFE4CF"/>
                </a:solidFill>
              </a:rPr>
              <a:t>EMOTION｜kept open</a:t>
            </a:r>
          </a:p>
        </p:txBody>
      </p:sp>
      <p:pic>
        <p:nvPicPr>
          <p:cNvPr id="28" name="Picture 27"/>
          <p:cNvPicPr>
            <a:picLocks noChangeAspect="1"/>
          </p:cNvPicPr>
          <p:nvPr/>
        </p:nvPicPr>
        <p:blipFill>
          <a:blip r:embed="rId5"/>
          <a:srcRect t="34759" b="34759"/>
          <a:stretch>
            <a:fillRect/>
          </a:stretch>
        </p:blipFill>
        <p:spPr>
          <a:xfrm>
            <a:off x="7448550" y="4857750"/>
            <a:ext cx="3562350" cy="1028700"/>
          </a:xfrm>
          <a:prstGeom prst="roundRect">
            <a:avLst>
              <a:gd name="adj" fmla="val 11111"/>
            </a:avLst>
          </a:prstGeom>
        </p:spPr>
      </p:pic>
    </p:spTree>
    <p:extLst>
      <p:ext uri="{BB962C8B-B14F-4D97-AF65-F5344CB8AC3E}">
        <p14:creationId xmlns:p14="http://schemas.microsoft.com/office/powerpoint/2010/main" val="1174673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DBEAE4D-A8EB-42DB-972C-B307A306686E}"/>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EB37FB5E-0AEF-4BF0-A614-F6194E3B5ECD}"/>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A Finished Masterpiece—and an Unfinished Painting</a:t>
            </a:r>
          </a:p>
        </p:txBody>
      </p:sp>
      <p:sp>
        <p:nvSpPr>
          <p:cNvPr id="5" name="Rectangle 4">
            <a:extLst>
              <a:ext uri="{FF2B5EF4-FFF2-40B4-BE49-F238E27FC236}">
                <a16:creationId xmlns:a16="http://schemas.microsoft.com/office/drawing/2014/main" id="{1168378F-5939-4AF5-8ECA-21FE3CE3FB1A}"/>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0B407721-BAD9-42FB-A958-F664B2366F72}"/>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09</a:t>
            </a:r>
          </a:p>
        </p:txBody>
      </p:sp>
      <p:sp>
        <p:nvSpPr>
          <p:cNvPr id="7" name="Rectangle 6">
            <a:extLst>
              <a:ext uri="{FF2B5EF4-FFF2-40B4-BE49-F238E27FC236}">
                <a16:creationId xmlns:a16="http://schemas.microsoft.com/office/drawing/2014/main" id="{4323D465-73A0-4001-AD70-98A7BA541257}"/>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C78EFC7B-6318-4C80-B047-36EC45BC3577}"/>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Different levels of finish preserve thought inside the paint.</a:t>
            </a:r>
          </a:p>
        </p:txBody>
      </p:sp>
      <p:pic>
        <p:nvPicPr>
          <p:cNvPr id="25" name="Picture 24"/>
          <p:cNvPicPr>
            <a:picLocks noChangeAspect="1"/>
          </p:cNvPicPr>
          <p:nvPr/>
        </p:nvPicPr>
        <p:blipFill>
          <a:blip r:embed="rId4"/>
          <a:srcRect l="25194" r="25194"/>
          <a:stretch>
            <a:fillRect/>
          </a:stretch>
        </p:blipFill>
        <p:spPr>
          <a:xfrm>
            <a:off x="552450" y="1581150"/>
            <a:ext cx="5429250" cy="4286250"/>
          </a:xfrm>
          <a:prstGeom prst="roundRect">
            <a:avLst>
              <a:gd name="adj" fmla="val 2667"/>
            </a:avLst>
          </a:prstGeom>
        </p:spPr>
      </p:pic>
      <p:pic>
        <p:nvPicPr>
          <p:cNvPr id="26" name="Picture 25"/>
          <p:cNvPicPr>
            <a:picLocks noChangeAspect="1"/>
          </p:cNvPicPr>
          <p:nvPr/>
        </p:nvPicPr>
        <p:blipFill>
          <a:blip r:embed="rId5"/>
          <a:srcRect t="22917" b="22917"/>
          <a:stretch>
            <a:fillRect/>
          </a:stretch>
        </p:blipFill>
        <p:spPr>
          <a:xfrm>
            <a:off x="6286500" y="1581150"/>
            <a:ext cx="5219700" cy="2609850"/>
          </a:xfrm>
          <a:prstGeom prst="roundRect">
            <a:avLst>
              <a:gd name="adj" fmla="val 4380"/>
            </a:avLst>
          </a:prstGeom>
        </p:spPr>
      </p:pic>
      <p:sp>
        <p:nvSpPr>
          <p:cNvPr id="11" name="Rectangle: Rounded Corners 10">
            <a:extLst>
              <a:ext uri="{FF2B5EF4-FFF2-40B4-BE49-F238E27FC236}">
                <a16:creationId xmlns:a16="http://schemas.microsoft.com/office/drawing/2014/main" id="{C7B9CAA6-7ECF-4078-889E-0BF753F04006}"/>
              </a:ext>
            </a:extLst>
          </p:cNvPr>
          <p:cNvSpPr>
            <a:spLocks noGrp="1"/>
          </p:cNvSpPr>
          <p:nvPr/>
        </p:nvSpPr>
        <p:spPr>
          <a:xfrm>
            <a:off x="704850" y="5334000"/>
            <a:ext cx="5048250" cy="342900"/>
          </a:xfrm>
          <a:prstGeom prst="roundRect">
            <a:avLst>
              <a:gd name="adj" fmla="val 33333"/>
            </a:avLst>
          </a:prstGeom>
          <a:solidFill>
            <a:srgbClr val="090C0B"/>
          </a:solidFill>
          <a:ln w="0">
            <a:noFill/>
            <a:prstDash val="solid"/>
          </a:ln>
        </p:spPr>
        <p:txBody>
          <a:bodyPr/>
          <a:lstStyle/>
          <a:p>
            <a:endParaRPr lang="en-US" sz="6600"/>
          </a:p>
        </p:txBody>
      </p:sp>
      <p:sp>
        <p:nvSpPr>
          <p:cNvPr id="12" name="Rectangle 11">
            <a:extLst>
              <a:ext uri="{FF2B5EF4-FFF2-40B4-BE49-F238E27FC236}">
                <a16:creationId xmlns:a16="http://schemas.microsoft.com/office/drawing/2014/main" id="{007ACE46-E6F2-4FA4-9BB4-A749B15B7350}"/>
              </a:ext>
            </a:extLst>
          </p:cNvPr>
          <p:cNvSpPr>
            <a:spLocks noGrp="1"/>
          </p:cNvSpPr>
          <p:nvPr/>
        </p:nvSpPr>
        <p:spPr>
          <a:xfrm>
            <a:off x="781050" y="5362575"/>
            <a:ext cx="4895850" cy="190500"/>
          </a:xfrm>
          <a:prstGeom prst="rect">
            <a:avLst/>
          </a:prstGeom>
          <a:noFill/>
          <a:ln w="0">
            <a:noFill/>
            <a:prstDash val="solid"/>
          </a:ln>
        </p:spPr>
        <p:txBody>
          <a:bodyPr anchor="t"/>
          <a:lstStyle/>
          <a:p>
            <a:pPr>
              <a:defRPr sz="975" b="1" i="0">
                <a:solidFill>
                  <a:srgbClr val="9A5B53"/>
                </a:solidFill>
              </a:defRPr>
            </a:pPr>
            <a:r>
              <a:rPr sz="1200" b="1" i="0" dirty="0">
                <a:solidFill>
                  <a:srgbClr val="9A5B53"/>
                </a:solidFill>
              </a:rPr>
              <a:t>LANDSCAPE STILL FORMING</a:t>
            </a:r>
          </a:p>
        </p:txBody>
      </p:sp>
      <p:sp>
        <p:nvSpPr>
          <p:cNvPr id="13" name="Rectangle: Rounded Corners 12">
            <a:extLst>
              <a:ext uri="{FF2B5EF4-FFF2-40B4-BE49-F238E27FC236}">
                <a16:creationId xmlns:a16="http://schemas.microsoft.com/office/drawing/2014/main" id="{46DE13D5-1AA0-4828-A619-8DC550B6CA88}"/>
              </a:ext>
            </a:extLst>
          </p:cNvPr>
          <p:cNvSpPr>
            <a:spLocks noGrp="1"/>
          </p:cNvSpPr>
          <p:nvPr/>
        </p:nvSpPr>
        <p:spPr>
          <a:xfrm>
            <a:off x="6286500" y="4438650"/>
            <a:ext cx="5219700" cy="1390650"/>
          </a:xfrm>
          <a:prstGeom prst="roundRect">
            <a:avLst>
              <a:gd name="adj" fmla="val 8219"/>
            </a:avLst>
          </a:prstGeom>
          <a:solidFill>
            <a:srgbClr val="111411"/>
          </a:solidFill>
          <a:ln w="9525">
            <a:solidFill>
              <a:srgbClr val="6E695F"/>
            </a:solidFill>
            <a:prstDash val="solid"/>
          </a:ln>
        </p:spPr>
        <p:txBody>
          <a:bodyPr/>
          <a:lstStyle/>
          <a:p>
            <a:endParaRPr lang="en-US" sz="6600"/>
          </a:p>
        </p:txBody>
      </p:sp>
      <p:sp>
        <p:nvSpPr>
          <p:cNvPr id="14" name="Rectangle: Rounded Corners 13">
            <a:extLst>
              <a:ext uri="{FF2B5EF4-FFF2-40B4-BE49-F238E27FC236}">
                <a16:creationId xmlns:a16="http://schemas.microsoft.com/office/drawing/2014/main" id="{F1CDF615-3CB1-4DCC-A6B9-3F7485C8345E}"/>
              </a:ext>
            </a:extLst>
          </p:cNvPr>
          <p:cNvSpPr>
            <a:spLocks noGrp="1"/>
          </p:cNvSpPr>
          <p:nvPr/>
        </p:nvSpPr>
        <p:spPr>
          <a:xfrm>
            <a:off x="6286500" y="4438650"/>
            <a:ext cx="57150" cy="1390650"/>
          </a:xfrm>
          <a:prstGeom prst="roundRect">
            <a:avLst>
              <a:gd name="adj" fmla="val 50000"/>
            </a:avLst>
          </a:prstGeom>
          <a:solidFill>
            <a:srgbClr val="C3944A"/>
          </a:solidFill>
          <a:ln w="0">
            <a:noFill/>
            <a:prstDash val="solid"/>
          </a:ln>
        </p:spPr>
        <p:txBody>
          <a:bodyPr/>
          <a:lstStyle/>
          <a:p>
            <a:endParaRPr lang="en-US" sz="6600"/>
          </a:p>
        </p:txBody>
      </p:sp>
      <p:sp>
        <p:nvSpPr>
          <p:cNvPr id="15" name="Rectangle 14">
            <a:extLst>
              <a:ext uri="{FF2B5EF4-FFF2-40B4-BE49-F238E27FC236}">
                <a16:creationId xmlns:a16="http://schemas.microsoft.com/office/drawing/2014/main" id="{F86F3252-BEBC-4C16-990F-0E5D77371013}"/>
              </a:ext>
            </a:extLst>
          </p:cNvPr>
          <p:cNvSpPr>
            <a:spLocks noGrp="1"/>
          </p:cNvSpPr>
          <p:nvPr/>
        </p:nvSpPr>
        <p:spPr>
          <a:xfrm>
            <a:off x="6496050" y="4591050"/>
            <a:ext cx="4819650" cy="266700"/>
          </a:xfrm>
          <a:prstGeom prst="rect">
            <a:avLst/>
          </a:prstGeom>
          <a:noFill/>
          <a:ln w="0">
            <a:noFill/>
            <a:prstDash val="solid"/>
          </a:ln>
        </p:spPr>
        <p:txBody>
          <a:bodyPr anchor="t"/>
          <a:lstStyle/>
          <a:p>
            <a:pPr>
              <a:defRPr sz="1350" b="1" i="0">
                <a:solidFill>
                  <a:srgbClr val="C3944A"/>
                </a:solidFill>
              </a:defRPr>
            </a:pPr>
            <a:r>
              <a:rPr sz="1600" b="1" i="0">
                <a:solidFill>
                  <a:srgbClr val="C3944A"/>
                </a:solidFill>
              </a:rPr>
              <a:t>DIFFERENT STAGES</a:t>
            </a:r>
          </a:p>
        </p:txBody>
      </p:sp>
      <p:sp>
        <p:nvSpPr>
          <p:cNvPr id="16" name="Rectangle 15">
            <a:extLst>
              <a:ext uri="{FF2B5EF4-FFF2-40B4-BE49-F238E27FC236}">
                <a16:creationId xmlns:a16="http://schemas.microsoft.com/office/drawing/2014/main" id="{90582E85-2A63-49BE-9882-B33CFFA6F767}"/>
              </a:ext>
            </a:extLst>
          </p:cNvPr>
          <p:cNvSpPr>
            <a:spLocks noGrp="1"/>
          </p:cNvSpPr>
          <p:nvPr/>
        </p:nvSpPr>
        <p:spPr>
          <a:xfrm>
            <a:off x="6496050" y="4933950"/>
            <a:ext cx="4819650" cy="8001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REFINED｜faces and hands</a:t>
            </a:r>
          </a:p>
          <a:p>
            <a:pPr>
              <a:defRPr sz="1163" b="0" i="0">
                <a:solidFill>
                  <a:srgbClr val="EFE4CF"/>
                </a:solidFill>
              </a:defRPr>
            </a:pPr>
            <a:r>
              <a:rPr sz="1600" b="0" i="0">
                <a:solidFill>
                  <a:srgbClr val="EFE4CF"/>
                </a:solidFill>
              </a:rPr>
              <a:t>ROUGH｜landscape and foreground</a:t>
            </a:r>
          </a:p>
          <a:p>
            <a:pPr>
              <a:defRPr sz="1163" b="0" i="0">
                <a:solidFill>
                  <a:srgbClr val="EFE4CF"/>
                </a:solidFill>
              </a:defRPr>
            </a:pPr>
            <a:r>
              <a:rPr sz="1600" b="0" i="0">
                <a:solidFill>
                  <a:srgbClr val="EFE4CF"/>
                </a:solidFill>
              </a:rPr>
              <a:t>REVISED｜drapery, hair, gesture</a:t>
            </a:r>
          </a:p>
        </p:txBody>
      </p:sp>
    </p:spTree>
    <p:extLst>
      <p:ext uri="{BB962C8B-B14F-4D97-AF65-F5344CB8AC3E}">
        <p14:creationId xmlns:p14="http://schemas.microsoft.com/office/powerpoint/2010/main" val="105318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8041728-466A-42A6-A221-D74FE458E637}"/>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6B78609C-6941-4B99-B6E6-4F856030FC30}"/>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Who Commissioned It? Two Stories Lack Proof</a:t>
            </a:r>
          </a:p>
        </p:txBody>
      </p:sp>
      <p:sp>
        <p:nvSpPr>
          <p:cNvPr id="5" name="Rectangle 4">
            <a:extLst>
              <a:ext uri="{FF2B5EF4-FFF2-40B4-BE49-F238E27FC236}">
                <a16:creationId xmlns:a16="http://schemas.microsoft.com/office/drawing/2014/main" id="{CDA65A09-F0E3-44FF-B0EA-1D2EA688C761}"/>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4400"/>
          </a:p>
        </p:txBody>
      </p:sp>
      <p:sp>
        <p:nvSpPr>
          <p:cNvPr id="6" name="Rectangle 5">
            <a:extLst>
              <a:ext uri="{FF2B5EF4-FFF2-40B4-BE49-F238E27FC236}">
                <a16:creationId xmlns:a16="http://schemas.microsoft.com/office/drawing/2014/main" id="{A61D8C23-499C-4D74-A1D6-27493EEEBD7B}"/>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10</a:t>
            </a:r>
          </a:p>
        </p:txBody>
      </p:sp>
      <p:sp>
        <p:nvSpPr>
          <p:cNvPr id="7" name="Rectangle 6">
            <a:extLst>
              <a:ext uri="{FF2B5EF4-FFF2-40B4-BE49-F238E27FC236}">
                <a16:creationId xmlns:a16="http://schemas.microsoft.com/office/drawing/2014/main" id="{42FD21B5-8070-4500-AF2F-A009D62237EF}"/>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a:p>
        </p:txBody>
      </p:sp>
      <p:sp>
        <p:nvSpPr>
          <p:cNvPr id="8" name="Rectangle 7">
            <a:extLst>
              <a:ext uri="{FF2B5EF4-FFF2-40B4-BE49-F238E27FC236}">
                <a16:creationId xmlns:a16="http://schemas.microsoft.com/office/drawing/2014/main" id="{73B1E117-39A1-4715-BACC-0CCD4BEF8C2B}"/>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400" b="0" i="0">
                <a:solidFill>
                  <a:srgbClr val="EFE4CF"/>
                </a:solidFill>
              </a:rPr>
              <a:t>The religious context is clear; the original contract for this panel is not.</a:t>
            </a:r>
          </a:p>
        </p:txBody>
      </p:sp>
      <p:pic>
        <p:nvPicPr>
          <p:cNvPr id="27" name="Picture 26"/>
          <p:cNvPicPr>
            <a:picLocks noChangeAspect="1"/>
          </p:cNvPicPr>
          <p:nvPr/>
        </p:nvPicPr>
        <p:blipFill>
          <a:blip r:embed="rId4"/>
          <a:stretch/>
        </p:blipFill>
        <p:spPr>
          <a:xfrm>
            <a:off x="666750" y="1769343"/>
            <a:ext cx="3086100" cy="3833665"/>
          </a:xfrm>
          <a:prstGeom prst="roundRect">
            <a:avLst>
              <a:gd name="adj" fmla="val 3704"/>
            </a:avLst>
          </a:prstGeom>
        </p:spPr>
      </p:pic>
      <p:sp>
        <p:nvSpPr>
          <p:cNvPr id="10" name="Rectangle: Rounded Corners 9">
            <a:extLst>
              <a:ext uri="{FF2B5EF4-FFF2-40B4-BE49-F238E27FC236}">
                <a16:creationId xmlns:a16="http://schemas.microsoft.com/office/drawing/2014/main" id="{5B0C62CC-C116-4FC1-B27F-C2EDAEDC85C6}"/>
              </a:ext>
            </a:extLst>
          </p:cNvPr>
          <p:cNvSpPr>
            <a:spLocks noGrp="1"/>
          </p:cNvSpPr>
          <p:nvPr/>
        </p:nvSpPr>
        <p:spPr>
          <a:xfrm>
            <a:off x="4229100" y="1695450"/>
            <a:ext cx="3333750" cy="2952750"/>
          </a:xfrm>
          <a:prstGeom prst="roundRect">
            <a:avLst>
              <a:gd name="adj" fmla="val 3871"/>
            </a:avLst>
          </a:prstGeom>
          <a:solidFill>
            <a:srgbClr val="111411"/>
          </a:solidFill>
          <a:ln w="9525">
            <a:solidFill>
              <a:srgbClr val="6E695F"/>
            </a:solidFill>
            <a:prstDash val="solid"/>
          </a:ln>
        </p:spPr>
        <p:txBody>
          <a:bodyPr/>
          <a:lstStyle/>
          <a:p>
            <a:endParaRPr lang="en-US" sz="4400"/>
          </a:p>
        </p:txBody>
      </p:sp>
      <p:sp>
        <p:nvSpPr>
          <p:cNvPr id="11" name="Rectangle: Rounded Corners 10">
            <a:extLst>
              <a:ext uri="{FF2B5EF4-FFF2-40B4-BE49-F238E27FC236}">
                <a16:creationId xmlns:a16="http://schemas.microsoft.com/office/drawing/2014/main" id="{B89EE3FE-8DCF-437B-BDD7-EDD182FE0BDC}"/>
              </a:ext>
            </a:extLst>
          </p:cNvPr>
          <p:cNvSpPr>
            <a:spLocks noGrp="1"/>
          </p:cNvSpPr>
          <p:nvPr/>
        </p:nvSpPr>
        <p:spPr>
          <a:xfrm>
            <a:off x="4229100" y="1695450"/>
            <a:ext cx="57150" cy="2952750"/>
          </a:xfrm>
          <a:prstGeom prst="roundRect">
            <a:avLst>
              <a:gd name="adj" fmla="val 50000"/>
            </a:avLst>
          </a:prstGeom>
          <a:solidFill>
            <a:srgbClr val="C3944A"/>
          </a:solidFill>
          <a:ln w="0">
            <a:noFill/>
            <a:prstDash val="solid"/>
          </a:ln>
        </p:spPr>
        <p:txBody>
          <a:bodyPr/>
          <a:lstStyle/>
          <a:p>
            <a:endParaRPr lang="en-US" sz="4400"/>
          </a:p>
        </p:txBody>
      </p:sp>
      <p:sp>
        <p:nvSpPr>
          <p:cNvPr id="12" name="Rectangle 11">
            <a:extLst>
              <a:ext uri="{FF2B5EF4-FFF2-40B4-BE49-F238E27FC236}">
                <a16:creationId xmlns:a16="http://schemas.microsoft.com/office/drawing/2014/main" id="{C844718F-8143-489B-8A6D-0DCF07FD63F1}"/>
              </a:ext>
            </a:extLst>
          </p:cNvPr>
          <p:cNvSpPr>
            <a:spLocks noGrp="1"/>
          </p:cNvSpPr>
          <p:nvPr/>
        </p:nvSpPr>
        <p:spPr>
          <a:xfrm>
            <a:off x="4438650" y="1847850"/>
            <a:ext cx="2933700" cy="266700"/>
          </a:xfrm>
          <a:prstGeom prst="rect">
            <a:avLst/>
          </a:prstGeom>
          <a:noFill/>
          <a:ln w="0">
            <a:noFill/>
            <a:prstDash val="solid"/>
          </a:ln>
        </p:spPr>
        <p:txBody>
          <a:bodyPr anchor="t"/>
          <a:lstStyle/>
          <a:p>
            <a:pPr>
              <a:defRPr sz="1350" b="1" i="0">
                <a:solidFill>
                  <a:srgbClr val="C3944A"/>
                </a:solidFill>
              </a:defRPr>
            </a:pPr>
            <a:r>
              <a:rPr sz="1400" b="1" i="0">
                <a:solidFill>
                  <a:srgbClr val="C3944A"/>
                </a:solidFill>
              </a:rPr>
              <a:t>FLORENTINE CONTEXT</a:t>
            </a:r>
          </a:p>
        </p:txBody>
      </p:sp>
      <p:sp>
        <p:nvSpPr>
          <p:cNvPr id="13" name="Rectangle 12">
            <a:extLst>
              <a:ext uri="{FF2B5EF4-FFF2-40B4-BE49-F238E27FC236}">
                <a16:creationId xmlns:a16="http://schemas.microsoft.com/office/drawing/2014/main" id="{88BA5C98-28AB-44A3-8D5D-0722D90BE1DA}"/>
              </a:ext>
            </a:extLst>
          </p:cNvPr>
          <p:cNvSpPr>
            <a:spLocks noGrp="1"/>
          </p:cNvSpPr>
          <p:nvPr/>
        </p:nvSpPr>
        <p:spPr>
          <a:xfrm>
            <a:off x="4438650" y="2190750"/>
            <a:ext cx="2933700" cy="23622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SANTISSIMA ANNUNZIATA｜context</a:t>
            </a:r>
          </a:p>
          <a:p>
            <a:pPr>
              <a:defRPr sz="1163" b="0" i="0">
                <a:solidFill>
                  <a:srgbClr val="EFE4CF"/>
                </a:solidFill>
              </a:defRPr>
            </a:pPr>
            <a:r>
              <a:rPr sz="1600" b="0" i="0">
                <a:solidFill>
                  <a:srgbClr val="EFE4CF"/>
                </a:solidFill>
              </a:rPr>
              <a:t>LOUIS XII｜older theory</a:t>
            </a:r>
          </a:p>
        </p:txBody>
      </p:sp>
      <p:sp>
        <p:nvSpPr>
          <p:cNvPr id="14" name="Rectangle: Rounded Corners 13">
            <a:extLst>
              <a:ext uri="{FF2B5EF4-FFF2-40B4-BE49-F238E27FC236}">
                <a16:creationId xmlns:a16="http://schemas.microsoft.com/office/drawing/2014/main" id="{3DC0A042-0EF5-49E0-A13B-151192CA220D}"/>
              </a:ext>
            </a:extLst>
          </p:cNvPr>
          <p:cNvSpPr>
            <a:spLocks noGrp="1"/>
          </p:cNvSpPr>
          <p:nvPr/>
        </p:nvSpPr>
        <p:spPr>
          <a:xfrm>
            <a:off x="7905750" y="1695450"/>
            <a:ext cx="3333750" cy="2952750"/>
          </a:xfrm>
          <a:prstGeom prst="roundRect">
            <a:avLst>
              <a:gd name="adj" fmla="val 3871"/>
            </a:avLst>
          </a:prstGeom>
          <a:solidFill>
            <a:srgbClr val="111411"/>
          </a:solidFill>
          <a:ln w="9525">
            <a:solidFill>
              <a:srgbClr val="6E695F"/>
            </a:solidFill>
            <a:prstDash val="solid"/>
          </a:ln>
        </p:spPr>
        <p:txBody>
          <a:bodyPr/>
          <a:lstStyle/>
          <a:p>
            <a:endParaRPr lang="en-US" sz="4400"/>
          </a:p>
        </p:txBody>
      </p:sp>
      <p:sp>
        <p:nvSpPr>
          <p:cNvPr id="15" name="Rectangle: Rounded Corners 14">
            <a:extLst>
              <a:ext uri="{FF2B5EF4-FFF2-40B4-BE49-F238E27FC236}">
                <a16:creationId xmlns:a16="http://schemas.microsoft.com/office/drawing/2014/main" id="{92B0C586-E50D-456D-8D6A-CC59E7630BA8}"/>
              </a:ext>
            </a:extLst>
          </p:cNvPr>
          <p:cNvSpPr>
            <a:spLocks noGrp="1"/>
          </p:cNvSpPr>
          <p:nvPr/>
        </p:nvSpPr>
        <p:spPr>
          <a:xfrm>
            <a:off x="7905750" y="1695450"/>
            <a:ext cx="57150" cy="2952750"/>
          </a:xfrm>
          <a:prstGeom prst="roundRect">
            <a:avLst>
              <a:gd name="adj" fmla="val 50000"/>
            </a:avLst>
          </a:prstGeom>
          <a:solidFill>
            <a:srgbClr val="9A5B53"/>
          </a:solidFill>
          <a:ln w="0">
            <a:noFill/>
            <a:prstDash val="solid"/>
          </a:ln>
        </p:spPr>
        <p:txBody>
          <a:bodyPr/>
          <a:lstStyle/>
          <a:p>
            <a:endParaRPr lang="en-US" sz="4400"/>
          </a:p>
        </p:txBody>
      </p:sp>
      <p:sp>
        <p:nvSpPr>
          <p:cNvPr id="16" name="Rectangle 15">
            <a:extLst>
              <a:ext uri="{FF2B5EF4-FFF2-40B4-BE49-F238E27FC236}">
                <a16:creationId xmlns:a16="http://schemas.microsoft.com/office/drawing/2014/main" id="{62CEFEDB-F634-4389-A175-83F23B3946AF}"/>
              </a:ext>
            </a:extLst>
          </p:cNvPr>
          <p:cNvSpPr>
            <a:spLocks noGrp="1"/>
          </p:cNvSpPr>
          <p:nvPr/>
        </p:nvSpPr>
        <p:spPr>
          <a:xfrm>
            <a:off x="8115300" y="1847850"/>
            <a:ext cx="2933700" cy="266700"/>
          </a:xfrm>
          <a:prstGeom prst="rect">
            <a:avLst/>
          </a:prstGeom>
          <a:noFill/>
          <a:ln w="0">
            <a:noFill/>
            <a:prstDash val="solid"/>
          </a:ln>
        </p:spPr>
        <p:txBody>
          <a:bodyPr anchor="t"/>
          <a:lstStyle/>
          <a:p>
            <a:pPr>
              <a:defRPr sz="1350" b="1" i="0">
                <a:solidFill>
                  <a:srgbClr val="9A5B53"/>
                </a:solidFill>
              </a:defRPr>
            </a:pPr>
            <a:r>
              <a:rPr sz="1400" b="1" i="0">
                <a:solidFill>
                  <a:srgbClr val="9A5B53"/>
                </a:solidFill>
              </a:rPr>
              <a:t>LIMIT OF EVIDENCE</a:t>
            </a:r>
          </a:p>
        </p:txBody>
      </p:sp>
      <p:sp>
        <p:nvSpPr>
          <p:cNvPr id="17" name="Rectangle 16">
            <a:extLst>
              <a:ext uri="{FF2B5EF4-FFF2-40B4-BE49-F238E27FC236}">
                <a16:creationId xmlns:a16="http://schemas.microsoft.com/office/drawing/2014/main" id="{18F36043-17A3-4B94-8086-11A78641B0C9}"/>
              </a:ext>
            </a:extLst>
          </p:cNvPr>
          <p:cNvSpPr>
            <a:spLocks noGrp="1"/>
          </p:cNvSpPr>
          <p:nvPr/>
        </p:nvSpPr>
        <p:spPr>
          <a:xfrm>
            <a:off x="8115300" y="2190750"/>
            <a:ext cx="2933700" cy="23622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DIRECT CONTRACT｜none found</a:t>
            </a:r>
          </a:p>
        </p:txBody>
      </p:sp>
      <p:sp>
        <p:nvSpPr>
          <p:cNvPr id="18" name="Rectangle 17">
            <a:extLst>
              <a:ext uri="{FF2B5EF4-FFF2-40B4-BE49-F238E27FC236}">
                <a16:creationId xmlns:a16="http://schemas.microsoft.com/office/drawing/2014/main" id="{CD2F7CE5-E78C-4B63-86B1-FCD2529DFD8A}"/>
              </a:ext>
            </a:extLst>
          </p:cNvPr>
          <p:cNvSpPr>
            <a:spLocks noGrp="1"/>
          </p:cNvSpPr>
          <p:nvPr/>
        </p:nvSpPr>
        <p:spPr>
          <a:xfrm>
            <a:off x="4343400" y="5067300"/>
            <a:ext cx="6762750" cy="438150"/>
          </a:xfrm>
          <a:prstGeom prst="rect">
            <a:avLst/>
          </a:prstGeom>
          <a:noFill/>
          <a:ln w="0">
            <a:noFill/>
            <a:prstDash val="solid"/>
          </a:ln>
        </p:spPr>
        <p:txBody>
          <a:bodyPr anchor="t"/>
          <a:lstStyle/>
          <a:p>
            <a:pPr>
              <a:defRPr sz="1800" b="1" i="0">
                <a:solidFill>
                  <a:srgbClr val="C3944A"/>
                </a:solidFill>
              </a:defRPr>
            </a:pPr>
            <a:r>
              <a:rPr sz="1600" b="1" i="0" dirty="0">
                <a:solidFill>
                  <a:srgbClr val="C3944A"/>
                </a:solidFill>
              </a:rPr>
              <a:t>CONTEXT IS NOT A CONTRACT.</a:t>
            </a:r>
            <a:endParaRPr sz="4400" b="1" i="0" dirty="0">
              <a:solidFill>
                <a:srgbClr val="C3944A"/>
              </a:solidFill>
            </a:endParaRPr>
          </a:p>
        </p:txBody>
      </p:sp>
    </p:spTree>
    <p:extLst>
      <p:ext uri="{BB962C8B-B14F-4D97-AF65-F5344CB8AC3E}">
        <p14:creationId xmlns:p14="http://schemas.microsoft.com/office/powerpoint/2010/main" val="194636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73A1AE4-3500-4FDC-A6CE-1AEDAEF4517E}"/>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95734DB1-69DD-44DE-900C-B162EE040FCA}"/>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Not One Cartoon, but Several Possible Roads</a:t>
            </a:r>
          </a:p>
        </p:txBody>
      </p:sp>
      <p:sp>
        <p:nvSpPr>
          <p:cNvPr id="5" name="Rectangle 4">
            <a:extLst>
              <a:ext uri="{FF2B5EF4-FFF2-40B4-BE49-F238E27FC236}">
                <a16:creationId xmlns:a16="http://schemas.microsoft.com/office/drawing/2014/main" id="{E3657A41-E85C-4F17-8D25-C03E8B4ED72E}"/>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3600"/>
          </a:p>
        </p:txBody>
      </p:sp>
      <p:sp>
        <p:nvSpPr>
          <p:cNvPr id="6" name="Rectangle 5">
            <a:extLst>
              <a:ext uri="{FF2B5EF4-FFF2-40B4-BE49-F238E27FC236}">
                <a16:creationId xmlns:a16="http://schemas.microsoft.com/office/drawing/2014/main" id="{76EFF2C7-029C-4FCA-9641-A1BACF9A5A5C}"/>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11</a:t>
            </a:r>
          </a:p>
        </p:txBody>
      </p:sp>
      <p:sp>
        <p:nvSpPr>
          <p:cNvPr id="7" name="Rectangle 6">
            <a:extLst>
              <a:ext uri="{FF2B5EF4-FFF2-40B4-BE49-F238E27FC236}">
                <a16:creationId xmlns:a16="http://schemas.microsoft.com/office/drawing/2014/main" id="{AD960C33-DDB9-498F-BF74-A18258761C4F}"/>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3600"/>
          </a:p>
        </p:txBody>
      </p:sp>
      <p:sp>
        <p:nvSpPr>
          <p:cNvPr id="8" name="Rectangle 7">
            <a:extLst>
              <a:ext uri="{FF2B5EF4-FFF2-40B4-BE49-F238E27FC236}">
                <a16:creationId xmlns:a16="http://schemas.microsoft.com/office/drawing/2014/main" id="{541AA0EB-0ADD-4E3A-84AE-CC7A66FA788F}"/>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Cartoon, lost design, and panel do not form one simple sequence.</a:t>
            </a:r>
          </a:p>
        </p:txBody>
      </p:sp>
      <p:pic>
        <p:nvPicPr>
          <p:cNvPr id="28" name="Picture 27"/>
          <p:cNvPicPr>
            <a:picLocks noChangeAspect="1"/>
          </p:cNvPicPr>
          <p:nvPr/>
        </p:nvPicPr>
        <p:blipFill>
          <a:blip r:embed="rId4"/>
          <a:stretch/>
        </p:blipFill>
        <p:spPr>
          <a:xfrm>
            <a:off x="693158" y="1657350"/>
            <a:ext cx="2785634" cy="3695700"/>
          </a:xfrm>
          <a:prstGeom prst="roundRect">
            <a:avLst>
              <a:gd name="adj" fmla="val 3636"/>
            </a:avLst>
          </a:prstGeom>
        </p:spPr>
      </p:pic>
      <p:pic>
        <p:nvPicPr>
          <p:cNvPr id="29" name="Picture 28"/>
          <p:cNvPicPr>
            <a:picLocks noChangeAspect="1"/>
          </p:cNvPicPr>
          <p:nvPr/>
        </p:nvPicPr>
        <p:blipFill>
          <a:blip r:embed="rId5"/>
          <a:stretch/>
        </p:blipFill>
        <p:spPr>
          <a:xfrm>
            <a:off x="8534400" y="1730355"/>
            <a:ext cx="2857500" cy="3549689"/>
          </a:xfrm>
          <a:prstGeom prst="roundRect">
            <a:avLst>
              <a:gd name="adj" fmla="val 4000"/>
            </a:avLst>
          </a:prstGeom>
        </p:spPr>
      </p:pic>
      <p:sp>
        <p:nvSpPr>
          <p:cNvPr id="11" name="Rectangle: Rounded Corners 10">
            <a:extLst>
              <a:ext uri="{FF2B5EF4-FFF2-40B4-BE49-F238E27FC236}">
                <a16:creationId xmlns:a16="http://schemas.microsoft.com/office/drawing/2014/main" id="{615DDCE0-3D7F-4DED-85BC-19725D6768B3}"/>
              </a:ext>
            </a:extLst>
          </p:cNvPr>
          <p:cNvSpPr>
            <a:spLocks noGrp="1"/>
          </p:cNvSpPr>
          <p:nvPr/>
        </p:nvSpPr>
        <p:spPr>
          <a:xfrm>
            <a:off x="4114800" y="1657350"/>
            <a:ext cx="3962400" cy="3695700"/>
          </a:xfrm>
          <a:prstGeom prst="roundRect">
            <a:avLst>
              <a:gd name="adj" fmla="val 3093"/>
            </a:avLst>
          </a:prstGeom>
          <a:solidFill>
            <a:srgbClr val="090C0B"/>
          </a:solidFill>
          <a:ln w="19050">
            <a:solidFill>
              <a:srgbClr val="C3944A"/>
            </a:solidFill>
            <a:prstDash val="solid"/>
          </a:ln>
        </p:spPr>
        <p:txBody>
          <a:bodyPr/>
          <a:lstStyle/>
          <a:p>
            <a:endParaRPr lang="en-US" sz="3600"/>
          </a:p>
        </p:txBody>
      </p:sp>
      <p:sp>
        <p:nvSpPr>
          <p:cNvPr id="12" name="Rectangle 11">
            <a:extLst>
              <a:ext uri="{FF2B5EF4-FFF2-40B4-BE49-F238E27FC236}">
                <a16:creationId xmlns:a16="http://schemas.microsoft.com/office/drawing/2014/main" id="{E4CB6D92-E80F-4B90-A0EF-B2554E8C00C9}"/>
              </a:ext>
            </a:extLst>
          </p:cNvPr>
          <p:cNvSpPr>
            <a:spLocks noGrp="1"/>
          </p:cNvSpPr>
          <p:nvPr/>
        </p:nvSpPr>
        <p:spPr>
          <a:xfrm>
            <a:off x="4972050" y="2724150"/>
            <a:ext cx="2247900" cy="571500"/>
          </a:xfrm>
          <a:prstGeom prst="rect">
            <a:avLst/>
          </a:prstGeom>
          <a:noFill/>
          <a:ln w="0">
            <a:noFill/>
            <a:prstDash val="solid"/>
          </a:ln>
        </p:spPr>
        <p:txBody>
          <a:bodyPr anchor="t"/>
          <a:lstStyle/>
          <a:p>
            <a:pPr>
              <a:defRPr sz="2850" b="1" i="0">
                <a:solidFill>
                  <a:srgbClr val="C3944A"/>
                </a:solidFill>
              </a:defRPr>
            </a:pPr>
            <a:r>
              <a:rPr sz="4800" b="1" i="0">
                <a:solidFill>
                  <a:srgbClr val="C3944A"/>
                </a:solidFill>
              </a:rPr>
              <a:t>LOST</a:t>
            </a:r>
          </a:p>
        </p:txBody>
      </p:sp>
      <p:sp>
        <p:nvSpPr>
          <p:cNvPr id="13" name="Rectangle 12">
            <a:extLst>
              <a:ext uri="{FF2B5EF4-FFF2-40B4-BE49-F238E27FC236}">
                <a16:creationId xmlns:a16="http://schemas.microsoft.com/office/drawing/2014/main" id="{FAE0696A-6F6A-4B48-9935-83915708E482}"/>
              </a:ext>
            </a:extLst>
          </p:cNvPr>
          <p:cNvSpPr>
            <a:spLocks noGrp="1"/>
          </p:cNvSpPr>
          <p:nvPr/>
        </p:nvSpPr>
        <p:spPr>
          <a:xfrm>
            <a:off x="4493133" y="3488890"/>
            <a:ext cx="3205734" cy="704850"/>
          </a:xfrm>
          <a:prstGeom prst="rect">
            <a:avLst/>
          </a:prstGeom>
          <a:noFill/>
          <a:ln w="0">
            <a:noFill/>
            <a:prstDash val="solid"/>
          </a:ln>
        </p:spPr>
        <p:txBody>
          <a:bodyPr anchor="t"/>
          <a:lstStyle/>
          <a:p>
            <a:pPr>
              <a:defRPr sz="1275" b="0" i="0">
                <a:solidFill>
                  <a:srgbClr val="EFE4CF"/>
                </a:solidFill>
              </a:defRPr>
            </a:pPr>
            <a:r>
              <a:rPr sz="1600" b="0" i="0" dirty="0">
                <a:solidFill>
                  <a:srgbClr val="EFE4CF"/>
                </a:solidFill>
              </a:rPr>
              <a:t>The lamb cartoon described in 1501</a:t>
            </a:r>
          </a:p>
        </p:txBody>
      </p:sp>
      <p:sp>
        <p:nvSpPr>
          <p:cNvPr id="14" name="Rectangle: Rounded Corners 13">
            <a:extLst>
              <a:ext uri="{FF2B5EF4-FFF2-40B4-BE49-F238E27FC236}">
                <a16:creationId xmlns:a16="http://schemas.microsoft.com/office/drawing/2014/main" id="{DABA869D-DDE0-46FB-B1C6-BE68B299EF7C}"/>
              </a:ext>
            </a:extLst>
          </p:cNvPr>
          <p:cNvSpPr>
            <a:spLocks noGrp="1"/>
          </p:cNvSpPr>
          <p:nvPr/>
        </p:nvSpPr>
        <p:spPr>
          <a:xfrm>
            <a:off x="514350" y="5467350"/>
            <a:ext cx="2857500" cy="342900"/>
          </a:xfrm>
          <a:prstGeom prst="roundRect">
            <a:avLst>
              <a:gd name="adj" fmla="val 33333"/>
            </a:avLst>
          </a:prstGeom>
          <a:solidFill>
            <a:srgbClr val="090C0B"/>
          </a:solidFill>
          <a:ln w="0">
            <a:noFill/>
            <a:prstDash val="solid"/>
          </a:ln>
        </p:spPr>
        <p:txBody>
          <a:bodyPr/>
          <a:lstStyle/>
          <a:p>
            <a:endParaRPr lang="en-US" sz="3600"/>
          </a:p>
        </p:txBody>
      </p:sp>
      <p:sp>
        <p:nvSpPr>
          <p:cNvPr id="15" name="Rectangle 14">
            <a:extLst>
              <a:ext uri="{FF2B5EF4-FFF2-40B4-BE49-F238E27FC236}">
                <a16:creationId xmlns:a16="http://schemas.microsoft.com/office/drawing/2014/main" id="{4D3E288C-97A1-4D7C-8A05-40DCEDB45BB8}"/>
              </a:ext>
            </a:extLst>
          </p:cNvPr>
          <p:cNvSpPr>
            <a:spLocks noGrp="1"/>
          </p:cNvSpPr>
          <p:nvPr/>
        </p:nvSpPr>
        <p:spPr>
          <a:xfrm>
            <a:off x="590550" y="5486400"/>
            <a:ext cx="2705100" cy="190500"/>
          </a:xfrm>
          <a:prstGeom prst="rect">
            <a:avLst/>
          </a:prstGeom>
          <a:noFill/>
          <a:ln w="0">
            <a:noFill/>
            <a:prstDash val="solid"/>
          </a:ln>
        </p:spPr>
        <p:txBody>
          <a:bodyPr anchor="t"/>
          <a:lstStyle/>
          <a:p>
            <a:pPr>
              <a:defRPr sz="975" b="1" i="0">
                <a:solidFill>
                  <a:srgbClr val="C3944A"/>
                </a:solidFill>
              </a:defRPr>
            </a:pPr>
            <a:r>
              <a:rPr sz="1400" b="1" i="0" dirty="0">
                <a:solidFill>
                  <a:srgbClr val="C3944A"/>
                </a:solidFill>
              </a:rPr>
              <a:t>c.1506–1508</a:t>
            </a:r>
          </a:p>
        </p:txBody>
      </p:sp>
      <p:sp>
        <p:nvSpPr>
          <p:cNvPr id="16" name="Rectangle: Rounded Corners 15">
            <a:extLst>
              <a:ext uri="{FF2B5EF4-FFF2-40B4-BE49-F238E27FC236}">
                <a16:creationId xmlns:a16="http://schemas.microsoft.com/office/drawing/2014/main" id="{73222108-4212-4B79-B619-7BF943C1316D}"/>
              </a:ext>
            </a:extLst>
          </p:cNvPr>
          <p:cNvSpPr>
            <a:spLocks noGrp="1"/>
          </p:cNvSpPr>
          <p:nvPr/>
        </p:nvSpPr>
        <p:spPr>
          <a:xfrm>
            <a:off x="4114800" y="5086350"/>
            <a:ext cx="3962400" cy="342900"/>
          </a:xfrm>
          <a:prstGeom prst="roundRect">
            <a:avLst>
              <a:gd name="adj" fmla="val 33333"/>
            </a:avLst>
          </a:prstGeom>
          <a:solidFill>
            <a:srgbClr val="090C0B"/>
          </a:solidFill>
          <a:ln w="0">
            <a:noFill/>
            <a:prstDash val="solid"/>
          </a:ln>
        </p:spPr>
        <p:txBody>
          <a:bodyPr/>
          <a:lstStyle/>
          <a:p>
            <a:endParaRPr lang="en-US" sz="3600"/>
          </a:p>
        </p:txBody>
      </p:sp>
      <p:sp>
        <p:nvSpPr>
          <p:cNvPr id="17" name="Rectangle 16">
            <a:extLst>
              <a:ext uri="{FF2B5EF4-FFF2-40B4-BE49-F238E27FC236}">
                <a16:creationId xmlns:a16="http://schemas.microsoft.com/office/drawing/2014/main" id="{0445A3F7-3FC0-4074-B094-7D373260D25D}"/>
              </a:ext>
            </a:extLst>
          </p:cNvPr>
          <p:cNvSpPr>
            <a:spLocks noGrp="1"/>
          </p:cNvSpPr>
          <p:nvPr/>
        </p:nvSpPr>
        <p:spPr>
          <a:xfrm>
            <a:off x="4191000" y="5172075"/>
            <a:ext cx="3810000" cy="190500"/>
          </a:xfrm>
          <a:prstGeom prst="rect">
            <a:avLst/>
          </a:prstGeom>
          <a:noFill/>
          <a:ln w="0">
            <a:noFill/>
            <a:prstDash val="solid"/>
          </a:ln>
        </p:spPr>
        <p:txBody>
          <a:bodyPr anchor="t"/>
          <a:lstStyle/>
          <a:p>
            <a:pPr>
              <a:defRPr sz="975" b="1" i="0">
                <a:solidFill>
                  <a:srgbClr val="9A5B53"/>
                </a:solidFill>
              </a:defRPr>
            </a:pPr>
            <a:r>
              <a:rPr sz="1400" b="1" i="0">
                <a:solidFill>
                  <a:srgbClr val="9A5B53"/>
                </a:solidFill>
              </a:rPr>
              <a:t>1501</a:t>
            </a:r>
          </a:p>
        </p:txBody>
      </p:sp>
      <p:sp>
        <p:nvSpPr>
          <p:cNvPr id="18" name="Rectangle: Rounded Corners 17">
            <a:extLst>
              <a:ext uri="{FF2B5EF4-FFF2-40B4-BE49-F238E27FC236}">
                <a16:creationId xmlns:a16="http://schemas.microsoft.com/office/drawing/2014/main" id="{202DB7D8-6406-4FCF-BCA0-124D2A2D0F24}"/>
              </a:ext>
            </a:extLst>
          </p:cNvPr>
          <p:cNvSpPr>
            <a:spLocks noGrp="1"/>
          </p:cNvSpPr>
          <p:nvPr/>
        </p:nvSpPr>
        <p:spPr>
          <a:xfrm>
            <a:off x="8534400" y="5467350"/>
            <a:ext cx="2857500" cy="342900"/>
          </a:xfrm>
          <a:prstGeom prst="roundRect">
            <a:avLst>
              <a:gd name="adj" fmla="val 33333"/>
            </a:avLst>
          </a:prstGeom>
          <a:solidFill>
            <a:srgbClr val="090C0B"/>
          </a:solidFill>
          <a:ln w="0">
            <a:noFill/>
            <a:prstDash val="solid"/>
          </a:ln>
        </p:spPr>
        <p:txBody>
          <a:bodyPr/>
          <a:lstStyle/>
          <a:p>
            <a:endParaRPr lang="en-US" sz="3600"/>
          </a:p>
        </p:txBody>
      </p:sp>
      <p:sp>
        <p:nvSpPr>
          <p:cNvPr id="19" name="Rectangle 18">
            <a:extLst>
              <a:ext uri="{FF2B5EF4-FFF2-40B4-BE49-F238E27FC236}">
                <a16:creationId xmlns:a16="http://schemas.microsoft.com/office/drawing/2014/main" id="{A0FE9FAB-0B67-4C91-A214-5A82D417D7FC}"/>
              </a:ext>
            </a:extLst>
          </p:cNvPr>
          <p:cNvSpPr>
            <a:spLocks noGrp="1"/>
          </p:cNvSpPr>
          <p:nvPr/>
        </p:nvSpPr>
        <p:spPr>
          <a:xfrm>
            <a:off x="8610600" y="5467350"/>
            <a:ext cx="2705100" cy="190500"/>
          </a:xfrm>
          <a:prstGeom prst="rect">
            <a:avLst/>
          </a:prstGeom>
          <a:noFill/>
          <a:ln w="0">
            <a:noFill/>
            <a:prstDash val="solid"/>
          </a:ln>
        </p:spPr>
        <p:txBody>
          <a:bodyPr anchor="t"/>
          <a:lstStyle/>
          <a:p>
            <a:pPr>
              <a:defRPr sz="975" b="1" i="0">
                <a:solidFill>
                  <a:srgbClr val="C3944A"/>
                </a:solidFill>
              </a:defRPr>
            </a:pPr>
            <a:r>
              <a:rPr sz="1400" b="1" i="0" dirty="0">
                <a:solidFill>
                  <a:srgbClr val="C3944A"/>
                </a:solidFill>
              </a:rPr>
              <a:t>c.1503–1519</a:t>
            </a:r>
          </a:p>
        </p:txBody>
      </p:sp>
    </p:spTree>
    <p:extLst>
      <p:ext uri="{BB962C8B-B14F-4D97-AF65-F5344CB8AC3E}">
        <p14:creationId xmlns:p14="http://schemas.microsoft.com/office/powerpoint/2010/main" val="931990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696B963-DE6A-4C6F-869F-2089899EAA38}"/>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lang="en-US"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859ED454-E135-4CB2-AC6B-4C02605237EB}"/>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A 1503 Note Links Saint Anne and the Mona Lisa</a:t>
            </a:r>
          </a:p>
        </p:txBody>
      </p:sp>
      <p:sp>
        <p:nvSpPr>
          <p:cNvPr id="5" name="Rectangle 4">
            <a:extLst>
              <a:ext uri="{FF2B5EF4-FFF2-40B4-BE49-F238E27FC236}">
                <a16:creationId xmlns:a16="http://schemas.microsoft.com/office/drawing/2014/main" id="{45466C6B-74F2-4C30-BDA7-6C2C43CCB50D}"/>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E73F9EAB-8DD1-4C75-AF27-45C456CDA5DC}"/>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12</a:t>
            </a:r>
          </a:p>
        </p:txBody>
      </p:sp>
      <p:sp>
        <p:nvSpPr>
          <p:cNvPr id="7" name="Rectangle 6">
            <a:extLst>
              <a:ext uri="{FF2B5EF4-FFF2-40B4-BE49-F238E27FC236}">
                <a16:creationId xmlns:a16="http://schemas.microsoft.com/office/drawing/2014/main" id="{12A6EB57-FBB0-4EFD-A1F0-57A908B514E3}"/>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3600"/>
          </a:p>
        </p:txBody>
      </p:sp>
      <p:sp>
        <p:nvSpPr>
          <p:cNvPr id="8" name="Rectangle 7">
            <a:extLst>
              <a:ext uri="{FF2B5EF4-FFF2-40B4-BE49-F238E27FC236}">
                <a16:creationId xmlns:a16="http://schemas.microsoft.com/office/drawing/2014/main" id="{0C4D9CB2-10DF-4059-938C-AE270C51A958}"/>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A contemporary note places “Lisa” and “Anne” together in Leonardo’s working world.</a:t>
            </a:r>
          </a:p>
        </p:txBody>
      </p:sp>
      <p:pic>
        <p:nvPicPr>
          <p:cNvPr id="22" name="Picture 21"/>
          <p:cNvPicPr>
            <a:picLocks noChangeAspect="1"/>
          </p:cNvPicPr>
          <p:nvPr/>
        </p:nvPicPr>
        <p:blipFill>
          <a:blip r:embed="rId4"/>
          <a:stretch/>
        </p:blipFill>
        <p:spPr>
          <a:xfrm>
            <a:off x="514350" y="1574406"/>
            <a:ext cx="2952750" cy="4414038"/>
          </a:xfrm>
          <a:prstGeom prst="roundRect">
            <a:avLst>
              <a:gd name="adj" fmla="val 3871"/>
            </a:avLst>
          </a:prstGeom>
        </p:spPr>
      </p:pic>
      <p:pic>
        <p:nvPicPr>
          <p:cNvPr id="23" name="Picture 22"/>
          <p:cNvPicPr>
            <a:picLocks noChangeAspect="1"/>
          </p:cNvPicPr>
          <p:nvPr/>
        </p:nvPicPr>
        <p:blipFill>
          <a:blip r:embed="rId5"/>
          <a:stretch/>
        </p:blipFill>
        <p:spPr>
          <a:xfrm>
            <a:off x="4216908" y="1562100"/>
            <a:ext cx="2462784" cy="3657600"/>
          </a:xfrm>
          <a:prstGeom prst="roundRect">
            <a:avLst>
              <a:gd name="adj" fmla="val 4478"/>
            </a:avLst>
          </a:prstGeom>
        </p:spPr>
      </p:pic>
      <p:pic>
        <p:nvPicPr>
          <p:cNvPr id="24" name="Picture 23"/>
          <p:cNvPicPr>
            <a:picLocks noChangeAspect="1"/>
          </p:cNvPicPr>
          <p:nvPr/>
        </p:nvPicPr>
        <p:blipFill>
          <a:blip r:embed="rId6"/>
          <a:stretch/>
        </p:blipFill>
        <p:spPr>
          <a:xfrm>
            <a:off x="7429500" y="1803400"/>
            <a:ext cx="2857500" cy="3175000"/>
          </a:xfrm>
          <a:prstGeom prst="roundRect">
            <a:avLst>
              <a:gd name="adj" fmla="val 4000"/>
            </a:avLst>
          </a:prstGeom>
        </p:spPr>
      </p:pic>
      <p:sp>
        <p:nvSpPr>
          <p:cNvPr id="12" name="Rectangle 11">
            <a:extLst>
              <a:ext uri="{FF2B5EF4-FFF2-40B4-BE49-F238E27FC236}">
                <a16:creationId xmlns:a16="http://schemas.microsoft.com/office/drawing/2014/main" id="{3D4CD5EC-5634-43E7-A749-6F43A9C7FC3C}"/>
              </a:ext>
            </a:extLst>
          </p:cNvPr>
          <p:cNvSpPr>
            <a:spLocks noGrp="1"/>
          </p:cNvSpPr>
          <p:nvPr/>
        </p:nvSpPr>
        <p:spPr>
          <a:xfrm>
            <a:off x="4870704" y="5548313"/>
            <a:ext cx="4572000" cy="419100"/>
          </a:xfrm>
          <a:prstGeom prst="rect">
            <a:avLst/>
          </a:prstGeom>
          <a:noFill/>
          <a:ln w="0">
            <a:noFill/>
            <a:prstDash val="solid"/>
          </a:ln>
        </p:spPr>
        <p:txBody>
          <a:bodyPr anchor="t"/>
          <a:lstStyle/>
          <a:p>
            <a:pPr>
              <a:defRPr sz="2250" b="1" i="0">
                <a:solidFill>
                  <a:srgbClr val="C3944A"/>
                </a:solidFill>
              </a:defRPr>
            </a:pPr>
            <a:r>
              <a:rPr sz="4000" b="1" i="0" dirty="0">
                <a:solidFill>
                  <a:srgbClr val="C3944A"/>
                </a:solidFill>
              </a:rPr>
              <a:t>1503</a:t>
            </a:r>
          </a:p>
        </p:txBody>
      </p:sp>
      <p:sp>
        <p:nvSpPr>
          <p:cNvPr id="13" name="Rectangle 12">
            <a:extLst>
              <a:ext uri="{FF2B5EF4-FFF2-40B4-BE49-F238E27FC236}">
                <a16:creationId xmlns:a16="http://schemas.microsoft.com/office/drawing/2014/main" id="{E6D1A799-97D3-4B87-B2AF-12A49B056F2B}"/>
              </a:ext>
            </a:extLst>
          </p:cNvPr>
          <p:cNvSpPr>
            <a:spLocks noGrp="1"/>
          </p:cNvSpPr>
          <p:nvPr/>
        </p:nvSpPr>
        <p:spPr>
          <a:xfrm>
            <a:off x="6861048" y="5153025"/>
            <a:ext cx="2857500" cy="342900"/>
          </a:xfrm>
          <a:prstGeom prst="rect">
            <a:avLst/>
          </a:prstGeom>
          <a:noFill/>
          <a:ln w="0">
            <a:noFill/>
            <a:prstDash val="solid"/>
          </a:ln>
        </p:spPr>
        <p:txBody>
          <a:bodyPr anchor="t"/>
          <a:lstStyle/>
          <a:p>
            <a:pPr>
              <a:defRPr sz="1500" b="1" i="0">
                <a:solidFill>
                  <a:srgbClr val="FFFDF6"/>
                </a:solidFill>
              </a:defRPr>
            </a:pPr>
            <a:r>
              <a:rPr sz="1600" b="1" i="0" dirty="0">
                <a:solidFill>
                  <a:srgbClr val="FFFDF6"/>
                </a:solidFill>
              </a:rPr>
              <a:t>LISA ↔ ANNE</a:t>
            </a:r>
          </a:p>
        </p:txBody>
      </p:sp>
    </p:spTree>
    <p:extLst>
      <p:ext uri="{BB962C8B-B14F-4D97-AF65-F5344CB8AC3E}">
        <p14:creationId xmlns:p14="http://schemas.microsoft.com/office/powerpoint/2010/main" val="2080610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E88BFB31-674F-4B9B-9162-587C55DF4E96}"/>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6877C3A1-8192-43CB-A403-E46FF4677CBE}"/>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Did Leonardo Carry It to the End of His Life?</a:t>
            </a:r>
          </a:p>
        </p:txBody>
      </p:sp>
      <p:sp>
        <p:nvSpPr>
          <p:cNvPr id="5" name="Rectangle 4">
            <a:extLst>
              <a:ext uri="{FF2B5EF4-FFF2-40B4-BE49-F238E27FC236}">
                <a16:creationId xmlns:a16="http://schemas.microsoft.com/office/drawing/2014/main" id="{B260B4E3-12B8-49C5-A095-A7325D43567C}"/>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ACEB2971-CE76-45CE-B384-C3E50B631B68}"/>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13</a:t>
            </a:r>
          </a:p>
        </p:txBody>
      </p:sp>
      <p:sp>
        <p:nvSpPr>
          <p:cNvPr id="7" name="Rectangle 6">
            <a:extLst>
              <a:ext uri="{FF2B5EF4-FFF2-40B4-BE49-F238E27FC236}">
                <a16:creationId xmlns:a16="http://schemas.microsoft.com/office/drawing/2014/main" id="{52A25022-B299-4D38-9993-0BDF1687D059}"/>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CF299CF1-C33F-41DA-8901-7803021AAD08}"/>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The painting was at Clos Lucé in 1517; its full route remains incomplete.</a:t>
            </a:r>
          </a:p>
        </p:txBody>
      </p:sp>
      <p:sp>
        <p:nvSpPr>
          <p:cNvPr id="9" name="Rectangle 8">
            <a:extLst>
              <a:ext uri="{FF2B5EF4-FFF2-40B4-BE49-F238E27FC236}">
                <a16:creationId xmlns:a16="http://schemas.microsoft.com/office/drawing/2014/main" id="{C82D5360-F3D2-4EDD-B3C1-5AB01418642D}"/>
              </a:ext>
            </a:extLst>
          </p:cNvPr>
          <p:cNvSpPr>
            <a:spLocks noGrp="1"/>
          </p:cNvSpPr>
          <p:nvPr/>
        </p:nvSpPr>
        <p:spPr>
          <a:xfrm>
            <a:off x="1066800" y="3314700"/>
            <a:ext cx="10001250" cy="38100"/>
          </a:xfrm>
          <a:prstGeom prst="rect">
            <a:avLst/>
          </a:prstGeom>
          <a:solidFill>
            <a:srgbClr val="C3944A"/>
          </a:solidFill>
          <a:ln w="0">
            <a:noFill/>
            <a:prstDash val="solid"/>
          </a:ln>
        </p:spPr>
        <p:txBody>
          <a:bodyPr/>
          <a:lstStyle/>
          <a:p>
            <a:endParaRPr lang="en-US" sz="2400"/>
          </a:p>
        </p:txBody>
      </p:sp>
      <p:sp>
        <p:nvSpPr>
          <p:cNvPr id="10" name="Rectangle: Rounded Corners 9">
            <a:extLst>
              <a:ext uri="{FF2B5EF4-FFF2-40B4-BE49-F238E27FC236}">
                <a16:creationId xmlns:a16="http://schemas.microsoft.com/office/drawing/2014/main" id="{934CE6B4-045B-4FD8-8683-6AF45AD55E80}"/>
              </a:ext>
            </a:extLst>
          </p:cNvPr>
          <p:cNvSpPr>
            <a:spLocks noGrp="1"/>
          </p:cNvSpPr>
          <p:nvPr/>
        </p:nvSpPr>
        <p:spPr>
          <a:xfrm>
            <a:off x="13144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11" name="Rectangle 10">
            <a:extLst>
              <a:ext uri="{FF2B5EF4-FFF2-40B4-BE49-F238E27FC236}">
                <a16:creationId xmlns:a16="http://schemas.microsoft.com/office/drawing/2014/main" id="{C110EC71-A375-42B6-B025-02CDBC4FC2A3}"/>
              </a:ext>
            </a:extLst>
          </p:cNvPr>
          <p:cNvSpPr>
            <a:spLocks noGrp="1"/>
          </p:cNvSpPr>
          <p:nvPr/>
        </p:nvSpPr>
        <p:spPr>
          <a:xfrm>
            <a:off x="7620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1503</a:t>
            </a:r>
          </a:p>
        </p:txBody>
      </p:sp>
      <p:sp>
        <p:nvSpPr>
          <p:cNvPr id="12" name="Rectangle 11">
            <a:extLst>
              <a:ext uri="{FF2B5EF4-FFF2-40B4-BE49-F238E27FC236}">
                <a16:creationId xmlns:a16="http://schemas.microsoft.com/office/drawing/2014/main" id="{7462B025-4826-4F3C-8D46-2FB90824CA84}"/>
              </a:ext>
            </a:extLst>
          </p:cNvPr>
          <p:cNvSpPr>
            <a:spLocks noGrp="1"/>
          </p:cNvSpPr>
          <p:nvPr/>
        </p:nvSpPr>
        <p:spPr>
          <a:xfrm>
            <a:off x="4953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Panel begun</a:t>
            </a:r>
          </a:p>
        </p:txBody>
      </p:sp>
      <p:sp>
        <p:nvSpPr>
          <p:cNvPr id="13" name="Rectangle: Rounded Corners 12">
            <a:extLst>
              <a:ext uri="{FF2B5EF4-FFF2-40B4-BE49-F238E27FC236}">
                <a16:creationId xmlns:a16="http://schemas.microsoft.com/office/drawing/2014/main" id="{9DB063FD-BB3A-4A1E-A95D-EFA7665DEA37}"/>
              </a:ext>
            </a:extLst>
          </p:cNvPr>
          <p:cNvSpPr>
            <a:spLocks noGrp="1"/>
          </p:cNvSpPr>
          <p:nvPr/>
        </p:nvSpPr>
        <p:spPr>
          <a:xfrm>
            <a:off x="3695700" y="3200400"/>
            <a:ext cx="247650" cy="247650"/>
          </a:xfrm>
          <a:prstGeom prst="roundRect">
            <a:avLst>
              <a:gd name="adj" fmla="val 46154"/>
            </a:avLst>
          </a:prstGeom>
          <a:solidFill>
            <a:srgbClr val="9A5B53"/>
          </a:solidFill>
          <a:ln w="19050">
            <a:solidFill>
              <a:srgbClr val="C3944A"/>
            </a:solidFill>
            <a:prstDash val="solid"/>
          </a:ln>
        </p:spPr>
        <p:txBody>
          <a:bodyPr/>
          <a:lstStyle/>
          <a:p>
            <a:endParaRPr lang="en-US" sz="2400"/>
          </a:p>
        </p:txBody>
      </p:sp>
      <p:sp>
        <p:nvSpPr>
          <p:cNvPr id="14" name="Rectangle 13">
            <a:extLst>
              <a:ext uri="{FF2B5EF4-FFF2-40B4-BE49-F238E27FC236}">
                <a16:creationId xmlns:a16="http://schemas.microsoft.com/office/drawing/2014/main" id="{EC50D682-B219-4DB9-8B4D-5DD78574C675}"/>
              </a:ext>
            </a:extLst>
          </p:cNvPr>
          <p:cNvSpPr>
            <a:spLocks noGrp="1"/>
          </p:cNvSpPr>
          <p:nvPr/>
        </p:nvSpPr>
        <p:spPr>
          <a:xfrm>
            <a:off x="314325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1517</a:t>
            </a:r>
          </a:p>
        </p:txBody>
      </p:sp>
      <p:sp>
        <p:nvSpPr>
          <p:cNvPr id="15" name="Rectangle 14">
            <a:extLst>
              <a:ext uri="{FF2B5EF4-FFF2-40B4-BE49-F238E27FC236}">
                <a16:creationId xmlns:a16="http://schemas.microsoft.com/office/drawing/2014/main" id="{EF17B827-450D-464A-988B-9B31CD5B2E99}"/>
              </a:ext>
            </a:extLst>
          </p:cNvPr>
          <p:cNvSpPr>
            <a:spLocks noGrp="1"/>
          </p:cNvSpPr>
          <p:nvPr/>
        </p:nvSpPr>
        <p:spPr>
          <a:xfrm>
            <a:off x="287655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Seen at Clos Lucé</a:t>
            </a:r>
          </a:p>
        </p:txBody>
      </p:sp>
      <p:sp>
        <p:nvSpPr>
          <p:cNvPr id="16" name="Rectangle: Rounded Corners 15">
            <a:extLst>
              <a:ext uri="{FF2B5EF4-FFF2-40B4-BE49-F238E27FC236}">
                <a16:creationId xmlns:a16="http://schemas.microsoft.com/office/drawing/2014/main" id="{4115EED7-5534-45C7-A780-8B70FAC11632}"/>
              </a:ext>
            </a:extLst>
          </p:cNvPr>
          <p:cNvSpPr>
            <a:spLocks noGrp="1"/>
          </p:cNvSpPr>
          <p:nvPr/>
        </p:nvSpPr>
        <p:spPr>
          <a:xfrm>
            <a:off x="60769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17" name="Rectangle 16">
            <a:extLst>
              <a:ext uri="{FF2B5EF4-FFF2-40B4-BE49-F238E27FC236}">
                <a16:creationId xmlns:a16="http://schemas.microsoft.com/office/drawing/2014/main" id="{BA061808-FB4F-4806-9491-E73664C2DF09}"/>
              </a:ext>
            </a:extLst>
          </p:cNvPr>
          <p:cNvSpPr>
            <a:spLocks noGrp="1"/>
          </p:cNvSpPr>
          <p:nvPr/>
        </p:nvSpPr>
        <p:spPr>
          <a:xfrm>
            <a:off x="55245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c.1518</a:t>
            </a:r>
          </a:p>
        </p:txBody>
      </p:sp>
      <p:sp>
        <p:nvSpPr>
          <p:cNvPr id="18" name="Rectangle 17">
            <a:extLst>
              <a:ext uri="{FF2B5EF4-FFF2-40B4-BE49-F238E27FC236}">
                <a16:creationId xmlns:a16="http://schemas.microsoft.com/office/drawing/2014/main" id="{44817DF6-56AA-4E32-BBA4-932DE9B2C80E}"/>
              </a:ext>
            </a:extLst>
          </p:cNvPr>
          <p:cNvSpPr>
            <a:spLocks noGrp="1"/>
          </p:cNvSpPr>
          <p:nvPr/>
        </p:nvSpPr>
        <p:spPr>
          <a:xfrm>
            <a:off x="52578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Likely royal acquisition</a:t>
            </a:r>
          </a:p>
        </p:txBody>
      </p:sp>
      <p:sp>
        <p:nvSpPr>
          <p:cNvPr id="19" name="Rectangle: Rounded Corners 18">
            <a:extLst>
              <a:ext uri="{FF2B5EF4-FFF2-40B4-BE49-F238E27FC236}">
                <a16:creationId xmlns:a16="http://schemas.microsoft.com/office/drawing/2014/main" id="{63C9020F-1424-4805-BF6E-41A8EF36838A}"/>
              </a:ext>
            </a:extLst>
          </p:cNvPr>
          <p:cNvSpPr>
            <a:spLocks noGrp="1"/>
          </p:cNvSpPr>
          <p:nvPr/>
        </p:nvSpPr>
        <p:spPr>
          <a:xfrm>
            <a:off x="845820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20" name="Rectangle 19">
            <a:extLst>
              <a:ext uri="{FF2B5EF4-FFF2-40B4-BE49-F238E27FC236}">
                <a16:creationId xmlns:a16="http://schemas.microsoft.com/office/drawing/2014/main" id="{5FFEC4E3-D726-4E3E-A8D7-0D26A3B0D604}"/>
              </a:ext>
            </a:extLst>
          </p:cNvPr>
          <p:cNvSpPr>
            <a:spLocks noGrp="1"/>
          </p:cNvSpPr>
          <p:nvPr/>
        </p:nvSpPr>
        <p:spPr>
          <a:xfrm>
            <a:off x="790575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1683</a:t>
            </a:r>
          </a:p>
        </p:txBody>
      </p:sp>
      <p:sp>
        <p:nvSpPr>
          <p:cNvPr id="21" name="Rectangle 20">
            <a:extLst>
              <a:ext uri="{FF2B5EF4-FFF2-40B4-BE49-F238E27FC236}">
                <a16:creationId xmlns:a16="http://schemas.microsoft.com/office/drawing/2014/main" id="{36181831-AFB8-4583-8B4A-723AFE85CD8D}"/>
              </a:ext>
            </a:extLst>
          </p:cNvPr>
          <p:cNvSpPr>
            <a:spLocks noGrp="1"/>
          </p:cNvSpPr>
          <p:nvPr/>
        </p:nvSpPr>
        <p:spPr>
          <a:xfrm>
            <a:off x="763905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Royal inventory</a:t>
            </a:r>
          </a:p>
        </p:txBody>
      </p:sp>
      <p:sp>
        <p:nvSpPr>
          <p:cNvPr id="22" name="Rectangle: Rounded Corners 21">
            <a:extLst>
              <a:ext uri="{FF2B5EF4-FFF2-40B4-BE49-F238E27FC236}">
                <a16:creationId xmlns:a16="http://schemas.microsoft.com/office/drawing/2014/main" id="{2842C107-48A8-458B-A62B-7CE0706B0E53}"/>
              </a:ext>
            </a:extLst>
          </p:cNvPr>
          <p:cNvSpPr>
            <a:spLocks noGrp="1"/>
          </p:cNvSpPr>
          <p:nvPr/>
        </p:nvSpPr>
        <p:spPr>
          <a:xfrm>
            <a:off x="10839450" y="3200400"/>
            <a:ext cx="247650" cy="247650"/>
          </a:xfrm>
          <a:prstGeom prst="roundRect">
            <a:avLst>
              <a:gd name="adj" fmla="val 46154"/>
            </a:avLst>
          </a:prstGeom>
          <a:solidFill>
            <a:srgbClr val="173534"/>
          </a:solidFill>
          <a:ln w="19050">
            <a:solidFill>
              <a:srgbClr val="C3944A"/>
            </a:solidFill>
            <a:prstDash val="solid"/>
          </a:ln>
        </p:spPr>
        <p:txBody>
          <a:bodyPr/>
          <a:lstStyle/>
          <a:p>
            <a:endParaRPr lang="en-US" sz="2400"/>
          </a:p>
        </p:txBody>
      </p:sp>
      <p:sp>
        <p:nvSpPr>
          <p:cNvPr id="23" name="Rectangle 22">
            <a:extLst>
              <a:ext uri="{FF2B5EF4-FFF2-40B4-BE49-F238E27FC236}">
                <a16:creationId xmlns:a16="http://schemas.microsoft.com/office/drawing/2014/main" id="{E9C3CA92-F9BA-49ED-AE2C-1751C3FAC018}"/>
              </a:ext>
            </a:extLst>
          </p:cNvPr>
          <p:cNvSpPr>
            <a:spLocks noGrp="1"/>
          </p:cNvSpPr>
          <p:nvPr/>
        </p:nvSpPr>
        <p:spPr>
          <a:xfrm>
            <a:off x="10287000" y="2419350"/>
            <a:ext cx="1352550" cy="361950"/>
          </a:xfrm>
          <a:prstGeom prst="rect">
            <a:avLst/>
          </a:prstGeom>
          <a:noFill/>
          <a:ln w="0">
            <a:noFill/>
            <a:prstDash val="solid"/>
          </a:ln>
        </p:spPr>
        <p:txBody>
          <a:bodyPr anchor="t"/>
          <a:lstStyle/>
          <a:p>
            <a:pPr>
              <a:defRPr sz="1650" b="1" i="0">
                <a:solidFill>
                  <a:srgbClr val="FFFDF6"/>
                </a:solidFill>
              </a:defRPr>
            </a:pPr>
            <a:r>
              <a:rPr b="1" i="0">
                <a:solidFill>
                  <a:srgbClr val="FFFDF6"/>
                </a:solidFill>
              </a:rPr>
              <a:t>1793</a:t>
            </a:r>
          </a:p>
        </p:txBody>
      </p:sp>
      <p:sp>
        <p:nvSpPr>
          <p:cNvPr id="24" name="Rectangle 23">
            <a:extLst>
              <a:ext uri="{FF2B5EF4-FFF2-40B4-BE49-F238E27FC236}">
                <a16:creationId xmlns:a16="http://schemas.microsoft.com/office/drawing/2014/main" id="{4B55861F-CC05-4E97-9E11-864CE7E819A8}"/>
              </a:ext>
            </a:extLst>
          </p:cNvPr>
          <p:cNvSpPr>
            <a:spLocks noGrp="1"/>
          </p:cNvSpPr>
          <p:nvPr/>
        </p:nvSpPr>
        <p:spPr>
          <a:xfrm>
            <a:off x="10020300" y="3695700"/>
            <a:ext cx="1847850" cy="723900"/>
          </a:xfrm>
          <a:prstGeom prst="rect">
            <a:avLst/>
          </a:prstGeom>
          <a:noFill/>
          <a:ln w="0">
            <a:noFill/>
            <a:prstDash val="solid"/>
          </a:ln>
        </p:spPr>
        <p:txBody>
          <a:bodyPr anchor="t"/>
          <a:lstStyle/>
          <a:p>
            <a:pPr>
              <a:defRPr sz="1125" b="0" i="0">
                <a:solidFill>
                  <a:srgbClr val="EFE4CF"/>
                </a:solidFill>
              </a:defRPr>
            </a:pPr>
            <a:r>
              <a:rPr sz="1400" b="0" i="0">
                <a:solidFill>
                  <a:srgbClr val="EFE4CF"/>
                </a:solidFill>
              </a:rPr>
              <a:t>Public Louvre</a:t>
            </a:r>
          </a:p>
        </p:txBody>
      </p:sp>
      <p:sp>
        <p:nvSpPr>
          <p:cNvPr id="25" name="Rectangle 24">
            <a:extLst>
              <a:ext uri="{FF2B5EF4-FFF2-40B4-BE49-F238E27FC236}">
                <a16:creationId xmlns:a16="http://schemas.microsoft.com/office/drawing/2014/main" id="{86BA2183-6C5B-427D-AE8C-7B8C1C34ED09}"/>
              </a:ext>
            </a:extLst>
          </p:cNvPr>
          <p:cNvSpPr>
            <a:spLocks noGrp="1"/>
          </p:cNvSpPr>
          <p:nvPr/>
        </p:nvSpPr>
        <p:spPr>
          <a:xfrm>
            <a:off x="2705100" y="4972050"/>
            <a:ext cx="6781800" cy="419100"/>
          </a:xfrm>
          <a:prstGeom prst="rect">
            <a:avLst/>
          </a:prstGeom>
          <a:noFill/>
          <a:ln w="0">
            <a:noFill/>
            <a:prstDash val="solid"/>
          </a:ln>
        </p:spPr>
        <p:txBody>
          <a:bodyPr anchor="t"/>
          <a:lstStyle/>
          <a:p>
            <a:pPr>
              <a:defRPr sz="1575" b="1" i="0">
                <a:solidFill>
                  <a:srgbClr val="C3944A"/>
                </a:solidFill>
              </a:defRPr>
            </a:pPr>
            <a:r>
              <a:rPr b="1" i="0">
                <a:solidFill>
                  <a:srgbClr val="C3944A"/>
                </a:solidFill>
              </a:rPr>
              <a:t>DOCUMENTS GIVE POINTS—NOT A COMPLETE ROUTE.</a:t>
            </a:r>
          </a:p>
        </p:txBody>
      </p:sp>
    </p:spTree>
    <p:extLst>
      <p:ext uri="{BB962C8B-B14F-4D97-AF65-F5344CB8AC3E}">
        <p14:creationId xmlns:p14="http://schemas.microsoft.com/office/powerpoint/2010/main" val="1615680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407FDD3-0AFB-435B-A068-061A74011593}"/>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5CF08433-C08D-436F-81D2-D9F65FC0F8DA}"/>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Three Images Hidden on the Back of the Panel</a:t>
            </a:r>
          </a:p>
        </p:txBody>
      </p:sp>
      <p:sp>
        <p:nvSpPr>
          <p:cNvPr id="5" name="Rectangle 4">
            <a:extLst>
              <a:ext uri="{FF2B5EF4-FFF2-40B4-BE49-F238E27FC236}">
                <a16:creationId xmlns:a16="http://schemas.microsoft.com/office/drawing/2014/main" id="{0B236857-35E9-41D6-B5CA-F7C3CCCE7387}"/>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4400"/>
          </a:p>
        </p:txBody>
      </p:sp>
      <p:sp>
        <p:nvSpPr>
          <p:cNvPr id="6" name="Rectangle 5">
            <a:extLst>
              <a:ext uri="{FF2B5EF4-FFF2-40B4-BE49-F238E27FC236}">
                <a16:creationId xmlns:a16="http://schemas.microsoft.com/office/drawing/2014/main" id="{83779EB9-859E-4569-B9FC-0C3634822990}"/>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14</a:t>
            </a:r>
          </a:p>
        </p:txBody>
      </p:sp>
      <p:sp>
        <p:nvSpPr>
          <p:cNvPr id="7" name="Rectangle 6">
            <a:extLst>
              <a:ext uri="{FF2B5EF4-FFF2-40B4-BE49-F238E27FC236}">
                <a16:creationId xmlns:a16="http://schemas.microsoft.com/office/drawing/2014/main" id="{C7DEAB4A-F2D3-40EC-956D-5BD099137093}"/>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4400"/>
          </a:p>
        </p:txBody>
      </p:sp>
      <p:sp>
        <p:nvSpPr>
          <p:cNvPr id="8" name="Rectangle 7">
            <a:extLst>
              <a:ext uri="{FF2B5EF4-FFF2-40B4-BE49-F238E27FC236}">
                <a16:creationId xmlns:a16="http://schemas.microsoft.com/office/drawing/2014/main" id="{7D6816F0-58C8-4479-BDB7-D34BEA28E770}"/>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400" b="0" i="0">
                <a:solidFill>
                  <a:srgbClr val="EFE4CF"/>
                </a:solidFill>
              </a:rPr>
              <a:t>Horse, skull, child: real marks, but not all securely by Leonardo.</a:t>
            </a:r>
          </a:p>
        </p:txBody>
      </p:sp>
      <p:sp>
        <p:nvSpPr>
          <p:cNvPr id="9" name="Rectangle: Rounded Corners 8">
            <a:extLst>
              <a:ext uri="{FF2B5EF4-FFF2-40B4-BE49-F238E27FC236}">
                <a16:creationId xmlns:a16="http://schemas.microsoft.com/office/drawing/2014/main" id="{793DCEDB-6485-4887-B3E4-453AF5DF9A2B}"/>
              </a:ext>
            </a:extLst>
          </p:cNvPr>
          <p:cNvSpPr>
            <a:spLocks noGrp="1"/>
          </p:cNvSpPr>
          <p:nvPr/>
        </p:nvSpPr>
        <p:spPr>
          <a:xfrm>
            <a:off x="1257300" y="1619250"/>
            <a:ext cx="4000500" cy="4248150"/>
          </a:xfrm>
          <a:prstGeom prst="roundRect">
            <a:avLst>
              <a:gd name="adj" fmla="val 2857"/>
            </a:avLst>
          </a:prstGeom>
          <a:solidFill>
            <a:srgbClr val="5B412E"/>
          </a:solidFill>
          <a:ln w="19050">
            <a:solidFill>
              <a:srgbClr val="C3944A"/>
            </a:solidFill>
            <a:prstDash val="solid"/>
          </a:ln>
        </p:spPr>
        <p:txBody>
          <a:bodyPr/>
          <a:lstStyle/>
          <a:p>
            <a:endParaRPr lang="en-US" sz="4400"/>
          </a:p>
        </p:txBody>
      </p:sp>
      <p:sp>
        <p:nvSpPr>
          <p:cNvPr id="10" name="Rectangle 9">
            <a:extLst>
              <a:ext uri="{FF2B5EF4-FFF2-40B4-BE49-F238E27FC236}">
                <a16:creationId xmlns:a16="http://schemas.microsoft.com/office/drawing/2014/main" id="{DF02CF7E-67ED-47C3-B7CA-02E7E2B0F602}"/>
              </a:ext>
            </a:extLst>
          </p:cNvPr>
          <p:cNvSpPr>
            <a:spLocks noGrp="1"/>
          </p:cNvSpPr>
          <p:nvPr/>
        </p:nvSpPr>
        <p:spPr>
          <a:xfrm>
            <a:off x="1981200" y="1847850"/>
            <a:ext cx="2571750" cy="323850"/>
          </a:xfrm>
          <a:prstGeom prst="rect">
            <a:avLst/>
          </a:prstGeom>
          <a:noFill/>
          <a:ln w="0">
            <a:noFill/>
            <a:prstDash val="solid"/>
          </a:ln>
        </p:spPr>
        <p:txBody>
          <a:bodyPr anchor="t"/>
          <a:lstStyle/>
          <a:p>
            <a:pPr>
              <a:defRPr sz="1500" b="1" i="0">
                <a:solidFill>
                  <a:srgbClr val="EFE4CF"/>
                </a:solidFill>
              </a:defRPr>
            </a:pPr>
            <a:r>
              <a:rPr sz="1600" b="1" i="0">
                <a:solidFill>
                  <a:srgbClr val="EFE4CF"/>
                </a:solidFill>
              </a:rPr>
              <a:t>REVERSE OF THE PANEL</a:t>
            </a:r>
          </a:p>
        </p:txBody>
      </p:sp>
      <p:sp>
        <p:nvSpPr>
          <p:cNvPr id="11" name="Rectangle: Rounded Corners 10">
            <a:extLst>
              <a:ext uri="{FF2B5EF4-FFF2-40B4-BE49-F238E27FC236}">
                <a16:creationId xmlns:a16="http://schemas.microsoft.com/office/drawing/2014/main" id="{308C94D7-6A88-43DC-90C5-AA4C37988371}"/>
              </a:ext>
            </a:extLst>
          </p:cNvPr>
          <p:cNvSpPr>
            <a:spLocks noGrp="1"/>
          </p:cNvSpPr>
          <p:nvPr/>
        </p:nvSpPr>
        <p:spPr>
          <a:xfrm>
            <a:off x="2190750" y="2571750"/>
            <a:ext cx="1428750" cy="590550"/>
          </a:xfrm>
          <a:prstGeom prst="roundRect">
            <a:avLst>
              <a:gd name="adj" fmla="val 19355"/>
            </a:avLst>
          </a:prstGeom>
          <a:noFill/>
          <a:ln w="19050">
            <a:solidFill>
              <a:srgbClr val="C3944A"/>
            </a:solidFill>
            <a:prstDash val="solid"/>
          </a:ln>
        </p:spPr>
        <p:txBody>
          <a:bodyPr/>
          <a:lstStyle/>
          <a:p>
            <a:endParaRPr lang="en-US" sz="4400"/>
          </a:p>
        </p:txBody>
      </p:sp>
      <p:sp>
        <p:nvSpPr>
          <p:cNvPr id="12" name="Rectangle 11">
            <a:extLst>
              <a:ext uri="{FF2B5EF4-FFF2-40B4-BE49-F238E27FC236}">
                <a16:creationId xmlns:a16="http://schemas.microsoft.com/office/drawing/2014/main" id="{F5A9076C-8945-445B-8461-EBB916E5BB31}"/>
              </a:ext>
            </a:extLst>
          </p:cNvPr>
          <p:cNvSpPr>
            <a:spLocks noGrp="1"/>
          </p:cNvSpPr>
          <p:nvPr/>
        </p:nvSpPr>
        <p:spPr>
          <a:xfrm>
            <a:off x="2276475" y="2705100"/>
            <a:ext cx="1238250" cy="228600"/>
          </a:xfrm>
          <a:prstGeom prst="rect">
            <a:avLst/>
          </a:prstGeom>
          <a:noFill/>
          <a:ln w="0">
            <a:noFill/>
            <a:prstDash val="solid"/>
          </a:ln>
        </p:spPr>
        <p:txBody>
          <a:bodyPr anchor="t"/>
          <a:lstStyle/>
          <a:p>
            <a:pPr>
              <a:defRPr sz="1200" b="1" i="0">
                <a:solidFill>
                  <a:srgbClr val="FFFDF6"/>
                </a:solidFill>
              </a:defRPr>
            </a:pPr>
            <a:r>
              <a:rPr sz="1400" b="1" i="0" dirty="0">
                <a:solidFill>
                  <a:srgbClr val="FFFDF6"/>
                </a:solidFill>
              </a:rPr>
              <a:t>HORSE</a:t>
            </a:r>
          </a:p>
        </p:txBody>
      </p:sp>
      <p:sp>
        <p:nvSpPr>
          <p:cNvPr id="13" name="Rectangle: Rounded Corners 12">
            <a:extLst>
              <a:ext uri="{FF2B5EF4-FFF2-40B4-BE49-F238E27FC236}">
                <a16:creationId xmlns:a16="http://schemas.microsoft.com/office/drawing/2014/main" id="{94285A67-E883-4BA4-B261-59455FAD6610}"/>
              </a:ext>
            </a:extLst>
          </p:cNvPr>
          <p:cNvSpPr>
            <a:spLocks noGrp="1"/>
          </p:cNvSpPr>
          <p:nvPr/>
        </p:nvSpPr>
        <p:spPr>
          <a:xfrm>
            <a:off x="3429000" y="3619500"/>
            <a:ext cx="1428750" cy="590550"/>
          </a:xfrm>
          <a:prstGeom prst="roundRect">
            <a:avLst>
              <a:gd name="adj" fmla="val 19355"/>
            </a:avLst>
          </a:prstGeom>
          <a:noFill/>
          <a:ln w="19050">
            <a:solidFill>
              <a:srgbClr val="C3944A"/>
            </a:solidFill>
            <a:prstDash val="solid"/>
          </a:ln>
        </p:spPr>
        <p:txBody>
          <a:bodyPr/>
          <a:lstStyle/>
          <a:p>
            <a:endParaRPr lang="en-US" sz="4400"/>
          </a:p>
        </p:txBody>
      </p:sp>
      <p:sp>
        <p:nvSpPr>
          <p:cNvPr id="14" name="Rectangle 13">
            <a:extLst>
              <a:ext uri="{FF2B5EF4-FFF2-40B4-BE49-F238E27FC236}">
                <a16:creationId xmlns:a16="http://schemas.microsoft.com/office/drawing/2014/main" id="{502A509A-2E4F-4EF9-9269-0998B4B789BE}"/>
              </a:ext>
            </a:extLst>
          </p:cNvPr>
          <p:cNvSpPr>
            <a:spLocks noGrp="1"/>
          </p:cNvSpPr>
          <p:nvPr/>
        </p:nvSpPr>
        <p:spPr>
          <a:xfrm>
            <a:off x="3514725" y="3762375"/>
            <a:ext cx="1238250" cy="228600"/>
          </a:xfrm>
          <a:prstGeom prst="rect">
            <a:avLst/>
          </a:prstGeom>
          <a:noFill/>
          <a:ln w="0">
            <a:noFill/>
            <a:prstDash val="solid"/>
          </a:ln>
        </p:spPr>
        <p:txBody>
          <a:bodyPr anchor="t"/>
          <a:lstStyle/>
          <a:p>
            <a:pPr>
              <a:defRPr sz="1200" b="1" i="0">
                <a:solidFill>
                  <a:srgbClr val="FFFDF6"/>
                </a:solidFill>
              </a:defRPr>
            </a:pPr>
            <a:r>
              <a:rPr sz="1400" b="1" i="0" dirty="0">
                <a:solidFill>
                  <a:srgbClr val="FFFDF6"/>
                </a:solidFill>
              </a:rPr>
              <a:t>SKULL</a:t>
            </a:r>
          </a:p>
        </p:txBody>
      </p:sp>
      <p:sp>
        <p:nvSpPr>
          <p:cNvPr id="15" name="Rectangle: Rounded Corners 14">
            <a:extLst>
              <a:ext uri="{FF2B5EF4-FFF2-40B4-BE49-F238E27FC236}">
                <a16:creationId xmlns:a16="http://schemas.microsoft.com/office/drawing/2014/main" id="{97FFF006-969D-4DA3-8066-C7CD5341D470}"/>
              </a:ext>
            </a:extLst>
          </p:cNvPr>
          <p:cNvSpPr>
            <a:spLocks noGrp="1"/>
          </p:cNvSpPr>
          <p:nvPr/>
        </p:nvSpPr>
        <p:spPr>
          <a:xfrm>
            <a:off x="2095500" y="4686300"/>
            <a:ext cx="1428750" cy="590550"/>
          </a:xfrm>
          <a:prstGeom prst="roundRect">
            <a:avLst>
              <a:gd name="adj" fmla="val 19355"/>
            </a:avLst>
          </a:prstGeom>
          <a:noFill/>
          <a:ln w="19050">
            <a:solidFill>
              <a:srgbClr val="9A5B53"/>
            </a:solidFill>
            <a:prstDash val="solid"/>
          </a:ln>
        </p:spPr>
        <p:txBody>
          <a:bodyPr/>
          <a:lstStyle/>
          <a:p>
            <a:endParaRPr lang="en-US" sz="4400"/>
          </a:p>
        </p:txBody>
      </p:sp>
      <p:sp>
        <p:nvSpPr>
          <p:cNvPr id="16" name="Rectangle 15">
            <a:extLst>
              <a:ext uri="{FF2B5EF4-FFF2-40B4-BE49-F238E27FC236}">
                <a16:creationId xmlns:a16="http://schemas.microsoft.com/office/drawing/2014/main" id="{90B67C04-556F-4ADD-BCCD-0F3595AC4C1F}"/>
              </a:ext>
            </a:extLst>
          </p:cNvPr>
          <p:cNvSpPr>
            <a:spLocks noGrp="1"/>
          </p:cNvSpPr>
          <p:nvPr/>
        </p:nvSpPr>
        <p:spPr>
          <a:xfrm>
            <a:off x="2190750" y="4810125"/>
            <a:ext cx="1238250" cy="228600"/>
          </a:xfrm>
          <a:prstGeom prst="rect">
            <a:avLst/>
          </a:prstGeom>
          <a:noFill/>
          <a:ln w="0">
            <a:noFill/>
            <a:prstDash val="solid"/>
          </a:ln>
        </p:spPr>
        <p:txBody>
          <a:bodyPr anchor="t"/>
          <a:lstStyle/>
          <a:p>
            <a:pPr>
              <a:defRPr sz="1200" b="1" i="0">
                <a:solidFill>
                  <a:srgbClr val="FFFDF6"/>
                </a:solidFill>
              </a:defRPr>
            </a:pPr>
            <a:r>
              <a:rPr sz="1400" b="1" i="0" dirty="0">
                <a:solidFill>
                  <a:srgbClr val="FFFDF6"/>
                </a:solidFill>
              </a:rPr>
              <a:t>CHILD</a:t>
            </a:r>
          </a:p>
        </p:txBody>
      </p:sp>
      <p:sp>
        <p:nvSpPr>
          <p:cNvPr id="17" name="Rectangle: Rounded Corners 16">
            <a:extLst>
              <a:ext uri="{FF2B5EF4-FFF2-40B4-BE49-F238E27FC236}">
                <a16:creationId xmlns:a16="http://schemas.microsoft.com/office/drawing/2014/main" id="{3D7BCCD4-C45D-4891-90AC-4D98EFF83BB9}"/>
              </a:ext>
            </a:extLst>
          </p:cNvPr>
          <p:cNvSpPr>
            <a:spLocks noGrp="1"/>
          </p:cNvSpPr>
          <p:nvPr/>
        </p:nvSpPr>
        <p:spPr>
          <a:xfrm>
            <a:off x="5905500" y="1714500"/>
            <a:ext cx="5219700" cy="2876550"/>
          </a:xfrm>
          <a:prstGeom prst="roundRect">
            <a:avLst>
              <a:gd name="adj" fmla="val 3974"/>
            </a:avLst>
          </a:prstGeom>
          <a:solidFill>
            <a:srgbClr val="111411"/>
          </a:solidFill>
          <a:ln w="9525">
            <a:solidFill>
              <a:srgbClr val="6E695F"/>
            </a:solidFill>
            <a:prstDash val="solid"/>
          </a:ln>
        </p:spPr>
        <p:txBody>
          <a:bodyPr/>
          <a:lstStyle/>
          <a:p>
            <a:endParaRPr lang="en-US" sz="4400"/>
          </a:p>
        </p:txBody>
      </p:sp>
      <p:sp>
        <p:nvSpPr>
          <p:cNvPr id="18" name="Rectangle: Rounded Corners 17">
            <a:extLst>
              <a:ext uri="{FF2B5EF4-FFF2-40B4-BE49-F238E27FC236}">
                <a16:creationId xmlns:a16="http://schemas.microsoft.com/office/drawing/2014/main" id="{0C881E9A-2E76-4233-8617-D11DC16FB16F}"/>
              </a:ext>
            </a:extLst>
          </p:cNvPr>
          <p:cNvSpPr>
            <a:spLocks noGrp="1"/>
          </p:cNvSpPr>
          <p:nvPr/>
        </p:nvSpPr>
        <p:spPr>
          <a:xfrm>
            <a:off x="5905500" y="1714500"/>
            <a:ext cx="57150" cy="2876550"/>
          </a:xfrm>
          <a:prstGeom prst="roundRect">
            <a:avLst>
              <a:gd name="adj" fmla="val 50000"/>
            </a:avLst>
          </a:prstGeom>
          <a:solidFill>
            <a:srgbClr val="C3944A"/>
          </a:solidFill>
          <a:ln w="0">
            <a:noFill/>
            <a:prstDash val="solid"/>
          </a:ln>
        </p:spPr>
        <p:txBody>
          <a:bodyPr/>
          <a:lstStyle/>
          <a:p>
            <a:endParaRPr lang="en-US" sz="4400"/>
          </a:p>
        </p:txBody>
      </p:sp>
      <p:sp>
        <p:nvSpPr>
          <p:cNvPr id="19" name="Rectangle 18">
            <a:extLst>
              <a:ext uri="{FF2B5EF4-FFF2-40B4-BE49-F238E27FC236}">
                <a16:creationId xmlns:a16="http://schemas.microsoft.com/office/drawing/2014/main" id="{B471874F-E843-4364-90DB-AE52B2B86958}"/>
              </a:ext>
            </a:extLst>
          </p:cNvPr>
          <p:cNvSpPr>
            <a:spLocks noGrp="1"/>
          </p:cNvSpPr>
          <p:nvPr/>
        </p:nvSpPr>
        <p:spPr>
          <a:xfrm>
            <a:off x="6115050" y="1866900"/>
            <a:ext cx="4819650" cy="266700"/>
          </a:xfrm>
          <a:prstGeom prst="rect">
            <a:avLst/>
          </a:prstGeom>
          <a:noFill/>
          <a:ln w="0">
            <a:noFill/>
            <a:prstDash val="solid"/>
          </a:ln>
        </p:spPr>
        <p:txBody>
          <a:bodyPr anchor="t"/>
          <a:lstStyle/>
          <a:p>
            <a:pPr>
              <a:defRPr sz="1350" b="1" i="0">
                <a:solidFill>
                  <a:srgbClr val="C3944A"/>
                </a:solidFill>
              </a:defRPr>
            </a:pPr>
            <a:r>
              <a:rPr sz="1400" b="1" i="0">
                <a:solidFill>
                  <a:srgbClr val="C3944A"/>
                </a:solidFill>
              </a:rPr>
              <a:t>WHAT IMAGING REVEALED</a:t>
            </a:r>
          </a:p>
        </p:txBody>
      </p:sp>
      <p:sp>
        <p:nvSpPr>
          <p:cNvPr id="20" name="Rectangle 19">
            <a:extLst>
              <a:ext uri="{FF2B5EF4-FFF2-40B4-BE49-F238E27FC236}">
                <a16:creationId xmlns:a16="http://schemas.microsoft.com/office/drawing/2014/main" id="{EBB2B3B0-2385-48D1-AF02-6604A64853A1}"/>
              </a:ext>
            </a:extLst>
          </p:cNvPr>
          <p:cNvSpPr>
            <a:spLocks noGrp="1"/>
          </p:cNvSpPr>
          <p:nvPr/>
        </p:nvSpPr>
        <p:spPr>
          <a:xfrm>
            <a:off x="6115050" y="2209800"/>
            <a:ext cx="4819650" cy="2286000"/>
          </a:xfrm>
          <a:prstGeom prst="rect">
            <a:avLst/>
          </a:prstGeom>
          <a:noFill/>
          <a:ln w="0">
            <a:noFill/>
            <a:prstDash val="solid"/>
          </a:ln>
        </p:spPr>
        <p:txBody>
          <a:bodyPr anchor="t"/>
          <a:lstStyle/>
          <a:p>
            <a:pPr>
              <a:defRPr sz="1163" b="0" i="0">
                <a:solidFill>
                  <a:srgbClr val="EFE4CF"/>
                </a:solidFill>
              </a:defRPr>
            </a:pPr>
            <a:r>
              <a:rPr sz="1600" b="0" i="0">
                <a:solidFill>
                  <a:srgbClr val="EFE4CF"/>
                </a:solidFill>
              </a:rPr>
              <a:t>HORSE｜visible</a:t>
            </a:r>
          </a:p>
          <a:p>
            <a:pPr>
              <a:defRPr sz="1163" b="0" i="0">
                <a:solidFill>
                  <a:srgbClr val="EFE4CF"/>
                </a:solidFill>
              </a:defRPr>
            </a:pPr>
            <a:r>
              <a:rPr sz="1600" b="0" i="0">
                <a:solidFill>
                  <a:srgbClr val="EFE4CF"/>
                </a:solidFill>
              </a:rPr>
              <a:t>SKULL｜infrared</a:t>
            </a:r>
          </a:p>
          <a:p>
            <a:pPr>
              <a:defRPr sz="1163" b="0" i="0">
                <a:solidFill>
                  <a:srgbClr val="EFE4CF"/>
                </a:solidFill>
              </a:defRPr>
            </a:pPr>
            <a:r>
              <a:rPr sz="1600" b="0" i="0">
                <a:solidFill>
                  <a:srgbClr val="EFE4CF"/>
                </a:solidFill>
              </a:rPr>
              <a:t>CHILD｜author uncertain</a:t>
            </a:r>
          </a:p>
        </p:txBody>
      </p:sp>
      <p:sp>
        <p:nvSpPr>
          <p:cNvPr id="21" name="Rectangle 20">
            <a:extLst>
              <a:ext uri="{FF2B5EF4-FFF2-40B4-BE49-F238E27FC236}">
                <a16:creationId xmlns:a16="http://schemas.microsoft.com/office/drawing/2014/main" id="{34D1B5AD-9509-4D32-9B5B-9C55C04AD6EE}"/>
              </a:ext>
            </a:extLst>
          </p:cNvPr>
          <p:cNvSpPr>
            <a:spLocks noGrp="1"/>
          </p:cNvSpPr>
          <p:nvPr/>
        </p:nvSpPr>
        <p:spPr>
          <a:xfrm>
            <a:off x="6286500" y="4972050"/>
            <a:ext cx="4457700" cy="361950"/>
          </a:xfrm>
          <a:prstGeom prst="rect">
            <a:avLst/>
          </a:prstGeom>
          <a:noFill/>
          <a:ln w="0">
            <a:noFill/>
            <a:prstDash val="solid"/>
          </a:ln>
        </p:spPr>
        <p:txBody>
          <a:bodyPr anchor="t"/>
          <a:lstStyle/>
          <a:p>
            <a:pPr>
              <a:defRPr sz="1500" b="1" i="0">
                <a:solidFill>
                  <a:srgbClr val="C3944A"/>
                </a:solidFill>
              </a:defRPr>
            </a:pPr>
            <a:r>
              <a:rPr sz="1600" b="1" i="0">
                <a:solidFill>
                  <a:srgbClr val="C3944A"/>
                </a:solidFill>
              </a:rPr>
              <a:t>SEEING A MARK ≠ PROVING ITS AUTHOR</a:t>
            </a:r>
          </a:p>
        </p:txBody>
      </p:sp>
    </p:spTree>
    <p:extLst>
      <p:ext uri="{BB962C8B-B14F-4D97-AF65-F5344CB8AC3E}">
        <p14:creationId xmlns:p14="http://schemas.microsoft.com/office/powerpoint/2010/main" val="296373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C9ABCCA-7AF9-44E0-9E44-83DE0BC17F2A}"/>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40ACF671-429E-4E70-A149-706C4B7C833D}"/>
              </a:ext>
            </a:extLst>
          </p:cNvPr>
          <p:cNvSpPr>
            <a:spLocks noGrp="1"/>
          </p:cNvSpPr>
          <p:nvPr/>
        </p:nvSpPr>
        <p:spPr>
          <a:xfrm>
            <a:off x="552450" y="542925"/>
            <a:ext cx="10287000" cy="742950"/>
          </a:xfrm>
          <a:prstGeom prst="rect">
            <a:avLst/>
          </a:prstGeom>
          <a:noFill/>
          <a:ln w="0">
            <a:noFill/>
            <a:prstDash val="solid"/>
          </a:ln>
        </p:spPr>
        <p:txBody>
          <a:bodyPr anchor="t"/>
          <a:lstStyle/>
          <a:p>
            <a:pPr>
              <a:defRPr sz="2325" b="1" i="0">
                <a:solidFill>
                  <a:srgbClr val="FFFDF6"/>
                </a:solidFill>
              </a:defRPr>
            </a:pPr>
            <a:r>
              <a:rPr sz="2325" b="1" i="0">
                <a:solidFill>
                  <a:srgbClr val="FFFDF6"/>
                </a:solidFill>
              </a:rPr>
              <a:t>2009–2012: What Did Conservation Reveal?</a:t>
            </a:r>
          </a:p>
        </p:txBody>
      </p:sp>
      <p:sp>
        <p:nvSpPr>
          <p:cNvPr id="5" name="Rectangle 4">
            <a:extLst>
              <a:ext uri="{FF2B5EF4-FFF2-40B4-BE49-F238E27FC236}">
                <a16:creationId xmlns:a16="http://schemas.microsoft.com/office/drawing/2014/main" id="{4531B938-B88B-40E0-91BC-F5F8FA67AFC6}"/>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sz="2400"/>
          </a:p>
        </p:txBody>
      </p:sp>
      <p:sp>
        <p:nvSpPr>
          <p:cNvPr id="6" name="Rectangle 5">
            <a:extLst>
              <a:ext uri="{FF2B5EF4-FFF2-40B4-BE49-F238E27FC236}">
                <a16:creationId xmlns:a16="http://schemas.microsoft.com/office/drawing/2014/main" id="{57A90414-8104-4D10-B78A-F1A6ACB89E1B}"/>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15</a:t>
            </a:r>
          </a:p>
        </p:txBody>
      </p:sp>
      <p:sp>
        <p:nvSpPr>
          <p:cNvPr id="7" name="Rectangle 6">
            <a:extLst>
              <a:ext uri="{FF2B5EF4-FFF2-40B4-BE49-F238E27FC236}">
                <a16:creationId xmlns:a16="http://schemas.microsoft.com/office/drawing/2014/main" id="{C797D284-B1A1-4659-86EB-FD66BA21C02A}"/>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13EA73BC-A5C5-4303-942E-79B099DF8A19}"/>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Scientific findings and criticism of overcleaning must remain side by side.</a:t>
            </a:r>
          </a:p>
        </p:txBody>
      </p:sp>
      <p:sp>
        <p:nvSpPr>
          <p:cNvPr id="9" name="Rectangle: Rounded Corners 8">
            <a:extLst>
              <a:ext uri="{FF2B5EF4-FFF2-40B4-BE49-F238E27FC236}">
                <a16:creationId xmlns:a16="http://schemas.microsoft.com/office/drawing/2014/main" id="{C6B1CB38-C8C4-4D6E-94A6-FB76A0A6E8D8}"/>
              </a:ext>
            </a:extLst>
          </p:cNvPr>
          <p:cNvSpPr>
            <a:spLocks noGrp="1"/>
          </p:cNvSpPr>
          <p:nvPr/>
        </p:nvSpPr>
        <p:spPr>
          <a:xfrm>
            <a:off x="685800" y="1733550"/>
            <a:ext cx="5105400" cy="3105150"/>
          </a:xfrm>
          <a:prstGeom prst="roundRect">
            <a:avLst>
              <a:gd name="adj" fmla="val 3681"/>
            </a:avLst>
          </a:prstGeom>
          <a:solidFill>
            <a:srgbClr val="111411"/>
          </a:solidFill>
          <a:ln w="9525">
            <a:solidFill>
              <a:srgbClr val="6E695F"/>
            </a:solidFill>
            <a:prstDash val="solid"/>
          </a:ln>
        </p:spPr>
        <p:txBody>
          <a:bodyPr/>
          <a:lstStyle/>
          <a:p>
            <a:endParaRPr lang="en-US" sz="2400"/>
          </a:p>
        </p:txBody>
      </p:sp>
      <p:sp>
        <p:nvSpPr>
          <p:cNvPr id="10" name="Rectangle: Rounded Corners 9">
            <a:extLst>
              <a:ext uri="{FF2B5EF4-FFF2-40B4-BE49-F238E27FC236}">
                <a16:creationId xmlns:a16="http://schemas.microsoft.com/office/drawing/2014/main" id="{02099821-F6B6-4792-92A5-321C14F822A6}"/>
              </a:ext>
            </a:extLst>
          </p:cNvPr>
          <p:cNvSpPr>
            <a:spLocks noGrp="1"/>
          </p:cNvSpPr>
          <p:nvPr/>
        </p:nvSpPr>
        <p:spPr>
          <a:xfrm>
            <a:off x="685800" y="1733550"/>
            <a:ext cx="57150" cy="3105150"/>
          </a:xfrm>
          <a:prstGeom prst="roundRect">
            <a:avLst>
              <a:gd name="adj" fmla="val 50000"/>
            </a:avLst>
          </a:prstGeom>
          <a:solidFill>
            <a:srgbClr val="C3944A"/>
          </a:solidFill>
          <a:ln w="0">
            <a:noFill/>
            <a:prstDash val="solid"/>
          </a:ln>
        </p:spPr>
        <p:txBody>
          <a:bodyPr/>
          <a:lstStyle/>
          <a:p>
            <a:endParaRPr lang="en-US" sz="2400"/>
          </a:p>
        </p:txBody>
      </p:sp>
      <p:sp>
        <p:nvSpPr>
          <p:cNvPr id="11" name="Rectangle 10">
            <a:extLst>
              <a:ext uri="{FF2B5EF4-FFF2-40B4-BE49-F238E27FC236}">
                <a16:creationId xmlns:a16="http://schemas.microsoft.com/office/drawing/2014/main" id="{C393D91C-8295-48CE-9A3A-95EF21E67962}"/>
              </a:ext>
            </a:extLst>
          </p:cNvPr>
          <p:cNvSpPr>
            <a:spLocks noGrp="1"/>
          </p:cNvSpPr>
          <p:nvPr/>
        </p:nvSpPr>
        <p:spPr>
          <a:xfrm>
            <a:off x="895350" y="1885950"/>
            <a:ext cx="4705350" cy="266700"/>
          </a:xfrm>
          <a:prstGeom prst="rect">
            <a:avLst/>
          </a:prstGeom>
          <a:noFill/>
          <a:ln w="0">
            <a:noFill/>
            <a:prstDash val="solid"/>
          </a:ln>
        </p:spPr>
        <p:txBody>
          <a:bodyPr anchor="t"/>
          <a:lstStyle/>
          <a:p>
            <a:pPr>
              <a:defRPr sz="1350" b="1" i="0">
                <a:solidFill>
                  <a:srgbClr val="C3944A"/>
                </a:solidFill>
              </a:defRPr>
            </a:pPr>
            <a:r>
              <a:rPr sz="1600" b="1" i="0">
                <a:solidFill>
                  <a:srgbClr val="C3944A"/>
                </a:solidFill>
              </a:rPr>
              <a:t>CONSERVATION &amp; RESEARCH</a:t>
            </a:r>
          </a:p>
        </p:txBody>
      </p:sp>
      <p:sp>
        <p:nvSpPr>
          <p:cNvPr id="12" name="Rectangle 11">
            <a:extLst>
              <a:ext uri="{FF2B5EF4-FFF2-40B4-BE49-F238E27FC236}">
                <a16:creationId xmlns:a16="http://schemas.microsoft.com/office/drawing/2014/main" id="{641BAE44-B740-479E-BB41-6E265B71D613}"/>
              </a:ext>
            </a:extLst>
          </p:cNvPr>
          <p:cNvSpPr>
            <a:spLocks noGrp="1"/>
          </p:cNvSpPr>
          <p:nvPr/>
        </p:nvSpPr>
        <p:spPr>
          <a:xfrm>
            <a:off x="895350" y="2228850"/>
            <a:ext cx="4705350" cy="25146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Ultramarine layers became clearer</a:t>
            </a:r>
          </a:p>
          <a:p>
            <a:pPr>
              <a:defRPr sz="1163" b="0" i="0">
                <a:solidFill>
                  <a:srgbClr val="EFE4CF"/>
                </a:solidFill>
              </a:defRPr>
            </a:pPr>
            <a:r>
              <a:rPr sz="1400" b="0" i="0">
                <a:solidFill>
                  <a:srgbClr val="EFE4CF"/>
                </a:solidFill>
              </a:rPr>
              <a:t>Unfinished areas were identified</a:t>
            </a:r>
          </a:p>
          <a:p>
            <a:pPr>
              <a:defRPr sz="1163" b="0" i="0">
                <a:solidFill>
                  <a:srgbClr val="EFE4CF"/>
                </a:solidFill>
              </a:defRPr>
            </a:pPr>
            <a:r>
              <a:rPr sz="1400" b="0" i="0">
                <a:solidFill>
                  <a:srgbClr val="EFE4CF"/>
                </a:solidFill>
              </a:rPr>
              <a:t>Some later overpaint was retained</a:t>
            </a:r>
          </a:p>
        </p:txBody>
      </p:sp>
      <p:sp>
        <p:nvSpPr>
          <p:cNvPr id="13" name="Rectangle: Rounded Corners 12">
            <a:extLst>
              <a:ext uri="{FF2B5EF4-FFF2-40B4-BE49-F238E27FC236}">
                <a16:creationId xmlns:a16="http://schemas.microsoft.com/office/drawing/2014/main" id="{3CA93633-0A9F-4592-B380-63BC10116A56}"/>
              </a:ext>
            </a:extLst>
          </p:cNvPr>
          <p:cNvSpPr>
            <a:spLocks noGrp="1"/>
          </p:cNvSpPr>
          <p:nvPr/>
        </p:nvSpPr>
        <p:spPr>
          <a:xfrm>
            <a:off x="6400800" y="1733550"/>
            <a:ext cx="5105400" cy="3105150"/>
          </a:xfrm>
          <a:prstGeom prst="roundRect">
            <a:avLst>
              <a:gd name="adj" fmla="val 3681"/>
            </a:avLst>
          </a:prstGeom>
          <a:solidFill>
            <a:srgbClr val="111411"/>
          </a:solidFill>
          <a:ln w="9525">
            <a:solidFill>
              <a:srgbClr val="6E695F"/>
            </a:solidFill>
            <a:prstDash val="solid"/>
          </a:ln>
        </p:spPr>
        <p:txBody>
          <a:bodyPr/>
          <a:lstStyle/>
          <a:p>
            <a:endParaRPr lang="en-US" sz="2400"/>
          </a:p>
        </p:txBody>
      </p:sp>
      <p:sp>
        <p:nvSpPr>
          <p:cNvPr id="14" name="Rectangle: Rounded Corners 13">
            <a:extLst>
              <a:ext uri="{FF2B5EF4-FFF2-40B4-BE49-F238E27FC236}">
                <a16:creationId xmlns:a16="http://schemas.microsoft.com/office/drawing/2014/main" id="{1E990645-93B6-486E-AEC3-9ECA20E08F68}"/>
              </a:ext>
            </a:extLst>
          </p:cNvPr>
          <p:cNvSpPr>
            <a:spLocks noGrp="1"/>
          </p:cNvSpPr>
          <p:nvPr/>
        </p:nvSpPr>
        <p:spPr>
          <a:xfrm>
            <a:off x="6400800" y="1733550"/>
            <a:ext cx="57150" cy="3105150"/>
          </a:xfrm>
          <a:prstGeom prst="roundRect">
            <a:avLst>
              <a:gd name="adj" fmla="val 50000"/>
            </a:avLst>
          </a:prstGeom>
          <a:solidFill>
            <a:srgbClr val="9A5B53"/>
          </a:solidFill>
          <a:ln w="0">
            <a:noFill/>
            <a:prstDash val="solid"/>
          </a:ln>
        </p:spPr>
        <p:txBody>
          <a:bodyPr/>
          <a:lstStyle/>
          <a:p>
            <a:endParaRPr lang="en-US" sz="2400"/>
          </a:p>
        </p:txBody>
      </p:sp>
      <p:sp>
        <p:nvSpPr>
          <p:cNvPr id="15" name="Rectangle 14">
            <a:extLst>
              <a:ext uri="{FF2B5EF4-FFF2-40B4-BE49-F238E27FC236}">
                <a16:creationId xmlns:a16="http://schemas.microsoft.com/office/drawing/2014/main" id="{4A921A5C-09BA-4883-AF48-42B6DD0939D6}"/>
              </a:ext>
            </a:extLst>
          </p:cNvPr>
          <p:cNvSpPr>
            <a:spLocks noGrp="1"/>
          </p:cNvSpPr>
          <p:nvPr/>
        </p:nvSpPr>
        <p:spPr>
          <a:xfrm>
            <a:off x="6610350" y="1885950"/>
            <a:ext cx="4705350" cy="266700"/>
          </a:xfrm>
          <a:prstGeom prst="rect">
            <a:avLst/>
          </a:prstGeom>
          <a:noFill/>
          <a:ln w="0">
            <a:noFill/>
            <a:prstDash val="solid"/>
          </a:ln>
        </p:spPr>
        <p:txBody>
          <a:bodyPr anchor="t"/>
          <a:lstStyle/>
          <a:p>
            <a:pPr>
              <a:defRPr sz="1350" b="1" i="0">
                <a:solidFill>
                  <a:srgbClr val="9A5B53"/>
                </a:solidFill>
              </a:defRPr>
            </a:pPr>
            <a:r>
              <a:rPr sz="1600" b="1" i="0">
                <a:solidFill>
                  <a:srgbClr val="9A5B53"/>
                </a:solidFill>
              </a:rPr>
              <a:t>CRITICISM &amp; CONCERN</a:t>
            </a:r>
          </a:p>
        </p:txBody>
      </p:sp>
      <p:sp>
        <p:nvSpPr>
          <p:cNvPr id="16" name="Rectangle 15">
            <a:extLst>
              <a:ext uri="{FF2B5EF4-FFF2-40B4-BE49-F238E27FC236}">
                <a16:creationId xmlns:a16="http://schemas.microsoft.com/office/drawing/2014/main" id="{F04FCBCC-89CF-4E57-9682-26C35338366E}"/>
              </a:ext>
            </a:extLst>
          </p:cNvPr>
          <p:cNvSpPr>
            <a:spLocks noGrp="1"/>
          </p:cNvSpPr>
          <p:nvPr/>
        </p:nvSpPr>
        <p:spPr>
          <a:xfrm>
            <a:off x="6610350" y="2228850"/>
            <a:ext cx="4705350" cy="251460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Was the cleaning too deep?</a:t>
            </a:r>
          </a:p>
          <a:p>
            <a:pPr>
              <a:defRPr sz="1163" b="0" i="0">
                <a:solidFill>
                  <a:srgbClr val="EFE4CF"/>
                </a:solidFill>
              </a:defRPr>
            </a:pPr>
            <a:r>
              <a:rPr sz="1400" b="0" i="0">
                <a:solidFill>
                  <a:srgbClr val="EFE4CF"/>
                </a:solidFill>
              </a:rPr>
              <a:t>Were white layers or glazes weakened?</a:t>
            </a:r>
          </a:p>
          <a:p>
            <a:pPr>
              <a:defRPr sz="1163" b="0" i="0">
                <a:solidFill>
                  <a:srgbClr val="EFE4CF"/>
                </a:solidFill>
              </a:defRPr>
            </a:pPr>
            <a:r>
              <a:rPr sz="1400" b="0" i="0">
                <a:solidFill>
                  <a:srgbClr val="EFE4CF"/>
                </a:solidFill>
              </a:rPr>
              <a:t>Was some smoky softness lost?</a:t>
            </a:r>
          </a:p>
        </p:txBody>
      </p:sp>
      <p:sp>
        <p:nvSpPr>
          <p:cNvPr id="17" name="Rectangle 16">
            <a:extLst>
              <a:ext uri="{FF2B5EF4-FFF2-40B4-BE49-F238E27FC236}">
                <a16:creationId xmlns:a16="http://schemas.microsoft.com/office/drawing/2014/main" id="{9807ACA3-63F2-4D58-9B29-BF1E68F7F08A}"/>
              </a:ext>
            </a:extLst>
          </p:cNvPr>
          <p:cNvSpPr>
            <a:spLocks noGrp="1"/>
          </p:cNvSpPr>
          <p:nvPr/>
        </p:nvSpPr>
        <p:spPr>
          <a:xfrm>
            <a:off x="2190750" y="5276850"/>
            <a:ext cx="7810500" cy="400050"/>
          </a:xfrm>
          <a:prstGeom prst="rect">
            <a:avLst/>
          </a:prstGeom>
          <a:noFill/>
          <a:ln w="0">
            <a:noFill/>
            <a:prstDash val="solid"/>
          </a:ln>
        </p:spPr>
        <p:txBody>
          <a:bodyPr anchor="t"/>
          <a:lstStyle/>
          <a:p>
            <a:pPr>
              <a:defRPr sz="1650" b="1" i="0">
                <a:solidFill>
                  <a:srgbClr val="FFFDF6"/>
                </a:solidFill>
              </a:defRPr>
            </a:pPr>
            <a:r>
              <a:rPr b="1" i="0">
                <a:solidFill>
                  <a:srgbClr val="FFFDF6"/>
                </a:solidFill>
              </a:rPr>
              <a:t>VERDICT｜not simple</a:t>
            </a:r>
          </a:p>
        </p:txBody>
      </p:sp>
    </p:spTree>
    <p:extLst>
      <p:ext uri="{BB962C8B-B14F-4D97-AF65-F5344CB8AC3E}">
        <p14:creationId xmlns:p14="http://schemas.microsoft.com/office/powerpoint/2010/main" val="940264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83617114-3274-4A12-81AF-0C83D780C689}"/>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7F6416AF-DA6E-47A6-82DD-8EFA38229875}"/>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Freud’s Vulture: One Word Went Wrong</a:t>
            </a:r>
          </a:p>
        </p:txBody>
      </p:sp>
      <p:sp>
        <p:nvSpPr>
          <p:cNvPr id="5" name="Rectangle 4">
            <a:extLst>
              <a:ext uri="{FF2B5EF4-FFF2-40B4-BE49-F238E27FC236}">
                <a16:creationId xmlns:a16="http://schemas.microsoft.com/office/drawing/2014/main" id="{B9396582-9CFA-4595-B7B5-A70CE1B82A8D}"/>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61D78402-C417-47E0-BEC8-68D4BE9DDE33}"/>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16</a:t>
            </a:r>
          </a:p>
        </p:txBody>
      </p:sp>
      <p:sp>
        <p:nvSpPr>
          <p:cNvPr id="7" name="Rectangle 6">
            <a:extLst>
              <a:ext uri="{FF2B5EF4-FFF2-40B4-BE49-F238E27FC236}">
                <a16:creationId xmlns:a16="http://schemas.microsoft.com/office/drawing/2014/main" id="{25A4B15E-6DA1-42FE-B137-70453A51E016}"/>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233E729B-A946-46BF-8309-4AA0181DB41B}"/>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Nibbio means kite, not vulture; a compelling theory began with a mistranslation.</a:t>
            </a:r>
          </a:p>
        </p:txBody>
      </p:sp>
      <p:sp>
        <p:nvSpPr>
          <p:cNvPr id="9" name="Rectangle 8">
            <a:extLst>
              <a:ext uri="{FF2B5EF4-FFF2-40B4-BE49-F238E27FC236}">
                <a16:creationId xmlns:a16="http://schemas.microsoft.com/office/drawing/2014/main" id="{2C33B561-FDC0-4E87-8B0A-2E3C8CF15E04}"/>
              </a:ext>
            </a:extLst>
          </p:cNvPr>
          <p:cNvSpPr>
            <a:spLocks noGrp="1"/>
          </p:cNvSpPr>
          <p:nvPr/>
        </p:nvSpPr>
        <p:spPr>
          <a:xfrm>
            <a:off x="1047750" y="2000250"/>
            <a:ext cx="4000500" cy="819150"/>
          </a:xfrm>
          <a:prstGeom prst="rect">
            <a:avLst/>
          </a:prstGeom>
          <a:noFill/>
          <a:ln w="0">
            <a:noFill/>
            <a:prstDash val="solid"/>
          </a:ln>
        </p:spPr>
        <p:txBody>
          <a:bodyPr anchor="t"/>
          <a:lstStyle/>
          <a:p>
            <a:pPr>
              <a:defRPr sz="4500" b="0" i="1">
                <a:solidFill>
                  <a:srgbClr val="C3944A"/>
                </a:solidFill>
              </a:defRPr>
            </a:pPr>
            <a:r>
              <a:rPr sz="5400" b="0" i="1">
                <a:solidFill>
                  <a:srgbClr val="C3944A"/>
                </a:solidFill>
              </a:rPr>
              <a:t>nibbio</a:t>
            </a:r>
          </a:p>
        </p:txBody>
      </p:sp>
      <p:sp>
        <p:nvSpPr>
          <p:cNvPr id="10" name="Rectangle 9">
            <a:extLst>
              <a:ext uri="{FF2B5EF4-FFF2-40B4-BE49-F238E27FC236}">
                <a16:creationId xmlns:a16="http://schemas.microsoft.com/office/drawing/2014/main" id="{1CC25B96-977B-4D9E-AA21-BE6E1CDD0853}"/>
              </a:ext>
            </a:extLst>
          </p:cNvPr>
          <p:cNvSpPr>
            <a:spLocks noGrp="1"/>
          </p:cNvSpPr>
          <p:nvPr/>
        </p:nvSpPr>
        <p:spPr>
          <a:xfrm>
            <a:off x="1714500" y="3086100"/>
            <a:ext cx="2667000" cy="400050"/>
          </a:xfrm>
          <a:prstGeom prst="rect">
            <a:avLst/>
          </a:prstGeom>
          <a:noFill/>
          <a:ln w="0">
            <a:noFill/>
            <a:prstDash val="solid"/>
          </a:ln>
        </p:spPr>
        <p:txBody>
          <a:bodyPr anchor="t"/>
          <a:lstStyle/>
          <a:p>
            <a:pPr>
              <a:defRPr sz="1800" b="1" i="0">
                <a:solidFill>
                  <a:srgbClr val="FFFDF6"/>
                </a:solidFill>
              </a:defRPr>
            </a:pPr>
            <a:r>
              <a:rPr sz="2400" b="1" i="0">
                <a:solidFill>
                  <a:srgbClr val="FFFDF6"/>
                </a:solidFill>
              </a:rPr>
              <a:t>KITE</a:t>
            </a:r>
          </a:p>
        </p:txBody>
      </p:sp>
      <p:sp>
        <p:nvSpPr>
          <p:cNvPr id="11" name="Rectangle 10">
            <a:extLst>
              <a:ext uri="{FF2B5EF4-FFF2-40B4-BE49-F238E27FC236}">
                <a16:creationId xmlns:a16="http://schemas.microsoft.com/office/drawing/2014/main" id="{BC6523EB-05FD-4DF1-A5C5-1D34DB7DD0CE}"/>
              </a:ext>
            </a:extLst>
          </p:cNvPr>
          <p:cNvSpPr>
            <a:spLocks noGrp="1"/>
          </p:cNvSpPr>
          <p:nvPr/>
        </p:nvSpPr>
        <p:spPr>
          <a:xfrm>
            <a:off x="5467350" y="2705100"/>
            <a:ext cx="952500" cy="666750"/>
          </a:xfrm>
          <a:prstGeom prst="rect">
            <a:avLst/>
          </a:prstGeom>
          <a:noFill/>
          <a:ln w="0">
            <a:noFill/>
            <a:prstDash val="solid"/>
          </a:ln>
        </p:spPr>
        <p:txBody>
          <a:bodyPr anchor="t"/>
          <a:lstStyle/>
          <a:p>
            <a:pPr>
              <a:defRPr sz="4050" b="1" i="0">
                <a:solidFill>
                  <a:srgbClr val="9A5B53"/>
                </a:solidFill>
              </a:defRPr>
            </a:pPr>
            <a:r>
              <a:rPr sz="4800" b="1" i="0">
                <a:solidFill>
                  <a:srgbClr val="9A5B53"/>
                </a:solidFill>
              </a:rPr>
              <a:t>≠</a:t>
            </a:r>
          </a:p>
        </p:txBody>
      </p:sp>
      <p:sp>
        <p:nvSpPr>
          <p:cNvPr id="12" name="Rectangle 11">
            <a:extLst>
              <a:ext uri="{FF2B5EF4-FFF2-40B4-BE49-F238E27FC236}">
                <a16:creationId xmlns:a16="http://schemas.microsoft.com/office/drawing/2014/main" id="{5281834A-35E4-4FE8-9326-FD5725EA4ABD}"/>
              </a:ext>
            </a:extLst>
          </p:cNvPr>
          <p:cNvSpPr>
            <a:spLocks noGrp="1"/>
          </p:cNvSpPr>
          <p:nvPr/>
        </p:nvSpPr>
        <p:spPr>
          <a:xfrm>
            <a:off x="7010400" y="2000250"/>
            <a:ext cx="4000500" cy="819150"/>
          </a:xfrm>
          <a:prstGeom prst="rect">
            <a:avLst/>
          </a:prstGeom>
          <a:noFill/>
          <a:ln w="0">
            <a:noFill/>
            <a:prstDash val="solid"/>
          </a:ln>
        </p:spPr>
        <p:txBody>
          <a:bodyPr anchor="t"/>
          <a:lstStyle/>
          <a:p>
            <a:pPr>
              <a:defRPr sz="4050" b="0" i="1">
                <a:solidFill>
                  <a:srgbClr val="C7BBA6"/>
                </a:solidFill>
              </a:defRPr>
            </a:pPr>
            <a:r>
              <a:rPr sz="4800" b="0" i="1">
                <a:solidFill>
                  <a:srgbClr val="C7BBA6"/>
                </a:solidFill>
              </a:rPr>
              <a:t>vulture</a:t>
            </a:r>
          </a:p>
        </p:txBody>
      </p:sp>
      <p:sp>
        <p:nvSpPr>
          <p:cNvPr id="13" name="Rectangle 12">
            <a:extLst>
              <a:ext uri="{FF2B5EF4-FFF2-40B4-BE49-F238E27FC236}">
                <a16:creationId xmlns:a16="http://schemas.microsoft.com/office/drawing/2014/main" id="{E7F851F0-2205-480D-BF40-95E422E46687}"/>
              </a:ext>
            </a:extLst>
          </p:cNvPr>
          <p:cNvSpPr>
            <a:spLocks noGrp="1"/>
          </p:cNvSpPr>
          <p:nvPr/>
        </p:nvSpPr>
        <p:spPr>
          <a:xfrm>
            <a:off x="7677150" y="3086100"/>
            <a:ext cx="2667000" cy="400050"/>
          </a:xfrm>
          <a:prstGeom prst="rect">
            <a:avLst/>
          </a:prstGeom>
          <a:noFill/>
          <a:ln w="0">
            <a:noFill/>
            <a:prstDash val="solid"/>
          </a:ln>
        </p:spPr>
        <p:txBody>
          <a:bodyPr anchor="t"/>
          <a:lstStyle/>
          <a:p>
            <a:pPr>
              <a:defRPr sz="1800" b="1" i="0">
                <a:solidFill>
                  <a:srgbClr val="FFFDF6"/>
                </a:solidFill>
              </a:defRPr>
            </a:pPr>
            <a:r>
              <a:rPr sz="2400" b="1" i="0">
                <a:solidFill>
                  <a:srgbClr val="FFFDF6"/>
                </a:solidFill>
              </a:rPr>
              <a:t>VULTURE</a:t>
            </a:r>
          </a:p>
        </p:txBody>
      </p:sp>
      <p:sp>
        <p:nvSpPr>
          <p:cNvPr id="14" name="Rectangle: Rounded Corners 13">
            <a:extLst>
              <a:ext uri="{FF2B5EF4-FFF2-40B4-BE49-F238E27FC236}">
                <a16:creationId xmlns:a16="http://schemas.microsoft.com/office/drawing/2014/main" id="{93244FB4-6F87-41A2-9FB3-1A9D790B5FD6}"/>
              </a:ext>
            </a:extLst>
          </p:cNvPr>
          <p:cNvSpPr>
            <a:spLocks noGrp="1"/>
          </p:cNvSpPr>
          <p:nvPr/>
        </p:nvSpPr>
        <p:spPr>
          <a:xfrm>
            <a:off x="2686050" y="4000500"/>
            <a:ext cx="6819900" cy="1295400"/>
          </a:xfrm>
          <a:prstGeom prst="roundRect">
            <a:avLst>
              <a:gd name="adj" fmla="val 8824"/>
            </a:avLst>
          </a:prstGeom>
          <a:solidFill>
            <a:srgbClr val="111411"/>
          </a:solidFill>
          <a:ln w="9525">
            <a:solidFill>
              <a:srgbClr val="6E695F"/>
            </a:solidFill>
            <a:prstDash val="solid"/>
          </a:ln>
        </p:spPr>
        <p:txBody>
          <a:bodyPr/>
          <a:lstStyle/>
          <a:p>
            <a:endParaRPr lang="en-US" sz="2400"/>
          </a:p>
        </p:txBody>
      </p:sp>
      <p:sp>
        <p:nvSpPr>
          <p:cNvPr id="15" name="Rectangle: Rounded Corners 14">
            <a:extLst>
              <a:ext uri="{FF2B5EF4-FFF2-40B4-BE49-F238E27FC236}">
                <a16:creationId xmlns:a16="http://schemas.microsoft.com/office/drawing/2014/main" id="{9FDCD44B-9F11-46F5-8812-81EDE320CF69}"/>
              </a:ext>
            </a:extLst>
          </p:cNvPr>
          <p:cNvSpPr>
            <a:spLocks noGrp="1"/>
          </p:cNvSpPr>
          <p:nvPr/>
        </p:nvSpPr>
        <p:spPr>
          <a:xfrm>
            <a:off x="2686050" y="4000500"/>
            <a:ext cx="57150" cy="1295400"/>
          </a:xfrm>
          <a:prstGeom prst="roundRect">
            <a:avLst>
              <a:gd name="adj" fmla="val 50000"/>
            </a:avLst>
          </a:prstGeom>
          <a:solidFill>
            <a:srgbClr val="9A5B53"/>
          </a:solidFill>
          <a:ln w="0">
            <a:noFill/>
            <a:prstDash val="solid"/>
          </a:ln>
        </p:spPr>
        <p:txBody>
          <a:bodyPr/>
          <a:lstStyle/>
          <a:p>
            <a:endParaRPr lang="en-US" sz="2400"/>
          </a:p>
        </p:txBody>
      </p:sp>
      <p:sp>
        <p:nvSpPr>
          <p:cNvPr id="16" name="Rectangle 15">
            <a:extLst>
              <a:ext uri="{FF2B5EF4-FFF2-40B4-BE49-F238E27FC236}">
                <a16:creationId xmlns:a16="http://schemas.microsoft.com/office/drawing/2014/main" id="{8E4EC98B-4141-461E-B381-715B757E39F2}"/>
              </a:ext>
            </a:extLst>
          </p:cNvPr>
          <p:cNvSpPr>
            <a:spLocks noGrp="1"/>
          </p:cNvSpPr>
          <p:nvPr/>
        </p:nvSpPr>
        <p:spPr>
          <a:xfrm>
            <a:off x="2895600" y="4152900"/>
            <a:ext cx="6419850" cy="266700"/>
          </a:xfrm>
          <a:prstGeom prst="rect">
            <a:avLst/>
          </a:prstGeom>
          <a:noFill/>
          <a:ln w="0">
            <a:noFill/>
            <a:prstDash val="solid"/>
          </a:ln>
        </p:spPr>
        <p:txBody>
          <a:bodyPr anchor="t"/>
          <a:lstStyle/>
          <a:p>
            <a:pPr>
              <a:defRPr sz="1350" b="1" i="0">
                <a:solidFill>
                  <a:srgbClr val="9A5B53"/>
                </a:solidFill>
              </a:defRPr>
            </a:pPr>
            <a:r>
              <a:rPr sz="1600" b="1" i="0">
                <a:solidFill>
                  <a:srgbClr val="9A5B53"/>
                </a:solidFill>
              </a:rPr>
              <a:t>EVIDENCE CHECK</a:t>
            </a:r>
          </a:p>
        </p:txBody>
      </p:sp>
      <p:sp>
        <p:nvSpPr>
          <p:cNvPr id="17" name="Rectangle 16">
            <a:extLst>
              <a:ext uri="{FF2B5EF4-FFF2-40B4-BE49-F238E27FC236}">
                <a16:creationId xmlns:a16="http://schemas.microsoft.com/office/drawing/2014/main" id="{37434B44-645F-4945-B37A-D982B82FD317}"/>
              </a:ext>
            </a:extLst>
          </p:cNvPr>
          <p:cNvSpPr>
            <a:spLocks noGrp="1"/>
          </p:cNvSpPr>
          <p:nvPr/>
        </p:nvSpPr>
        <p:spPr>
          <a:xfrm>
            <a:off x="2895600" y="4495800"/>
            <a:ext cx="6419850" cy="704850"/>
          </a:xfrm>
          <a:prstGeom prst="rect">
            <a:avLst/>
          </a:prstGeom>
          <a:noFill/>
          <a:ln w="0">
            <a:noFill/>
            <a:prstDash val="solid"/>
          </a:ln>
        </p:spPr>
        <p:txBody>
          <a:bodyPr anchor="t"/>
          <a:lstStyle/>
          <a:p>
            <a:pPr>
              <a:defRPr sz="1163" b="0" i="0">
                <a:solidFill>
                  <a:srgbClr val="EFE4CF"/>
                </a:solidFill>
              </a:defRPr>
            </a:pPr>
            <a:r>
              <a:rPr sz="1400" b="0" i="0">
                <a:solidFill>
                  <a:srgbClr val="EFE4CF"/>
                </a:solidFill>
              </a:rPr>
              <a:t>FREUD｜two mothers　NIBBIO＝KITE　VULTURE＝AVVOLTOIO</a:t>
            </a:r>
          </a:p>
        </p:txBody>
      </p:sp>
    </p:spTree>
    <p:extLst>
      <p:ext uri="{BB962C8B-B14F-4D97-AF65-F5344CB8AC3E}">
        <p14:creationId xmlns:p14="http://schemas.microsoft.com/office/powerpoint/2010/main" val="2055350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12192"/>
            <a:ext cx="12192000" cy="6858000"/>
          </a:xfrm>
          <a:prstGeom prst="rect">
            <a:avLst/>
          </a:prstGeom>
        </p:spPr>
      </p:pic>
      <p:sp>
        <p:nvSpPr>
          <p:cNvPr id="3" name="Rectangle 2">
            <a:extLst>
              <a:ext uri="{FF2B5EF4-FFF2-40B4-BE49-F238E27FC236}">
                <a16:creationId xmlns:a16="http://schemas.microsoft.com/office/drawing/2014/main" id="{6E8DE65B-BCBF-4F51-8447-620135EDB0AB}"/>
              </a:ext>
            </a:extLst>
          </p:cNvPr>
          <p:cNvSpPr>
            <a:spLocks noGrp="1"/>
          </p:cNvSpPr>
          <p:nvPr/>
        </p:nvSpPr>
        <p:spPr>
          <a:xfrm>
            <a:off x="552450" y="266700"/>
            <a:ext cx="8382000" cy="228600"/>
          </a:xfrm>
          <a:prstGeom prst="rect">
            <a:avLst/>
          </a:prstGeom>
          <a:noFill/>
          <a:ln w="0">
            <a:noFill/>
            <a:prstDash val="solid"/>
          </a:ln>
        </p:spPr>
        <p:txBody>
          <a:bodyPr anchor="t"/>
          <a:lstStyle/>
          <a:p>
            <a:pPr>
              <a:defRPr sz="975" b="1" i="0">
                <a:solidFill>
                  <a:srgbClr val="C3944A"/>
                </a:solidFill>
              </a:defRPr>
            </a:pPr>
            <a:r>
              <a:rPr sz="975" b="1" i="0" dirty="0">
                <a:solidFill>
                  <a:schemeClr val="bg1"/>
                </a:solidFill>
              </a:rPr>
              <a:t>OUR FAMOUS ARTISTS | LEONARDO DA VINCI | c.1503–1519</a:t>
            </a:r>
          </a:p>
        </p:txBody>
      </p:sp>
      <p:sp>
        <p:nvSpPr>
          <p:cNvPr id="4" name="Rectangle 3">
            <a:extLst>
              <a:ext uri="{FF2B5EF4-FFF2-40B4-BE49-F238E27FC236}">
                <a16:creationId xmlns:a16="http://schemas.microsoft.com/office/drawing/2014/main" id="{1CA0E72A-1171-4FCF-A5D4-D1C16BF8ECF9}"/>
              </a:ext>
            </a:extLst>
          </p:cNvPr>
          <p:cNvSpPr>
            <a:spLocks noGrp="1"/>
          </p:cNvSpPr>
          <p:nvPr/>
        </p:nvSpPr>
        <p:spPr>
          <a:xfrm>
            <a:off x="552450" y="542925"/>
            <a:ext cx="10287000" cy="742950"/>
          </a:xfrm>
          <a:prstGeom prst="rect">
            <a:avLst/>
          </a:prstGeom>
          <a:noFill/>
          <a:ln w="0">
            <a:noFill/>
            <a:prstDash val="solid"/>
          </a:ln>
        </p:spPr>
        <p:txBody>
          <a:bodyPr anchor="t"/>
          <a:lstStyle/>
          <a:p>
            <a:pPr>
              <a:defRPr sz="2775" b="1" i="0">
                <a:solidFill>
                  <a:srgbClr val="FFFDF6"/>
                </a:solidFill>
              </a:defRPr>
            </a:pPr>
            <a:r>
              <a:rPr sz="2775" b="1" i="0">
                <a:solidFill>
                  <a:srgbClr val="FFFDF6"/>
                </a:solidFill>
              </a:rPr>
              <a:t>How Long Can Love Protect Someone?</a:t>
            </a:r>
          </a:p>
        </p:txBody>
      </p:sp>
      <p:sp>
        <p:nvSpPr>
          <p:cNvPr id="5" name="Rectangle 4">
            <a:extLst>
              <a:ext uri="{FF2B5EF4-FFF2-40B4-BE49-F238E27FC236}">
                <a16:creationId xmlns:a16="http://schemas.microsoft.com/office/drawing/2014/main" id="{DC7903C1-6B9E-40D2-A9CF-6586088C7657}"/>
              </a:ext>
            </a:extLst>
          </p:cNvPr>
          <p:cNvSpPr>
            <a:spLocks noGrp="1"/>
          </p:cNvSpPr>
          <p:nvPr/>
        </p:nvSpPr>
        <p:spPr>
          <a:xfrm>
            <a:off x="552450" y="1304925"/>
            <a:ext cx="800100" cy="38100"/>
          </a:xfrm>
          <a:prstGeom prst="rect">
            <a:avLst/>
          </a:prstGeom>
          <a:solidFill>
            <a:srgbClr val="C3944A"/>
          </a:solidFill>
          <a:ln w="0">
            <a:noFill/>
            <a:prstDash val="solid"/>
          </a:ln>
        </p:spPr>
        <p:txBody>
          <a:bodyPr/>
          <a:lstStyle/>
          <a:p>
            <a:endParaRPr lang="en-US"/>
          </a:p>
        </p:txBody>
      </p:sp>
      <p:sp>
        <p:nvSpPr>
          <p:cNvPr id="6" name="Rectangle 5">
            <a:extLst>
              <a:ext uri="{FF2B5EF4-FFF2-40B4-BE49-F238E27FC236}">
                <a16:creationId xmlns:a16="http://schemas.microsoft.com/office/drawing/2014/main" id="{0238955E-C9D1-4A57-B301-F5B82D75DFDF}"/>
              </a:ext>
            </a:extLst>
          </p:cNvPr>
          <p:cNvSpPr>
            <a:spLocks noGrp="1"/>
          </p:cNvSpPr>
          <p:nvPr/>
        </p:nvSpPr>
        <p:spPr>
          <a:xfrm>
            <a:off x="11096625" y="295275"/>
            <a:ext cx="552450" cy="228600"/>
          </a:xfrm>
          <a:prstGeom prst="rect">
            <a:avLst/>
          </a:prstGeom>
          <a:noFill/>
          <a:ln w="0">
            <a:noFill/>
            <a:prstDash val="solid"/>
          </a:ln>
        </p:spPr>
        <p:txBody>
          <a:bodyPr anchor="t"/>
          <a:lstStyle/>
          <a:p>
            <a:pPr>
              <a:defRPr sz="1050" b="1" i="0">
                <a:solidFill>
                  <a:srgbClr val="C7BBA6"/>
                </a:solidFill>
              </a:defRPr>
            </a:pPr>
            <a:r>
              <a:rPr sz="1050" b="1" i="0">
                <a:solidFill>
                  <a:srgbClr val="C7BBA6"/>
                </a:solidFill>
              </a:rPr>
              <a:t>17</a:t>
            </a:r>
          </a:p>
        </p:txBody>
      </p:sp>
      <p:sp>
        <p:nvSpPr>
          <p:cNvPr id="7" name="Rectangle 6">
            <a:extLst>
              <a:ext uri="{FF2B5EF4-FFF2-40B4-BE49-F238E27FC236}">
                <a16:creationId xmlns:a16="http://schemas.microsoft.com/office/drawing/2014/main" id="{2634A667-9607-4128-9D9F-820F3E9FE835}"/>
              </a:ext>
            </a:extLst>
          </p:cNvPr>
          <p:cNvSpPr>
            <a:spLocks noGrp="1"/>
          </p:cNvSpPr>
          <p:nvPr/>
        </p:nvSpPr>
        <p:spPr>
          <a:xfrm>
            <a:off x="0" y="6305550"/>
            <a:ext cx="12192000" cy="552450"/>
          </a:xfrm>
          <a:prstGeom prst="rect">
            <a:avLst/>
          </a:prstGeom>
          <a:solidFill>
            <a:srgbClr val="090C0B"/>
          </a:solidFill>
          <a:ln w="0">
            <a:noFill/>
            <a:prstDash val="solid"/>
          </a:ln>
        </p:spPr>
        <p:txBody>
          <a:bodyPr/>
          <a:lstStyle/>
          <a:p>
            <a:endParaRPr lang="en-US" sz="2400"/>
          </a:p>
        </p:txBody>
      </p:sp>
      <p:sp>
        <p:nvSpPr>
          <p:cNvPr id="8" name="Rectangle 7">
            <a:extLst>
              <a:ext uri="{FF2B5EF4-FFF2-40B4-BE49-F238E27FC236}">
                <a16:creationId xmlns:a16="http://schemas.microsoft.com/office/drawing/2014/main" id="{2F4C8982-1BDF-49AF-9365-EB42BFC5067B}"/>
              </a:ext>
            </a:extLst>
          </p:cNvPr>
          <p:cNvSpPr>
            <a:spLocks noGrp="1"/>
          </p:cNvSpPr>
          <p:nvPr/>
        </p:nvSpPr>
        <p:spPr>
          <a:xfrm>
            <a:off x="533400" y="6438900"/>
            <a:ext cx="11125200" cy="257175"/>
          </a:xfrm>
          <a:prstGeom prst="rect">
            <a:avLst/>
          </a:prstGeom>
          <a:noFill/>
          <a:ln w="0">
            <a:noFill/>
            <a:prstDash val="solid"/>
          </a:ln>
        </p:spPr>
        <p:txBody>
          <a:bodyPr anchor="t"/>
          <a:lstStyle/>
          <a:p>
            <a:pPr>
              <a:defRPr sz="1275" b="0" i="0">
                <a:solidFill>
                  <a:srgbClr val="EFE4CF"/>
                </a:solidFill>
              </a:defRPr>
            </a:pPr>
            <a:r>
              <a:rPr sz="1600" b="0" i="0">
                <a:solidFill>
                  <a:srgbClr val="EFE4CF"/>
                </a:solidFill>
              </a:rPr>
              <a:t>Is the reaching hand resistance—or blessing?</a:t>
            </a:r>
          </a:p>
        </p:txBody>
      </p:sp>
      <p:pic>
        <p:nvPicPr>
          <p:cNvPr id="25" name="Picture 24"/>
          <p:cNvPicPr>
            <a:picLocks noChangeAspect="1"/>
          </p:cNvPicPr>
          <p:nvPr/>
        </p:nvPicPr>
        <p:blipFill>
          <a:blip r:embed="rId4"/>
          <a:srcRect t="11833" b="11833"/>
          <a:stretch>
            <a:fillRect/>
          </a:stretch>
        </p:blipFill>
        <p:spPr>
          <a:xfrm>
            <a:off x="552450" y="1581150"/>
            <a:ext cx="6191250" cy="4362450"/>
          </a:xfrm>
          <a:prstGeom prst="roundRect">
            <a:avLst>
              <a:gd name="adj" fmla="val 2620"/>
            </a:avLst>
          </a:prstGeom>
        </p:spPr>
      </p:pic>
      <p:sp>
        <p:nvSpPr>
          <p:cNvPr id="10" name="Rectangle: Rounded Corners 9">
            <a:extLst>
              <a:ext uri="{FF2B5EF4-FFF2-40B4-BE49-F238E27FC236}">
                <a16:creationId xmlns:a16="http://schemas.microsoft.com/office/drawing/2014/main" id="{211F1F14-A068-4839-82F0-EF052881B5D5}"/>
              </a:ext>
            </a:extLst>
          </p:cNvPr>
          <p:cNvSpPr>
            <a:spLocks noGrp="1"/>
          </p:cNvSpPr>
          <p:nvPr/>
        </p:nvSpPr>
        <p:spPr>
          <a:xfrm>
            <a:off x="7239000" y="1790700"/>
            <a:ext cx="4057650" cy="781050"/>
          </a:xfrm>
          <a:prstGeom prst="roundRect">
            <a:avLst>
              <a:gd name="adj" fmla="val 14634"/>
            </a:avLst>
          </a:prstGeom>
          <a:solidFill>
            <a:srgbClr val="173534"/>
          </a:solidFill>
          <a:ln w="9525">
            <a:solidFill>
              <a:srgbClr val="C3944A"/>
            </a:solidFill>
            <a:prstDash val="solid"/>
          </a:ln>
        </p:spPr>
        <p:txBody>
          <a:bodyPr/>
          <a:lstStyle/>
          <a:p>
            <a:endParaRPr lang="en-US" sz="2400"/>
          </a:p>
        </p:txBody>
      </p:sp>
      <p:sp>
        <p:nvSpPr>
          <p:cNvPr id="11" name="Rectangle 10">
            <a:extLst>
              <a:ext uri="{FF2B5EF4-FFF2-40B4-BE49-F238E27FC236}">
                <a16:creationId xmlns:a16="http://schemas.microsoft.com/office/drawing/2014/main" id="{FE75A156-0DB1-42FD-A07C-02C7ABBD526E}"/>
              </a:ext>
            </a:extLst>
          </p:cNvPr>
          <p:cNvSpPr>
            <a:spLocks noGrp="1"/>
          </p:cNvSpPr>
          <p:nvPr/>
        </p:nvSpPr>
        <p:spPr>
          <a:xfrm>
            <a:off x="7448550" y="2038350"/>
            <a:ext cx="3638550" cy="323850"/>
          </a:xfrm>
          <a:prstGeom prst="rect">
            <a:avLst/>
          </a:prstGeom>
          <a:noFill/>
          <a:ln w="0">
            <a:noFill/>
            <a:prstDash val="solid"/>
          </a:ln>
        </p:spPr>
        <p:txBody>
          <a:bodyPr anchor="t"/>
          <a:lstStyle/>
          <a:p>
            <a:pPr>
              <a:defRPr sz="1350" b="1" i="0">
                <a:solidFill>
                  <a:srgbClr val="FFFDF6"/>
                </a:solidFill>
              </a:defRPr>
            </a:pPr>
            <a:r>
              <a:rPr sz="1600" b="1" i="0">
                <a:solidFill>
                  <a:srgbClr val="FFFDF6"/>
                </a:solidFill>
              </a:rPr>
              <a:t>Can protection have a limit?</a:t>
            </a:r>
          </a:p>
        </p:txBody>
      </p:sp>
      <p:sp>
        <p:nvSpPr>
          <p:cNvPr id="12" name="Rectangle: Rounded Corners 11">
            <a:extLst>
              <a:ext uri="{FF2B5EF4-FFF2-40B4-BE49-F238E27FC236}">
                <a16:creationId xmlns:a16="http://schemas.microsoft.com/office/drawing/2014/main" id="{C1D52E90-9A8D-4C24-821C-EC56EB34777B}"/>
              </a:ext>
            </a:extLst>
          </p:cNvPr>
          <p:cNvSpPr>
            <a:spLocks noGrp="1"/>
          </p:cNvSpPr>
          <p:nvPr/>
        </p:nvSpPr>
        <p:spPr>
          <a:xfrm>
            <a:off x="7239000" y="2857500"/>
            <a:ext cx="4057650" cy="781050"/>
          </a:xfrm>
          <a:prstGeom prst="roundRect">
            <a:avLst>
              <a:gd name="adj" fmla="val 14634"/>
            </a:avLst>
          </a:prstGeom>
          <a:solidFill>
            <a:srgbClr val="173534"/>
          </a:solidFill>
          <a:ln w="9525">
            <a:solidFill>
              <a:srgbClr val="C3944A"/>
            </a:solidFill>
            <a:prstDash val="solid"/>
          </a:ln>
        </p:spPr>
        <p:txBody>
          <a:bodyPr/>
          <a:lstStyle/>
          <a:p>
            <a:endParaRPr lang="en-US" sz="2400"/>
          </a:p>
        </p:txBody>
      </p:sp>
      <p:sp>
        <p:nvSpPr>
          <p:cNvPr id="13" name="Rectangle 12">
            <a:extLst>
              <a:ext uri="{FF2B5EF4-FFF2-40B4-BE49-F238E27FC236}">
                <a16:creationId xmlns:a16="http://schemas.microsoft.com/office/drawing/2014/main" id="{65C57DDF-C8B7-4379-B5B7-C3B11A3A24BE}"/>
              </a:ext>
            </a:extLst>
          </p:cNvPr>
          <p:cNvSpPr>
            <a:spLocks noGrp="1"/>
          </p:cNvSpPr>
          <p:nvPr/>
        </p:nvSpPr>
        <p:spPr>
          <a:xfrm>
            <a:off x="7448550" y="3105150"/>
            <a:ext cx="3638550" cy="323850"/>
          </a:xfrm>
          <a:prstGeom prst="rect">
            <a:avLst/>
          </a:prstGeom>
          <a:noFill/>
          <a:ln w="0">
            <a:noFill/>
            <a:prstDash val="solid"/>
          </a:ln>
        </p:spPr>
        <p:txBody>
          <a:bodyPr anchor="t"/>
          <a:lstStyle/>
          <a:p>
            <a:pPr>
              <a:defRPr sz="1350" b="1" i="0">
                <a:solidFill>
                  <a:srgbClr val="FFFDF6"/>
                </a:solidFill>
              </a:defRPr>
            </a:pPr>
            <a:r>
              <a:rPr sz="1600" b="1" i="0">
                <a:solidFill>
                  <a:srgbClr val="FFFDF6"/>
                </a:solidFill>
              </a:rPr>
              <a:t>Can letting go also be love?</a:t>
            </a:r>
          </a:p>
        </p:txBody>
      </p:sp>
      <p:sp>
        <p:nvSpPr>
          <p:cNvPr id="14" name="Rectangle: Rounded Corners 13">
            <a:extLst>
              <a:ext uri="{FF2B5EF4-FFF2-40B4-BE49-F238E27FC236}">
                <a16:creationId xmlns:a16="http://schemas.microsoft.com/office/drawing/2014/main" id="{43DAD029-1F0A-4850-8E44-9030E81C6D2C}"/>
              </a:ext>
            </a:extLst>
          </p:cNvPr>
          <p:cNvSpPr>
            <a:spLocks noGrp="1"/>
          </p:cNvSpPr>
          <p:nvPr/>
        </p:nvSpPr>
        <p:spPr>
          <a:xfrm>
            <a:off x="7239000" y="3924300"/>
            <a:ext cx="4057650" cy="781050"/>
          </a:xfrm>
          <a:prstGeom prst="roundRect">
            <a:avLst>
              <a:gd name="adj" fmla="val 14634"/>
            </a:avLst>
          </a:prstGeom>
          <a:solidFill>
            <a:srgbClr val="9A5B53"/>
          </a:solidFill>
          <a:ln w="9525">
            <a:solidFill>
              <a:srgbClr val="C3944A"/>
            </a:solidFill>
            <a:prstDash val="solid"/>
          </a:ln>
        </p:spPr>
        <p:txBody>
          <a:bodyPr/>
          <a:lstStyle/>
          <a:p>
            <a:endParaRPr lang="en-US" sz="2400"/>
          </a:p>
        </p:txBody>
      </p:sp>
      <p:sp>
        <p:nvSpPr>
          <p:cNvPr id="15" name="Rectangle 14">
            <a:extLst>
              <a:ext uri="{FF2B5EF4-FFF2-40B4-BE49-F238E27FC236}">
                <a16:creationId xmlns:a16="http://schemas.microsoft.com/office/drawing/2014/main" id="{DD8C3F77-7A7E-4B8C-8F8D-08D29653EC24}"/>
              </a:ext>
            </a:extLst>
          </p:cNvPr>
          <p:cNvSpPr>
            <a:spLocks noGrp="1"/>
          </p:cNvSpPr>
          <p:nvPr/>
        </p:nvSpPr>
        <p:spPr>
          <a:xfrm>
            <a:off x="7448550" y="4171950"/>
            <a:ext cx="3638550" cy="323850"/>
          </a:xfrm>
          <a:prstGeom prst="rect">
            <a:avLst/>
          </a:prstGeom>
          <a:noFill/>
          <a:ln w="0">
            <a:noFill/>
            <a:prstDash val="solid"/>
          </a:ln>
        </p:spPr>
        <p:txBody>
          <a:bodyPr anchor="t"/>
          <a:lstStyle/>
          <a:p>
            <a:pPr>
              <a:defRPr sz="1350" b="1" i="0">
                <a:solidFill>
                  <a:srgbClr val="FFFDF6"/>
                </a:solidFill>
              </a:defRPr>
            </a:pPr>
            <a:r>
              <a:rPr sz="1600" b="1" i="0">
                <a:solidFill>
                  <a:srgbClr val="FFFDF6"/>
                </a:solidFill>
              </a:rPr>
              <a:t>Is the hand resistance—or blessing?</a:t>
            </a:r>
          </a:p>
        </p:txBody>
      </p:sp>
      <p:sp>
        <p:nvSpPr>
          <p:cNvPr id="16" name="Rectangle 15">
            <a:extLst>
              <a:ext uri="{FF2B5EF4-FFF2-40B4-BE49-F238E27FC236}">
                <a16:creationId xmlns:a16="http://schemas.microsoft.com/office/drawing/2014/main" id="{2AD1A81E-9641-47EB-AF88-EBCC27B335CF}"/>
              </a:ext>
            </a:extLst>
          </p:cNvPr>
          <p:cNvSpPr>
            <a:spLocks noGrp="1"/>
          </p:cNvSpPr>
          <p:nvPr/>
        </p:nvSpPr>
        <p:spPr>
          <a:xfrm>
            <a:off x="7239000" y="5238750"/>
            <a:ext cx="4057650" cy="457200"/>
          </a:xfrm>
          <a:prstGeom prst="rect">
            <a:avLst/>
          </a:prstGeom>
          <a:noFill/>
          <a:ln w="0">
            <a:noFill/>
            <a:prstDash val="solid"/>
          </a:ln>
        </p:spPr>
        <p:txBody>
          <a:bodyPr anchor="t"/>
          <a:lstStyle/>
          <a:p>
            <a:pPr>
              <a:defRPr sz="1425" b="1" i="0">
                <a:solidFill>
                  <a:srgbClr val="C3944A"/>
                </a:solidFill>
              </a:defRPr>
            </a:pPr>
            <a:r>
              <a:rPr b="1" i="0">
                <a:solidFill>
                  <a:srgbClr val="C3944A"/>
                </a:solidFill>
              </a:rPr>
              <a:t>Leonardo does not answer. The gesture keeps asking.</a:t>
            </a:r>
          </a:p>
        </p:txBody>
      </p:sp>
    </p:spTree>
    <p:extLst>
      <p:ext uri="{BB962C8B-B14F-4D97-AF65-F5344CB8AC3E}">
        <p14:creationId xmlns:p14="http://schemas.microsoft.com/office/powerpoint/2010/main" val="275336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DCC36A20-6F9F-57E3-2EDE-98BF189178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0" y="1133856"/>
            <a:ext cx="4590288" cy="4590288"/>
          </a:xfrm>
          <a:prstGeom prst="rect">
            <a:avLst/>
          </a:prstGeom>
        </p:spPr>
      </p:pic>
    </p:spTree>
    <p:extLst>
      <p:ext uri="{BB962C8B-B14F-4D97-AF65-F5344CB8AC3E}">
        <p14:creationId xmlns:p14="http://schemas.microsoft.com/office/powerpoint/2010/main" val="11165358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3633</Words>
  <Application>Microsoft Office PowerPoint</Application>
  <DocSecurity>0</DocSecurity>
  <PresentationFormat>Widescreen</PresentationFormat>
  <Paragraphs>311</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10</cp:revision>
  <dcterms:created xsi:type="dcterms:W3CDTF">2026-09-09T12:23:20Z</dcterms:created>
  <dcterms:modified xsi:type="dcterms:W3CDTF">2026-09-09T12:56:25Z</dcterms:modified>
</cp:coreProperties>
</file>