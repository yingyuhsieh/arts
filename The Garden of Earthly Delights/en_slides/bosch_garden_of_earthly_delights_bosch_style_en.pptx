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Garden of Earthly Delights and you see a quiet grey-green world before humanity. Open the shutters and nearly four metres of surface erupt into naked bodies, enormous fruit, hybrid creatures, musical instruments, and punishment. Bosch's deepest riddle is not simply what each monster means. It is this: if the triptych warns against sensual excess, why must temptation be so beautiful? We will follow the work's original opening sequence, moving from Creation into Eden, through the central garden, and finally into musical Hell.</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Begin with the closed shutters rather than the famous central panel. In grisaille, a transparent sphere encloses land, water, and plants. Humanity, the sun, and the moon have not yet appeared, and the Creator in the upper left is astonishingly small. The Latin inscription echoes Psalm 33:9: he spoke, and it came to be; he commanded, and it stood firm. The exterior is usually read as the third day of Creation, but that is a strong art-historical interpretation, not an instruction left by Bosch.</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the shutters open, grey-green silence becomes pink, sky blue, tender green, flesh, and fire. On the left are God, Adam, and Eve. The center fills with fruit, birds, riders, glass-like spheres, and bodily games. The right ends in darkness, ice, burning cities, and punishment. The triptych is 185.8 centimeters high and about 325.5 centimeters wide when open. It was never meant to be only a flat online image. The physical change from closed restraint to open excess is the viewer's first encounter with its argument.</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Bosch was born Jheronimus van Aken around 1450 in 's-Hertogenbosch, into a family associated with painting. He later signed with an abbreviation of his hometown: Bosch. His membership in the Brotherhood of Our Lady and a major court commission in 1504 show a professional artist embedded in urban religion and elite networks, not an isolated visionary. The triptych's contract and original title are lost. Yet a travel account from 1517 securely places it in the Nassau Palace in Brussels, where informed courtly viewers could be entertained and morally challenged at once.</a:t>
            </a:r>
          </a:p>
          <a:p>
            <a:endParaRPr/>
          </a:p>
          <a:p>
            <a:r>
              <a:t>[Sources]</a:t>
            </a:r>
          </a:p>
          <a:p>
            <a:r>
              <a:t>- https://www.museodelprado.es/en/the-collection/artist/hieronymus-bosch/c9716e4a-4c24-44dd-ac65-44bc4661c8b5</a:t>
            </a:r>
          </a:p>
          <a:p>
            <a:r>
              <a:t>- https://www.huygens.knaw.nl/en/resources/boschdoc-2/</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foreground of Eden, a youthful, Christ-like God takes Eve by the wrist and brings her before the reclining Adam. Hands, gazes, and posture form a chain of relationship. Adam looks up at Eve. The look may suggest wonder, recognition, or the beginning of desire; the painting does not settle his psychology. What matters is that Bosch makes looking itself an event. The hundreds of bodies pursuing one another in the central panel seem to expand from this first charged exchange.</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pink Fountain of Life occupies Eden's center, combining plant, mineral, architecture, and body. An owl watches from a dark opening. In medieval contexts the owl may suggest darkness, blindness, evil, or silence, but no universal symbol dictionary can settle this image. Around it appear an elephant, giraffe, unicorn-like creatures, strange fish, and acts of predation. If this is a perfect paradise before the Fall, why is death already present? Bosch offers no answer. He places instability precisely where the composition appears most ordered.</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panel continues Eden's horizon, water, and strange rock formations, as though paradise has grown to the right. But God has disappeared. Nearly everyone is young and naked. There are no obvious elderly people, children, homes, work, illness, or institutions. Figures pick and swallow fruit, touch one another, ride animals, bathe, and enter shells, plants, and transparent enclosures. The absence of visible suffering makes interpretation difficult. Is this unfallen humanity, or sensual excess before anyone can feel its consequences?</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unsettling structure of the central garden is reversed scale. Berries grow large enough to enclose or overwhelm people. Birds and shells become inhabitable containers. Individual figures seem to use fruit, yet the composition makes fruit appear to carry, cover, and govern the body. Early Spanish inventories used the word madroño, the strawberry-tree fruit, as a name for the work, proving how conspicuous fruit was to early viewers. But reducing every berry to a rigid symbol of lust misses the larger problem of transience, decay, and pleasure without measure.</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couple inside the transparent sphere seems briefly protected from the world and displayed before us at the same time. The enclosure creates a boundary, yet it looks thin enough to break. Intimacy therefore becomes secure, exposed, and temporary all at once. Similar spheres, membranes, tubes, fruit skins, and shells recur across the central panel. They may not share one fixed symbolic meaning, but together they create a material argument: pleasure can enclose the human body, yet it cannot preserve it forever.</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Around the circular pool, men ride horses, cattle, camels, pigs, and fantastic animals. Viewed one by one, the riders seem to control the creatures. Seen as a whole, the circular movement suggests that instinct is carrying the humans. The panel contains enormous activity, but the procession has no exit and no destination. This repetition offers a powerful model of desire: each pursuit produces another pursuit, and pleasure becomes not an arrival but an endless circuit.</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panel includes dark-skinned and hairy figures that may relate to exotic geography, primordial humanity, the European wild-person tradition, and expanding knowledge of the world. They should not be isolated as curiosities or assigned precise modern identities without focused scholarship. At the lower right, a man looks directly out of the painting. He has been called Adam, Bosch, a patron, or a witness, but none is secure. His gaze reverses our position: while we inspect the desires of others, someone inside the image appears to notice us.</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right panel first breaks with the garden through color. Tender green and daylight give way to brown-black darkness, cold blue ice, and burning cities. The foreground is not an abstract sea of flames but a punishment machine assembled from human culture. Instruments, dice, drinking vessels, documents, animals, and sensory organs take control. The pleasures of the center have not vanished. Their relationship to the body has reversed. Food no longer nourishes, music no longer harmonizes, and the body no longer belongs to itself.</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Musical Hell is disturbing because its instruments of punishment are familiar forms of entertainment. Sinners are stretched between harp strings and crushed beneath an enormous lute. Drums and pipes no longer support dancing or feasting; they turn human bodies into playable material. The musical notation across a pair of buttocks has been performed in the digital age, but within the painting it first functions as a reversal. Marks that should organize harmony become evidence of exposure, humiliation, and lost agency.</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enormous ears are pierced by an arrow and joined around a giant blade, turning a sensory organ into an impossible but threatening machine. Ears once received music and language; here they can only participate in violence. The letter M on the blade has been read as a maker's mark, a personal initial, or something else, but its meaning remains insecure. More important than solving the letter is following the transformation: in the center people seek sensory stimulation; in Hell the senses themselves administer punishment.</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Tree-Man is simultaneously a person, dead tree, hollow shell, tavern, boat, and landscape. Bosch's monsters feel convincing not because they are vague, but because every impossible component appears materially specific. Skin, wood, ice, metal, and brittle shell each possess a distinct texture. Technical study also reveals changes between underdrawing and finished paint, suggesting that local inventions developed as Bosch worked. The Tree-Man's face is often called a self-portrait, but there is no secure evidence for that appealing identification.</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https://boschproject.org/</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bird-headed monster sits on a toilet-like throne, swallowing and excreting sinners. Appetite, power, and endless consumption become an absurd machine. The popular name Prince of Hell is modern convenience, not Bosch's title. Nearby, a pig dressed as a nun pressures a man to sign a document, fusing religious costume, law, greed, and bodily coercion. Rabbits and other animals also dominate human beings. The common rule of Bosch's Hell is not one monster or one sin; it is the reversal of every familiar subject-object relationship.</a:t>
            </a:r>
          </a:p>
          <a:p>
            <a:endParaRPr/>
          </a:p>
          <a:p>
            <a:r>
              <a:t>[Sources]</a:t>
            </a:r>
          </a:p>
          <a:p>
            <a:r>
              <a:t>- https://docs.google.com/document/d/1Vjy7zvqamZy86taq1dsKhdKd97FuGD-3J8yaHpLhkm0/edit</a:t>
            </a:r>
          </a:p>
          <a:p>
            <a:r>
              <a:t>- https://www.museodelprado.es/en/the-collection/art-work/the-garden-of-earthly-delights-triptych/02388242-6d6a-4e9e-a992-e1311eab3609</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most durable reading is moral warning: Creation on the left, sensual excess in the center, and consequence on the right. Another interpretation sees the center's lack of illness, old age, labor, and hierarchy as unfallen or pre-civilized humanity. Wilhelm Fraenger's theory of Adamites and secret erotic ritual became influential, but reliable documents do not support it. A more productive approach treats the triptych as a courtly conversation object, where entertainment, learned recognition, and moral warning coexist. Any persuasive reading must explain the closed exterior, the beauty of the center, and the reversals of Hell together.</a:t>
            </a:r>
          </a:p>
          <a:p>
            <a:endParaRPr/>
          </a:p>
          <a:p>
            <a:r>
              <a:t>[Sources]</a:t>
            </a:r>
          </a:p>
          <a:p>
            <a:r>
              <a:t>- https://www.museodelprado.es/en/the-collection/art-work/the-garden-of-earthly-delights-triptych/02388242-6d6a-4e9e-a992-e1311eab3609</a:t>
            </a:r>
          </a:p>
          <a:p>
            <a:r>
              <a:t>- https://www.huygens.knaw.nl/en/resources/boschdoc-2/</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Garden of Earthly Delights is not an isolated eruption of Bosch's imagination. The Seven Deadly Sins and the Four Last Things arranges ordinary wrongdoing like an eye watching the world. Ship of Fools traps a drinking, singing, grasping group in a vessel that no one truly steers. The Vienna Last Judgment expands the whole world into a landscape of fall and punishment. In Christ Carrying the Cross, grotesque faces press tightly around Christ; the Ghent painting is now often described cautiously as the work of a Bosch follower or related workshop. The Haywain Triptych sends every social rank scrambling after a cart of hay that cannot last. Across these works, fantasy is not decoration. It makes folly, greed, cruelty, and consequence visible.</a:t>
            </a:r>
          </a:p>
          <a:p>
            <a:endParaRPr/>
          </a:p>
          <a:p>
            <a:r>
              <a:t>[Sources]</a:t>
            </a:r>
          </a:p>
          <a:p>
            <a:r>
              <a:t>- https://commons.wikimedia.org/wiki/File:Hieronymus_Bosch-_The_Seven_Deadly_Sins_and_the_Four_Last_Things.JPG</a:t>
            </a:r>
          </a:p>
          <a:p>
            <a:r>
              <a:t>- https://commons.wikimedia.org/wiki/File:Jheronimus_Bosch_011.jpg</a:t>
            </a:r>
          </a:p>
          <a:p>
            <a:r>
              <a:t>- https://commons.wikimedia.org/wiki/File:Hieronymus_Bosch,_The_Last_Judgment.JPG</a:t>
            </a:r>
          </a:p>
          <a:p>
            <a:r>
              <a:t>- https://commons.wikimedia.org/wiki/File:Jheronimus_Bosch_or_follower_001.jpg</a:t>
            </a:r>
          </a:p>
          <a:p>
            <a:r>
              <a:t>- https://commons.wikimedia.org/wiki/File:Bosch_-_Haywain_Triptych.jpg</a:t>
            </a:r>
          </a:p>
          <a:p>
            <a:r>
              <a:t>- https://boschproject.org/</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triptych was in the Nassau Palace by 1517. Philip II acquired it in 1591 and sent it to El Escorial in 1593. In the 1930s it went to the Prado for restoration and safekeeping, and a 1943 document established the permanent loan. It remains legally owned by Patrimonio Nacional. In front of the original, begin far enough away to see all three panels. Then trace water, spheres, fruit, animals, and instruments as pleasure changes into control. Move close, and finally step back again. When the shutters close, hundreds of voices disappear, but Bosch's question returns to the viewer.</a:t>
            </a:r>
          </a:p>
          <a:p>
            <a:endParaRPr/>
          </a:p>
          <a:p>
            <a:r>
              <a:t>[Sources]</a:t>
            </a:r>
          </a:p>
          <a:p>
            <a:r>
              <a:t>- https://www.museodelprado.es/en/the-collection/art-work/the-garden-of-earthly-delights-triptych/02388242-6d6a-4e9e-a992-e1311eab3609</a:t>
            </a:r>
          </a:p>
          <a:p>
            <a:r>
              <a:t>- https://www.museodelprado.es/en/resource/restoration-of-the-garden-of-earthly-delights/98d5fd6c-2dcf-4c37-8bdc-a05df5b69cfe</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Masters and Masterpieces. If you enjoy looking again through visual detail and evidence, subscribe, share, and join us for the next work.</a:t>
            </a:r>
          </a:p>
          <a:p>
            <a:endParaRPr/>
          </a:p>
          <a:p>
            <a:r>
              <a:t>[Sources]</a:t>
            </a:r>
          </a:p>
          <a:p>
            <a:r>
              <a:t>- Channel end card; no external sources.</a:t>
            </a:r>
          </a:p>
          <a:p>
            <a:r>
              <a:t>- Background: OpenAI ImageGen, generated from the user's Bosch-inspired visual direction; not a reproduction of an existing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a:stretch>
            <a:fillRect/>
          </a:stretch>
        </p:blipFill>
        <p:spPr>
          <a:xfrm>
            <a:off x="0" y="0"/>
            <a:ext cx="12192000" cy="6858000"/>
          </a:xfrm>
          <a:prstGeom prst="rect">
            <a:avLst/>
          </a:prstGeom>
        </p:spPr>
      </p:pic>
      <p:pic>
        <p:nvPicPr>
          <p:cNvPr id="13" name="Picture 12"/>
          <p:cNvPicPr>
            <a:picLocks noChangeAspect="1"/>
          </p:cNvPicPr>
          <p:nvPr/>
        </p:nvPicPr>
        <p:blipFill>
          <a:blip r:embed="rId4"/>
          <a:srcRect l="18968" r="18968"/>
          <a:stretch>
            <a:fillRect/>
          </a:stretch>
        </p:blipFill>
        <p:spPr>
          <a:xfrm>
            <a:off x="5334000" y="0"/>
            <a:ext cx="6858000" cy="6229350"/>
          </a:xfrm>
          <a:prstGeom prst="rect">
            <a:avLst/>
          </a:prstGeom>
        </p:spPr>
      </p:pic>
      <p:sp>
        <p:nvSpPr>
          <p:cNvPr id="3" name="Rectangle: Rounded Corners 2">
            <a:extLst>
              <a:ext uri="{FF2B5EF4-FFF2-40B4-BE49-F238E27FC236}">
                <a16:creationId xmlns:a16="http://schemas.microsoft.com/office/drawing/2014/main" id="{D8E574AD-D318-4AD1-AECD-A85F874929BC}"/>
              </a:ext>
            </a:extLst>
          </p:cNvPr>
          <p:cNvSpPr>
            <a:spLocks noGrp="1"/>
          </p:cNvSpPr>
          <p:nvPr/>
        </p:nvSpPr>
        <p:spPr>
          <a:xfrm>
            <a:off x="400050" y="400050"/>
            <a:ext cx="6858000" cy="5467350"/>
          </a:xfrm>
          <a:prstGeom prst="roundRect">
            <a:avLst>
              <a:gd name="adj" fmla="val 2091"/>
            </a:avLst>
          </a:prstGeom>
          <a:solidFill>
            <a:srgbClr val="0B0C0C"/>
          </a:solidFill>
          <a:ln w="9525">
            <a:solidFill>
              <a:srgbClr val="D5AE58"/>
            </a:solidFill>
            <a:prstDash val="solid"/>
          </a:ln>
        </p:spPr>
        <p:txBody>
          <a:bodyPr/>
          <a:lstStyle/>
          <a:p>
            <a:endParaRPr lang="en-US"/>
          </a:p>
        </p:txBody>
      </p:sp>
      <p:sp>
        <p:nvSpPr>
          <p:cNvPr id="4" name="Rectangle 3">
            <a:extLst>
              <a:ext uri="{FF2B5EF4-FFF2-40B4-BE49-F238E27FC236}">
                <a16:creationId xmlns:a16="http://schemas.microsoft.com/office/drawing/2014/main" id="{D6E8B06D-4F86-4A67-A978-8A9F3B3DEDAE}"/>
              </a:ext>
            </a:extLst>
          </p:cNvPr>
          <p:cNvSpPr>
            <a:spLocks noGrp="1"/>
          </p:cNvSpPr>
          <p:nvPr/>
        </p:nvSpPr>
        <p:spPr>
          <a:xfrm>
            <a:off x="723900" y="723900"/>
            <a:ext cx="5905500" cy="228600"/>
          </a:xfrm>
          <a:prstGeom prst="rect">
            <a:avLst/>
          </a:prstGeom>
          <a:noFill/>
          <a:ln w="0">
            <a:noFill/>
            <a:prstDash val="solid"/>
          </a:ln>
        </p:spPr>
        <p:txBody>
          <a:bodyPr/>
          <a:lstStyle/>
          <a:p>
            <a:pPr algn="l">
              <a:defRPr sz="1050" b="1" i="0">
                <a:solidFill>
                  <a:srgbClr val="D5AE58"/>
                </a:solidFill>
                <a:latin typeface="DejaVu Sans"/>
                <a:ea typeface="DejaVu Sans"/>
                <a:cs typeface="DejaVu Sans"/>
              </a:defRPr>
            </a:pPr>
            <a:r>
              <a:rPr sz="1050" b="1" i="0">
                <a:solidFill>
                  <a:srgbClr val="D5AE58"/>
                </a:solidFill>
                <a:latin typeface="DejaVu Sans"/>
                <a:ea typeface="DejaVu Sans"/>
                <a:cs typeface="DejaVu Sans"/>
              </a:rPr>
              <a:t>MASTERS &amp; MASTERPIECES | HIERONYMUS BOSCH</a:t>
            </a:r>
          </a:p>
        </p:txBody>
      </p:sp>
      <p:sp>
        <p:nvSpPr>
          <p:cNvPr id="5" name="Rectangle 4">
            <a:extLst>
              <a:ext uri="{FF2B5EF4-FFF2-40B4-BE49-F238E27FC236}">
                <a16:creationId xmlns:a16="http://schemas.microsoft.com/office/drawing/2014/main" id="{7EB56016-D174-4904-B223-B0D86702961F}"/>
              </a:ext>
            </a:extLst>
          </p:cNvPr>
          <p:cNvSpPr>
            <a:spLocks noGrp="1"/>
          </p:cNvSpPr>
          <p:nvPr/>
        </p:nvSpPr>
        <p:spPr>
          <a:xfrm>
            <a:off x="723900" y="1352550"/>
            <a:ext cx="6096000" cy="1352550"/>
          </a:xfrm>
          <a:prstGeom prst="rect">
            <a:avLst/>
          </a:prstGeom>
          <a:noFill/>
          <a:ln w="0">
            <a:noFill/>
            <a:prstDash val="solid"/>
          </a:ln>
        </p:spPr>
        <p:txBody>
          <a:bodyPr/>
          <a:lstStyle/>
          <a:p>
            <a:pPr algn="l">
              <a:defRPr sz="3225" b="1" i="0">
                <a:solidFill>
                  <a:srgbClr val="FFFDF5"/>
                </a:solidFill>
                <a:latin typeface="DejaVu Sans"/>
                <a:ea typeface="DejaVu Sans"/>
                <a:cs typeface="DejaVu Sans"/>
              </a:defRPr>
            </a:pPr>
            <a:r>
              <a:rPr sz="3225" b="1" i="0">
                <a:solidFill>
                  <a:srgbClr val="FFFDF5"/>
                </a:solidFill>
                <a:latin typeface="DejaVu Sans"/>
                <a:ea typeface="DejaVu Sans"/>
                <a:cs typeface="DejaVu Sans"/>
              </a:rPr>
              <a:t>THE GARDEN OF EARTHLY DELIGHTS</a:t>
            </a:r>
          </a:p>
        </p:txBody>
      </p:sp>
      <p:sp>
        <p:nvSpPr>
          <p:cNvPr id="6" name="Rectangle 5">
            <a:extLst>
              <a:ext uri="{FF2B5EF4-FFF2-40B4-BE49-F238E27FC236}">
                <a16:creationId xmlns:a16="http://schemas.microsoft.com/office/drawing/2014/main" id="{09150B05-36ED-46B4-B889-9EE5F3743C88}"/>
              </a:ext>
            </a:extLst>
          </p:cNvPr>
          <p:cNvSpPr>
            <a:spLocks noGrp="1"/>
          </p:cNvSpPr>
          <p:nvPr/>
        </p:nvSpPr>
        <p:spPr>
          <a:xfrm>
            <a:off x="723900" y="3048000"/>
            <a:ext cx="1047750" cy="47625"/>
          </a:xfrm>
          <a:prstGeom prst="rect">
            <a:avLst/>
          </a:prstGeom>
          <a:solidFill>
            <a:srgbClr val="D38C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5292F414-2DAF-49F4-8520-78289345E4F5}"/>
              </a:ext>
            </a:extLst>
          </p:cNvPr>
          <p:cNvSpPr>
            <a:spLocks noGrp="1"/>
          </p:cNvSpPr>
          <p:nvPr/>
        </p:nvSpPr>
        <p:spPr>
          <a:xfrm>
            <a:off x="723900" y="3486150"/>
            <a:ext cx="5905500" cy="762000"/>
          </a:xfrm>
          <a:prstGeom prst="rect">
            <a:avLst/>
          </a:prstGeom>
          <a:noFill/>
          <a:ln w="0">
            <a:noFill/>
            <a:prstDash val="solid"/>
          </a:ln>
        </p:spPr>
        <p:txBody>
          <a:bodyPr/>
          <a:lstStyle/>
          <a:p>
            <a:pPr algn="l">
              <a:defRPr sz="2175" b="1" i="0">
                <a:solidFill>
                  <a:srgbClr val="FFF4D8"/>
                </a:solidFill>
                <a:latin typeface="DejaVu Sans"/>
                <a:ea typeface="DejaVu Sans"/>
                <a:cs typeface="DejaVu Sans"/>
              </a:defRPr>
            </a:pPr>
            <a:r>
              <a:rPr sz="2175" b="1" i="0">
                <a:solidFill>
                  <a:srgbClr val="FFF4D8"/>
                </a:solidFill>
                <a:latin typeface="DejaVu Sans"/>
                <a:ea typeface="DejaVu Sans"/>
                <a:cs typeface="DejaVu Sans"/>
              </a:rPr>
              <a:t>Why must temptation look so beautiful?</a:t>
            </a:r>
          </a:p>
        </p:txBody>
      </p:sp>
      <p:sp>
        <p:nvSpPr>
          <p:cNvPr id="8" name="Rectangle 7">
            <a:extLst>
              <a:ext uri="{FF2B5EF4-FFF2-40B4-BE49-F238E27FC236}">
                <a16:creationId xmlns:a16="http://schemas.microsoft.com/office/drawing/2014/main" id="{9451DE9E-4092-4190-9DAE-7247838D630B}"/>
              </a:ext>
            </a:extLst>
          </p:cNvPr>
          <p:cNvSpPr>
            <a:spLocks noGrp="1"/>
          </p:cNvSpPr>
          <p:nvPr/>
        </p:nvSpPr>
        <p:spPr>
          <a:xfrm>
            <a:off x="723900" y="4895850"/>
            <a:ext cx="5905500" cy="266700"/>
          </a:xfrm>
          <a:prstGeom prst="rect">
            <a:avLst/>
          </a:prstGeom>
          <a:noFill/>
          <a:ln w="0">
            <a:noFill/>
            <a:prstDash val="solid"/>
          </a:ln>
        </p:spPr>
        <p:txBody>
          <a:bodyPr/>
          <a:lstStyle/>
          <a:p>
            <a:pPr algn="l">
              <a:defRPr sz="1050" b="0" i="0">
                <a:solidFill>
                  <a:srgbClr val="D7E4DB"/>
                </a:solidFill>
                <a:latin typeface="DejaVu Sans"/>
                <a:ea typeface="DejaVu Sans"/>
                <a:cs typeface="DejaVu Sans"/>
              </a:defRPr>
            </a:pPr>
            <a:r>
              <a:rPr sz="1050" b="0" i="0">
                <a:solidFill>
                  <a:srgbClr val="D7E4DB"/>
                </a:solidFill>
                <a:latin typeface="DejaVu Sans"/>
                <a:ea typeface="DejaVu Sans"/>
                <a:cs typeface="DejaVu Sans"/>
              </a:rPr>
              <a:t>c. 1490–1500 / BRCP: 1501–1505 | Museo del Prado</a:t>
            </a:r>
          </a:p>
        </p:txBody>
      </p:sp>
      <p:sp>
        <p:nvSpPr>
          <p:cNvPr id="9" name="Rectangle 8">
            <a:extLst>
              <a:ext uri="{FF2B5EF4-FFF2-40B4-BE49-F238E27FC236}">
                <a16:creationId xmlns:a16="http://schemas.microsoft.com/office/drawing/2014/main" id="{EBEF3842-D7CD-4268-BCCA-C158AD3596F2}"/>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10" name="Rectangle 9">
            <a:extLst>
              <a:ext uri="{FF2B5EF4-FFF2-40B4-BE49-F238E27FC236}">
                <a16:creationId xmlns:a16="http://schemas.microsoft.com/office/drawing/2014/main" id="{B3C67EB5-255F-47C2-95EC-DD85923EB3FF}"/>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Why must temptation look so beautiful?</a:t>
            </a:r>
          </a:p>
        </p:txBody>
      </p:sp>
      <p:sp>
        <p:nvSpPr>
          <p:cNvPr id="11" name="Rectangle 10">
            <a:extLst>
              <a:ext uri="{FF2B5EF4-FFF2-40B4-BE49-F238E27FC236}">
                <a16:creationId xmlns:a16="http://schemas.microsoft.com/office/drawing/2014/main" id="{9810E4DF-06B6-47F0-923F-974E52E83E5C}"/>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113540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B35DBB0-B240-4A12-81B0-8BD56BE02254}"/>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4E3D2292-50C6-4FC2-A820-AA17F161E59C}"/>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01 | THE CLOSED WORLD</a:t>
            </a:r>
          </a:p>
        </p:txBody>
      </p:sp>
      <p:sp>
        <p:nvSpPr>
          <p:cNvPr id="4" name="Rectangle 3">
            <a:extLst>
              <a:ext uri="{FF2B5EF4-FFF2-40B4-BE49-F238E27FC236}">
                <a16:creationId xmlns:a16="http://schemas.microsoft.com/office/drawing/2014/main" id="{106886F0-8B33-499B-BAEB-770AFFCFED64}"/>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The Third Day: Humanity Has Not Yet Appeared</a:t>
            </a:r>
          </a:p>
        </p:txBody>
      </p:sp>
      <p:sp>
        <p:nvSpPr>
          <p:cNvPr id="5" name="Rectangle 4">
            <a:extLst>
              <a:ext uri="{FF2B5EF4-FFF2-40B4-BE49-F238E27FC236}">
                <a16:creationId xmlns:a16="http://schemas.microsoft.com/office/drawing/2014/main" id="{01EA99EE-F4B1-47F6-8D6B-D8E32506E045}"/>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02</a:t>
            </a:r>
          </a:p>
        </p:txBody>
      </p:sp>
      <p:sp>
        <p:nvSpPr>
          <p:cNvPr id="6" name="Rectangle 5">
            <a:extLst>
              <a:ext uri="{FF2B5EF4-FFF2-40B4-BE49-F238E27FC236}">
                <a16:creationId xmlns:a16="http://schemas.microsoft.com/office/drawing/2014/main" id="{D460BD1A-76D7-462C-ADD9-546FAF724D53}"/>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FFE7240F-3F91-4801-9453-F6EC7FB6D97B}"/>
              </a:ext>
            </a:extLst>
          </p:cNvPr>
          <p:cNvSpPr>
            <a:spLocks noGrp="1"/>
          </p:cNvSpPr>
          <p:nvPr/>
        </p:nvSpPr>
        <p:spPr>
          <a:xfrm>
            <a:off x="6515100" y="1409700"/>
            <a:ext cx="5219700" cy="4476750"/>
          </a:xfrm>
          <a:prstGeom prst="roundRect">
            <a:avLst>
              <a:gd name="adj" fmla="val 2553"/>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8E91C3DD-6680-44B6-A40F-9F6EAC607ACE}"/>
              </a:ext>
            </a:extLst>
          </p:cNvPr>
          <p:cNvSpPr>
            <a:spLocks noGrp="1"/>
          </p:cNvSpPr>
          <p:nvPr/>
        </p:nvSpPr>
        <p:spPr>
          <a:xfrm>
            <a:off x="514350" y="1390650"/>
            <a:ext cx="4953000" cy="4610100"/>
          </a:xfrm>
          <a:prstGeom prst="roundRect">
            <a:avLst>
              <a:gd name="adj" fmla="val 2479"/>
            </a:avLst>
          </a:prstGeom>
          <a:solidFill>
            <a:srgbClr val="171816"/>
          </a:solidFill>
          <a:ln w="9525">
            <a:solidFill>
              <a:srgbClr val="D5AE58"/>
            </a:solidFill>
            <a:prstDash val="solid"/>
          </a:ln>
        </p:spPr>
        <p:txBody>
          <a:bodyPr/>
          <a:lstStyle/>
          <a:p>
            <a:endParaRPr lang="en-US"/>
          </a:p>
        </p:txBody>
      </p:sp>
      <p:pic>
        <p:nvPicPr>
          <p:cNvPr id="31" name="Picture 30"/>
          <p:cNvPicPr>
            <a:picLocks noChangeAspect="1"/>
          </p:cNvPicPr>
          <p:nvPr/>
        </p:nvPicPr>
        <p:blipFill>
          <a:blip r:embed="rId4"/>
          <a:stretch/>
        </p:blipFill>
        <p:spPr>
          <a:xfrm>
            <a:off x="953182" y="1485900"/>
            <a:ext cx="4075336" cy="4419600"/>
          </a:xfrm>
          <a:prstGeom prst="roundRect">
            <a:avLst>
              <a:gd name="adj" fmla="val 1724"/>
            </a:avLst>
          </a:prstGeom>
        </p:spPr>
      </p:pic>
      <p:sp>
        <p:nvSpPr>
          <p:cNvPr id="10" name="Rectangle 9">
            <a:extLst>
              <a:ext uri="{FF2B5EF4-FFF2-40B4-BE49-F238E27FC236}">
                <a16:creationId xmlns:a16="http://schemas.microsoft.com/office/drawing/2014/main" id="{0EF47487-7310-4761-8719-3321115536FC}"/>
              </a:ext>
            </a:extLst>
          </p:cNvPr>
          <p:cNvSpPr>
            <a:spLocks noGrp="1"/>
          </p:cNvSpPr>
          <p:nvPr/>
        </p:nvSpPr>
        <p:spPr>
          <a:xfrm>
            <a:off x="609600" y="5619750"/>
            <a:ext cx="4762500" cy="285750"/>
          </a:xfrm>
          <a:prstGeom prst="rect">
            <a:avLst/>
          </a:prstGeom>
          <a:solidFill>
            <a:srgbClr val="0B0C0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56ED9365-887D-4E19-BD63-593A408FA1F8}"/>
              </a:ext>
            </a:extLst>
          </p:cNvPr>
          <p:cNvSpPr>
            <a:spLocks noGrp="1"/>
          </p:cNvSpPr>
          <p:nvPr/>
        </p:nvSpPr>
        <p:spPr>
          <a:xfrm>
            <a:off x="704850" y="5686425"/>
            <a:ext cx="45720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Exterior shutters | The Creation | public-domain reproduction</a:t>
            </a:r>
          </a:p>
        </p:txBody>
      </p:sp>
      <p:sp>
        <p:nvSpPr>
          <p:cNvPr id="12" name="Rectangle 11">
            <a:extLst>
              <a:ext uri="{FF2B5EF4-FFF2-40B4-BE49-F238E27FC236}">
                <a16:creationId xmlns:a16="http://schemas.microsoft.com/office/drawing/2014/main" id="{D512F516-5264-4F47-ADA9-5E32F6B19141}"/>
              </a:ext>
            </a:extLst>
          </p:cNvPr>
          <p:cNvSpPr>
            <a:spLocks noGrp="1"/>
          </p:cNvSpPr>
          <p:nvPr/>
        </p:nvSpPr>
        <p:spPr>
          <a:xfrm>
            <a:off x="6686550" y="1619250"/>
            <a:ext cx="4857750" cy="100965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The silence outside prepares the visual explosion within.</a:t>
            </a:r>
          </a:p>
        </p:txBody>
      </p:sp>
      <p:sp>
        <p:nvSpPr>
          <p:cNvPr id="13" name="Rectangle 12">
            <a:extLst>
              <a:ext uri="{FF2B5EF4-FFF2-40B4-BE49-F238E27FC236}">
                <a16:creationId xmlns:a16="http://schemas.microsoft.com/office/drawing/2014/main" id="{D9A55F16-F998-4609-8044-9132B0578F7A}"/>
              </a:ext>
            </a:extLst>
          </p:cNvPr>
          <p:cNvSpPr>
            <a:spLocks noGrp="1"/>
          </p:cNvSpPr>
          <p:nvPr/>
        </p:nvSpPr>
        <p:spPr>
          <a:xfrm>
            <a:off x="6686550" y="2895600"/>
            <a:ext cx="895350" cy="38100"/>
          </a:xfrm>
          <a:prstGeom prst="rect">
            <a:avLst/>
          </a:prstGeom>
          <a:solidFill>
            <a:srgbClr val="D38C86"/>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1620B9A7-EFC2-49CD-8683-E699CA71638C}"/>
              </a:ext>
            </a:extLst>
          </p:cNvPr>
          <p:cNvSpPr>
            <a:spLocks noGrp="1"/>
          </p:cNvSpPr>
          <p:nvPr/>
        </p:nvSpPr>
        <p:spPr>
          <a:xfrm>
            <a:off x="6724650" y="3371850"/>
            <a:ext cx="95250" cy="95250"/>
          </a:xfrm>
          <a:prstGeom prst="roundRect">
            <a:avLst>
              <a:gd name="adj" fmla="val 50000"/>
            </a:avLst>
          </a:prstGeom>
          <a:solidFill>
            <a:srgbClr val="D38C86"/>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8157122F-52E1-4529-B42F-7F8F2031C0FA}"/>
              </a:ext>
            </a:extLst>
          </p:cNvPr>
          <p:cNvSpPr>
            <a:spLocks noGrp="1"/>
          </p:cNvSpPr>
          <p:nvPr/>
        </p:nvSpPr>
        <p:spPr>
          <a:xfrm>
            <a:off x="6972300" y="3295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Grisaille lowers the world into grey-green</a:t>
            </a:r>
          </a:p>
        </p:txBody>
      </p:sp>
      <p:sp>
        <p:nvSpPr>
          <p:cNvPr id="16" name="Rectangle: Rounded Corners 15">
            <a:extLst>
              <a:ext uri="{FF2B5EF4-FFF2-40B4-BE49-F238E27FC236}">
                <a16:creationId xmlns:a16="http://schemas.microsoft.com/office/drawing/2014/main" id="{8CF8E46A-94E7-4643-A572-2EE6B74A09D6}"/>
              </a:ext>
            </a:extLst>
          </p:cNvPr>
          <p:cNvSpPr>
            <a:spLocks noGrp="1"/>
          </p:cNvSpPr>
          <p:nvPr/>
        </p:nvSpPr>
        <p:spPr>
          <a:xfrm>
            <a:off x="6724650" y="3943350"/>
            <a:ext cx="95250" cy="95250"/>
          </a:xfrm>
          <a:prstGeom prst="roundRect">
            <a:avLst>
              <a:gd name="adj" fmla="val 50000"/>
            </a:avLst>
          </a:prstGeom>
          <a:solidFill>
            <a:srgbClr val="8FB6C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7B2E85AD-A294-4AD4-98B1-BF79C6C6D886}"/>
              </a:ext>
            </a:extLst>
          </p:cNvPr>
          <p:cNvSpPr>
            <a:spLocks noGrp="1"/>
          </p:cNvSpPr>
          <p:nvPr/>
        </p:nvSpPr>
        <p:spPr>
          <a:xfrm>
            <a:off x="6972300" y="38671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A transparent sphere encloses land, water, and plants</a:t>
            </a:r>
          </a:p>
        </p:txBody>
      </p:sp>
      <p:sp>
        <p:nvSpPr>
          <p:cNvPr id="18" name="Rectangle: Rounded Corners 17">
            <a:extLst>
              <a:ext uri="{FF2B5EF4-FFF2-40B4-BE49-F238E27FC236}">
                <a16:creationId xmlns:a16="http://schemas.microsoft.com/office/drawing/2014/main" id="{C4C493AE-D2F6-417F-A000-A61C53D2187F}"/>
              </a:ext>
            </a:extLst>
          </p:cNvPr>
          <p:cNvSpPr>
            <a:spLocks noGrp="1"/>
          </p:cNvSpPr>
          <p:nvPr/>
        </p:nvSpPr>
        <p:spPr>
          <a:xfrm>
            <a:off x="6724650" y="4514850"/>
            <a:ext cx="95250" cy="95250"/>
          </a:xfrm>
          <a:prstGeom prst="roundRect">
            <a:avLst>
              <a:gd name="adj" fmla="val 50000"/>
            </a:avLst>
          </a:prstGeom>
          <a:solidFill>
            <a:srgbClr val="D38C8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83469F2B-5A61-4CD9-AC5A-A2FE4DF64D25}"/>
              </a:ext>
            </a:extLst>
          </p:cNvPr>
          <p:cNvSpPr>
            <a:spLocks noGrp="1"/>
          </p:cNvSpPr>
          <p:nvPr/>
        </p:nvSpPr>
        <p:spPr>
          <a:xfrm>
            <a:off x="6972300" y="4438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Creator is astonishingly small</a:t>
            </a:r>
          </a:p>
        </p:txBody>
      </p:sp>
      <p:sp>
        <p:nvSpPr>
          <p:cNvPr id="20" name="Rectangle 19">
            <a:extLst>
              <a:ext uri="{FF2B5EF4-FFF2-40B4-BE49-F238E27FC236}">
                <a16:creationId xmlns:a16="http://schemas.microsoft.com/office/drawing/2014/main" id="{6CC80C57-D131-40C7-864B-F66B664BF6A3}"/>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8D4CE9D7-680A-4F50-AF80-7CCBEF123F2A}"/>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The silence outside prepares the visual explosion within.</a:t>
            </a:r>
          </a:p>
        </p:txBody>
      </p:sp>
      <p:sp>
        <p:nvSpPr>
          <p:cNvPr id="22" name="Rectangle 21">
            <a:extLst>
              <a:ext uri="{FF2B5EF4-FFF2-40B4-BE49-F238E27FC236}">
                <a16:creationId xmlns:a16="http://schemas.microsoft.com/office/drawing/2014/main" id="{1858C60A-19C6-431D-BE00-490D0AF6CC56}"/>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485680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BA39D4E-AD0C-4757-865A-B5FF3B85C6DA}"/>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F71C5BF2-C2D1-4E31-B810-1FE5F72F1BBE}"/>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02 | OPENING THE WINGS</a:t>
            </a:r>
          </a:p>
        </p:txBody>
      </p:sp>
      <p:sp>
        <p:nvSpPr>
          <p:cNvPr id="4" name="Rectangle 3">
            <a:extLst>
              <a:ext uri="{FF2B5EF4-FFF2-40B4-BE49-F238E27FC236}">
                <a16:creationId xmlns:a16="http://schemas.microsoft.com/office/drawing/2014/main" id="{1095DF13-2973-4997-8351-2BAD3080D0FE}"/>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From Silent World to Sensory Flood</a:t>
            </a:r>
          </a:p>
        </p:txBody>
      </p:sp>
      <p:sp>
        <p:nvSpPr>
          <p:cNvPr id="5" name="Rectangle 4">
            <a:extLst>
              <a:ext uri="{FF2B5EF4-FFF2-40B4-BE49-F238E27FC236}">
                <a16:creationId xmlns:a16="http://schemas.microsoft.com/office/drawing/2014/main" id="{897C0CFD-3616-41D6-AE6E-EF0542DE43BF}"/>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03</a:t>
            </a:r>
          </a:p>
        </p:txBody>
      </p:sp>
      <p:sp>
        <p:nvSpPr>
          <p:cNvPr id="6" name="Rectangle 5">
            <a:extLst>
              <a:ext uri="{FF2B5EF4-FFF2-40B4-BE49-F238E27FC236}">
                <a16:creationId xmlns:a16="http://schemas.microsoft.com/office/drawing/2014/main" id="{F1332611-0382-4207-A968-6BD2DCEC6EC4}"/>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8DF3D664-E0E0-4AF8-833A-32A3ABB85FFF}"/>
              </a:ext>
            </a:extLst>
          </p:cNvPr>
          <p:cNvSpPr>
            <a:spLocks noGrp="1"/>
          </p:cNvSpPr>
          <p:nvPr/>
        </p:nvSpPr>
        <p:spPr>
          <a:xfrm>
            <a:off x="495300" y="1352550"/>
            <a:ext cx="11201400" cy="3238500"/>
          </a:xfrm>
          <a:prstGeom prst="roundRect">
            <a:avLst>
              <a:gd name="adj" fmla="val 3529"/>
            </a:avLst>
          </a:prstGeom>
          <a:solidFill>
            <a:srgbClr val="171816"/>
          </a:solidFill>
          <a:ln w="9525">
            <a:solidFill>
              <a:srgbClr val="D5AE58"/>
            </a:solidFill>
            <a:prstDash val="solid"/>
          </a:ln>
        </p:spPr>
        <p:txBody>
          <a:bodyPr/>
          <a:lstStyle/>
          <a:p>
            <a:endParaRPr lang="en-US"/>
          </a:p>
        </p:txBody>
      </p:sp>
      <p:pic>
        <p:nvPicPr>
          <p:cNvPr id="29" name="Picture 28"/>
          <p:cNvPicPr>
            <a:picLocks noChangeAspect="1"/>
          </p:cNvPicPr>
          <p:nvPr/>
        </p:nvPicPr>
        <p:blipFill>
          <a:blip r:embed="rId4"/>
          <a:stretch/>
        </p:blipFill>
        <p:spPr>
          <a:xfrm>
            <a:off x="3392674" y="1447800"/>
            <a:ext cx="5406652" cy="3048000"/>
          </a:xfrm>
          <a:prstGeom prst="roundRect">
            <a:avLst>
              <a:gd name="adj" fmla="val 2500"/>
            </a:avLst>
          </a:prstGeom>
        </p:spPr>
      </p:pic>
      <p:sp>
        <p:nvSpPr>
          <p:cNvPr id="9" name="Rectangle 8">
            <a:extLst>
              <a:ext uri="{FF2B5EF4-FFF2-40B4-BE49-F238E27FC236}">
                <a16:creationId xmlns:a16="http://schemas.microsoft.com/office/drawing/2014/main" id="{3FAF57D9-7951-4AC4-A394-2B9E889BD7DF}"/>
              </a:ext>
            </a:extLst>
          </p:cNvPr>
          <p:cNvSpPr>
            <a:spLocks noGrp="1"/>
          </p:cNvSpPr>
          <p:nvPr/>
        </p:nvSpPr>
        <p:spPr>
          <a:xfrm>
            <a:off x="590550" y="4210050"/>
            <a:ext cx="11010900" cy="285750"/>
          </a:xfrm>
          <a:prstGeom prst="rect">
            <a:avLst/>
          </a:prstGeom>
          <a:solidFill>
            <a:srgbClr val="0B0C0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C61CBB08-5880-4626-A64E-7D451E4AF68A}"/>
              </a:ext>
            </a:extLst>
          </p:cNvPr>
          <p:cNvSpPr>
            <a:spLocks noGrp="1"/>
          </p:cNvSpPr>
          <p:nvPr/>
        </p:nvSpPr>
        <p:spPr>
          <a:xfrm>
            <a:off x="685800" y="4276725"/>
            <a:ext cx="108204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Complete open triptych | public-domain reproduction</a:t>
            </a:r>
          </a:p>
        </p:txBody>
      </p:sp>
      <p:sp>
        <p:nvSpPr>
          <p:cNvPr id="11" name="Rectangle: Rounded Corners 10">
            <a:extLst>
              <a:ext uri="{FF2B5EF4-FFF2-40B4-BE49-F238E27FC236}">
                <a16:creationId xmlns:a16="http://schemas.microsoft.com/office/drawing/2014/main" id="{922F7C3F-50A1-4953-96F2-920AEFD791EA}"/>
              </a:ext>
            </a:extLst>
          </p:cNvPr>
          <p:cNvSpPr>
            <a:spLocks noGrp="1"/>
          </p:cNvSpPr>
          <p:nvPr/>
        </p:nvSpPr>
        <p:spPr>
          <a:xfrm>
            <a:off x="419100" y="4686300"/>
            <a:ext cx="11353800" cy="1352550"/>
          </a:xfrm>
          <a:prstGeom prst="roundRect">
            <a:avLst>
              <a:gd name="adj" fmla="val 8451"/>
            </a:avLst>
          </a:prstGeom>
          <a:solidFill>
            <a:srgbClr val="0B0C0C"/>
          </a:solidFill>
          <a:ln w="9525">
            <a:solidFill>
              <a:srgbClr val="2A211B"/>
            </a:solidFill>
            <a:prstDash val="solid"/>
          </a:ln>
        </p:spPr>
        <p:txBody>
          <a:bodyPr/>
          <a:lstStyle/>
          <a:p>
            <a:endParaRPr lang="en-US"/>
          </a:p>
        </p:txBody>
      </p:sp>
      <p:sp>
        <p:nvSpPr>
          <p:cNvPr id="12" name="Rectangle 11">
            <a:extLst>
              <a:ext uri="{FF2B5EF4-FFF2-40B4-BE49-F238E27FC236}">
                <a16:creationId xmlns:a16="http://schemas.microsoft.com/office/drawing/2014/main" id="{1A0CEE3A-744E-4041-9948-B3A9A9001112}"/>
              </a:ext>
            </a:extLst>
          </p:cNvPr>
          <p:cNvSpPr>
            <a:spLocks noGrp="1"/>
          </p:cNvSpPr>
          <p:nvPr/>
        </p:nvSpPr>
        <p:spPr>
          <a:xfrm>
            <a:off x="590550" y="4857750"/>
            <a:ext cx="5429250" cy="857250"/>
          </a:xfrm>
          <a:prstGeom prst="rect">
            <a:avLst/>
          </a:prstGeom>
          <a:noFill/>
          <a:ln w="0">
            <a:noFill/>
            <a:prstDash val="solid"/>
          </a:ln>
        </p:spPr>
        <p:txBody>
          <a:bodyPr/>
          <a:lstStyle/>
          <a:p>
            <a:pPr algn="l">
              <a:defRPr sz="1725" b="1" i="0">
                <a:solidFill>
                  <a:srgbClr val="FFFDF5"/>
                </a:solidFill>
                <a:latin typeface="DejaVu Sans"/>
                <a:ea typeface="DejaVu Sans"/>
                <a:cs typeface="DejaVu Sans"/>
              </a:defRPr>
            </a:pPr>
            <a:r>
              <a:rPr sz="1725" b="1" i="0">
                <a:solidFill>
                  <a:srgbClr val="FFFDF5"/>
                </a:solidFill>
                <a:latin typeface="DejaVu Sans"/>
                <a:ea typeface="DejaVu Sans"/>
                <a:cs typeface="DejaVu Sans"/>
              </a:rPr>
              <a:t>Opening the shutters is the work's first narrative event.</a:t>
            </a:r>
          </a:p>
        </p:txBody>
      </p:sp>
      <p:sp>
        <p:nvSpPr>
          <p:cNvPr id="13" name="Rectangle: Rounded Corners 12">
            <a:extLst>
              <a:ext uri="{FF2B5EF4-FFF2-40B4-BE49-F238E27FC236}">
                <a16:creationId xmlns:a16="http://schemas.microsoft.com/office/drawing/2014/main" id="{942BD48A-A180-433D-B432-47876A8B5272}"/>
              </a:ext>
            </a:extLst>
          </p:cNvPr>
          <p:cNvSpPr>
            <a:spLocks noGrp="1"/>
          </p:cNvSpPr>
          <p:nvPr/>
        </p:nvSpPr>
        <p:spPr>
          <a:xfrm>
            <a:off x="6667500" y="4838700"/>
            <a:ext cx="95250" cy="95250"/>
          </a:xfrm>
          <a:prstGeom prst="roundRect">
            <a:avLst>
              <a:gd name="adj" fmla="val 50000"/>
            </a:avLst>
          </a:prstGeom>
          <a:solidFill>
            <a:srgbClr val="D38C86"/>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98A79DE3-3E96-49E4-BEE5-86190937CDBE}"/>
              </a:ext>
            </a:extLst>
          </p:cNvPr>
          <p:cNvSpPr>
            <a:spLocks noGrp="1"/>
          </p:cNvSpPr>
          <p:nvPr/>
        </p:nvSpPr>
        <p:spPr>
          <a:xfrm>
            <a:off x="6915150" y="47625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Height: 185.8 cm</a:t>
            </a:r>
          </a:p>
        </p:txBody>
      </p:sp>
      <p:sp>
        <p:nvSpPr>
          <p:cNvPr id="15" name="Rectangle: Rounded Corners 14">
            <a:extLst>
              <a:ext uri="{FF2B5EF4-FFF2-40B4-BE49-F238E27FC236}">
                <a16:creationId xmlns:a16="http://schemas.microsoft.com/office/drawing/2014/main" id="{17B1ED20-049A-452A-A7D7-CD7F11BD6A90}"/>
              </a:ext>
            </a:extLst>
          </p:cNvPr>
          <p:cNvSpPr>
            <a:spLocks noGrp="1"/>
          </p:cNvSpPr>
          <p:nvPr/>
        </p:nvSpPr>
        <p:spPr>
          <a:xfrm>
            <a:off x="6667500" y="5238750"/>
            <a:ext cx="95250" cy="95250"/>
          </a:xfrm>
          <a:prstGeom prst="roundRect">
            <a:avLst>
              <a:gd name="adj" fmla="val 50000"/>
            </a:avLst>
          </a:prstGeom>
          <a:solidFill>
            <a:srgbClr val="8FB6C2"/>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AD2D6479-199B-40A2-82DE-05BBEBA467D9}"/>
              </a:ext>
            </a:extLst>
          </p:cNvPr>
          <p:cNvSpPr>
            <a:spLocks noGrp="1"/>
          </p:cNvSpPr>
          <p:nvPr/>
        </p:nvSpPr>
        <p:spPr>
          <a:xfrm>
            <a:off x="6915150" y="51625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Open width: about 325.5 cm</a:t>
            </a:r>
          </a:p>
        </p:txBody>
      </p:sp>
      <p:sp>
        <p:nvSpPr>
          <p:cNvPr id="17" name="Rectangle: Rounded Corners 16">
            <a:extLst>
              <a:ext uri="{FF2B5EF4-FFF2-40B4-BE49-F238E27FC236}">
                <a16:creationId xmlns:a16="http://schemas.microsoft.com/office/drawing/2014/main" id="{3AA43C21-AE71-4A9B-A3D5-8AECE77EF009}"/>
              </a:ext>
            </a:extLst>
          </p:cNvPr>
          <p:cNvSpPr>
            <a:spLocks noGrp="1"/>
          </p:cNvSpPr>
          <p:nvPr/>
        </p:nvSpPr>
        <p:spPr>
          <a:xfrm>
            <a:off x="6667500" y="5638800"/>
            <a:ext cx="95250" cy="95250"/>
          </a:xfrm>
          <a:prstGeom prst="roundRect">
            <a:avLst>
              <a:gd name="adj" fmla="val 50000"/>
            </a:avLst>
          </a:prstGeom>
          <a:solidFill>
            <a:srgbClr val="D38C86"/>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65001BB4-BD75-4924-BEC3-F3FA00897C9B}"/>
              </a:ext>
            </a:extLst>
          </p:cNvPr>
          <p:cNvSpPr>
            <a:spLocks noGrp="1"/>
          </p:cNvSpPr>
          <p:nvPr/>
        </p:nvSpPr>
        <p:spPr>
          <a:xfrm>
            <a:off x="6915150" y="55626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Eden | Earthly Delights | Musical Hell</a:t>
            </a:r>
          </a:p>
        </p:txBody>
      </p:sp>
      <p:sp>
        <p:nvSpPr>
          <p:cNvPr id="19" name="Rectangle 18">
            <a:extLst>
              <a:ext uri="{FF2B5EF4-FFF2-40B4-BE49-F238E27FC236}">
                <a16:creationId xmlns:a16="http://schemas.microsoft.com/office/drawing/2014/main" id="{BDDDE091-8542-4FC2-83D2-0189F2F69D97}"/>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156D6C51-6B4D-4A84-8386-539DB14E23CB}"/>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Opening the shutters is the work's first narrative event.</a:t>
            </a:r>
          </a:p>
        </p:txBody>
      </p:sp>
      <p:sp>
        <p:nvSpPr>
          <p:cNvPr id="21" name="Rectangle 20">
            <a:extLst>
              <a:ext uri="{FF2B5EF4-FFF2-40B4-BE49-F238E27FC236}">
                <a16:creationId xmlns:a16="http://schemas.microsoft.com/office/drawing/2014/main" id="{5B2FB8D5-07AD-492A-A9C4-DBC58FCF613D}"/>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230703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2162B8F8-88FE-43B3-979E-0CFA77638B93}"/>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1D43FFAA-5804-4C5C-A04B-2E380BAD8144}"/>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03 | SACRED FORM, SECULAR PALACE</a:t>
            </a:r>
          </a:p>
        </p:txBody>
      </p:sp>
      <p:sp>
        <p:nvSpPr>
          <p:cNvPr id="4" name="Rectangle 3">
            <a:extLst>
              <a:ext uri="{FF2B5EF4-FFF2-40B4-BE49-F238E27FC236}">
                <a16:creationId xmlns:a16="http://schemas.microsoft.com/office/drawing/2014/main" id="{F29F66FE-447E-45C8-BDC1-B6F0D070B334}"/>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Bosch Was Not an Isolated Hallucinatory Genius</a:t>
            </a:r>
          </a:p>
        </p:txBody>
      </p:sp>
      <p:sp>
        <p:nvSpPr>
          <p:cNvPr id="5" name="Rectangle 4">
            <a:extLst>
              <a:ext uri="{FF2B5EF4-FFF2-40B4-BE49-F238E27FC236}">
                <a16:creationId xmlns:a16="http://schemas.microsoft.com/office/drawing/2014/main" id="{85A10764-10D7-4845-B911-6F1B9493B9ED}"/>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04</a:t>
            </a:r>
          </a:p>
        </p:txBody>
      </p:sp>
      <p:sp>
        <p:nvSpPr>
          <p:cNvPr id="6" name="Rectangle 5">
            <a:extLst>
              <a:ext uri="{FF2B5EF4-FFF2-40B4-BE49-F238E27FC236}">
                <a16:creationId xmlns:a16="http://schemas.microsoft.com/office/drawing/2014/main" id="{A8294DAC-49A3-4A43-AA85-70C726A9BABF}"/>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DA4F56CA-F40A-4BB8-AA05-11F7A0584018}"/>
              </a:ext>
            </a:extLst>
          </p:cNvPr>
          <p:cNvSpPr>
            <a:spLocks noGrp="1"/>
          </p:cNvSpPr>
          <p:nvPr/>
        </p:nvSpPr>
        <p:spPr>
          <a:xfrm>
            <a:off x="361950" y="1390650"/>
            <a:ext cx="11468100" cy="4629150"/>
          </a:xfrm>
          <a:prstGeom prst="roundRect">
            <a:avLst>
              <a:gd name="adj" fmla="val 2469"/>
            </a:avLst>
          </a:prstGeom>
          <a:solidFill>
            <a:srgbClr val="0B0C0C"/>
          </a:solidFill>
          <a:ln w="9525">
            <a:solidFill>
              <a:srgbClr val="2A211B"/>
            </a:solidFill>
            <a:prstDash val="solid"/>
          </a:ln>
        </p:spPr>
        <p:txBody>
          <a:bodyPr/>
          <a:lstStyle/>
          <a:p>
            <a:endParaRPr lang="en-US"/>
          </a:p>
        </p:txBody>
      </p:sp>
      <p:sp>
        <p:nvSpPr>
          <p:cNvPr id="8" name="Rectangle 7">
            <a:extLst>
              <a:ext uri="{FF2B5EF4-FFF2-40B4-BE49-F238E27FC236}">
                <a16:creationId xmlns:a16="http://schemas.microsoft.com/office/drawing/2014/main" id="{C705F32F-5748-447C-886D-2D3D5B376CC9}"/>
              </a:ext>
            </a:extLst>
          </p:cNvPr>
          <p:cNvSpPr>
            <a:spLocks noGrp="1"/>
          </p:cNvSpPr>
          <p:nvPr/>
        </p:nvSpPr>
        <p:spPr>
          <a:xfrm>
            <a:off x="1143000" y="1619250"/>
            <a:ext cx="9906000" cy="723900"/>
          </a:xfrm>
          <a:prstGeom prst="rect">
            <a:avLst/>
          </a:prstGeom>
          <a:noFill/>
          <a:ln w="0">
            <a:noFill/>
            <a:prstDash val="solid"/>
          </a:ln>
        </p:spPr>
        <p:txBody>
          <a:bodyPr/>
          <a:lstStyle/>
          <a:p>
            <a:pPr algn="ctr">
              <a:defRPr sz="2100" b="1" i="0">
                <a:solidFill>
                  <a:srgbClr val="FFFDF5"/>
                </a:solidFill>
                <a:latin typeface="DejaVu Sans"/>
                <a:ea typeface="DejaVu Sans"/>
                <a:cs typeface="DejaVu Sans"/>
              </a:defRPr>
            </a:pPr>
            <a:r>
              <a:rPr sz="2100" b="1" i="0">
                <a:solidFill>
                  <a:srgbClr val="FFFDF5"/>
                </a:solidFill>
                <a:latin typeface="DejaVu Sans"/>
                <a:ea typeface="DejaVu Sans"/>
                <a:cs typeface="DejaVu Sans"/>
              </a:rPr>
              <a:t>He knew religious and courtly rules well enough to bend them.</a:t>
            </a:r>
          </a:p>
        </p:txBody>
      </p:sp>
      <p:sp>
        <p:nvSpPr>
          <p:cNvPr id="9" name="Rectangle 8">
            <a:extLst>
              <a:ext uri="{FF2B5EF4-FFF2-40B4-BE49-F238E27FC236}">
                <a16:creationId xmlns:a16="http://schemas.microsoft.com/office/drawing/2014/main" id="{F59D5195-7D8B-4648-8C65-5AB4925CC441}"/>
              </a:ext>
            </a:extLst>
          </p:cNvPr>
          <p:cNvSpPr>
            <a:spLocks noGrp="1"/>
          </p:cNvSpPr>
          <p:nvPr/>
        </p:nvSpPr>
        <p:spPr>
          <a:xfrm>
            <a:off x="1238250" y="3429000"/>
            <a:ext cx="9715500" cy="47625"/>
          </a:xfrm>
          <a:prstGeom prst="rect">
            <a:avLst/>
          </a:prstGeom>
          <a:solidFill>
            <a:srgbClr val="D5AE58"/>
          </a:solidFill>
          <a:ln w="0">
            <a:noFill/>
            <a:prstDash val="solid"/>
          </a:ln>
        </p:spPr>
        <p:txBody>
          <a:bodyPr/>
          <a:lstStyle/>
          <a:p>
            <a:endParaRPr lang="en-US"/>
          </a:p>
        </p:txBody>
      </p:sp>
      <p:sp>
        <p:nvSpPr>
          <p:cNvPr id="10" name="Rectangle: Rounded Corners 9">
            <a:extLst>
              <a:ext uri="{FF2B5EF4-FFF2-40B4-BE49-F238E27FC236}">
                <a16:creationId xmlns:a16="http://schemas.microsoft.com/office/drawing/2014/main" id="{FC7143DE-3B3D-4233-97DB-F0A08765830A}"/>
              </a:ext>
            </a:extLst>
          </p:cNvPr>
          <p:cNvSpPr>
            <a:spLocks noGrp="1"/>
          </p:cNvSpPr>
          <p:nvPr/>
        </p:nvSpPr>
        <p:spPr>
          <a:xfrm>
            <a:off x="1123950" y="3295650"/>
            <a:ext cx="304800" cy="304800"/>
          </a:xfrm>
          <a:prstGeom prst="roundRect">
            <a:avLst>
              <a:gd name="adj" fmla="val 37500"/>
            </a:avLst>
          </a:prstGeom>
          <a:solidFill>
            <a:srgbClr val="59633B"/>
          </a:solidFill>
          <a:ln w="19050">
            <a:solidFill>
              <a:srgbClr val="D5AE58"/>
            </a:solidFill>
            <a:prstDash val="solid"/>
          </a:ln>
        </p:spPr>
        <p:txBody>
          <a:bodyPr/>
          <a:lstStyle/>
          <a:p>
            <a:endParaRPr lang="en-US"/>
          </a:p>
        </p:txBody>
      </p:sp>
      <p:sp>
        <p:nvSpPr>
          <p:cNvPr id="11" name="Rectangle 10">
            <a:extLst>
              <a:ext uri="{FF2B5EF4-FFF2-40B4-BE49-F238E27FC236}">
                <a16:creationId xmlns:a16="http://schemas.microsoft.com/office/drawing/2014/main" id="{75B70B8A-4D52-482E-B50E-43CDC9931EDA}"/>
              </a:ext>
            </a:extLst>
          </p:cNvPr>
          <p:cNvSpPr>
            <a:spLocks noGrp="1"/>
          </p:cNvSpPr>
          <p:nvPr/>
        </p:nvSpPr>
        <p:spPr>
          <a:xfrm>
            <a:off x="533400" y="2724150"/>
            <a:ext cx="1524000" cy="342900"/>
          </a:xfrm>
          <a:prstGeom prst="rect">
            <a:avLst/>
          </a:prstGeom>
          <a:noFill/>
          <a:ln w="0">
            <a:noFill/>
            <a:prstDash val="solid"/>
          </a:ln>
        </p:spPr>
        <p:txBody>
          <a:bodyPr/>
          <a:lstStyle/>
          <a:p>
            <a:pPr algn="ctr">
              <a:defRPr sz="1650" b="1" i="0">
                <a:solidFill>
                  <a:srgbClr val="D5AE58"/>
                </a:solidFill>
                <a:latin typeface="DejaVu Sans"/>
                <a:ea typeface="DejaVu Sans"/>
                <a:cs typeface="DejaVu Sans"/>
              </a:defRPr>
            </a:pPr>
            <a:r>
              <a:rPr sz="1650" b="1" i="0">
                <a:solidFill>
                  <a:srgbClr val="D5AE58"/>
                </a:solidFill>
                <a:latin typeface="DejaVu Sans"/>
                <a:ea typeface="DejaVu Sans"/>
                <a:cs typeface="DejaVu Sans"/>
              </a:rPr>
              <a:t>c. 1450</a:t>
            </a:r>
          </a:p>
        </p:txBody>
      </p:sp>
      <p:sp>
        <p:nvSpPr>
          <p:cNvPr id="12" name="Rectangle 11">
            <a:extLst>
              <a:ext uri="{FF2B5EF4-FFF2-40B4-BE49-F238E27FC236}">
                <a16:creationId xmlns:a16="http://schemas.microsoft.com/office/drawing/2014/main" id="{519D3D0E-7571-4DC7-BE22-0B404DA380B9}"/>
              </a:ext>
            </a:extLst>
          </p:cNvPr>
          <p:cNvSpPr>
            <a:spLocks noGrp="1"/>
          </p:cNvSpPr>
          <p:nvPr/>
        </p:nvSpPr>
        <p:spPr>
          <a:xfrm>
            <a:off x="209550" y="3943350"/>
            <a:ext cx="2190750" cy="781050"/>
          </a:xfrm>
          <a:prstGeom prst="rect">
            <a:avLst/>
          </a:prstGeom>
          <a:noFill/>
          <a:ln w="0">
            <a:noFill/>
            <a:prstDash val="solid"/>
          </a:ln>
        </p:spPr>
        <p:txBody>
          <a:bodyPr/>
          <a:lstStyle/>
          <a:p>
            <a:pPr algn="ctr">
              <a:defRPr sz="1163" b="0" i="0">
                <a:solidFill>
                  <a:srgbClr val="FFF4D8"/>
                </a:solidFill>
                <a:latin typeface="DejaVu Sans"/>
                <a:ea typeface="DejaVu Sans"/>
                <a:cs typeface="DejaVu Sans"/>
              </a:defRPr>
            </a:pPr>
            <a:r>
              <a:rPr sz="1163" b="0" i="0">
                <a:solidFill>
                  <a:srgbClr val="FFF4D8"/>
                </a:solidFill>
                <a:latin typeface="DejaVu Sans"/>
                <a:ea typeface="DejaVu Sans"/>
                <a:cs typeface="DejaVu Sans"/>
              </a:rPr>
              <a:t>c. 1450 | born into a family of painters</a:t>
            </a:r>
          </a:p>
        </p:txBody>
      </p:sp>
      <p:sp>
        <p:nvSpPr>
          <p:cNvPr id="13" name="Rectangle: Rounded Corners 12">
            <a:extLst>
              <a:ext uri="{FF2B5EF4-FFF2-40B4-BE49-F238E27FC236}">
                <a16:creationId xmlns:a16="http://schemas.microsoft.com/office/drawing/2014/main" id="{06028BD6-A53E-438A-824F-EBFDF16F787B}"/>
              </a:ext>
            </a:extLst>
          </p:cNvPr>
          <p:cNvSpPr>
            <a:spLocks noGrp="1"/>
          </p:cNvSpPr>
          <p:nvPr/>
        </p:nvSpPr>
        <p:spPr>
          <a:xfrm>
            <a:off x="4362450" y="3295650"/>
            <a:ext cx="304800" cy="304800"/>
          </a:xfrm>
          <a:prstGeom prst="roundRect">
            <a:avLst>
              <a:gd name="adj" fmla="val 37500"/>
            </a:avLst>
          </a:prstGeom>
          <a:solidFill>
            <a:srgbClr val="D38C86"/>
          </a:solidFill>
          <a:ln w="19050">
            <a:solidFill>
              <a:srgbClr val="D5AE58"/>
            </a:solidFill>
            <a:prstDash val="solid"/>
          </a:ln>
        </p:spPr>
        <p:txBody>
          <a:bodyPr/>
          <a:lstStyle/>
          <a:p>
            <a:endParaRPr lang="en-US"/>
          </a:p>
        </p:txBody>
      </p:sp>
      <p:sp>
        <p:nvSpPr>
          <p:cNvPr id="14" name="Rectangle 13">
            <a:extLst>
              <a:ext uri="{FF2B5EF4-FFF2-40B4-BE49-F238E27FC236}">
                <a16:creationId xmlns:a16="http://schemas.microsoft.com/office/drawing/2014/main" id="{0222608B-234E-4946-AD8E-9E523869E2F0}"/>
              </a:ext>
            </a:extLst>
          </p:cNvPr>
          <p:cNvSpPr>
            <a:spLocks noGrp="1"/>
          </p:cNvSpPr>
          <p:nvPr/>
        </p:nvSpPr>
        <p:spPr>
          <a:xfrm>
            <a:off x="3771900" y="2724150"/>
            <a:ext cx="1524000" cy="342900"/>
          </a:xfrm>
          <a:prstGeom prst="rect">
            <a:avLst/>
          </a:prstGeom>
          <a:noFill/>
          <a:ln w="0">
            <a:noFill/>
            <a:prstDash val="solid"/>
          </a:ln>
        </p:spPr>
        <p:txBody>
          <a:bodyPr/>
          <a:lstStyle/>
          <a:p>
            <a:pPr algn="ctr">
              <a:defRPr sz="1650" b="1" i="0">
                <a:solidFill>
                  <a:srgbClr val="D5AE58"/>
                </a:solidFill>
                <a:latin typeface="DejaVu Sans"/>
                <a:ea typeface="DejaVu Sans"/>
                <a:cs typeface="DejaVu Sans"/>
              </a:defRPr>
            </a:pPr>
            <a:r>
              <a:rPr sz="1650" b="1" i="0">
                <a:solidFill>
                  <a:srgbClr val="D5AE58"/>
                </a:solidFill>
                <a:latin typeface="DejaVu Sans"/>
                <a:ea typeface="DejaVu Sans"/>
                <a:cs typeface="DejaVu Sans"/>
              </a:rPr>
              <a:t>1486/87</a:t>
            </a:r>
          </a:p>
        </p:txBody>
      </p:sp>
      <p:sp>
        <p:nvSpPr>
          <p:cNvPr id="15" name="Rectangle 14">
            <a:extLst>
              <a:ext uri="{FF2B5EF4-FFF2-40B4-BE49-F238E27FC236}">
                <a16:creationId xmlns:a16="http://schemas.microsoft.com/office/drawing/2014/main" id="{B3D57478-90B4-441A-9270-44CB349E4FF9}"/>
              </a:ext>
            </a:extLst>
          </p:cNvPr>
          <p:cNvSpPr>
            <a:spLocks noGrp="1"/>
          </p:cNvSpPr>
          <p:nvPr/>
        </p:nvSpPr>
        <p:spPr>
          <a:xfrm>
            <a:off x="3448050" y="3943350"/>
            <a:ext cx="2190750" cy="781050"/>
          </a:xfrm>
          <a:prstGeom prst="rect">
            <a:avLst/>
          </a:prstGeom>
          <a:noFill/>
          <a:ln w="0">
            <a:noFill/>
            <a:prstDash val="solid"/>
          </a:ln>
        </p:spPr>
        <p:txBody>
          <a:bodyPr/>
          <a:lstStyle/>
          <a:p>
            <a:pPr algn="ctr">
              <a:defRPr sz="1163" b="0" i="0">
                <a:solidFill>
                  <a:srgbClr val="FFF4D8"/>
                </a:solidFill>
                <a:latin typeface="DejaVu Sans"/>
                <a:ea typeface="DejaVu Sans"/>
                <a:cs typeface="DejaVu Sans"/>
              </a:defRPr>
            </a:pPr>
            <a:r>
              <a:rPr sz="1163" b="0" i="0">
                <a:solidFill>
                  <a:srgbClr val="FFF4D8"/>
                </a:solidFill>
                <a:latin typeface="DejaVu Sans"/>
                <a:ea typeface="DejaVu Sans"/>
                <a:cs typeface="DejaVu Sans"/>
              </a:rPr>
              <a:t>1486/87 | joined the Brotherhood of Our Lady</a:t>
            </a:r>
          </a:p>
        </p:txBody>
      </p:sp>
      <p:sp>
        <p:nvSpPr>
          <p:cNvPr id="16" name="Rectangle: Rounded Corners 15">
            <a:extLst>
              <a:ext uri="{FF2B5EF4-FFF2-40B4-BE49-F238E27FC236}">
                <a16:creationId xmlns:a16="http://schemas.microsoft.com/office/drawing/2014/main" id="{96069760-D094-4C83-A3BD-C0C4C1FC0C35}"/>
              </a:ext>
            </a:extLst>
          </p:cNvPr>
          <p:cNvSpPr>
            <a:spLocks noGrp="1"/>
          </p:cNvSpPr>
          <p:nvPr/>
        </p:nvSpPr>
        <p:spPr>
          <a:xfrm>
            <a:off x="7600950" y="3295650"/>
            <a:ext cx="304800" cy="304800"/>
          </a:xfrm>
          <a:prstGeom prst="roundRect">
            <a:avLst>
              <a:gd name="adj" fmla="val 37500"/>
            </a:avLst>
          </a:prstGeom>
          <a:solidFill>
            <a:srgbClr val="8FB6C2"/>
          </a:solidFill>
          <a:ln w="19050">
            <a:solidFill>
              <a:srgbClr val="D5AE58"/>
            </a:solidFill>
            <a:prstDash val="solid"/>
          </a:ln>
        </p:spPr>
        <p:txBody>
          <a:bodyPr/>
          <a:lstStyle/>
          <a:p>
            <a:endParaRPr lang="en-US"/>
          </a:p>
        </p:txBody>
      </p:sp>
      <p:sp>
        <p:nvSpPr>
          <p:cNvPr id="17" name="Rectangle 16">
            <a:extLst>
              <a:ext uri="{FF2B5EF4-FFF2-40B4-BE49-F238E27FC236}">
                <a16:creationId xmlns:a16="http://schemas.microsoft.com/office/drawing/2014/main" id="{6FEF24A5-D04E-437B-8328-4A162E2B31DE}"/>
              </a:ext>
            </a:extLst>
          </p:cNvPr>
          <p:cNvSpPr>
            <a:spLocks noGrp="1"/>
          </p:cNvSpPr>
          <p:nvPr/>
        </p:nvSpPr>
        <p:spPr>
          <a:xfrm>
            <a:off x="7010400" y="2724150"/>
            <a:ext cx="1524000" cy="342900"/>
          </a:xfrm>
          <a:prstGeom prst="rect">
            <a:avLst/>
          </a:prstGeom>
          <a:noFill/>
          <a:ln w="0">
            <a:noFill/>
            <a:prstDash val="solid"/>
          </a:ln>
        </p:spPr>
        <p:txBody>
          <a:bodyPr/>
          <a:lstStyle/>
          <a:p>
            <a:pPr algn="ctr">
              <a:defRPr sz="1650" b="1" i="0">
                <a:solidFill>
                  <a:srgbClr val="D5AE58"/>
                </a:solidFill>
                <a:latin typeface="DejaVu Sans"/>
                <a:ea typeface="DejaVu Sans"/>
                <a:cs typeface="DejaVu Sans"/>
              </a:defRPr>
            </a:pPr>
            <a:r>
              <a:rPr sz="1650" b="1" i="0">
                <a:solidFill>
                  <a:srgbClr val="D5AE58"/>
                </a:solidFill>
                <a:latin typeface="DejaVu Sans"/>
                <a:ea typeface="DejaVu Sans"/>
                <a:cs typeface="DejaVu Sans"/>
              </a:rPr>
              <a:t>1504</a:t>
            </a:r>
          </a:p>
        </p:txBody>
      </p:sp>
      <p:sp>
        <p:nvSpPr>
          <p:cNvPr id="18" name="Rectangle 17">
            <a:extLst>
              <a:ext uri="{FF2B5EF4-FFF2-40B4-BE49-F238E27FC236}">
                <a16:creationId xmlns:a16="http://schemas.microsoft.com/office/drawing/2014/main" id="{EFD464EA-E087-43F5-AE65-991CE6C93B77}"/>
              </a:ext>
            </a:extLst>
          </p:cNvPr>
          <p:cNvSpPr>
            <a:spLocks noGrp="1"/>
          </p:cNvSpPr>
          <p:nvPr/>
        </p:nvSpPr>
        <p:spPr>
          <a:xfrm>
            <a:off x="6686550" y="3943350"/>
            <a:ext cx="2190750" cy="781050"/>
          </a:xfrm>
          <a:prstGeom prst="rect">
            <a:avLst/>
          </a:prstGeom>
          <a:noFill/>
          <a:ln w="0">
            <a:noFill/>
            <a:prstDash val="solid"/>
          </a:ln>
        </p:spPr>
        <p:txBody>
          <a:bodyPr/>
          <a:lstStyle/>
          <a:p>
            <a:pPr algn="ctr">
              <a:defRPr sz="1163" b="0" i="0">
                <a:solidFill>
                  <a:srgbClr val="FFF4D8"/>
                </a:solidFill>
                <a:latin typeface="DejaVu Sans"/>
                <a:ea typeface="DejaVu Sans"/>
                <a:cs typeface="DejaVu Sans"/>
              </a:defRPr>
            </a:pPr>
            <a:r>
              <a:rPr sz="1163" b="0" i="0">
                <a:solidFill>
                  <a:srgbClr val="FFF4D8"/>
                </a:solidFill>
                <a:latin typeface="DejaVu Sans"/>
                <a:ea typeface="DejaVu Sans"/>
                <a:cs typeface="DejaVu Sans"/>
              </a:rPr>
              <a:t>1504 | received a major court commission</a:t>
            </a:r>
          </a:p>
        </p:txBody>
      </p:sp>
      <p:sp>
        <p:nvSpPr>
          <p:cNvPr id="19" name="Rectangle: Rounded Corners 18">
            <a:extLst>
              <a:ext uri="{FF2B5EF4-FFF2-40B4-BE49-F238E27FC236}">
                <a16:creationId xmlns:a16="http://schemas.microsoft.com/office/drawing/2014/main" id="{B2F252EE-D8EF-42F1-AD95-5F7CCB1E06C6}"/>
              </a:ext>
            </a:extLst>
          </p:cNvPr>
          <p:cNvSpPr>
            <a:spLocks noGrp="1"/>
          </p:cNvSpPr>
          <p:nvPr/>
        </p:nvSpPr>
        <p:spPr>
          <a:xfrm>
            <a:off x="10839450" y="3295650"/>
            <a:ext cx="304800" cy="304800"/>
          </a:xfrm>
          <a:prstGeom prst="roundRect">
            <a:avLst>
              <a:gd name="adj" fmla="val 37500"/>
            </a:avLst>
          </a:prstGeom>
          <a:solidFill>
            <a:srgbClr val="D16B3C"/>
          </a:solidFill>
          <a:ln w="19050">
            <a:solidFill>
              <a:srgbClr val="D5AE58"/>
            </a:solidFill>
            <a:prstDash val="solid"/>
          </a:ln>
        </p:spPr>
        <p:txBody>
          <a:bodyPr/>
          <a:lstStyle/>
          <a:p>
            <a:endParaRPr lang="en-US"/>
          </a:p>
        </p:txBody>
      </p:sp>
      <p:sp>
        <p:nvSpPr>
          <p:cNvPr id="20" name="Rectangle 19">
            <a:extLst>
              <a:ext uri="{FF2B5EF4-FFF2-40B4-BE49-F238E27FC236}">
                <a16:creationId xmlns:a16="http://schemas.microsoft.com/office/drawing/2014/main" id="{B6A57039-089A-4833-8733-C352A4EB1A12}"/>
              </a:ext>
            </a:extLst>
          </p:cNvPr>
          <p:cNvSpPr>
            <a:spLocks noGrp="1"/>
          </p:cNvSpPr>
          <p:nvPr/>
        </p:nvSpPr>
        <p:spPr>
          <a:xfrm>
            <a:off x="10248900" y="2724150"/>
            <a:ext cx="1524000" cy="342900"/>
          </a:xfrm>
          <a:prstGeom prst="rect">
            <a:avLst/>
          </a:prstGeom>
          <a:noFill/>
          <a:ln w="0">
            <a:noFill/>
            <a:prstDash val="solid"/>
          </a:ln>
        </p:spPr>
        <p:txBody>
          <a:bodyPr/>
          <a:lstStyle/>
          <a:p>
            <a:pPr algn="ctr">
              <a:defRPr sz="1650" b="1" i="0">
                <a:solidFill>
                  <a:srgbClr val="D5AE58"/>
                </a:solidFill>
                <a:latin typeface="DejaVu Sans"/>
                <a:ea typeface="DejaVu Sans"/>
                <a:cs typeface="DejaVu Sans"/>
              </a:defRPr>
            </a:pPr>
            <a:r>
              <a:rPr sz="1650" b="1" i="0">
                <a:solidFill>
                  <a:srgbClr val="D5AE58"/>
                </a:solidFill>
                <a:latin typeface="DejaVu Sans"/>
                <a:ea typeface="DejaVu Sans"/>
                <a:cs typeface="DejaVu Sans"/>
              </a:rPr>
              <a:t>1517</a:t>
            </a:r>
          </a:p>
        </p:txBody>
      </p:sp>
      <p:sp>
        <p:nvSpPr>
          <p:cNvPr id="21" name="Rectangle 20">
            <a:extLst>
              <a:ext uri="{FF2B5EF4-FFF2-40B4-BE49-F238E27FC236}">
                <a16:creationId xmlns:a16="http://schemas.microsoft.com/office/drawing/2014/main" id="{0004E218-B5FB-4489-BF5E-DE3A356D6C00}"/>
              </a:ext>
            </a:extLst>
          </p:cNvPr>
          <p:cNvSpPr>
            <a:spLocks noGrp="1"/>
          </p:cNvSpPr>
          <p:nvPr/>
        </p:nvSpPr>
        <p:spPr>
          <a:xfrm>
            <a:off x="9925050" y="3943350"/>
            <a:ext cx="2190750" cy="781050"/>
          </a:xfrm>
          <a:prstGeom prst="rect">
            <a:avLst/>
          </a:prstGeom>
          <a:noFill/>
          <a:ln w="0">
            <a:noFill/>
            <a:prstDash val="solid"/>
          </a:ln>
        </p:spPr>
        <p:txBody>
          <a:bodyPr/>
          <a:lstStyle/>
          <a:p>
            <a:pPr algn="ctr">
              <a:defRPr sz="1163" b="0" i="0">
                <a:solidFill>
                  <a:srgbClr val="FFF4D8"/>
                </a:solidFill>
                <a:latin typeface="DejaVu Sans"/>
                <a:ea typeface="DejaVu Sans"/>
                <a:cs typeface="DejaVu Sans"/>
              </a:defRPr>
            </a:pPr>
            <a:r>
              <a:rPr sz="1163" b="0" i="0">
                <a:solidFill>
                  <a:srgbClr val="FFF4D8"/>
                </a:solidFill>
                <a:latin typeface="DejaVu Sans"/>
                <a:ea typeface="DejaVu Sans"/>
                <a:cs typeface="DejaVu Sans"/>
              </a:rPr>
              <a:t>1517 | the triptych recorded in the Nassau Palace</a:t>
            </a:r>
          </a:p>
        </p:txBody>
      </p:sp>
      <p:sp>
        <p:nvSpPr>
          <p:cNvPr id="22" name="Rectangle 21">
            <a:extLst>
              <a:ext uri="{FF2B5EF4-FFF2-40B4-BE49-F238E27FC236}">
                <a16:creationId xmlns:a16="http://schemas.microsoft.com/office/drawing/2014/main" id="{383905E2-E8F3-49A9-97D3-7AE65F0CEA9E}"/>
              </a:ext>
            </a:extLst>
          </p:cNvPr>
          <p:cNvSpPr>
            <a:spLocks noGrp="1"/>
          </p:cNvSpPr>
          <p:nvPr/>
        </p:nvSpPr>
        <p:spPr>
          <a:xfrm>
            <a:off x="2286000" y="5219700"/>
            <a:ext cx="7620000" cy="342900"/>
          </a:xfrm>
          <a:prstGeom prst="rect">
            <a:avLst/>
          </a:prstGeom>
          <a:noFill/>
          <a:ln w="0">
            <a:noFill/>
            <a:prstDash val="solid"/>
          </a:ln>
        </p:spPr>
        <p:txBody>
          <a:bodyPr/>
          <a:lstStyle/>
          <a:p>
            <a:pPr algn="ctr">
              <a:defRPr sz="1125" b="0" i="0">
                <a:solidFill>
                  <a:srgbClr val="C9C3AE"/>
                </a:solidFill>
                <a:latin typeface="DejaVu Sans"/>
                <a:ea typeface="DejaVu Sans"/>
                <a:cs typeface="DejaVu Sans"/>
              </a:defRPr>
            </a:pPr>
            <a:r>
              <a:rPr sz="1125" b="0" i="0">
                <a:solidFill>
                  <a:srgbClr val="C9C3AE"/>
                </a:solidFill>
                <a:latin typeface="DejaVu Sans"/>
                <a:ea typeface="DejaVu Sans"/>
                <a:cs typeface="DejaVu Sans"/>
              </a:rPr>
              <a:t>Original title, patron, contract, and first function remain unknown</a:t>
            </a:r>
          </a:p>
        </p:txBody>
      </p:sp>
      <p:sp>
        <p:nvSpPr>
          <p:cNvPr id="23" name="Rectangle 22">
            <a:extLst>
              <a:ext uri="{FF2B5EF4-FFF2-40B4-BE49-F238E27FC236}">
                <a16:creationId xmlns:a16="http://schemas.microsoft.com/office/drawing/2014/main" id="{F9192308-62B0-4F32-9774-480DA9743BD3}"/>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9311E71E-48E3-44EF-98FD-7A558DA097CA}"/>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He knew religious and courtly rules well enough to bend them.</a:t>
            </a:r>
          </a:p>
        </p:txBody>
      </p:sp>
      <p:sp>
        <p:nvSpPr>
          <p:cNvPr id="25" name="Rectangle 24">
            <a:extLst>
              <a:ext uri="{FF2B5EF4-FFF2-40B4-BE49-F238E27FC236}">
                <a16:creationId xmlns:a16="http://schemas.microsoft.com/office/drawing/2014/main" id="{0484784C-B1C6-4841-B73C-42B9F0537777}"/>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34607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439DADA-5F50-46BF-8DB4-C7D9774F35AA}"/>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FA1E5594-BAA8-4A92-87A3-58488F90AA70}"/>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04 | EDEN</a:t>
            </a:r>
          </a:p>
        </p:txBody>
      </p:sp>
      <p:sp>
        <p:nvSpPr>
          <p:cNvPr id="4" name="Rectangle 3">
            <a:extLst>
              <a:ext uri="{FF2B5EF4-FFF2-40B4-BE49-F238E27FC236}">
                <a16:creationId xmlns:a16="http://schemas.microsoft.com/office/drawing/2014/main" id="{7D0EEF15-F41D-4E2D-BE64-F7EA2C12CCD5}"/>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The First Gaze Is Already Unstable</a:t>
            </a:r>
          </a:p>
        </p:txBody>
      </p:sp>
      <p:sp>
        <p:nvSpPr>
          <p:cNvPr id="5" name="Rectangle 4">
            <a:extLst>
              <a:ext uri="{FF2B5EF4-FFF2-40B4-BE49-F238E27FC236}">
                <a16:creationId xmlns:a16="http://schemas.microsoft.com/office/drawing/2014/main" id="{61B3CAFD-EBBC-48ED-8D6B-D64666428F96}"/>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05</a:t>
            </a:r>
          </a:p>
        </p:txBody>
      </p:sp>
      <p:sp>
        <p:nvSpPr>
          <p:cNvPr id="6" name="Rectangle 5">
            <a:extLst>
              <a:ext uri="{FF2B5EF4-FFF2-40B4-BE49-F238E27FC236}">
                <a16:creationId xmlns:a16="http://schemas.microsoft.com/office/drawing/2014/main" id="{AD0C98DC-6E77-434B-9A31-8586211F9F11}"/>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0A262A31-6FC7-414D-A260-3E62B6431750}"/>
              </a:ext>
            </a:extLst>
          </p:cNvPr>
          <p:cNvSpPr>
            <a:spLocks noGrp="1"/>
          </p:cNvSpPr>
          <p:nvPr/>
        </p:nvSpPr>
        <p:spPr>
          <a:xfrm>
            <a:off x="6381750" y="1409700"/>
            <a:ext cx="5314950" cy="4533900"/>
          </a:xfrm>
          <a:prstGeom prst="roundRect">
            <a:avLst>
              <a:gd name="adj" fmla="val 2521"/>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3010A4AB-B764-44BC-8193-219B9F245A32}"/>
              </a:ext>
            </a:extLst>
          </p:cNvPr>
          <p:cNvSpPr>
            <a:spLocks noGrp="1"/>
          </p:cNvSpPr>
          <p:nvPr/>
        </p:nvSpPr>
        <p:spPr>
          <a:xfrm>
            <a:off x="514350" y="1447800"/>
            <a:ext cx="2686050" cy="4476750"/>
          </a:xfrm>
          <a:prstGeom prst="roundRect">
            <a:avLst>
              <a:gd name="adj" fmla="val 4255"/>
            </a:avLst>
          </a:prstGeom>
          <a:solidFill>
            <a:srgbClr val="171816"/>
          </a:solidFill>
          <a:ln w="9525">
            <a:solidFill>
              <a:srgbClr val="D5AE58"/>
            </a:solidFill>
            <a:prstDash val="solid"/>
          </a:ln>
        </p:spPr>
        <p:txBody>
          <a:bodyPr/>
          <a:lstStyle/>
          <a:p>
            <a:endParaRPr lang="en-US"/>
          </a:p>
        </p:txBody>
      </p:sp>
      <p:pic>
        <p:nvPicPr>
          <p:cNvPr id="33" name="Picture 32"/>
          <p:cNvPicPr>
            <a:picLocks noChangeAspect="1"/>
          </p:cNvPicPr>
          <p:nvPr/>
        </p:nvPicPr>
        <p:blipFill>
          <a:blip r:embed="rId4"/>
          <a:srcRect t="13938" b="13938"/>
          <a:stretch>
            <a:fillRect/>
          </a:stretch>
        </p:blipFill>
        <p:spPr>
          <a:xfrm>
            <a:off x="600075" y="1533525"/>
            <a:ext cx="2514600" cy="4305300"/>
          </a:xfrm>
          <a:prstGeom prst="roundRect">
            <a:avLst>
              <a:gd name="adj" fmla="val 3030"/>
            </a:avLst>
          </a:prstGeom>
        </p:spPr>
      </p:pic>
      <p:sp>
        <p:nvSpPr>
          <p:cNvPr id="10" name="Rectangle: Rounded Corners 9">
            <a:extLst>
              <a:ext uri="{FF2B5EF4-FFF2-40B4-BE49-F238E27FC236}">
                <a16:creationId xmlns:a16="http://schemas.microsoft.com/office/drawing/2014/main" id="{977BA753-A8BF-4B3D-ACFF-9A49D5F197A4}"/>
              </a:ext>
            </a:extLst>
          </p:cNvPr>
          <p:cNvSpPr>
            <a:spLocks noGrp="1"/>
          </p:cNvSpPr>
          <p:nvPr/>
        </p:nvSpPr>
        <p:spPr>
          <a:xfrm>
            <a:off x="3371850" y="1447800"/>
            <a:ext cx="2686050" cy="4476750"/>
          </a:xfrm>
          <a:prstGeom prst="roundRect">
            <a:avLst>
              <a:gd name="adj" fmla="val 4255"/>
            </a:avLst>
          </a:prstGeom>
          <a:solidFill>
            <a:srgbClr val="171816"/>
          </a:solidFill>
          <a:ln w="9525">
            <a:solidFill>
              <a:srgbClr val="8FB6C2"/>
            </a:solidFill>
            <a:prstDash val="solid"/>
          </a:ln>
        </p:spPr>
        <p:txBody>
          <a:bodyPr/>
          <a:lstStyle/>
          <a:p>
            <a:endParaRPr lang="en-US"/>
          </a:p>
        </p:txBody>
      </p:sp>
      <p:pic>
        <p:nvPicPr>
          <p:cNvPr id="35" name="Picture 34"/>
          <p:cNvPicPr>
            <a:picLocks noChangeAspect="1"/>
          </p:cNvPicPr>
          <p:nvPr/>
        </p:nvPicPr>
        <p:blipFill>
          <a:blip r:embed="rId5"/>
          <a:srcRect l="24045" r="24045"/>
          <a:stretch>
            <a:fillRect/>
          </a:stretch>
        </p:blipFill>
        <p:spPr>
          <a:xfrm>
            <a:off x="3457575" y="1533525"/>
            <a:ext cx="2514600" cy="4305300"/>
          </a:xfrm>
          <a:prstGeom prst="roundRect">
            <a:avLst>
              <a:gd name="adj" fmla="val 3030"/>
            </a:avLst>
          </a:prstGeom>
        </p:spPr>
      </p:pic>
      <p:sp>
        <p:nvSpPr>
          <p:cNvPr id="12" name="Rectangle 11">
            <a:extLst>
              <a:ext uri="{FF2B5EF4-FFF2-40B4-BE49-F238E27FC236}">
                <a16:creationId xmlns:a16="http://schemas.microsoft.com/office/drawing/2014/main" id="{7F705373-1307-4E71-866D-36B419970AEA}"/>
              </a:ext>
            </a:extLst>
          </p:cNvPr>
          <p:cNvSpPr>
            <a:spLocks noGrp="1"/>
          </p:cNvSpPr>
          <p:nvPr/>
        </p:nvSpPr>
        <p:spPr>
          <a:xfrm>
            <a:off x="514350" y="5638800"/>
            <a:ext cx="5543550" cy="285750"/>
          </a:xfrm>
          <a:prstGeom prst="rect">
            <a:avLst/>
          </a:prstGeom>
          <a:solidFill>
            <a:srgbClr val="0B0C0C"/>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D6EE548C-8D75-4ADB-8165-0D81FDAD7B6A}"/>
              </a:ext>
            </a:extLst>
          </p:cNvPr>
          <p:cNvSpPr>
            <a:spLocks noGrp="1"/>
          </p:cNvSpPr>
          <p:nvPr/>
        </p:nvSpPr>
        <p:spPr>
          <a:xfrm>
            <a:off x="609600" y="5705475"/>
            <a:ext cx="535305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Left panel + God presents Eve to Adam</a:t>
            </a:r>
          </a:p>
        </p:txBody>
      </p:sp>
      <p:sp>
        <p:nvSpPr>
          <p:cNvPr id="14" name="Rectangle 13">
            <a:extLst>
              <a:ext uri="{FF2B5EF4-FFF2-40B4-BE49-F238E27FC236}">
                <a16:creationId xmlns:a16="http://schemas.microsoft.com/office/drawing/2014/main" id="{BC581AAD-DDB8-4572-9819-22220A90883E}"/>
              </a:ext>
            </a:extLst>
          </p:cNvPr>
          <p:cNvSpPr>
            <a:spLocks noGrp="1"/>
          </p:cNvSpPr>
          <p:nvPr/>
        </p:nvSpPr>
        <p:spPr>
          <a:xfrm>
            <a:off x="6553200" y="1600200"/>
            <a:ext cx="4953000" cy="106680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Bosch turns looking into the first event of human history.</a:t>
            </a:r>
          </a:p>
        </p:txBody>
      </p:sp>
      <p:sp>
        <p:nvSpPr>
          <p:cNvPr id="15" name="Rectangle 14">
            <a:extLst>
              <a:ext uri="{FF2B5EF4-FFF2-40B4-BE49-F238E27FC236}">
                <a16:creationId xmlns:a16="http://schemas.microsoft.com/office/drawing/2014/main" id="{C63FE214-DDAC-4E6D-A313-FB8BC8BF40D1}"/>
              </a:ext>
            </a:extLst>
          </p:cNvPr>
          <p:cNvSpPr>
            <a:spLocks noGrp="1"/>
          </p:cNvSpPr>
          <p:nvPr/>
        </p:nvSpPr>
        <p:spPr>
          <a:xfrm>
            <a:off x="6553200" y="2914650"/>
            <a:ext cx="895350" cy="38100"/>
          </a:xfrm>
          <a:prstGeom prst="rect">
            <a:avLst/>
          </a:prstGeom>
          <a:solidFill>
            <a:srgbClr val="D38C86"/>
          </a:solidFill>
          <a:ln w="0">
            <a:noFill/>
            <a:prstDash val="solid"/>
          </a:ln>
        </p:spPr>
        <p:txBody>
          <a:bodyPr/>
          <a:lstStyle/>
          <a:p>
            <a:endParaRPr lang="en-US"/>
          </a:p>
        </p:txBody>
      </p:sp>
      <p:sp>
        <p:nvSpPr>
          <p:cNvPr id="16" name="Rectangle: Rounded Corners 15">
            <a:extLst>
              <a:ext uri="{FF2B5EF4-FFF2-40B4-BE49-F238E27FC236}">
                <a16:creationId xmlns:a16="http://schemas.microsoft.com/office/drawing/2014/main" id="{97436435-68DE-40EE-938B-B9E70F63FEC4}"/>
              </a:ext>
            </a:extLst>
          </p:cNvPr>
          <p:cNvSpPr>
            <a:spLocks noGrp="1"/>
          </p:cNvSpPr>
          <p:nvPr/>
        </p:nvSpPr>
        <p:spPr>
          <a:xfrm>
            <a:off x="6591300" y="3390900"/>
            <a:ext cx="95250" cy="95250"/>
          </a:xfrm>
          <a:prstGeom prst="roundRect">
            <a:avLst>
              <a:gd name="adj" fmla="val 50000"/>
            </a:avLst>
          </a:prstGeom>
          <a:solidFill>
            <a:srgbClr val="D38C86"/>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2F7BCF6F-32BB-4589-BC3D-8ADA83EA23F2}"/>
              </a:ext>
            </a:extLst>
          </p:cNvPr>
          <p:cNvSpPr>
            <a:spLocks noGrp="1"/>
          </p:cNvSpPr>
          <p:nvPr/>
        </p:nvSpPr>
        <p:spPr>
          <a:xfrm>
            <a:off x="6838950" y="33147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God takes Eve by the wrist and presents her</a:t>
            </a:r>
          </a:p>
        </p:txBody>
      </p:sp>
      <p:sp>
        <p:nvSpPr>
          <p:cNvPr id="18" name="Rectangle: Rounded Corners 17">
            <a:extLst>
              <a:ext uri="{FF2B5EF4-FFF2-40B4-BE49-F238E27FC236}">
                <a16:creationId xmlns:a16="http://schemas.microsoft.com/office/drawing/2014/main" id="{19CA9511-2B48-4990-B2C3-A6D472DFBA96}"/>
              </a:ext>
            </a:extLst>
          </p:cNvPr>
          <p:cNvSpPr>
            <a:spLocks noGrp="1"/>
          </p:cNvSpPr>
          <p:nvPr/>
        </p:nvSpPr>
        <p:spPr>
          <a:xfrm>
            <a:off x="6591300" y="3962400"/>
            <a:ext cx="95250" cy="95250"/>
          </a:xfrm>
          <a:prstGeom prst="roundRect">
            <a:avLst>
              <a:gd name="adj" fmla="val 50000"/>
            </a:avLst>
          </a:prstGeom>
          <a:solidFill>
            <a:srgbClr val="8FB6C2"/>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AAB9AE86-E8AF-4965-851F-42DB02238805}"/>
              </a:ext>
            </a:extLst>
          </p:cNvPr>
          <p:cNvSpPr>
            <a:spLocks noGrp="1"/>
          </p:cNvSpPr>
          <p:nvPr/>
        </p:nvSpPr>
        <p:spPr>
          <a:xfrm>
            <a:off x="6838950" y="38862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Adam raises his eyes toward Eve</a:t>
            </a:r>
          </a:p>
        </p:txBody>
      </p:sp>
      <p:sp>
        <p:nvSpPr>
          <p:cNvPr id="20" name="Rectangle: Rounded Corners 19">
            <a:extLst>
              <a:ext uri="{FF2B5EF4-FFF2-40B4-BE49-F238E27FC236}">
                <a16:creationId xmlns:a16="http://schemas.microsoft.com/office/drawing/2014/main" id="{DF0897D3-5C72-48C0-896D-4880F19DFEA5}"/>
              </a:ext>
            </a:extLst>
          </p:cNvPr>
          <p:cNvSpPr>
            <a:spLocks noGrp="1"/>
          </p:cNvSpPr>
          <p:nvPr/>
        </p:nvSpPr>
        <p:spPr>
          <a:xfrm>
            <a:off x="6591300" y="4533900"/>
            <a:ext cx="95250" cy="95250"/>
          </a:xfrm>
          <a:prstGeom prst="roundRect">
            <a:avLst>
              <a:gd name="adj" fmla="val 50000"/>
            </a:avLst>
          </a:prstGeom>
          <a:solidFill>
            <a:srgbClr val="D38C8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5EDCAA86-2A11-47C6-B4D6-A0A655792381}"/>
              </a:ext>
            </a:extLst>
          </p:cNvPr>
          <p:cNvSpPr>
            <a:spLocks noGrp="1"/>
          </p:cNvSpPr>
          <p:nvPr/>
        </p:nvSpPr>
        <p:spPr>
          <a:xfrm>
            <a:off x="6838950" y="44577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Blessing, recognition, and desire overlap</a:t>
            </a:r>
          </a:p>
        </p:txBody>
      </p:sp>
      <p:sp>
        <p:nvSpPr>
          <p:cNvPr id="22" name="Rectangle 21">
            <a:extLst>
              <a:ext uri="{FF2B5EF4-FFF2-40B4-BE49-F238E27FC236}">
                <a16:creationId xmlns:a16="http://schemas.microsoft.com/office/drawing/2014/main" id="{A0935B01-F00D-4A47-9C89-3D2A51D9E70F}"/>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EF4E41A8-3E77-47D1-8207-84827A754600}"/>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Bosch turns looking into the first event of human history.</a:t>
            </a:r>
          </a:p>
        </p:txBody>
      </p:sp>
      <p:sp>
        <p:nvSpPr>
          <p:cNvPr id="24" name="Rectangle 23">
            <a:extLst>
              <a:ext uri="{FF2B5EF4-FFF2-40B4-BE49-F238E27FC236}">
                <a16:creationId xmlns:a16="http://schemas.microsoft.com/office/drawing/2014/main" id="{CF1D5EDB-F6FE-4F96-81CC-8625E94B3CAD}"/>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215794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F43B91A-95F7-4081-B4DF-FADC54B02011}"/>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12D90480-61E3-4043-85CE-3D781F5056E2}"/>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05 | AN UNSTABLE PARADISE</a:t>
            </a:r>
          </a:p>
        </p:txBody>
      </p:sp>
      <p:sp>
        <p:nvSpPr>
          <p:cNvPr id="4" name="Rectangle 3">
            <a:extLst>
              <a:ext uri="{FF2B5EF4-FFF2-40B4-BE49-F238E27FC236}">
                <a16:creationId xmlns:a16="http://schemas.microsoft.com/office/drawing/2014/main" id="{749BCEB4-3CD4-4C67-B439-0178F7E56CF2}"/>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Dark Eyes Inside the Fountain of Life</a:t>
            </a:r>
          </a:p>
        </p:txBody>
      </p:sp>
      <p:sp>
        <p:nvSpPr>
          <p:cNvPr id="5" name="Rectangle 4">
            <a:extLst>
              <a:ext uri="{FF2B5EF4-FFF2-40B4-BE49-F238E27FC236}">
                <a16:creationId xmlns:a16="http://schemas.microsoft.com/office/drawing/2014/main" id="{33D81713-C755-4E81-B5FA-5FBEA99D21B2}"/>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06</a:t>
            </a:r>
          </a:p>
        </p:txBody>
      </p:sp>
      <p:sp>
        <p:nvSpPr>
          <p:cNvPr id="6" name="Rectangle 5">
            <a:extLst>
              <a:ext uri="{FF2B5EF4-FFF2-40B4-BE49-F238E27FC236}">
                <a16:creationId xmlns:a16="http://schemas.microsoft.com/office/drawing/2014/main" id="{F5D5BF75-FFBB-49EE-AD01-C483C29E4501}"/>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896B73DB-80D2-4957-8947-B2B83EF60371}"/>
              </a:ext>
            </a:extLst>
          </p:cNvPr>
          <p:cNvSpPr>
            <a:spLocks noGrp="1"/>
          </p:cNvSpPr>
          <p:nvPr/>
        </p:nvSpPr>
        <p:spPr>
          <a:xfrm>
            <a:off x="6381750" y="1409700"/>
            <a:ext cx="5314950" cy="4533900"/>
          </a:xfrm>
          <a:prstGeom prst="roundRect">
            <a:avLst>
              <a:gd name="adj" fmla="val 2521"/>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AA8CFC31-E682-4E65-AE36-2D3C24733EC6}"/>
              </a:ext>
            </a:extLst>
          </p:cNvPr>
          <p:cNvSpPr>
            <a:spLocks noGrp="1"/>
          </p:cNvSpPr>
          <p:nvPr/>
        </p:nvSpPr>
        <p:spPr>
          <a:xfrm>
            <a:off x="514350" y="1447800"/>
            <a:ext cx="2686050" cy="4476750"/>
          </a:xfrm>
          <a:prstGeom prst="roundRect">
            <a:avLst>
              <a:gd name="adj" fmla="val 4255"/>
            </a:avLst>
          </a:prstGeom>
          <a:solidFill>
            <a:srgbClr val="171816"/>
          </a:solidFill>
          <a:ln w="9525">
            <a:solidFill>
              <a:srgbClr val="D5AE58"/>
            </a:solidFill>
            <a:prstDash val="solid"/>
          </a:ln>
        </p:spPr>
        <p:txBody>
          <a:bodyPr/>
          <a:lstStyle/>
          <a:p>
            <a:endParaRPr lang="en-US"/>
          </a:p>
        </p:txBody>
      </p:sp>
      <p:pic>
        <p:nvPicPr>
          <p:cNvPr id="33" name="Picture 32"/>
          <p:cNvPicPr>
            <a:picLocks noChangeAspect="1"/>
          </p:cNvPicPr>
          <p:nvPr/>
        </p:nvPicPr>
        <p:blipFill>
          <a:blip r:embed="rId4"/>
          <a:srcRect l="12012" r="12012"/>
          <a:stretch>
            <a:fillRect/>
          </a:stretch>
        </p:blipFill>
        <p:spPr>
          <a:xfrm>
            <a:off x="600075" y="1533525"/>
            <a:ext cx="2514600" cy="4305300"/>
          </a:xfrm>
          <a:prstGeom prst="roundRect">
            <a:avLst>
              <a:gd name="adj" fmla="val 3030"/>
            </a:avLst>
          </a:prstGeom>
        </p:spPr>
      </p:pic>
      <p:sp>
        <p:nvSpPr>
          <p:cNvPr id="10" name="Rectangle: Rounded Corners 9">
            <a:extLst>
              <a:ext uri="{FF2B5EF4-FFF2-40B4-BE49-F238E27FC236}">
                <a16:creationId xmlns:a16="http://schemas.microsoft.com/office/drawing/2014/main" id="{03E24E93-53B0-4EBA-8E41-7AE72C3EAE55}"/>
              </a:ext>
            </a:extLst>
          </p:cNvPr>
          <p:cNvSpPr>
            <a:spLocks noGrp="1"/>
          </p:cNvSpPr>
          <p:nvPr/>
        </p:nvSpPr>
        <p:spPr>
          <a:xfrm>
            <a:off x="3371850" y="1447800"/>
            <a:ext cx="2686050" cy="4476750"/>
          </a:xfrm>
          <a:prstGeom prst="roundRect">
            <a:avLst>
              <a:gd name="adj" fmla="val 4255"/>
            </a:avLst>
          </a:prstGeom>
          <a:solidFill>
            <a:srgbClr val="171816"/>
          </a:solidFill>
          <a:ln w="9525">
            <a:solidFill>
              <a:srgbClr val="8FB6C2"/>
            </a:solidFill>
            <a:prstDash val="solid"/>
          </a:ln>
        </p:spPr>
        <p:txBody>
          <a:bodyPr/>
          <a:lstStyle/>
          <a:p>
            <a:endParaRPr lang="en-US"/>
          </a:p>
        </p:txBody>
      </p:sp>
      <p:pic>
        <p:nvPicPr>
          <p:cNvPr id="35" name="Picture 34"/>
          <p:cNvPicPr>
            <a:picLocks noChangeAspect="1"/>
          </p:cNvPicPr>
          <p:nvPr/>
        </p:nvPicPr>
        <p:blipFill>
          <a:blip r:embed="rId5"/>
          <a:srcRect l="31584" r="31584"/>
          <a:stretch>
            <a:fillRect/>
          </a:stretch>
        </p:blipFill>
        <p:spPr>
          <a:xfrm>
            <a:off x="3457575" y="1533525"/>
            <a:ext cx="2514600" cy="4305300"/>
          </a:xfrm>
          <a:prstGeom prst="roundRect">
            <a:avLst>
              <a:gd name="adj" fmla="val 3030"/>
            </a:avLst>
          </a:prstGeom>
        </p:spPr>
      </p:pic>
      <p:sp>
        <p:nvSpPr>
          <p:cNvPr id="12" name="Rectangle 11">
            <a:extLst>
              <a:ext uri="{FF2B5EF4-FFF2-40B4-BE49-F238E27FC236}">
                <a16:creationId xmlns:a16="http://schemas.microsoft.com/office/drawing/2014/main" id="{49766C4E-AA4D-4FAF-A74C-9567CB91AF6A}"/>
              </a:ext>
            </a:extLst>
          </p:cNvPr>
          <p:cNvSpPr>
            <a:spLocks noGrp="1"/>
          </p:cNvSpPr>
          <p:nvPr/>
        </p:nvSpPr>
        <p:spPr>
          <a:xfrm>
            <a:off x="514350" y="5638800"/>
            <a:ext cx="5543550" cy="285750"/>
          </a:xfrm>
          <a:prstGeom prst="rect">
            <a:avLst/>
          </a:prstGeom>
          <a:solidFill>
            <a:srgbClr val="0B0C0C"/>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C7751CEC-94D9-4326-8506-420841944CE5}"/>
              </a:ext>
            </a:extLst>
          </p:cNvPr>
          <p:cNvSpPr>
            <a:spLocks noGrp="1"/>
          </p:cNvSpPr>
          <p:nvPr/>
        </p:nvSpPr>
        <p:spPr>
          <a:xfrm>
            <a:off x="609600" y="5705475"/>
            <a:ext cx="535305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Fountain and owl + animals and predation in Eden</a:t>
            </a:r>
          </a:p>
        </p:txBody>
      </p:sp>
      <p:sp>
        <p:nvSpPr>
          <p:cNvPr id="14" name="Rectangle 13">
            <a:extLst>
              <a:ext uri="{FF2B5EF4-FFF2-40B4-BE49-F238E27FC236}">
                <a16:creationId xmlns:a16="http://schemas.microsoft.com/office/drawing/2014/main" id="{3DADFC51-E28C-4F4E-B65A-B9763060A579}"/>
              </a:ext>
            </a:extLst>
          </p:cNvPr>
          <p:cNvSpPr>
            <a:spLocks noGrp="1"/>
          </p:cNvSpPr>
          <p:nvPr/>
        </p:nvSpPr>
        <p:spPr>
          <a:xfrm>
            <a:off x="6553200" y="1600200"/>
            <a:ext cx="4953000" cy="106680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Predation and unease already inhabit Eden's order.</a:t>
            </a:r>
          </a:p>
        </p:txBody>
      </p:sp>
      <p:sp>
        <p:nvSpPr>
          <p:cNvPr id="15" name="Rectangle 14">
            <a:extLst>
              <a:ext uri="{FF2B5EF4-FFF2-40B4-BE49-F238E27FC236}">
                <a16:creationId xmlns:a16="http://schemas.microsoft.com/office/drawing/2014/main" id="{3098B446-ABF8-4668-ADBA-3B51B1A649D2}"/>
              </a:ext>
            </a:extLst>
          </p:cNvPr>
          <p:cNvSpPr>
            <a:spLocks noGrp="1"/>
          </p:cNvSpPr>
          <p:nvPr/>
        </p:nvSpPr>
        <p:spPr>
          <a:xfrm>
            <a:off x="6553200" y="2914650"/>
            <a:ext cx="895350" cy="38100"/>
          </a:xfrm>
          <a:prstGeom prst="rect">
            <a:avLst/>
          </a:prstGeom>
          <a:solidFill>
            <a:srgbClr val="D38C86"/>
          </a:solidFill>
          <a:ln w="0">
            <a:noFill/>
            <a:prstDash val="solid"/>
          </a:ln>
        </p:spPr>
        <p:txBody>
          <a:bodyPr/>
          <a:lstStyle/>
          <a:p>
            <a:endParaRPr lang="en-US"/>
          </a:p>
        </p:txBody>
      </p:sp>
      <p:sp>
        <p:nvSpPr>
          <p:cNvPr id="16" name="Rectangle: Rounded Corners 15">
            <a:extLst>
              <a:ext uri="{FF2B5EF4-FFF2-40B4-BE49-F238E27FC236}">
                <a16:creationId xmlns:a16="http://schemas.microsoft.com/office/drawing/2014/main" id="{D48AF064-5A96-4131-B4E6-8596939F1BD9}"/>
              </a:ext>
            </a:extLst>
          </p:cNvPr>
          <p:cNvSpPr>
            <a:spLocks noGrp="1"/>
          </p:cNvSpPr>
          <p:nvPr/>
        </p:nvSpPr>
        <p:spPr>
          <a:xfrm>
            <a:off x="6591300" y="3390900"/>
            <a:ext cx="95250" cy="95250"/>
          </a:xfrm>
          <a:prstGeom prst="roundRect">
            <a:avLst>
              <a:gd name="adj" fmla="val 50000"/>
            </a:avLst>
          </a:prstGeom>
          <a:solidFill>
            <a:srgbClr val="D38C86"/>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59D1E70B-52FA-4DBC-B1EB-5E0490CED42B}"/>
              </a:ext>
            </a:extLst>
          </p:cNvPr>
          <p:cNvSpPr>
            <a:spLocks noGrp="1"/>
          </p:cNvSpPr>
          <p:nvPr/>
        </p:nvSpPr>
        <p:spPr>
          <a:xfrm>
            <a:off x="6838950" y="33147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pink fountain combines plant, mineral, body, and architecture</a:t>
            </a:r>
          </a:p>
        </p:txBody>
      </p:sp>
      <p:sp>
        <p:nvSpPr>
          <p:cNvPr id="18" name="Rectangle: Rounded Corners 17">
            <a:extLst>
              <a:ext uri="{FF2B5EF4-FFF2-40B4-BE49-F238E27FC236}">
                <a16:creationId xmlns:a16="http://schemas.microsoft.com/office/drawing/2014/main" id="{1956AC73-2326-4FF2-B592-27C465CD2FA1}"/>
              </a:ext>
            </a:extLst>
          </p:cNvPr>
          <p:cNvSpPr>
            <a:spLocks noGrp="1"/>
          </p:cNvSpPr>
          <p:nvPr/>
        </p:nvSpPr>
        <p:spPr>
          <a:xfrm>
            <a:off x="6591300" y="3962400"/>
            <a:ext cx="95250" cy="95250"/>
          </a:xfrm>
          <a:prstGeom prst="roundRect">
            <a:avLst>
              <a:gd name="adj" fmla="val 50000"/>
            </a:avLst>
          </a:prstGeom>
          <a:solidFill>
            <a:srgbClr val="8FB6C2"/>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492B13B1-FB58-4B5F-9D3A-FF1C6E0B36DC}"/>
              </a:ext>
            </a:extLst>
          </p:cNvPr>
          <p:cNvSpPr>
            <a:spLocks noGrp="1"/>
          </p:cNvSpPr>
          <p:nvPr/>
        </p:nvSpPr>
        <p:spPr>
          <a:xfrm>
            <a:off x="6838950" y="38862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owl has no single universal meaning</a:t>
            </a:r>
          </a:p>
        </p:txBody>
      </p:sp>
      <p:sp>
        <p:nvSpPr>
          <p:cNvPr id="20" name="Rectangle: Rounded Corners 19">
            <a:extLst>
              <a:ext uri="{FF2B5EF4-FFF2-40B4-BE49-F238E27FC236}">
                <a16:creationId xmlns:a16="http://schemas.microsoft.com/office/drawing/2014/main" id="{0781FD19-5830-4D35-A0FA-6D97500547A7}"/>
              </a:ext>
            </a:extLst>
          </p:cNvPr>
          <p:cNvSpPr>
            <a:spLocks noGrp="1"/>
          </p:cNvSpPr>
          <p:nvPr/>
        </p:nvSpPr>
        <p:spPr>
          <a:xfrm>
            <a:off x="6591300" y="4533900"/>
            <a:ext cx="95250" cy="95250"/>
          </a:xfrm>
          <a:prstGeom prst="roundRect">
            <a:avLst>
              <a:gd name="adj" fmla="val 50000"/>
            </a:avLst>
          </a:prstGeom>
          <a:solidFill>
            <a:srgbClr val="D38C8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7FC2FC60-81F0-4BC4-8FD6-EB090FD4032F}"/>
              </a:ext>
            </a:extLst>
          </p:cNvPr>
          <p:cNvSpPr>
            <a:spLocks noGrp="1"/>
          </p:cNvSpPr>
          <p:nvPr/>
        </p:nvSpPr>
        <p:spPr>
          <a:xfrm>
            <a:off x="6838950" y="44577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Giraffe, elephant, predators, prey, and hybrids coexist</a:t>
            </a:r>
          </a:p>
        </p:txBody>
      </p:sp>
      <p:sp>
        <p:nvSpPr>
          <p:cNvPr id="22" name="Rectangle 21">
            <a:extLst>
              <a:ext uri="{FF2B5EF4-FFF2-40B4-BE49-F238E27FC236}">
                <a16:creationId xmlns:a16="http://schemas.microsoft.com/office/drawing/2014/main" id="{CE610F5B-4FC0-4E7C-BCE0-16AE66979363}"/>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D0E411FE-6724-4EF0-8E4B-53EAE4177877}"/>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Predation and unease already inhabit Eden's order.</a:t>
            </a:r>
          </a:p>
        </p:txBody>
      </p:sp>
      <p:sp>
        <p:nvSpPr>
          <p:cNvPr id="24" name="Rectangle 23">
            <a:extLst>
              <a:ext uri="{FF2B5EF4-FFF2-40B4-BE49-F238E27FC236}">
                <a16:creationId xmlns:a16="http://schemas.microsoft.com/office/drawing/2014/main" id="{52DEA3D2-E96F-4304-9DB5-CB85BD344A14}"/>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1183012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2204F8A4-90F4-4A18-905D-1ED556B7E12C}"/>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96F58759-46FF-4651-9FE3-515032B8BB9E}"/>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06 | THE CENTRAL GARDEN</a:t>
            </a:r>
          </a:p>
        </p:txBody>
      </p:sp>
      <p:sp>
        <p:nvSpPr>
          <p:cNvPr id="4" name="Rectangle 3">
            <a:extLst>
              <a:ext uri="{FF2B5EF4-FFF2-40B4-BE49-F238E27FC236}">
                <a16:creationId xmlns:a16="http://schemas.microsoft.com/office/drawing/2014/main" id="{3BDE4398-8543-4D6D-84F4-0487E37A0EBB}"/>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A World Beautiful Enough to Lower Our Guard</a:t>
            </a:r>
          </a:p>
        </p:txBody>
      </p:sp>
      <p:sp>
        <p:nvSpPr>
          <p:cNvPr id="5" name="Rectangle 4">
            <a:extLst>
              <a:ext uri="{FF2B5EF4-FFF2-40B4-BE49-F238E27FC236}">
                <a16:creationId xmlns:a16="http://schemas.microsoft.com/office/drawing/2014/main" id="{37238BFC-08E3-4273-8EA1-DC4BA0DB8A14}"/>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07</a:t>
            </a:r>
          </a:p>
        </p:txBody>
      </p:sp>
      <p:sp>
        <p:nvSpPr>
          <p:cNvPr id="6" name="Rectangle 5">
            <a:extLst>
              <a:ext uri="{FF2B5EF4-FFF2-40B4-BE49-F238E27FC236}">
                <a16:creationId xmlns:a16="http://schemas.microsoft.com/office/drawing/2014/main" id="{32D438AD-854F-48AB-BC46-6573194AE8ED}"/>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D827E8FF-3C0A-43EB-A389-3701490073B8}"/>
              </a:ext>
            </a:extLst>
          </p:cNvPr>
          <p:cNvSpPr>
            <a:spLocks noGrp="1"/>
          </p:cNvSpPr>
          <p:nvPr/>
        </p:nvSpPr>
        <p:spPr>
          <a:xfrm>
            <a:off x="381000" y="1409700"/>
            <a:ext cx="5219700" cy="4476750"/>
          </a:xfrm>
          <a:prstGeom prst="roundRect">
            <a:avLst>
              <a:gd name="adj" fmla="val 2553"/>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B38CFBB9-2745-4584-BD3D-7EF7164B8A4A}"/>
              </a:ext>
            </a:extLst>
          </p:cNvPr>
          <p:cNvSpPr>
            <a:spLocks noGrp="1"/>
          </p:cNvSpPr>
          <p:nvPr/>
        </p:nvSpPr>
        <p:spPr>
          <a:xfrm>
            <a:off x="6705600" y="1390650"/>
            <a:ext cx="4953000" cy="4610100"/>
          </a:xfrm>
          <a:prstGeom prst="roundRect">
            <a:avLst>
              <a:gd name="adj" fmla="val 2479"/>
            </a:avLst>
          </a:prstGeom>
          <a:solidFill>
            <a:srgbClr val="171816"/>
          </a:solidFill>
          <a:ln w="9525">
            <a:solidFill>
              <a:srgbClr val="D5AE58"/>
            </a:solidFill>
            <a:prstDash val="solid"/>
          </a:ln>
        </p:spPr>
        <p:txBody>
          <a:bodyPr/>
          <a:lstStyle/>
          <a:p>
            <a:endParaRPr lang="en-US"/>
          </a:p>
        </p:txBody>
      </p:sp>
      <p:pic>
        <p:nvPicPr>
          <p:cNvPr id="31" name="Picture 30"/>
          <p:cNvPicPr>
            <a:picLocks noChangeAspect="1"/>
          </p:cNvPicPr>
          <p:nvPr/>
        </p:nvPicPr>
        <p:blipFill>
          <a:blip r:embed="rId4"/>
          <a:stretch/>
        </p:blipFill>
        <p:spPr>
          <a:xfrm>
            <a:off x="7169801" y="1485900"/>
            <a:ext cx="4024598" cy="4419600"/>
          </a:xfrm>
          <a:prstGeom prst="roundRect">
            <a:avLst>
              <a:gd name="adj" fmla="val 1724"/>
            </a:avLst>
          </a:prstGeom>
        </p:spPr>
      </p:pic>
      <p:sp>
        <p:nvSpPr>
          <p:cNvPr id="10" name="Rectangle 9">
            <a:extLst>
              <a:ext uri="{FF2B5EF4-FFF2-40B4-BE49-F238E27FC236}">
                <a16:creationId xmlns:a16="http://schemas.microsoft.com/office/drawing/2014/main" id="{8F599EE5-0D3F-492B-B788-6EDC5E4D66EC}"/>
              </a:ext>
            </a:extLst>
          </p:cNvPr>
          <p:cNvSpPr>
            <a:spLocks noGrp="1"/>
          </p:cNvSpPr>
          <p:nvPr/>
        </p:nvSpPr>
        <p:spPr>
          <a:xfrm>
            <a:off x="6800850" y="5619750"/>
            <a:ext cx="4762500" cy="285750"/>
          </a:xfrm>
          <a:prstGeom prst="rect">
            <a:avLst/>
          </a:prstGeom>
          <a:solidFill>
            <a:srgbClr val="0B0C0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11D2AB30-16DF-415C-860F-BED41541E417}"/>
              </a:ext>
            </a:extLst>
          </p:cNvPr>
          <p:cNvSpPr>
            <a:spLocks noGrp="1"/>
          </p:cNvSpPr>
          <p:nvPr/>
        </p:nvSpPr>
        <p:spPr>
          <a:xfrm>
            <a:off x="6896100" y="5686425"/>
            <a:ext cx="45720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Center panel | Earthly Delights</a:t>
            </a:r>
          </a:p>
        </p:txBody>
      </p:sp>
      <p:sp>
        <p:nvSpPr>
          <p:cNvPr id="12" name="Rectangle 11">
            <a:extLst>
              <a:ext uri="{FF2B5EF4-FFF2-40B4-BE49-F238E27FC236}">
                <a16:creationId xmlns:a16="http://schemas.microsoft.com/office/drawing/2014/main" id="{309E6013-360C-408A-8F93-238C3EA09F21}"/>
              </a:ext>
            </a:extLst>
          </p:cNvPr>
          <p:cNvSpPr>
            <a:spLocks noGrp="1"/>
          </p:cNvSpPr>
          <p:nvPr/>
        </p:nvSpPr>
        <p:spPr>
          <a:xfrm>
            <a:off x="552450" y="1619250"/>
            <a:ext cx="4857750" cy="100965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Once God disappears, desire becomes the organizing force.</a:t>
            </a:r>
          </a:p>
        </p:txBody>
      </p:sp>
      <p:sp>
        <p:nvSpPr>
          <p:cNvPr id="13" name="Rectangle 12">
            <a:extLst>
              <a:ext uri="{FF2B5EF4-FFF2-40B4-BE49-F238E27FC236}">
                <a16:creationId xmlns:a16="http://schemas.microsoft.com/office/drawing/2014/main" id="{057576B2-5847-47F1-A399-493B77E4A1C1}"/>
              </a:ext>
            </a:extLst>
          </p:cNvPr>
          <p:cNvSpPr>
            <a:spLocks noGrp="1"/>
          </p:cNvSpPr>
          <p:nvPr/>
        </p:nvSpPr>
        <p:spPr>
          <a:xfrm>
            <a:off x="552450" y="2895600"/>
            <a:ext cx="895350" cy="38100"/>
          </a:xfrm>
          <a:prstGeom prst="rect">
            <a:avLst/>
          </a:prstGeom>
          <a:solidFill>
            <a:srgbClr val="D38C86"/>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C6D547CD-8EAC-4C39-874E-3FCEECB54450}"/>
              </a:ext>
            </a:extLst>
          </p:cNvPr>
          <p:cNvSpPr>
            <a:spLocks noGrp="1"/>
          </p:cNvSpPr>
          <p:nvPr/>
        </p:nvSpPr>
        <p:spPr>
          <a:xfrm>
            <a:off x="590550" y="3371850"/>
            <a:ext cx="95250" cy="95250"/>
          </a:xfrm>
          <a:prstGeom prst="roundRect">
            <a:avLst>
              <a:gd name="adj" fmla="val 50000"/>
            </a:avLst>
          </a:prstGeom>
          <a:solidFill>
            <a:srgbClr val="D38C86"/>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44F4E584-02F5-421D-BE44-F43AAC08DD52}"/>
              </a:ext>
            </a:extLst>
          </p:cNvPr>
          <p:cNvSpPr>
            <a:spLocks noGrp="1"/>
          </p:cNvSpPr>
          <p:nvPr/>
        </p:nvSpPr>
        <p:spPr>
          <a:xfrm>
            <a:off x="838200" y="3295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Young nude figures pick, swallow, ride, and touch</a:t>
            </a:r>
          </a:p>
        </p:txBody>
      </p:sp>
      <p:sp>
        <p:nvSpPr>
          <p:cNvPr id="16" name="Rectangle: Rounded Corners 15">
            <a:extLst>
              <a:ext uri="{FF2B5EF4-FFF2-40B4-BE49-F238E27FC236}">
                <a16:creationId xmlns:a16="http://schemas.microsoft.com/office/drawing/2014/main" id="{615D5D5D-7755-43B1-9751-C2CF98E2135A}"/>
              </a:ext>
            </a:extLst>
          </p:cNvPr>
          <p:cNvSpPr>
            <a:spLocks noGrp="1"/>
          </p:cNvSpPr>
          <p:nvPr/>
        </p:nvSpPr>
        <p:spPr>
          <a:xfrm>
            <a:off x="590550" y="3943350"/>
            <a:ext cx="95250" cy="95250"/>
          </a:xfrm>
          <a:prstGeom prst="roundRect">
            <a:avLst>
              <a:gd name="adj" fmla="val 50000"/>
            </a:avLst>
          </a:prstGeom>
          <a:solidFill>
            <a:srgbClr val="8FB6C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95F65F42-7B78-4FA9-BEB8-8E4D61DABD38}"/>
              </a:ext>
            </a:extLst>
          </p:cNvPr>
          <p:cNvSpPr>
            <a:spLocks noGrp="1"/>
          </p:cNvSpPr>
          <p:nvPr/>
        </p:nvSpPr>
        <p:spPr>
          <a:xfrm>
            <a:off x="838200" y="38671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No obvious old age, work, illness, or institutions</a:t>
            </a:r>
          </a:p>
        </p:txBody>
      </p:sp>
      <p:sp>
        <p:nvSpPr>
          <p:cNvPr id="18" name="Rectangle: Rounded Corners 17">
            <a:extLst>
              <a:ext uri="{FF2B5EF4-FFF2-40B4-BE49-F238E27FC236}">
                <a16:creationId xmlns:a16="http://schemas.microsoft.com/office/drawing/2014/main" id="{29B866B2-DC58-4960-B251-0E254DEB6191}"/>
              </a:ext>
            </a:extLst>
          </p:cNvPr>
          <p:cNvSpPr>
            <a:spLocks noGrp="1"/>
          </p:cNvSpPr>
          <p:nvPr/>
        </p:nvSpPr>
        <p:spPr>
          <a:xfrm>
            <a:off x="590550" y="4514850"/>
            <a:ext cx="95250" cy="95250"/>
          </a:xfrm>
          <a:prstGeom prst="roundRect">
            <a:avLst>
              <a:gd name="adj" fmla="val 50000"/>
            </a:avLst>
          </a:prstGeom>
          <a:solidFill>
            <a:srgbClr val="D38C8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BF4C6299-8C05-4DD5-B35C-AB2A6039F144}"/>
              </a:ext>
            </a:extLst>
          </p:cNvPr>
          <p:cNvSpPr>
            <a:spLocks noGrp="1"/>
          </p:cNvSpPr>
          <p:nvPr/>
        </p:nvSpPr>
        <p:spPr>
          <a:xfrm>
            <a:off x="838200" y="4438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Pleasure looks painless, yet nothing can stop</a:t>
            </a:r>
          </a:p>
        </p:txBody>
      </p:sp>
      <p:sp>
        <p:nvSpPr>
          <p:cNvPr id="20" name="Rectangle 19">
            <a:extLst>
              <a:ext uri="{FF2B5EF4-FFF2-40B4-BE49-F238E27FC236}">
                <a16:creationId xmlns:a16="http://schemas.microsoft.com/office/drawing/2014/main" id="{FC15CBC0-B8CA-4C4A-A45C-8655748A254A}"/>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7EEA12BE-9BB7-4683-B381-923935B7D24E}"/>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Once God disappears, desire becomes the organizing force.</a:t>
            </a:r>
          </a:p>
        </p:txBody>
      </p:sp>
      <p:sp>
        <p:nvSpPr>
          <p:cNvPr id="22" name="Rectangle 21">
            <a:extLst>
              <a:ext uri="{FF2B5EF4-FFF2-40B4-BE49-F238E27FC236}">
                <a16:creationId xmlns:a16="http://schemas.microsoft.com/office/drawing/2014/main" id="{FE3B7C30-1DEE-40AC-A8F4-B13439967318}"/>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1641840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B60EDCC-02DA-4B9E-A0BD-E14FEAF635D0}"/>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61107414-8C4D-413C-A9EE-67E9A172B4EC}"/>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07 | REVERSAL OF SCALE</a:t>
            </a:r>
          </a:p>
        </p:txBody>
      </p:sp>
      <p:sp>
        <p:nvSpPr>
          <p:cNvPr id="4" name="Rectangle 3">
            <a:extLst>
              <a:ext uri="{FF2B5EF4-FFF2-40B4-BE49-F238E27FC236}">
                <a16:creationId xmlns:a16="http://schemas.microsoft.com/office/drawing/2014/main" id="{1D2D7C19-9CBA-44DF-8918-09676DF6B87B}"/>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When Fruit Becomes Large Enough to Rule Us</a:t>
            </a:r>
          </a:p>
        </p:txBody>
      </p:sp>
      <p:sp>
        <p:nvSpPr>
          <p:cNvPr id="5" name="Rectangle 4">
            <a:extLst>
              <a:ext uri="{FF2B5EF4-FFF2-40B4-BE49-F238E27FC236}">
                <a16:creationId xmlns:a16="http://schemas.microsoft.com/office/drawing/2014/main" id="{0BC07DB4-32A6-4BD2-9414-6AF7ACF2EFBB}"/>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08</a:t>
            </a:r>
          </a:p>
        </p:txBody>
      </p:sp>
      <p:sp>
        <p:nvSpPr>
          <p:cNvPr id="6" name="Rectangle 5">
            <a:extLst>
              <a:ext uri="{FF2B5EF4-FFF2-40B4-BE49-F238E27FC236}">
                <a16:creationId xmlns:a16="http://schemas.microsoft.com/office/drawing/2014/main" id="{3B6889E5-BC87-4D4F-ACC4-68563BDA270F}"/>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456D3355-3BFC-4E54-829F-BEB8C81E9423}"/>
              </a:ext>
            </a:extLst>
          </p:cNvPr>
          <p:cNvSpPr>
            <a:spLocks noGrp="1"/>
          </p:cNvSpPr>
          <p:nvPr/>
        </p:nvSpPr>
        <p:spPr>
          <a:xfrm>
            <a:off x="6515100" y="1409700"/>
            <a:ext cx="5219700" cy="4476750"/>
          </a:xfrm>
          <a:prstGeom prst="roundRect">
            <a:avLst>
              <a:gd name="adj" fmla="val 2553"/>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86A80FDD-8713-4327-B912-5B739B741427}"/>
              </a:ext>
            </a:extLst>
          </p:cNvPr>
          <p:cNvSpPr>
            <a:spLocks noGrp="1"/>
          </p:cNvSpPr>
          <p:nvPr/>
        </p:nvSpPr>
        <p:spPr>
          <a:xfrm>
            <a:off x="514350" y="1390650"/>
            <a:ext cx="4953000" cy="4610100"/>
          </a:xfrm>
          <a:prstGeom prst="roundRect">
            <a:avLst>
              <a:gd name="adj" fmla="val 2479"/>
            </a:avLst>
          </a:prstGeom>
          <a:solidFill>
            <a:srgbClr val="171816"/>
          </a:solidFill>
          <a:ln w="9525">
            <a:solidFill>
              <a:srgbClr val="D5AE58"/>
            </a:solidFill>
            <a:prstDash val="solid"/>
          </a:ln>
        </p:spPr>
        <p:txBody>
          <a:bodyPr/>
          <a:lstStyle/>
          <a:p>
            <a:endParaRPr lang="en-US"/>
          </a:p>
        </p:txBody>
      </p:sp>
      <p:pic>
        <p:nvPicPr>
          <p:cNvPr id="31" name="Picture 30"/>
          <p:cNvPicPr>
            <a:picLocks noChangeAspect="1"/>
          </p:cNvPicPr>
          <p:nvPr/>
        </p:nvPicPr>
        <p:blipFill>
          <a:blip r:embed="rId4"/>
          <a:stretch/>
        </p:blipFill>
        <p:spPr>
          <a:xfrm>
            <a:off x="609600" y="1866602"/>
            <a:ext cx="4762500" cy="3658195"/>
          </a:xfrm>
          <a:prstGeom prst="roundRect">
            <a:avLst>
              <a:gd name="adj" fmla="val 1724"/>
            </a:avLst>
          </a:prstGeom>
        </p:spPr>
      </p:pic>
      <p:sp>
        <p:nvSpPr>
          <p:cNvPr id="10" name="Rectangle 9">
            <a:extLst>
              <a:ext uri="{FF2B5EF4-FFF2-40B4-BE49-F238E27FC236}">
                <a16:creationId xmlns:a16="http://schemas.microsoft.com/office/drawing/2014/main" id="{6F8E4AAC-233C-4845-8143-A0BF85E0F588}"/>
              </a:ext>
            </a:extLst>
          </p:cNvPr>
          <p:cNvSpPr>
            <a:spLocks noGrp="1"/>
          </p:cNvSpPr>
          <p:nvPr/>
        </p:nvSpPr>
        <p:spPr>
          <a:xfrm>
            <a:off x="609600" y="5619750"/>
            <a:ext cx="4762500" cy="285750"/>
          </a:xfrm>
          <a:prstGeom prst="rect">
            <a:avLst/>
          </a:prstGeom>
          <a:solidFill>
            <a:srgbClr val="0B0C0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993C7BBC-B91D-40B4-8745-8BE14E233CCF}"/>
              </a:ext>
            </a:extLst>
          </p:cNvPr>
          <p:cNvSpPr>
            <a:spLocks noGrp="1"/>
          </p:cNvSpPr>
          <p:nvPr/>
        </p:nvSpPr>
        <p:spPr>
          <a:xfrm>
            <a:off x="704850" y="5686425"/>
            <a:ext cx="45720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Center panel | oversized fruit and bodily play</a:t>
            </a:r>
          </a:p>
        </p:txBody>
      </p:sp>
      <p:sp>
        <p:nvSpPr>
          <p:cNvPr id="12" name="Rectangle 11">
            <a:extLst>
              <a:ext uri="{FF2B5EF4-FFF2-40B4-BE49-F238E27FC236}">
                <a16:creationId xmlns:a16="http://schemas.microsoft.com/office/drawing/2014/main" id="{B06876CE-0A36-46C4-B5C6-5327340505D7}"/>
              </a:ext>
            </a:extLst>
          </p:cNvPr>
          <p:cNvSpPr>
            <a:spLocks noGrp="1"/>
          </p:cNvSpPr>
          <p:nvPr/>
        </p:nvSpPr>
        <p:spPr>
          <a:xfrm>
            <a:off x="6686550" y="1619250"/>
            <a:ext cx="4857750" cy="100965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Humans no longer master nature; perishable pleasure carries them.</a:t>
            </a:r>
          </a:p>
        </p:txBody>
      </p:sp>
      <p:sp>
        <p:nvSpPr>
          <p:cNvPr id="13" name="Rectangle 12">
            <a:extLst>
              <a:ext uri="{FF2B5EF4-FFF2-40B4-BE49-F238E27FC236}">
                <a16:creationId xmlns:a16="http://schemas.microsoft.com/office/drawing/2014/main" id="{CC034CB0-08D7-4861-B45F-D1BAED7DBF9E}"/>
              </a:ext>
            </a:extLst>
          </p:cNvPr>
          <p:cNvSpPr>
            <a:spLocks noGrp="1"/>
          </p:cNvSpPr>
          <p:nvPr/>
        </p:nvSpPr>
        <p:spPr>
          <a:xfrm>
            <a:off x="6686550" y="2895600"/>
            <a:ext cx="895350" cy="38100"/>
          </a:xfrm>
          <a:prstGeom prst="rect">
            <a:avLst/>
          </a:prstGeom>
          <a:solidFill>
            <a:srgbClr val="D38C86"/>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910FA805-F8AD-488C-A15E-89DAAA63FAEE}"/>
              </a:ext>
            </a:extLst>
          </p:cNvPr>
          <p:cNvSpPr>
            <a:spLocks noGrp="1"/>
          </p:cNvSpPr>
          <p:nvPr/>
        </p:nvSpPr>
        <p:spPr>
          <a:xfrm>
            <a:off x="6724650" y="3371850"/>
            <a:ext cx="95250" cy="95250"/>
          </a:xfrm>
          <a:prstGeom prst="roundRect">
            <a:avLst>
              <a:gd name="adj" fmla="val 50000"/>
            </a:avLst>
          </a:prstGeom>
          <a:solidFill>
            <a:srgbClr val="D38C86"/>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4020AFE5-B084-44EF-AC05-A5E4DD892948}"/>
              </a:ext>
            </a:extLst>
          </p:cNvPr>
          <p:cNvSpPr>
            <a:spLocks noGrp="1"/>
          </p:cNvSpPr>
          <p:nvPr/>
        </p:nvSpPr>
        <p:spPr>
          <a:xfrm>
            <a:off x="6972300" y="3295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Berries, birds, and shells exceed human scale</a:t>
            </a:r>
          </a:p>
        </p:txBody>
      </p:sp>
      <p:sp>
        <p:nvSpPr>
          <p:cNvPr id="16" name="Rectangle: Rounded Corners 15">
            <a:extLst>
              <a:ext uri="{FF2B5EF4-FFF2-40B4-BE49-F238E27FC236}">
                <a16:creationId xmlns:a16="http://schemas.microsoft.com/office/drawing/2014/main" id="{6E2B00A5-BA63-42CE-954C-B7F032FFFBE2}"/>
              </a:ext>
            </a:extLst>
          </p:cNvPr>
          <p:cNvSpPr>
            <a:spLocks noGrp="1"/>
          </p:cNvSpPr>
          <p:nvPr/>
        </p:nvSpPr>
        <p:spPr>
          <a:xfrm>
            <a:off x="6724650" y="3943350"/>
            <a:ext cx="95250" cy="95250"/>
          </a:xfrm>
          <a:prstGeom prst="roundRect">
            <a:avLst>
              <a:gd name="adj" fmla="val 50000"/>
            </a:avLst>
          </a:prstGeom>
          <a:solidFill>
            <a:srgbClr val="8FB6C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4B4CBD27-B5F7-495A-A9E3-8C9CCE5B7C03}"/>
              </a:ext>
            </a:extLst>
          </p:cNvPr>
          <p:cNvSpPr>
            <a:spLocks noGrp="1"/>
          </p:cNvSpPr>
          <p:nvPr/>
        </p:nvSpPr>
        <p:spPr>
          <a:xfrm>
            <a:off x="6972300" y="38671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Bodies are enclosed, pressed, swallowed, and transported</a:t>
            </a:r>
          </a:p>
        </p:txBody>
      </p:sp>
      <p:sp>
        <p:nvSpPr>
          <p:cNvPr id="18" name="Rectangle: Rounded Corners 17">
            <a:extLst>
              <a:ext uri="{FF2B5EF4-FFF2-40B4-BE49-F238E27FC236}">
                <a16:creationId xmlns:a16="http://schemas.microsoft.com/office/drawing/2014/main" id="{9DFA48CD-7A40-4FFC-B7C0-D926F5D708E4}"/>
              </a:ext>
            </a:extLst>
          </p:cNvPr>
          <p:cNvSpPr>
            <a:spLocks noGrp="1"/>
          </p:cNvSpPr>
          <p:nvPr/>
        </p:nvSpPr>
        <p:spPr>
          <a:xfrm>
            <a:off x="6724650" y="4514850"/>
            <a:ext cx="95250" cy="95250"/>
          </a:xfrm>
          <a:prstGeom prst="roundRect">
            <a:avLst>
              <a:gd name="adj" fmla="val 50000"/>
            </a:avLst>
          </a:prstGeom>
          <a:solidFill>
            <a:srgbClr val="D38C8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46A7B523-3988-49D2-A32C-5E16AE328234}"/>
              </a:ext>
            </a:extLst>
          </p:cNvPr>
          <p:cNvSpPr>
            <a:spLocks noGrp="1"/>
          </p:cNvSpPr>
          <p:nvPr/>
        </p:nvSpPr>
        <p:spPr>
          <a:xfrm>
            <a:off x="6972300" y="4438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Early inventories foregrounded the madroño fruit</a:t>
            </a:r>
          </a:p>
        </p:txBody>
      </p:sp>
      <p:sp>
        <p:nvSpPr>
          <p:cNvPr id="20" name="Rectangle 19">
            <a:extLst>
              <a:ext uri="{FF2B5EF4-FFF2-40B4-BE49-F238E27FC236}">
                <a16:creationId xmlns:a16="http://schemas.microsoft.com/office/drawing/2014/main" id="{55C83E3D-F533-4528-9B34-DFCCB4F7B74E}"/>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2B553597-52FD-4EC2-A9E4-5998D475EF43}"/>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Humans no longer master nature; perishable pleasure carries them.</a:t>
            </a:r>
          </a:p>
        </p:txBody>
      </p:sp>
      <p:sp>
        <p:nvSpPr>
          <p:cNvPr id="22" name="Rectangle 21">
            <a:extLst>
              <a:ext uri="{FF2B5EF4-FFF2-40B4-BE49-F238E27FC236}">
                <a16:creationId xmlns:a16="http://schemas.microsoft.com/office/drawing/2014/main" id="{3D94B328-0AF0-4F8D-ABE5-E7077A4AC928}"/>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24465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C2FD1B9-C2B9-4237-B06E-DCCB0E08C48B}"/>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5F1DDC68-C6C0-4C24-B28B-180A6E0E94E4}"/>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08 | FRAGILE ENCLOSURE</a:t>
            </a:r>
          </a:p>
        </p:txBody>
      </p:sp>
      <p:sp>
        <p:nvSpPr>
          <p:cNvPr id="4" name="Rectangle 3">
            <a:extLst>
              <a:ext uri="{FF2B5EF4-FFF2-40B4-BE49-F238E27FC236}">
                <a16:creationId xmlns:a16="http://schemas.microsoft.com/office/drawing/2014/main" id="{F97CCE7D-A6BE-45E1-98A1-D2ACE63E8A59}"/>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Intimacy Inside a Transparent Sphere</a:t>
            </a:r>
          </a:p>
        </p:txBody>
      </p:sp>
      <p:sp>
        <p:nvSpPr>
          <p:cNvPr id="5" name="Rectangle 4">
            <a:extLst>
              <a:ext uri="{FF2B5EF4-FFF2-40B4-BE49-F238E27FC236}">
                <a16:creationId xmlns:a16="http://schemas.microsoft.com/office/drawing/2014/main" id="{2A79F81A-3DDC-4207-A128-683539DCDC3C}"/>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09</a:t>
            </a:r>
          </a:p>
        </p:txBody>
      </p:sp>
      <p:sp>
        <p:nvSpPr>
          <p:cNvPr id="6" name="Rectangle 5">
            <a:extLst>
              <a:ext uri="{FF2B5EF4-FFF2-40B4-BE49-F238E27FC236}">
                <a16:creationId xmlns:a16="http://schemas.microsoft.com/office/drawing/2014/main" id="{F1BDDDF3-0CB6-4C42-BA1B-2D2F8F50886F}"/>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DD1A2EEA-996E-4F82-99A7-AF994A2A1138}"/>
              </a:ext>
            </a:extLst>
          </p:cNvPr>
          <p:cNvSpPr>
            <a:spLocks noGrp="1"/>
          </p:cNvSpPr>
          <p:nvPr/>
        </p:nvSpPr>
        <p:spPr>
          <a:xfrm>
            <a:off x="381000" y="1409700"/>
            <a:ext cx="5219700" cy="4476750"/>
          </a:xfrm>
          <a:prstGeom prst="roundRect">
            <a:avLst>
              <a:gd name="adj" fmla="val 2553"/>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A784F8C9-DA0D-4063-BBCB-B8A8C4B3BDC0}"/>
              </a:ext>
            </a:extLst>
          </p:cNvPr>
          <p:cNvSpPr>
            <a:spLocks noGrp="1"/>
          </p:cNvSpPr>
          <p:nvPr/>
        </p:nvSpPr>
        <p:spPr>
          <a:xfrm>
            <a:off x="6705600" y="1390650"/>
            <a:ext cx="4953000" cy="4610100"/>
          </a:xfrm>
          <a:prstGeom prst="roundRect">
            <a:avLst>
              <a:gd name="adj" fmla="val 2479"/>
            </a:avLst>
          </a:prstGeom>
          <a:solidFill>
            <a:srgbClr val="171816"/>
          </a:solidFill>
          <a:ln w="9525">
            <a:solidFill>
              <a:srgbClr val="D5AE58"/>
            </a:solidFill>
            <a:prstDash val="solid"/>
          </a:ln>
        </p:spPr>
        <p:txBody>
          <a:bodyPr/>
          <a:lstStyle/>
          <a:p>
            <a:endParaRPr lang="en-US"/>
          </a:p>
        </p:txBody>
      </p:sp>
      <p:pic>
        <p:nvPicPr>
          <p:cNvPr id="31" name="Picture 30"/>
          <p:cNvPicPr>
            <a:picLocks noChangeAspect="1"/>
          </p:cNvPicPr>
          <p:nvPr/>
        </p:nvPicPr>
        <p:blipFill>
          <a:blip r:embed="rId4"/>
          <a:stretch/>
        </p:blipFill>
        <p:spPr>
          <a:xfrm>
            <a:off x="7136654" y="1485900"/>
            <a:ext cx="4090892" cy="4419600"/>
          </a:xfrm>
          <a:prstGeom prst="roundRect">
            <a:avLst>
              <a:gd name="adj" fmla="val 1724"/>
            </a:avLst>
          </a:prstGeom>
        </p:spPr>
      </p:pic>
      <p:sp>
        <p:nvSpPr>
          <p:cNvPr id="10" name="Rectangle 9">
            <a:extLst>
              <a:ext uri="{FF2B5EF4-FFF2-40B4-BE49-F238E27FC236}">
                <a16:creationId xmlns:a16="http://schemas.microsoft.com/office/drawing/2014/main" id="{F0CCF47A-C749-486F-AE33-A827648E0CF7}"/>
              </a:ext>
            </a:extLst>
          </p:cNvPr>
          <p:cNvSpPr>
            <a:spLocks noGrp="1"/>
          </p:cNvSpPr>
          <p:nvPr/>
        </p:nvSpPr>
        <p:spPr>
          <a:xfrm>
            <a:off x="6800850" y="5619750"/>
            <a:ext cx="4762500" cy="285750"/>
          </a:xfrm>
          <a:prstGeom prst="rect">
            <a:avLst/>
          </a:prstGeom>
          <a:solidFill>
            <a:srgbClr val="0B0C0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B30D0BDF-7740-496C-B045-4F44A26BDB1C}"/>
              </a:ext>
            </a:extLst>
          </p:cNvPr>
          <p:cNvSpPr>
            <a:spLocks noGrp="1"/>
          </p:cNvSpPr>
          <p:nvPr/>
        </p:nvSpPr>
        <p:spPr>
          <a:xfrm>
            <a:off x="6896100" y="5686425"/>
            <a:ext cx="45720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Center panel | couple in a transparent sphere</a:t>
            </a:r>
          </a:p>
        </p:txBody>
      </p:sp>
      <p:sp>
        <p:nvSpPr>
          <p:cNvPr id="12" name="Rectangle 11">
            <a:extLst>
              <a:ext uri="{FF2B5EF4-FFF2-40B4-BE49-F238E27FC236}">
                <a16:creationId xmlns:a16="http://schemas.microsoft.com/office/drawing/2014/main" id="{500FA7A5-04CD-4C4E-9AB7-851FCC7E23A1}"/>
              </a:ext>
            </a:extLst>
          </p:cNvPr>
          <p:cNvSpPr>
            <a:spLocks noGrp="1"/>
          </p:cNvSpPr>
          <p:nvPr/>
        </p:nvSpPr>
        <p:spPr>
          <a:xfrm>
            <a:off x="552450" y="1619250"/>
            <a:ext cx="4857750" cy="100965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Pleasure appears protected while displaying its fragility.</a:t>
            </a:r>
          </a:p>
        </p:txBody>
      </p:sp>
      <p:sp>
        <p:nvSpPr>
          <p:cNvPr id="13" name="Rectangle 12">
            <a:extLst>
              <a:ext uri="{FF2B5EF4-FFF2-40B4-BE49-F238E27FC236}">
                <a16:creationId xmlns:a16="http://schemas.microsoft.com/office/drawing/2014/main" id="{989FE06C-1479-4A57-BDCF-81494F9D6EC1}"/>
              </a:ext>
            </a:extLst>
          </p:cNvPr>
          <p:cNvSpPr>
            <a:spLocks noGrp="1"/>
          </p:cNvSpPr>
          <p:nvPr/>
        </p:nvSpPr>
        <p:spPr>
          <a:xfrm>
            <a:off x="552450" y="2895600"/>
            <a:ext cx="895350" cy="38100"/>
          </a:xfrm>
          <a:prstGeom prst="rect">
            <a:avLst/>
          </a:prstGeom>
          <a:solidFill>
            <a:srgbClr val="D38C86"/>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A06D6E26-D6CC-4B06-8745-2C264B652E0E}"/>
              </a:ext>
            </a:extLst>
          </p:cNvPr>
          <p:cNvSpPr>
            <a:spLocks noGrp="1"/>
          </p:cNvSpPr>
          <p:nvPr/>
        </p:nvSpPr>
        <p:spPr>
          <a:xfrm>
            <a:off x="590550" y="3371850"/>
            <a:ext cx="95250" cy="95250"/>
          </a:xfrm>
          <a:prstGeom prst="roundRect">
            <a:avLst>
              <a:gd name="adj" fmla="val 50000"/>
            </a:avLst>
          </a:prstGeom>
          <a:solidFill>
            <a:srgbClr val="D38C86"/>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79383192-CDFE-4FD7-BEEE-558A1520BCD2}"/>
              </a:ext>
            </a:extLst>
          </p:cNvPr>
          <p:cNvSpPr>
            <a:spLocks noGrp="1"/>
          </p:cNvSpPr>
          <p:nvPr/>
        </p:nvSpPr>
        <p:spPr>
          <a:xfrm>
            <a:off x="838200" y="3295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A glass-like membrane encloses two bodies</a:t>
            </a:r>
          </a:p>
        </p:txBody>
      </p:sp>
      <p:sp>
        <p:nvSpPr>
          <p:cNvPr id="16" name="Rectangle: Rounded Corners 15">
            <a:extLst>
              <a:ext uri="{FF2B5EF4-FFF2-40B4-BE49-F238E27FC236}">
                <a16:creationId xmlns:a16="http://schemas.microsoft.com/office/drawing/2014/main" id="{95E4ECA1-CCB0-4702-806E-A6F1724DBEC8}"/>
              </a:ext>
            </a:extLst>
          </p:cNvPr>
          <p:cNvSpPr>
            <a:spLocks noGrp="1"/>
          </p:cNvSpPr>
          <p:nvPr/>
        </p:nvSpPr>
        <p:spPr>
          <a:xfrm>
            <a:off x="590550" y="3943350"/>
            <a:ext cx="95250" cy="95250"/>
          </a:xfrm>
          <a:prstGeom prst="roundRect">
            <a:avLst>
              <a:gd name="adj" fmla="val 50000"/>
            </a:avLst>
          </a:prstGeom>
          <a:solidFill>
            <a:srgbClr val="8FB6C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1A8FC1F8-D200-4739-BDA0-D66C603CF2DF}"/>
              </a:ext>
            </a:extLst>
          </p:cNvPr>
          <p:cNvSpPr>
            <a:spLocks noGrp="1"/>
          </p:cNvSpPr>
          <p:nvPr/>
        </p:nvSpPr>
        <p:spPr>
          <a:xfrm>
            <a:off x="838200" y="38671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Intimacy is protected and exposed</a:t>
            </a:r>
          </a:p>
        </p:txBody>
      </p:sp>
      <p:sp>
        <p:nvSpPr>
          <p:cNvPr id="18" name="Rectangle: Rounded Corners 17">
            <a:extLst>
              <a:ext uri="{FF2B5EF4-FFF2-40B4-BE49-F238E27FC236}">
                <a16:creationId xmlns:a16="http://schemas.microsoft.com/office/drawing/2014/main" id="{E05F0814-EBAB-4E13-B12E-D9CAFEB8141F}"/>
              </a:ext>
            </a:extLst>
          </p:cNvPr>
          <p:cNvSpPr>
            <a:spLocks noGrp="1"/>
          </p:cNvSpPr>
          <p:nvPr/>
        </p:nvSpPr>
        <p:spPr>
          <a:xfrm>
            <a:off x="590550" y="4514850"/>
            <a:ext cx="95250" cy="95250"/>
          </a:xfrm>
          <a:prstGeom prst="roundRect">
            <a:avLst>
              <a:gd name="adj" fmla="val 50000"/>
            </a:avLst>
          </a:prstGeom>
          <a:solidFill>
            <a:srgbClr val="D38C8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09F0A92C-2786-4C87-8C6B-022A79DEFF53}"/>
              </a:ext>
            </a:extLst>
          </p:cNvPr>
          <p:cNvSpPr>
            <a:spLocks noGrp="1"/>
          </p:cNvSpPr>
          <p:nvPr/>
        </p:nvSpPr>
        <p:spPr>
          <a:xfrm>
            <a:off x="838200" y="4438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Spheres, skins, tubes, and shells recur across the panel</a:t>
            </a:r>
          </a:p>
        </p:txBody>
      </p:sp>
      <p:sp>
        <p:nvSpPr>
          <p:cNvPr id="20" name="Rectangle 19">
            <a:extLst>
              <a:ext uri="{FF2B5EF4-FFF2-40B4-BE49-F238E27FC236}">
                <a16:creationId xmlns:a16="http://schemas.microsoft.com/office/drawing/2014/main" id="{CA7A0FCE-61A6-4298-8B3B-1EF454259447}"/>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C94DB461-E4D7-491C-9F30-A7B49B8F887E}"/>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Pleasure appears protected while displaying its fragility.</a:t>
            </a:r>
          </a:p>
        </p:txBody>
      </p:sp>
      <p:sp>
        <p:nvSpPr>
          <p:cNvPr id="22" name="Rectangle 21">
            <a:extLst>
              <a:ext uri="{FF2B5EF4-FFF2-40B4-BE49-F238E27FC236}">
                <a16:creationId xmlns:a16="http://schemas.microsoft.com/office/drawing/2014/main" id="{4A169B43-50FB-494A-9B09-FB021DFA506C}"/>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430509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720E63E-7B30-4315-A99E-404E0DC673CF}"/>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6AB3863F-6EBA-47EA-B735-84A85F9F98BB}"/>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09 | THE CYCLE OF DESIRE</a:t>
            </a:r>
          </a:p>
        </p:txBody>
      </p:sp>
      <p:sp>
        <p:nvSpPr>
          <p:cNvPr id="4" name="Rectangle 3">
            <a:extLst>
              <a:ext uri="{FF2B5EF4-FFF2-40B4-BE49-F238E27FC236}">
                <a16:creationId xmlns:a16="http://schemas.microsoft.com/office/drawing/2014/main" id="{EA464727-6C2E-435C-B62A-B6901B851BA6}"/>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Do the Riders Truly Control the Animals?</a:t>
            </a:r>
          </a:p>
        </p:txBody>
      </p:sp>
      <p:sp>
        <p:nvSpPr>
          <p:cNvPr id="5" name="Rectangle 4">
            <a:extLst>
              <a:ext uri="{FF2B5EF4-FFF2-40B4-BE49-F238E27FC236}">
                <a16:creationId xmlns:a16="http://schemas.microsoft.com/office/drawing/2014/main" id="{E8765557-873C-4550-B6EF-975B7D90263C}"/>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10</a:t>
            </a:r>
          </a:p>
        </p:txBody>
      </p:sp>
      <p:sp>
        <p:nvSpPr>
          <p:cNvPr id="6" name="Rectangle 5">
            <a:extLst>
              <a:ext uri="{FF2B5EF4-FFF2-40B4-BE49-F238E27FC236}">
                <a16:creationId xmlns:a16="http://schemas.microsoft.com/office/drawing/2014/main" id="{150F78DC-C0A4-4A22-8917-3F3B48941506}"/>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EBE7FA70-27A2-44AC-961D-96420F6FD9A3}"/>
              </a:ext>
            </a:extLst>
          </p:cNvPr>
          <p:cNvSpPr>
            <a:spLocks noGrp="1"/>
          </p:cNvSpPr>
          <p:nvPr/>
        </p:nvSpPr>
        <p:spPr>
          <a:xfrm>
            <a:off x="495300" y="1352550"/>
            <a:ext cx="11201400" cy="3238500"/>
          </a:xfrm>
          <a:prstGeom prst="roundRect">
            <a:avLst>
              <a:gd name="adj" fmla="val 3529"/>
            </a:avLst>
          </a:prstGeom>
          <a:solidFill>
            <a:srgbClr val="171816"/>
          </a:solidFill>
          <a:ln w="9525">
            <a:solidFill>
              <a:srgbClr val="D5AE58"/>
            </a:solidFill>
            <a:prstDash val="solid"/>
          </a:ln>
        </p:spPr>
        <p:txBody>
          <a:bodyPr/>
          <a:lstStyle/>
          <a:p>
            <a:endParaRPr lang="en-US"/>
          </a:p>
        </p:txBody>
      </p:sp>
      <p:pic>
        <p:nvPicPr>
          <p:cNvPr id="29" name="Picture 28"/>
          <p:cNvPicPr>
            <a:picLocks noChangeAspect="1"/>
          </p:cNvPicPr>
          <p:nvPr/>
        </p:nvPicPr>
        <p:blipFill>
          <a:blip r:embed="rId4"/>
          <a:stretch/>
        </p:blipFill>
        <p:spPr>
          <a:xfrm>
            <a:off x="2791935" y="1447800"/>
            <a:ext cx="6608130" cy="3048000"/>
          </a:xfrm>
          <a:prstGeom prst="roundRect">
            <a:avLst>
              <a:gd name="adj" fmla="val 2500"/>
            </a:avLst>
          </a:prstGeom>
        </p:spPr>
      </p:pic>
      <p:sp>
        <p:nvSpPr>
          <p:cNvPr id="9" name="Rectangle 8">
            <a:extLst>
              <a:ext uri="{FF2B5EF4-FFF2-40B4-BE49-F238E27FC236}">
                <a16:creationId xmlns:a16="http://schemas.microsoft.com/office/drawing/2014/main" id="{DB19AF7A-DB21-41CA-BD58-D0D2BE4FC7EE}"/>
              </a:ext>
            </a:extLst>
          </p:cNvPr>
          <p:cNvSpPr>
            <a:spLocks noGrp="1"/>
          </p:cNvSpPr>
          <p:nvPr/>
        </p:nvSpPr>
        <p:spPr>
          <a:xfrm>
            <a:off x="590550" y="4210050"/>
            <a:ext cx="11010900" cy="285750"/>
          </a:xfrm>
          <a:prstGeom prst="rect">
            <a:avLst/>
          </a:prstGeom>
          <a:solidFill>
            <a:srgbClr val="0B0C0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9246AE2B-13DB-44C7-98B1-1D089B4CF2BD}"/>
              </a:ext>
            </a:extLst>
          </p:cNvPr>
          <p:cNvSpPr>
            <a:spLocks noGrp="1"/>
          </p:cNvSpPr>
          <p:nvPr/>
        </p:nvSpPr>
        <p:spPr>
          <a:xfrm>
            <a:off x="685800" y="4276725"/>
            <a:ext cx="108204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Center panel | circular pool and mounted procession</a:t>
            </a:r>
          </a:p>
        </p:txBody>
      </p:sp>
      <p:sp>
        <p:nvSpPr>
          <p:cNvPr id="11" name="Rectangle: Rounded Corners 10">
            <a:extLst>
              <a:ext uri="{FF2B5EF4-FFF2-40B4-BE49-F238E27FC236}">
                <a16:creationId xmlns:a16="http://schemas.microsoft.com/office/drawing/2014/main" id="{85A5AEC7-1A3D-45C3-8AD7-862B2C4411C7}"/>
              </a:ext>
            </a:extLst>
          </p:cNvPr>
          <p:cNvSpPr>
            <a:spLocks noGrp="1"/>
          </p:cNvSpPr>
          <p:nvPr/>
        </p:nvSpPr>
        <p:spPr>
          <a:xfrm>
            <a:off x="419100" y="4686300"/>
            <a:ext cx="11353800" cy="1352550"/>
          </a:xfrm>
          <a:prstGeom prst="roundRect">
            <a:avLst>
              <a:gd name="adj" fmla="val 8451"/>
            </a:avLst>
          </a:prstGeom>
          <a:solidFill>
            <a:srgbClr val="0B0C0C"/>
          </a:solidFill>
          <a:ln w="9525">
            <a:solidFill>
              <a:srgbClr val="2A211B"/>
            </a:solidFill>
            <a:prstDash val="solid"/>
          </a:ln>
        </p:spPr>
        <p:txBody>
          <a:bodyPr/>
          <a:lstStyle/>
          <a:p>
            <a:endParaRPr lang="en-US"/>
          </a:p>
        </p:txBody>
      </p:sp>
      <p:sp>
        <p:nvSpPr>
          <p:cNvPr id="12" name="Rectangle 11">
            <a:extLst>
              <a:ext uri="{FF2B5EF4-FFF2-40B4-BE49-F238E27FC236}">
                <a16:creationId xmlns:a16="http://schemas.microsoft.com/office/drawing/2014/main" id="{E4485EA0-2CC9-4E47-B21C-6D74D5B1B2F3}"/>
              </a:ext>
            </a:extLst>
          </p:cNvPr>
          <p:cNvSpPr>
            <a:spLocks noGrp="1"/>
          </p:cNvSpPr>
          <p:nvPr/>
        </p:nvSpPr>
        <p:spPr>
          <a:xfrm>
            <a:off x="590550" y="4857750"/>
            <a:ext cx="5429250" cy="857250"/>
          </a:xfrm>
          <a:prstGeom prst="rect">
            <a:avLst/>
          </a:prstGeom>
          <a:noFill/>
          <a:ln w="0">
            <a:noFill/>
            <a:prstDash val="solid"/>
          </a:ln>
        </p:spPr>
        <p:txBody>
          <a:bodyPr/>
          <a:lstStyle/>
          <a:p>
            <a:pPr algn="l">
              <a:defRPr sz="1725" b="1" i="0">
                <a:solidFill>
                  <a:srgbClr val="FFFDF5"/>
                </a:solidFill>
                <a:latin typeface="DejaVu Sans"/>
                <a:ea typeface="DejaVu Sans"/>
                <a:cs typeface="DejaVu Sans"/>
              </a:defRPr>
            </a:pPr>
            <a:r>
              <a:rPr sz="1725" b="1" i="0">
                <a:solidFill>
                  <a:srgbClr val="FFFDF5"/>
                </a:solidFill>
                <a:latin typeface="DejaVu Sans"/>
                <a:ea typeface="DejaVu Sans"/>
                <a:cs typeface="DejaVu Sans"/>
              </a:rPr>
              <a:t>Those who appear to master instinct may already be carried by it.</a:t>
            </a:r>
          </a:p>
        </p:txBody>
      </p:sp>
      <p:sp>
        <p:nvSpPr>
          <p:cNvPr id="13" name="Rectangle: Rounded Corners 12">
            <a:extLst>
              <a:ext uri="{FF2B5EF4-FFF2-40B4-BE49-F238E27FC236}">
                <a16:creationId xmlns:a16="http://schemas.microsoft.com/office/drawing/2014/main" id="{91CF7261-3F06-41FA-BF3D-0DC5DAC6B8FE}"/>
              </a:ext>
            </a:extLst>
          </p:cNvPr>
          <p:cNvSpPr>
            <a:spLocks noGrp="1"/>
          </p:cNvSpPr>
          <p:nvPr/>
        </p:nvSpPr>
        <p:spPr>
          <a:xfrm>
            <a:off x="6667500" y="4838700"/>
            <a:ext cx="95250" cy="95250"/>
          </a:xfrm>
          <a:prstGeom prst="roundRect">
            <a:avLst>
              <a:gd name="adj" fmla="val 50000"/>
            </a:avLst>
          </a:prstGeom>
          <a:solidFill>
            <a:srgbClr val="D38C86"/>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C32AEA9-2E23-46E5-A0DC-134B9E72230F}"/>
              </a:ext>
            </a:extLst>
          </p:cNvPr>
          <p:cNvSpPr>
            <a:spLocks noGrp="1"/>
          </p:cNvSpPr>
          <p:nvPr/>
        </p:nvSpPr>
        <p:spPr>
          <a:xfrm>
            <a:off x="6915150" y="47625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Men ride horses, cattle, camels, pigs, and hybrids</a:t>
            </a:r>
          </a:p>
        </p:txBody>
      </p:sp>
      <p:sp>
        <p:nvSpPr>
          <p:cNvPr id="15" name="Rectangle: Rounded Corners 14">
            <a:extLst>
              <a:ext uri="{FF2B5EF4-FFF2-40B4-BE49-F238E27FC236}">
                <a16:creationId xmlns:a16="http://schemas.microsoft.com/office/drawing/2014/main" id="{0703DD65-EFB7-4808-A7E2-3BEB21DFFE1A}"/>
              </a:ext>
            </a:extLst>
          </p:cNvPr>
          <p:cNvSpPr>
            <a:spLocks noGrp="1"/>
          </p:cNvSpPr>
          <p:nvPr/>
        </p:nvSpPr>
        <p:spPr>
          <a:xfrm>
            <a:off x="6667500" y="5238750"/>
            <a:ext cx="95250" cy="95250"/>
          </a:xfrm>
          <a:prstGeom prst="roundRect">
            <a:avLst>
              <a:gd name="adj" fmla="val 50000"/>
            </a:avLst>
          </a:prstGeom>
          <a:solidFill>
            <a:srgbClr val="8FB6C2"/>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9B49A73E-8719-49EB-BB5D-08B2FD73B0BF}"/>
              </a:ext>
            </a:extLst>
          </p:cNvPr>
          <p:cNvSpPr>
            <a:spLocks noGrp="1"/>
          </p:cNvSpPr>
          <p:nvPr/>
        </p:nvSpPr>
        <p:spPr>
          <a:xfrm>
            <a:off x="6915150" y="51625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procession circles a pool without end</a:t>
            </a:r>
          </a:p>
        </p:txBody>
      </p:sp>
      <p:sp>
        <p:nvSpPr>
          <p:cNvPr id="17" name="Rectangle: Rounded Corners 16">
            <a:extLst>
              <a:ext uri="{FF2B5EF4-FFF2-40B4-BE49-F238E27FC236}">
                <a16:creationId xmlns:a16="http://schemas.microsoft.com/office/drawing/2014/main" id="{53E39F79-578E-4D15-BD8C-79117FA9CE97}"/>
              </a:ext>
            </a:extLst>
          </p:cNvPr>
          <p:cNvSpPr>
            <a:spLocks noGrp="1"/>
          </p:cNvSpPr>
          <p:nvPr/>
        </p:nvSpPr>
        <p:spPr>
          <a:xfrm>
            <a:off x="6667500" y="5638800"/>
            <a:ext cx="95250" cy="95250"/>
          </a:xfrm>
          <a:prstGeom prst="roundRect">
            <a:avLst>
              <a:gd name="adj" fmla="val 50000"/>
            </a:avLst>
          </a:prstGeom>
          <a:solidFill>
            <a:srgbClr val="D38C86"/>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EAF242F3-12D0-45A0-8A48-8FBE3A6AB531}"/>
              </a:ext>
            </a:extLst>
          </p:cNvPr>
          <p:cNvSpPr>
            <a:spLocks noGrp="1"/>
          </p:cNvSpPr>
          <p:nvPr/>
        </p:nvSpPr>
        <p:spPr>
          <a:xfrm>
            <a:off x="6915150" y="55626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There is constant motion but no destination</a:t>
            </a:r>
          </a:p>
        </p:txBody>
      </p:sp>
      <p:sp>
        <p:nvSpPr>
          <p:cNvPr id="19" name="Rectangle 18">
            <a:extLst>
              <a:ext uri="{FF2B5EF4-FFF2-40B4-BE49-F238E27FC236}">
                <a16:creationId xmlns:a16="http://schemas.microsoft.com/office/drawing/2014/main" id="{2AD1851E-BD22-43D6-A644-D59937027AA3}"/>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20990F0B-C197-4576-9471-CC18C4E9A479}"/>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Those who appear to master instinct may already be carried by it.</a:t>
            </a:r>
          </a:p>
        </p:txBody>
      </p:sp>
      <p:sp>
        <p:nvSpPr>
          <p:cNvPr id="21" name="Rectangle 20">
            <a:extLst>
              <a:ext uri="{FF2B5EF4-FFF2-40B4-BE49-F238E27FC236}">
                <a16:creationId xmlns:a16="http://schemas.microsoft.com/office/drawing/2014/main" id="{F15803D4-41C3-4F94-8227-DFB124BC45AD}"/>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437365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E9D4150-E7C6-411F-953F-4F780E979465}"/>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1F7AD461-D0FF-45B5-95DE-2F2B69D4A90C}"/>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10 | WHO IS WATCHING WHOM?</a:t>
            </a:r>
          </a:p>
        </p:txBody>
      </p:sp>
      <p:sp>
        <p:nvSpPr>
          <p:cNvPr id="4" name="Rectangle 3">
            <a:extLst>
              <a:ext uri="{FF2B5EF4-FFF2-40B4-BE49-F238E27FC236}">
                <a16:creationId xmlns:a16="http://schemas.microsoft.com/office/drawing/2014/main" id="{46E8293A-33FF-48AC-BCAE-EC1AD26133A8}"/>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Unfamiliar Bodies and the Man Who Looks Back</a:t>
            </a:r>
          </a:p>
        </p:txBody>
      </p:sp>
      <p:sp>
        <p:nvSpPr>
          <p:cNvPr id="5" name="Rectangle 4">
            <a:extLst>
              <a:ext uri="{FF2B5EF4-FFF2-40B4-BE49-F238E27FC236}">
                <a16:creationId xmlns:a16="http://schemas.microsoft.com/office/drawing/2014/main" id="{A8A201E3-6AE5-48D6-8E50-766AC693DB0A}"/>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11</a:t>
            </a:r>
          </a:p>
        </p:txBody>
      </p:sp>
      <p:sp>
        <p:nvSpPr>
          <p:cNvPr id="6" name="Rectangle 5">
            <a:extLst>
              <a:ext uri="{FF2B5EF4-FFF2-40B4-BE49-F238E27FC236}">
                <a16:creationId xmlns:a16="http://schemas.microsoft.com/office/drawing/2014/main" id="{8D71C245-48A5-4F81-B28E-788C22100CBD}"/>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4E919905-F7DF-4AA1-B808-30FED3539486}"/>
              </a:ext>
            </a:extLst>
          </p:cNvPr>
          <p:cNvSpPr>
            <a:spLocks noGrp="1"/>
          </p:cNvSpPr>
          <p:nvPr/>
        </p:nvSpPr>
        <p:spPr>
          <a:xfrm>
            <a:off x="6381750" y="1409700"/>
            <a:ext cx="5314950" cy="4533900"/>
          </a:xfrm>
          <a:prstGeom prst="roundRect">
            <a:avLst>
              <a:gd name="adj" fmla="val 2521"/>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106E8C12-F512-4070-B16A-2DCD7E259081}"/>
              </a:ext>
            </a:extLst>
          </p:cNvPr>
          <p:cNvSpPr>
            <a:spLocks noGrp="1"/>
          </p:cNvSpPr>
          <p:nvPr/>
        </p:nvSpPr>
        <p:spPr>
          <a:xfrm>
            <a:off x="514350" y="1447800"/>
            <a:ext cx="2686050" cy="4476750"/>
          </a:xfrm>
          <a:prstGeom prst="roundRect">
            <a:avLst>
              <a:gd name="adj" fmla="val 4255"/>
            </a:avLst>
          </a:prstGeom>
          <a:solidFill>
            <a:srgbClr val="171816"/>
          </a:solidFill>
          <a:ln w="9525">
            <a:solidFill>
              <a:srgbClr val="D5AE58"/>
            </a:solidFill>
            <a:prstDash val="solid"/>
          </a:ln>
        </p:spPr>
        <p:txBody>
          <a:bodyPr/>
          <a:lstStyle/>
          <a:p>
            <a:endParaRPr lang="en-US"/>
          </a:p>
        </p:txBody>
      </p:sp>
      <p:pic>
        <p:nvPicPr>
          <p:cNvPr id="33" name="Picture 32"/>
          <p:cNvPicPr>
            <a:picLocks noChangeAspect="1"/>
          </p:cNvPicPr>
          <p:nvPr/>
        </p:nvPicPr>
        <p:blipFill>
          <a:blip r:embed="rId4"/>
          <a:srcRect l="17864" r="17864"/>
          <a:stretch>
            <a:fillRect/>
          </a:stretch>
        </p:blipFill>
        <p:spPr>
          <a:xfrm>
            <a:off x="600075" y="1533525"/>
            <a:ext cx="2514600" cy="4305300"/>
          </a:xfrm>
          <a:prstGeom prst="roundRect">
            <a:avLst>
              <a:gd name="adj" fmla="val 3030"/>
            </a:avLst>
          </a:prstGeom>
        </p:spPr>
      </p:pic>
      <p:sp>
        <p:nvSpPr>
          <p:cNvPr id="10" name="Rectangle: Rounded Corners 9">
            <a:extLst>
              <a:ext uri="{FF2B5EF4-FFF2-40B4-BE49-F238E27FC236}">
                <a16:creationId xmlns:a16="http://schemas.microsoft.com/office/drawing/2014/main" id="{631D280A-0CF0-4468-95DF-8F55F346AB12}"/>
              </a:ext>
            </a:extLst>
          </p:cNvPr>
          <p:cNvSpPr>
            <a:spLocks noGrp="1"/>
          </p:cNvSpPr>
          <p:nvPr/>
        </p:nvSpPr>
        <p:spPr>
          <a:xfrm>
            <a:off x="3371850" y="1447800"/>
            <a:ext cx="2686050" cy="4476750"/>
          </a:xfrm>
          <a:prstGeom prst="roundRect">
            <a:avLst>
              <a:gd name="adj" fmla="val 4255"/>
            </a:avLst>
          </a:prstGeom>
          <a:solidFill>
            <a:srgbClr val="171816"/>
          </a:solidFill>
          <a:ln w="9525">
            <a:solidFill>
              <a:srgbClr val="8FB6C2"/>
            </a:solidFill>
            <a:prstDash val="solid"/>
          </a:ln>
        </p:spPr>
        <p:txBody>
          <a:bodyPr/>
          <a:lstStyle/>
          <a:p>
            <a:endParaRPr lang="en-US"/>
          </a:p>
        </p:txBody>
      </p:sp>
      <p:pic>
        <p:nvPicPr>
          <p:cNvPr id="35" name="Picture 34"/>
          <p:cNvPicPr>
            <a:picLocks noChangeAspect="1"/>
          </p:cNvPicPr>
          <p:nvPr/>
        </p:nvPicPr>
        <p:blipFill>
          <a:blip r:embed="rId5"/>
          <a:srcRect l="5584" r="5584"/>
          <a:stretch>
            <a:fillRect/>
          </a:stretch>
        </p:blipFill>
        <p:spPr>
          <a:xfrm>
            <a:off x="3457575" y="1533525"/>
            <a:ext cx="2514600" cy="4305300"/>
          </a:xfrm>
          <a:prstGeom prst="roundRect">
            <a:avLst>
              <a:gd name="adj" fmla="val 3030"/>
            </a:avLst>
          </a:prstGeom>
        </p:spPr>
      </p:pic>
      <p:sp>
        <p:nvSpPr>
          <p:cNvPr id="12" name="Rectangle 11">
            <a:extLst>
              <a:ext uri="{FF2B5EF4-FFF2-40B4-BE49-F238E27FC236}">
                <a16:creationId xmlns:a16="http://schemas.microsoft.com/office/drawing/2014/main" id="{E5A118EC-BD4B-4BD5-ACC0-2C775044D38C}"/>
              </a:ext>
            </a:extLst>
          </p:cNvPr>
          <p:cNvSpPr>
            <a:spLocks noGrp="1"/>
          </p:cNvSpPr>
          <p:nvPr/>
        </p:nvSpPr>
        <p:spPr>
          <a:xfrm>
            <a:off x="514350" y="5638800"/>
            <a:ext cx="5543550" cy="285750"/>
          </a:xfrm>
          <a:prstGeom prst="rect">
            <a:avLst/>
          </a:prstGeom>
          <a:solidFill>
            <a:srgbClr val="0B0C0C"/>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963CD28F-AA82-4A20-A08F-46B99B3A05BF}"/>
              </a:ext>
            </a:extLst>
          </p:cNvPr>
          <p:cNvSpPr>
            <a:spLocks noGrp="1"/>
          </p:cNvSpPr>
          <p:nvPr/>
        </p:nvSpPr>
        <p:spPr>
          <a:xfrm>
            <a:off x="609600" y="5705475"/>
            <a:ext cx="535305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Center panel | figures in context + outward-looking man</a:t>
            </a:r>
          </a:p>
        </p:txBody>
      </p:sp>
      <p:sp>
        <p:nvSpPr>
          <p:cNvPr id="14" name="Rectangle 13">
            <a:extLst>
              <a:ext uri="{FF2B5EF4-FFF2-40B4-BE49-F238E27FC236}">
                <a16:creationId xmlns:a16="http://schemas.microsoft.com/office/drawing/2014/main" id="{A96EAEFE-FC7C-42C7-A8E3-B77DAE40A80B}"/>
              </a:ext>
            </a:extLst>
          </p:cNvPr>
          <p:cNvSpPr>
            <a:spLocks noGrp="1"/>
          </p:cNvSpPr>
          <p:nvPr/>
        </p:nvSpPr>
        <p:spPr>
          <a:xfrm>
            <a:off x="6553200" y="1600200"/>
            <a:ext cx="4953000" cy="106680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We watch desire—then discover that the painting is watching us.</a:t>
            </a:r>
          </a:p>
        </p:txBody>
      </p:sp>
      <p:sp>
        <p:nvSpPr>
          <p:cNvPr id="15" name="Rectangle 14">
            <a:extLst>
              <a:ext uri="{FF2B5EF4-FFF2-40B4-BE49-F238E27FC236}">
                <a16:creationId xmlns:a16="http://schemas.microsoft.com/office/drawing/2014/main" id="{9CD910A3-DD6D-459D-8C6D-3C4314FDAAF7}"/>
              </a:ext>
            </a:extLst>
          </p:cNvPr>
          <p:cNvSpPr>
            <a:spLocks noGrp="1"/>
          </p:cNvSpPr>
          <p:nvPr/>
        </p:nvSpPr>
        <p:spPr>
          <a:xfrm>
            <a:off x="6553200" y="2914650"/>
            <a:ext cx="895350" cy="38100"/>
          </a:xfrm>
          <a:prstGeom prst="rect">
            <a:avLst/>
          </a:prstGeom>
          <a:solidFill>
            <a:srgbClr val="D38C86"/>
          </a:solidFill>
          <a:ln w="0">
            <a:noFill/>
            <a:prstDash val="solid"/>
          </a:ln>
        </p:spPr>
        <p:txBody>
          <a:bodyPr/>
          <a:lstStyle/>
          <a:p>
            <a:endParaRPr lang="en-US"/>
          </a:p>
        </p:txBody>
      </p:sp>
      <p:sp>
        <p:nvSpPr>
          <p:cNvPr id="16" name="Rectangle: Rounded Corners 15">
            <a:extLst>
              <a:ext uri="{FF2B5EF4-FFF2-40B4-BE49-F238E27FC236}">
                <a16:creationId xmlns:a16="http://schemas.microsoft.com/office/drawing/2014/main" id="{3D64DB77-040D-4804-B219-C8B821F5E6AD}"/>
              </a:ext>
            </a:extLst>
          </p:cNvPr>
          <p:cNvSpPr>
            <a:spLocks noGrp="1"/>
          </p:cNvSpPr>
          <p:nvPr/>
        </p:nvSpPr>
        <p:spPr>
          <a:xfrm>
            <a:off x="6591300" y="3390900"/>
            <a:ext cx="95250" cy="95250"/>
          </a:xfrm>
          <a:prstGeom prst="roundRect">
            <a:avLst>
              <a:gd name="adj" fmla="val 50000"/>
            </a:avLst>
          </a:prstGeom>
          <a:solidFill>
            <a:srgbClr val="D38C86"/>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1982BF1E-12B5-4C53-AF73-2FC6C2D75058}"/>
              </a:ext>
            </a:extLst>
          </p:cNvPr>
          <p:cNvSpPr>
            <a:spLocks noGrp="1"/>
          </p:cNvSpPr>
          <p:nvPr/>
        </p:nvSpPr>
        <p:spPr>
          <a:xfrm>
            <a:off x="6838950" y="33147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Dark-skinned and hairy figures require full context</a:t>
            </a:r>
          </a:p>
        </p:txBody>
      </p:sp>
      <p:sp>
        <p:nvSpPr>
          <p:cNvPr id="18" name="Rectangle: Rounded Corners 17">
            <a:extLst>
              <a:ext uri="{FF2B5EF4-FFF2-40B4-BE49-F238E27FC236}">
                <a16:creationId xmlns:a16="http://schemas.microsoft.com/office/drawing/2014/main" id="{DFC2CC7C-7BAC-4852-B77B-5BBFC197F2DD}"/>
              </a:ext>
            </a:extLst>
          </p:cNvPr>
          <p:cNvSpPr>
            <a:spLocks noGrp="1"/>
          </p:cNvSpPr>
          <p:nvPr/>
        </p:nvSpPr>
        <p:spPr>
          <a:xfrm>
            <a:off x="6591300" y="3962400"/>
            <a:ext cx="95250" cy="95250"/>
          </a:xfrm>
          <a:prstGeom prst="roundRect">
            <a:avLst>
              <a:gd name="adj" fmla="val 50000"/>
            </a:avLst>
          </a:prstGeom>
          <a:solidFill>
            <a:srgbClr val="8FB6C2"/>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FA598E80-DE74-4DA3-A2F1-A4F17266C12F}"/>
              </a:ext>
            </a:extLst>
          </p:cNvPr>
          <p:cNvSpPr>
            <a:spLocks noGrp="1"/>
          </p:cNvSpPr>
          <p:nvPr/>
        </p:nvSpPr>
        <p:spPr>
          <a:xfrm>
            <a:off x="6838950" y="38862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Modern ethnic identities should not be imposed without evidence</a:t>
            </a:r>
          </a:p>
        </p:txBody>
      </p:sp>
      <p:sp>
        <p:nvSpPr>
          <p:cNvPr id="20" name="Rectangle: Rounded Corners 19">
            <a:extLst>
              <a:ext uri="{FF2B5EF4-FFF2-40B4-BE49-F238E27FC236}">
                <a16:creationId xmlns:a16="http://schemas.microsoft.com/office/drawing/2014/main" id="{737B8DC6-01AF-4576-AB58-ECFDEA34BC1D}"/>
              </a:ext>
            </a:extLst>
          </p:cNvPr>
          <p:cNvSpPr>
            <a:spLocks noGrp="1"/>
          </p:cNvSpPr>
          <p:nvPr/>
        </p:nvSpPr>
        <p:spPr>
          <a:xfrm>
            <a:off x="6591300" y="4533900"/>
            <a:ext cx="95250" cy="95250"/>
          </a:xfrm>
          <a:prstGeom prst="roundRect">
            <a:avLst>
              <a:gd name="adj" fmla="val 50000"/>
            </a:avLst>
          </a:prstGeom>
          <a:solidFill>
            <a:srgbClr val="D38C8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BC762F16-439B-402E-808A-36D537D601F2}"/>
              </a:ext>
            </a:extLst>
          </p:cNvPr>
          <p:cNvSpPr>
            <a:spLocks noGrp="1"/>
          </p:cNvSpPr>
          <p:nvPr/>
        </p:nvSpPr>
        <p:spPr>
          <a:xfrm>
            <a:off x="6838950" y="44577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outward-looking man's identity remains uncertain</a:t>
            </a:r>
          </a:p>
        </p:txBody>
      </p:sp>
      <p:sp>
        <p:nvSpPr>
          <p:cNvPr id="22" name="Rectangle 21">
            <a:extLst>
              <a:ext uri="{FF2B5EF4-FFF2-40B4-BE49-F238E27FC236}">
                <a16:creationId xmlns:a16="http://schemas.microsoft.com/office/drawing/2014/main" id="{61DC74D1-45FA-4327-89BB-E70F1543F545}"/>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22DAA520-D4EB-47F6-B71E-CB49B39A738B}"/>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We watch desire—then discover that the painting is watching us.</a:t>
            </a:r>
          </a:p>
        </p:txBody>
      </p:sp>
      <p:sp>
        <p:nvSpPr>
          <p:cNvPr id="24" name="Rectangle 23">
            <a:extLst>
              <a:ext uri="{FF2B5EF4-FFF2-40B4-BE49-F238E27FC236}">
                <a16:creationId xmlns:a16="http://schemas.microsoft.com/office/drawing/2014/main" id="{F2DF92C4-48BE-431A-AFBC-6731DE59C11B}"/>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873778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435B6AF-1EF4-4365-BE2B-C01B5E10F77A}"/>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B8F84191-830C-40DA-9F3F-A403C59B2640}"/>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11 | MUSICAL HELL</a:t>
            </a:r>
          </a:p>
        </p:txBody>
      </p:sp>
      <p:sp>
        <p:nvSpPr>
          <p:cNvPr id="4" name="Rectangle 3">
            <a:extLst>
              <a:ext uri="{FF2B5EF4-FFF2-40B4-BE49-F238E27FC236}">
                <a16:creationId xmlns:a16="http://schemas.microsoft.com/office/drawing/2014/main" id="{0598A5EF-F95D-4116-8E8C-B2AE885EFB3B}"/>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Pleasure's Tools Begin to Use Their Users</a:t>
            </a:r>
          </a:p>
        </p:txBody>
      </p:sp>
      <p:sp>
        <p:nvSpPr>
          <p:cNvPr id="5" name="Rectangle 4">
            <a:extLst>
              <a:ext uri="{FF2B5EF4-FFF2-40B4-BE49-F238E27FC236}">
                <a16:creationId xmlns:a16="http://schemas.microsoft.com/office/drawing/2014/main" id="{76A776E6-E338-4C23-8C9F-0D2EEB5E6F39}"/>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12</a:t>
            </a:r>
          </a:p>
        </p:txBody>
      </p:sp>
      <p:sp>
        <p:nvSpPr>
          <p:cNvPr id="6" name="Rectangle 5">
            <a:extLst>
              <a:ext uri="{FF2B5EF4-FFF2-40B4-BE49-F238E27FC236}">
                <a16:creationId xmlns:a16="http://schemas.microsoft.com/office/drawing/2014/main" id="{894E0430-BE40-455B-8C49-29238A8D8503}"/>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2100D810-B230-4E6D-A67A-8CD4091A300E}"/>
              </a:ext>
            </a:extLst>
          </p:cNvPr>
          <p:cNvSpPr>
            <a:spLocks noGrp="1"/>
          </p:cNvSpPr>
          <p:nvPr/>
        </p:nvSpPr>
        <p:spPr>
          <a:xfrm>
            <a:off x="6515100" y="1409700"/>
            <a:ext cx="5219700" cy="4476750"/>
          </a:xfrm>
          <a:prstGeom prst="roundRect">
            <a:avLst>
              <a:gd name="adj" fmla="val 2553"/>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913E0F98-D0AA-4897-ADDC-BE5EA4FD3DF2}"/>
              </a:ext>
            </a:extLst>
          </p:cNvPr>
          <p:cNvSpPr>
            <a:spLocks noGrp="1"/>
          </p:cNvSpPr>
          <p:nvPr/>
        </p:nvSpPr>
        <p:spPr>
          <a:xfrm>
            <a:off x="514350" y="1390650"/>
            <a:ext cx="4953000" cy="4610100"/>
          </a:xfrm>
          <a:prstGeom prst="roundRect">
            <a:avLst>
              <a:gd name="adj" fmla="val 2479"/>
            </a:avLst>
          </a:prstGeom>
          <a:solidFill>
            <a:srgbClr val="171816"/>
          </a:solidFill>
          <a:ln w="9525">
            <a:solidFill>
              <a:srgbClr val="D5AE58"/>
            </a:solidFill>
            <a:prstDash val="solid"/>
          </a:ln>
        </p:spPr>
        <p:txBody>
          <a:bodyPr/>
          <a:lstStyle/>
          <a:p>
            <a:endParaRPr lang="en-US"/>
          </a:p>
        </p:txBody>
      </p:sp>
      <p:pic>
        <p:nvPicPr>
          <p:cNvPr id="31" name="Picture 30"/>
          <p:cNvPicPr>
            <a:picLocks noChangeAspect="1"/>
          </p:cNvPicPr>
          <p:nvPr/>
        </p:nvPicPr>
        <p:blipFill>
          <a:blip r:embed="rId4"/>
          <a:stretch/>
        </p:blipFill>
        <p:spPr>
          <a:xfrm>
            <a:off x="2036493" y="1485900"/>
            <a:ext cx="1908715" cy="4419600"/>
          </a:xfrm>
          <a:prstGeom prst="roundRect">
            <a:avLst>
              <a:gd name="adj" fmla="val 1724"/>
            </a:avLst>
          </a:prstGeom>
        </p:spPr>
      </p:pic>
      <p:sp>
        <p:nvSpPr>
          <p:cNvPr id="10" name="Rectangle 9">
            <a:extLst>
              <a:ext uri="{FF2B5EF4-FFF2-40B4-BE49-F238E27FC236}">
                <a16:creationId xmlns:a16="http://schemas.microsoft.com/office/drawing/2014/main" id="{46181E9E-94AB-459A-8D4B-0012086C3E61}"/>
              </a:ext>
            </a:extLst>
          </p:cNvPr>
          <p:cNvSpPr>
            <a:spLocks noGrp="1"/>
          </p:cNvSpPr>
          <p:nvPr/>
        </p:nvSpPr>
        <p:spPr>
          <a:xfrm>
            <a:off x="609600" y="5619750"/>
            <a:ext cx="4762500" cy="285750"/>
          </a:xfrm>
          <a:prstGeom prst="rect">
            <a:avLst/>
          </a:prstGeom>
          <a:solidFill>
            <a:srgbClr val="0B0C0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FDEB3D68-E6E5-4990-8956-8F91928906A3}"/>
              </a:ext>
            </a:extLst>
          </p:cNvPr>
          <p:cNvSpPr>
            <a:spLocks noGrp="1"/>
          </p:cNvSpPr>
          <p:nvPr/>
        </p:nvSpPr>
        <p:spPr>
          <a:xfrm>
            <a:off x="704850" y="5686425"/>
            <a:ext cx="45720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Right panel | Musical Hell</a:t>
            </a:r>
          </a:p>
        </p:txBody>
      </p:sp>
      <p:sp>
        <p:nvSpPr>
          <p:cNvPr id="12" name="Rectangle 11">
            <a:extLst>
              <a:ext uri="{FF2B5EF4-FFF2-40B4-BE49-F238E27FC236}">
                <a16:creationId xmlns:a16="http://schemas.microsoft.com/office/drawing/2014/main" id="{50AD1A60-5A4C-48AA-B12A-3C32C8E94639}"/>
              </a:ext>
            </a:extLst>
          </p:cNvPr>
          <p:cNvSpPr>
            <a:spLocks noGrp="1"/>
          </p:cNvSpPr>
          <p:nvPr/>
        </p:nvSpPr>
        <p:spPr>
          <a:xfrm>
            <a:off x="6686550" y="1619250"/>
            <a:ext cx="4857750" cy="100965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The garden's pleasures survive, but they change from servants into masters.</a:t>
            </a:r>
          </a:p>
        </p:txBody>
      </p:sp>
      <p:sp>
        <p:nvSpPr>
          <p:cNvPr id="13" name="Rectangle 12">
            <a:extLst>
              <a:ext uri="{FF2B5EF4-FFF2-40B4-BE49-F238E27FC236}">
                <a16:creationId xmlns:a16="http://schemas.microsoft.com/office/drawing/2014/main" id="{C179C8C8-CFC5-4DCB-9C46-2C139CCF255D}"/>
              </a:ext>
            </a:extLst>
          </p:cNvPr>
          <p:cNvSpPr>
            <a:spLocks noGrp="1"/>
          </p:cNvSpPr>
          <p:nvPr/>
        </p:nvSpPr>
        <p:spPr>
          <a:xfrm>
            <a:off x="6686550" y="2895600"/>
            <a:ext cx="895350" cy="38100"/>
          </a:xfrm>
          <a:prstGeom prst="rect">
            <a:avLst/>
          </a:prstGeom>
          <a:solidFill>
            <a:srgbClr val="D38C86"/>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9B4B18E7-E1B3-43FE-8203-EB272456ADA7}"/>
              </a:ext>
            </a:extLst>
          </p:cNvPr>
          <p:cNvSpPr>
            <a:spLocks noGrp="1"/>
          </p:cNvSpPr>
          <p:nvPr/>
        </p:nvSpPr>
        <p:spPr>
          <a:xfrm>
            <a:off x="6724650" y="3371850"/>
            <a:ext cx="95250" cy="95250"/>
          </a:xfrm>
          <a:prstGeom prst="roundRect">
            <a:avLst>
              <a:gd name="adj" fmla="val 50000"/>
            </a:avLst>
          </a:prstGeom>
          <a:solidFill>
            <a:srgbClr val="D38C86"/>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517EEF92-F221-4F3D-B84E-F2B756816D34}"/>
              </a:ext>
            </a:extLst>
          </p:cNvPr>
          <p:cNvSpPr>
            <a:spLocks noGrp="1"/>
          </p:cNvSpPr>
          <p:nvPr/>
        </p:nvSpPr>
        <p:spPr>
          <a:xfrm>
            <a:off x="6972300" y="3295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Tender green and daylight become fire, ice, and darkness</a:t>
            </a:r>
          </a:p>
        </p:txBody>
      </p:sp>
      <p:sp>
        <p:nvSpPr>
          <p:cNvPr id="16" name="Rectangle: Rounded Corners 15">
            <a:extLst>
              <a:ext uri="{FF2B5EF4-FFF2-40B4-BE49-F238E27FC236}">
                <a16:creationId xmlns:a16="http://schemas.microsoft.com/office/drawing/2014/main" id="{35C375B3-9A8B-43F2-B92F-41FC70982991}"/>
              </a:ext>
            </a:extLst>
          </p:cNvPr>
          <p:cNvSpPr>
            <a:spLocks noGrp="1"/>
          </p:cNvSpPr>
          <p:nvPr/>
        </p:nvSpPr>
        <p:spPr>
          <a:xfrm>
            <a:off x="6724650" y="3943350"/>
            <a:ext cx="95250" cy="95250"/>
          </a:xfrm>
          <a:prstGeom prst="roundRect">
            <a:avLst>
              <a:gd name="adj" fmla="val 50000"/>
            </a:avLst>
          </a:prstGeom>
          <a:solidFill>
            <a:srgbClr val="8FB6C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7D7F14FC-A7D8-4D0E-A7B5-86655F84C620}"/>
              </a:ext>
            </a:extLst>
          </p:cNvPr>
          <p:cNvSpPr>
            <a:spLocks noGrp="1"/>
          </p:cNvSpPr>
          <p:nvPr/>
        </p:nvSpPr>
        <p:spPr>
          <a:xfrm>
            <a:off x="6972300" y="38671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Bodies are controlled by instruments, objects, and animals</a:t>
            </a:r>
          </a:p>
        </p:txBody>
      </p:sp>
      <p:sp>
        <p:nvSpPr>
          <p:cNvPr id="18" name="Rectangle: Rounded Corners 17">
            <a:extLst>
              <a:ext uri="{FF2B5EF4-FFF2-40B4-BE49-F238E27FC236}">
                <a16:creationId xmlns:a16="http://schemas.microsoft.com/office/drawing/2014/main" id="{F63FB589-ADBD-4EDF-B120-F16534D0B09A}"/>
              </a:ext>
            </a:extLst>
          </p:cNvPr>
          <p:cNvSpPr>
            <a:spLocks noGrp="1"/>
          </p:cNvSpPr>
          <p:nvPr/>
        </p:nvSpPr>
        <p:spPr>
          <a:xfrm>
            <a:off x="6724650" y="4514850"/>
            <a:ext cx="95250" cy="95250"/>
          </a:xfrm>
          <a:prstGeom prst="roundRect">
            <a:avLst>
              <a:gd name="adj" fmla="val 50000"/>
            </a:avLst>
          </a:prstGeom>
          <a:solidFill>
            <a:srgbClr val="D38C8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A481FB91-6BAD-4D03-8EFB-68B5BE0D46EA}"/>
              </a:ext>
            </a:extLst>
          </p:cNvPr>
          <p:cNvSpPr>
            <a:spLocks noGrp="1"/>
          </p:cNvSpPr>
          <p:nvPr/>
        </p:nvSpPr>
        <p:spPr>
          <a:xfrm>
            <a:off x="6972300" y="4438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Hell is the central garden turned inside out</a:t>
            </a:r>
          </a:p>
        </p:txBody>
      </p:sp>
      <p:sp>
        <p:nvSpPr>
          <p:cNvPr id="20" name="Rectangle 19">
            <a:extLst>
              <a:ext uri="{FF2B5EF4-FFF2-40B4-BE49-F238E27FC236}">
                <a16:creationId xmlns:a16="http://schemas.microsoft.com/office/drawing/2014/main" id="{21C7654F-BBAF-42DA-82FD-5509AF8640EE}"/>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C4A4A993-8E24-4ADC-9E7F-C00F0BF31375}"/>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The garden's pleasures survive, but they change from servants into masters.</a:t>
            </a:r>
          </a:p>
        </p:txBody>
      </p:sp>
      <p:sp>
        <p:nvSpPr>
          <p:cNvPr id="22" name="Rectangle 21">
            <a:extLst>
              <a:ext uri="{FF2B5EF4-FFF2-40B4-BE49-F238E27FC236}">
                <a16:creationId xmlns:a16="http://schemas.microsoft.com/office/drawing/2014/main" id="{59F67B34-97AF-4373-81A6-C701A52E0742}"/>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760613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0E08373-DD5A-44F2-ACAB-4980BB8E5780}"/>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FEFDD3E0-4244-4F46-8055-151D8A7FA1BA}"/>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12 | WHEN INSTRUMENTS PLAY PEOPLE</a:t>
            </a:r>
          </a:p>
        </p:txBody>
      </p:sp>
      <p:sp>
        <p:nvSpPr>
          <p:cNvPr id="4" name="Rectangle 3">
            <a:extLst>
              <a:ext uri="{FF2B5EF4-FFF2-40B4-BE49-F238E27FC236}">
                <a16:creationId xmlns:a16="http://schemas.microsoft.com/office/drawing/2014/main" id="{13B207E6-3022-4A32-A844-575B2D89AB32}"/>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Machines of Harmony Become Machines of Shame</a:t>
            </a:r>
          </a:p>
        </p:txBody>
      </p:sp>
      <p:sp>
        <p:nvSpPr>
          <p:cNvPr id="5" name="Rectangle 4">
            <a:extLst>
              <a:ext uri="{FF2B5EF4-FFF2-40B4-BE49-F238E27FC236}">
                <a16:creationId xmlns:a16="http://schemas.microsoft.com/office/drawing/2014/main" id="{A99707D6-B28E-402C-A57F-7864FA7050E2}"/>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13</a:t>
            </a:r>
          </a:p>
        </p:txBody>
      </p:sp>
      <p:sp>
        <p:nvSpPr>
          <p:cNvPr id="6" name="Rectangle 5">
            <a:extLst>
              <a:ext uri="{FF2B5EF4-FFF2-40B4-BE49-F238E27FC236}">
                <a16:creationId xmlns:a16="http://schemas.microsoft.com/office/drawing/2014/main" id="{AB965FC1-83C7-4E54-99A4-BEB3022C5A0C}"/>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1B949236-B0A2-4E2E-87D4-52AC13DD6911}"/>
              </a:ext>
            </a:extLst>
          </p:cNvPr>
          <p:cNvSpPr>
            <a:spLocks noGrp="1"/>
          </p:cNvSpPr>
          <p:nvPr/>
        </p:nvSpPr>
        <p:spPr>
          <a:xfrm>
            <a:off x="381000" y="1409700"/>
            <a:ext cx="5219700" cy="4476750"/>
          </a:xfrm>
          <a:prstGeom prst="roundRect">
            <a:avLst>
              <a:gd name="adj" fmla="val 2553"/>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DCFFB800-3344-4BDF-B16B-E1FA4A48306F}"/>
              </a:ext>
            </a:extLst>
          </p:cNvPr>
          <p:cNvSpPr>
            <a:spLocks noGrp="1"/>
          </p:cNvSpPr>
          <p:nvPr/>
        </p:nvSpPr>
        <p:spPr>
          <a:xfrm>
            <a:off x="6705600" y="1390650"/>
            <a:ext cx="4953000" cy="4610100"/>
          </a:xfrm>
          <a:prstGeom prst="roundRect">
            <a:avLst>
              <a:gd name="adj" fmla="val 2479"/>
            </a:avLst>
          </a:prstGeom>
          <a:solidFill>
            <a:srgbClr val="171816"/>
          </a:solidFill>
          <a:ln w="9525">
            <a:solidFill>
              <a:srgbClr val="D5AE58"/>
            </a:solidFill>
            <a:prstDash val="solid"/>
          </a:ln>
        </p:spPr>
        <p:txBody>
          <a:bodyPr/>
          <a:lstStyle/>
          <a:p>
            <a:endParaRPr lang="en-US"/>
          </a:p>
        </p:txBody>
      </p:sp>
      <p:pic>
        <p:nvPicPr>
          <p:cNvPr id="31" name="Picture 30"/>
          <p:cNvPicPr>
            <a:picLocks noChangeAspect="1"/>
          </p:cNvPicPr>
          <p:nvPr/>
        </p:nvPicPr>
        <p:blipFill>
          <a:blip r:embed="rId4"/>
          <a:stretch/>
        </p:blipFill>
        <p:spPr>
          <a:xfrm>
            <a:off x="7198805" y="1485900"/>
            <a:ext cx="3966591" cy="4419600"/>
          </a:xfrm>
          <a:prstGeom prst="roundRect">
            <a:avLst>
              <a:gd name="adj" fmla="val 1724"/>
            </a:avLst>
          </a:prstGeom>
        </p:spPr>
      </p:pic>
      <p:sp>
        <p:nvSpPr>
          <p:cNvPr id="10" name="Rectangle 9">
            <a:extLst>
              <a:ext uri="{FF2B5EF4-FFF2-40B4-BE49-F238E27FC236}">
                <a16:creationId xmlns:a16="http://schemas.microsoft.com/office/drawing/2014/main" id="{65C876E5-439B-42B7-86A5-06BBE88DF7ED}"/>
              </a:ext>
            </a:extLst>
          </p:cNvPr>
          <p:cNvSpPr>
            <a:spLocks noGrp="1"/>
          </p:cNvSpPr>
          <p:nvPr/>
        </p:nvSpPr>
        <p:spPr>
          <a:xfrm>
            <a:off x="6800850" y="5619750"/>
            <a:ext cx="4762500" cy="285750"/>
          </a:xfrm>
          <a:prstGeom prst="rect">
            <a:avLst/>
          </a:prstGeom>
          <a:solidFill>
            <a:srgbClr val="0B0C0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2C437D9F-8C10-40CF-8172-CE2DDB84512F}"/>
              </a:ext>
            </a:extLst>
          </p:cNvPr>
          <p:cNvSpPr>
            <a:spLocks noGrp="1"/>
          </p:cNvSpPr>
          <p:nvPr/>
        </p:nvSpPr>
        <p:spPr>
          <a:xfrm>
            <a:off x="6896100" y="5686425"/>
            <a:ext cx="45720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Right panel | instruments and buttocks-score area</a:t>
            </a:r>
          </a:p>
        </p:txBody>
      </p:sp>
      <p:sp>
        <p:nvSpPr>
          <p:cNvPr id="12" name="Rectangle 11">
            <a:extLst>
              <a:ext uri="{FF2B5EF4-FFF2-40B4-BE49-F238E27FC236}">
                <a16:creationId xmlns:a16="http://schemas.microsoft.com/office/drawing/2014/main" id="{E5BC6378-DF20-4FC7-AC9F-9AE3ED169EE3}"/>
              </a:ext>
            </a:extLst>
          </p:cNvPr>
          <p:cNvSpPr>
            <a:spLocks noGrp="1"/>
          </p:cNvSpPr>
          <p:nvPr/>
        </p:nvSpPr>
        <p:spPr>
          <a:xfrm>
            <a:off x="552450" y="1619250"/>
            <a:ext cx="4857750" cy="100965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Bosch's instruments of punishment are disturbingly familiar.</a:t>
            </a:r>
          </a:p>
        </p:txBody>
      </p:sp>
      <p:sp>
        <p:nvSpPr>
          <p:cNvPr id="13" name="Rectangle 12">
            <a:extLst>
              <a:ext uri="{FF2B5EF4-FFF2-40B4-BE49-F238E27FC236}">
                <a16:creationId xmlns:a16="http://schemas.microsoft.com/office/drawing/2014/main" id="{676D0042-2B78-4747-BA67-6C942B2FB335}"/>
              </a:ext>
            </a:extLst>
          </p:cNvPr>
          <p:cNvSpPr>
            <a:spLocks noGrp="1"/>
          </p:cNvSpPr>
          <p:nvPr/>
        </p:nvSpPr>
        <p:spPr>
          <a:xfrm>
            <a:off x="552450" y="2895600"/>
            <a:ext cx="895350" cy="38100"/>
          </a:xfrm>
          <a:prstGeom prst="rect">
            <a:avLst/>
          </a:prstGeom>
          <a:solidFill>
            <a:srgbClr val="D38C86"/>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88B13402-F035-408D-9A3D-0CE6EFD8AF3D}"/>
              </a:ext>
            </a:extLst>
          </p:cNvPr>
          <p:cNvSpPr>
            <a:spLocks noGrp="1"/>
          </p:cNvSpPr>
          <p:nvPr/>
        </p:nvSpPr>
        <p:spPr>
          <a:xfrm>
            <a:off x="590550" y="3371850"/>
            <a:ext cx="95250" cy="95250"/>
          </a:xfrm>
          <a:prstGeom prst="roundRect">
            <a:avLst>
              <a:gd name="adj" fmla="val 50000"/>
            </a:avLst>
          </a:prstGeom>
          <a:solidFill>
            <a:srgbClr val="D38C86"/>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3946D125-5C4A-4B98-9331-484308AECE8D}"/>
              </a:ext>
            </a:extLst>
          </p:cNvPr>
          <p:cNvSpPr>
            <a:spLocks noGrp="1"/>
          </p:cNvSpPr>
          <p:nvPr/>
        </p:nvSpPr>
        <p:spPr>
          <a:xfrm>
            <a:off x="838200" y="3295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Sinners are stretched across harp strings and crushed by a lute</a:t>
            </a:r>
          </a:p>
        </p:txBody>
      </p:sp>
      <p:sp>
        <p:nvSpPr>
          <p:cNvPr id="16" name="Rectangle: Rounded Corners 15">
            <a:extLst>
              <a:ext uri="{FF2B5EF4-FFF2-40B4-BE49-F238E27FC236}">
                <a16:creationId xmlns:a16="http://schemas.microsoft.com/office/drawing/2014/main" id="{E202212C-8C4E-4EFF-8228-AFA84105C35A}"/>
              </a:ext>
            </a:extLst>
          </p:cNvPr>
          <p:cNvSpPr>
            <a:spLocks noGrp="1"/>
          </p:cNvSpPr>
          <p:nvPr/>
        </p:nvSpPr>
        <p:spPr>
          <a:xfrm>
            <a:off x="590550" y="3943350"/>
            <a:ext cx="95250" cy="95250"/>
          </a:xfrm>
          <a:prstGeom prst="roundRect">
            <a:avLst>
              <a:gd name="adj" fmla="val 50000"/>
            </a:avLst>
          </a:prstGeom>
          <a:solidFill>
            <a:srgbClr val="8FB6C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BED0C7EA-0699-4F3C-B1A9-E5960CF31CCC}"/>
              </a:ext>
            </a:extLst>
          </p:cNvPr>
          <p:cNvSpPr>
            <a:spLocks noGrp="1"/>
          </p:cNvSpPr>
          <p:nvPr/>
        </p:nvSpPr>
        <p:spPr>
          <a:xfrm>
            <a:off x="838200" y="38671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Drums, pipes, and notation reorganize the body</a:t>
            </a:r>
          </a:p>
        </p:txBody>
      </p:sp>
      <p:sp>
        <p:nvSpPr>
          <p:cNvPr id="18" name="Rectangle: Rounded Corners 17">
            <a:extLst>
              <a:ext uri="{FF2B5EF4-FFF2-40B4-BE49-F238E27FC236}">
                <a16:creationId xmlns:a16="http://schemas.microsoft.com/office/drawing/2014/main" id="{C8DF2E5E-58F3-43A6-88C9-41104F830F46}"/>
              </a:ext>
            </a:extLst>
          </p:cNvPr>
          <p:cNvSpPr>
            <a:spLocks noGrp="1"/>
          </p:cNvSpPr>
          <p:nvPr/>
        </p:nvSpPr>
        <p:spPr>
          <a:xfrm>
            <a:off x="590550" y="4514850"/>
            <a:ext cx="95250" cy="95250"/>
          </a:xfrm>
          <a:prstGeom prst="roundRect">
            <a:avLst>
              <a:gd name="adj" fmla="val 50000"/>
            </a:avLst>
          </a:prstGeom>
          <a:solidFill>
            <a:srgbClr val="D38C8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9482C242-B35D-4025-8404-69E605561486}"/>
              </a:ext>
            </a:extLst>
          </p:cNvPr>
          <p:cNvSpPr>
            <a:spLocks noGrp="1"/>
          </p:cNvSpPr>
          <p:nvPr/>
        </p:nvSpPr>
        <p:spPr>
          <a:xfrm>
            <a:off x="838200" y="4438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buttocks score reverses entertainment into humiliation</a:t>
            </a:r>
          </a:p>
        </p:txBody>
      </p:sp>
      <p:sp>
        <p:nvSpPr>
          <p:cNvPr id="20" name="Rectangle 19">
            <a:extLst>
              <a:ext uri="{FF2B5EF4-FFF2-40B4-BE49-F238E27FC236}">
                <a16:creationId xmlns:a16="http://schemas.microsoft.com/office/drawing/2014/main" id="{DCA8FFB3-3CC1-4B70-A100-98FD0C44BE78}"/>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B8FA4E7D-608B-48AE-9739-754FDB567626}"/>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Bosch's instruments of punishment are disturbingly familiar.</a:t>
            </a:r>
          </a:p>
        </p:txBody>
      </p:sp>
      <p:sp>
        <p:nvSpPr>
          <p:cNvPr id="22" name="Rectangle 21">
            <a:extLst>
              <a:ext uri="{FF2B5EF4-FFF2-40B4-BE49-F238E27FC236}">
                <a16:creationId xmlns:a16="http://schemas.microsoft.com/office/drawing/2014/main" id="{605D89B9-CA59-46DC-8809-DF7FBA385710}"/>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1040271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2138708-AEA7-4ACB-82DF-D2EDB6F47546}"/>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78232994-3C74-47E9-8859-791547A4CF87}"/>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13 | THE SENSES BECOME WEAPONS</a:t>
            </a:r>
          </a:p>
        </p:txBody>
      </p:sp>
      <p:sp>
        <p:nvSpPr>
          <p:cNvPr id="4" name="Rectangle 3">
            <a:extLst>
              <a:ext uri="{FF2B5EF4-FFF2-40B4-BE49-F238E27FC236}">
                <a16:creationId xmlns:a16="http://schemas.microsoft.com/office/drawing/2014/main" id="{15815C01-6928-4B8E-878B-CE99B8D13A20}"/>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Giant Ears and the M-Marked Blade</a:t>
            </a:r>
          </a:p>
        </p:txBody>
      </p:sp>
      <p:sp>
        <p:nvSpPr>
          <p:cNvPr id="5" name="Rectangle 4">
            <a:extLst>
              <a:ext uri="{FF2B5EF4-FFF2-40B4-BE49-F238E27FC236}">
                <a16:creationId xmlns:a16="http://schemas.microsoft.com/office/drawing/2014/main" id="{A17194A8-B4D3-43E1-94C0-D6287BB03784}"/>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14</a:t>
            </a:r>
          </a:p>
        </p:txBody>
      </p:sp>
      <p:sp>
        <p:nvSpPr>
          <p:cNvPr id="6" name="Rectangle 5">
            <a:extLst>
              <a:ext uri="{FF2B5EF4-FFF2-40B4-BE49-F238E27FC236}">
                <a16:creationId xmlns:a16="http://schemas.microsoft.com/office/drawing/2014/main" id="{81D64370-0896-4518-B10C-91564FAA9A81}"/>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F241125E-EA51-428C-A913-DDE16D47344D}"/>
              </a:ext>
            </a:extLst>
          </p:cNvPr>
          <p:cNvSpPr>
            <a:spLocks noGrp="1"/>
          </p:cNvSpPr>
          <p:nvPr/>
        </p:nvSpPr>
        <p:spPr>
          <a:xfrm>
            <a:off x="495300" y="1352550"/>
            <a:ext cx="11201400" cy="3238500"/>
          </a:xfrm>
          <a:prstGeom prst="roundRect">
            <a:avLst>
              <a:gd name="adj" fmla="val 3529"/>
            </a:avLst>
          </a:prstGeom>
          <a:solidFill>
            <a:srgbClr val="171816"/>
          </a:solidFill>
          <a:ln w="9525">
            <a:solidFill>
              <a:srgbClr val="D5AE58"/>
            </a:solidFill>
            <a:prstDash val="solid"/>
          </a:ln>
        </p:spPr>
        <p:txBody>
          <a:bodyPr/>
          <a:lstStyle/>
          <a:p>
            <a:endParaRPr lang="en-US"/>
          </a:p>
        </p:txBody>
      </p:sp>
      <p:pic>
        <p:nvPicPr>
          <p:cNvPr id="29" name="Picture 28"/>
          <p:cNvPicPr>
            <a:picLocks noChangeAspect="1"/>
          </p:cNvPicPr>
          <p:nvPr/>
        </p:nvPicPr>
        <p:blipFill>
          <a:blip r:embed="rId4"/>
          <a:stretch/>
        </p:blipFill>
        <p:spPr>
          <a:xfrm>
            <a:off x="3769282" y="1447800"/>
            <a:ext cx="4653435" cy="3048000"/>
          </a:xfrm>
          <a:prstGeom prst="roundRect">
            <a:avLst>
              <a:gd name="adj" fmla="val 2500"/>
            </a:avLst>
          </a:prstGeom>
        </p:spPr>
      </p:pic>
      <p:sp>
        <p:nvSpPr>
          <p:cNvPr id="9" name="Rectangle 8">
            <a:extLst>
              <a:ext uri="{FF2B5EF4-FFF2-40B4-BE49-F238E27FC236}">
                <a16:creationId xmlns:a16="http://schemas.microsoft.com/office/drawing/2014/main" id="{21A69535-B38C-45EB-BABD-9DD2AD59D227}"/>
              </a:ext>
            </a:extLst>
          </p:cNvPr>
          <p:cNvSpPr>
            <a:spLocks noGrp="1"/>
          </p:cNvSpPr>
          <p:nvPr/>
        </p:nvSpPr>
        <p:spPr>
          <a:xfrm>
            <a:off x="590550" y="4210050"/>
            <a:ext cx="11010900" cy="285750"/>
          </a:xfrm>
          <a:prstGeom prst="rect">
            <a:avLst/>
          </a:prstGeom>
          <a:solidFill>
            <a:srgbClr val="0B0C0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3DD4F39F-A1B1-4EA2-B3C4-9DB9A2323ACF}"/>
              </a:ext>
            </a:extLst>
          </p:cNvPr>
          <p:cNvSpPr>
            <a:spLocks noGrp="1"/>
          </p:cNvSpPr>
          <p:nvPr/>
        </p:nvSpPr>
        <p:spPr>
          <a:xfrm>
            <a:off x="685800" y="4276725"/>
            <a:ext cx="108204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Right panel | giant ears and M-marked blade</a:t>
            </a:r>
          </a:p>
        </p:txBody>
      </p:sp>
      <p:sp>
        <p:nvSpPr>
          <p:cNvPr id="11" name="Rectangle: Rounded Corners 10">
            <a:extLst>
              <a:ext uri="{FF2B5EF4-FFF2-40B4-BE49-F238E27FC236}">
                <a16:creationId xmlns:a16="http://schemas.microsoft.com/office/drawing/2014/main" id="{19B1BF06-2BD9-4BF7-83AB-9915A229D0A7}"/>
              </a:ext>
            </a:extLst>
          </p:cNvPr>
          <p:cNvSpPr>
            <a:spLocks noGrp="1"/>
          </p:cNvSpPr>
          <p:nvPr/>
        </p:nvSpPr>
        <p:spPr>
          <a:xfrm>
            <a:off x="419100" y="4686300"/>
            <a:ext cx="11353800" cy="1352550"/>
          </a:xfrm>
          <a:prstGeom prst="roundRect">
            <a:avLst>
              <a:gd name="adj" fmla="val 8451"/>
            </a:avLst>
          </a:prstGeom>
          <a:solidFill>
            <a:srgbClr val="0B0C0C"/>
          </a:solidFill>
          <a:ln w="9525">
            <a:solidFill>
              <a:srgbClr val="2A211B"/>
            </a:solidFill>
            <a:prstDash val="solid"/>
          </a:ln>
        </p:spPr>
        <p:txBody>
          <a:bodyPr/>
          <a:lstStyle/>
          <a:p>
            <a:endParaRPr lang="en-US"/>
          </a:p>
        </p:txBody>
      </p:sp>
      <p:sp>
        <p:nvSpPr>
          <p:cNvPr id="12" name="Rectangle 11">
            <a:extLst>
              <a:ext uri="{FF2B5EF4-FFF2-40B4-BE49-F238E27FC236}">
                <a16:creationId xmlns:a16="http://schemas.microsoft.com/office/drawing/2014/main" id="{CDD4B64D-0038-41A6-82DD-9EA6BF18935A}"/>
              </a:ext>
            </a:extLst>
          </p:cNvPr>
          <p:cNvSpPr>
            <a:spLocks noGrp="1"/>
          </p:cNvSpPr>
          <p:nvPr/>
        </p:nvSpPr>
        <p:spPr>
          <a:xfrm>
            <a:off x="590550" y="4857750"/>
            <a:ext cx="5429250" cy="857250"/>
          </a:xfrm>
          <a:prstGeom prst="rect">
            <a:avLst/>
          </a:prstGeom>
          <a:noFill/>
          <a:ln w="0">
            <a:noFill/>
            <a:prstDash val="solid"/>
          </a:ln>
        </p:spPr>
        <p:txBody>
          <a:bodyPr/>
          <a:lstStyle/>
          <a:p>
            <a:pPr algn="l">
              <a:defRPr sz="1725" b="1" i="0">
                <a:solidFill>
                  <a:srgbClr val="FFFDF5"/>
                </a:solidFill>
                <a:latin typeface="DejaVu Sans"/>
                <a:ea typeface="DejaVu Sans"/>
                <a:cs typeface="DejaVu Sans"/>
              </a:defRPr>
            </a:pPr>
            <a:r>
              <a:rPr sz="1725" b="1" i="0">
                <a:solidFill>
                  <a:srgbClr val="FFFDF5"/>
                </a:solidFill>
                <a:latin typeface="DejaVu Sans"/>
                <a:ea typeface="DejaVu Sans"/>
                <a:cs typeface="DejaVu Sans"/>
              </a:rPr>
              <a:t>An organ made for listening is rebuilt as a machine of violence.</a:t>
            </a:r>
          </a:p>
        </p:txBody>
      </p:sp>
      <p:sp>
        <p:nvSpPr>
          <p:cNvPr id="13" name="Rectangle: Rounded Corners 12">
            <a:extLst>
              <a:ext uri="{FF2B5EF4-FFF2-40B4-BE49-F238E27FC236}">
                <a16:creationId xmlns:a16="http://schemas.microsoft.com/office/drawing/2014/main" id="{1EB9C0CF-E0E0-427F-9501-82F530FECD78}"/>
              </a:ext>
            </a:extLst>
          </p:cNvPr>
          <p:cNvSpPr>
            <a:spLocks noGrp="1"/>
          </p:cNvSpPr>
          <p:nvPr/>
        </p:nvSpPr>
        <p:spPr>
          <a:xfrm>
            <a:off x="6667500" y="4838700"/>
            <a:ext cx="95250" cy="95250"/>
          </a:xfrm>
          <a:prstGeom prst="roundRect">
            <a:avLst>
              <a:gd name="adj" fmla="val 50000"/>
            </a:avLst>
          </a:prstGeom>
          <a:solidFill>
            <a:srgbClr val="D38C86"/>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35182503-7635-4B46-9FB9-491B241ED251}"/>
              </a:ext>
            </a:extLst>
          </p:cNvPr>
          <p:cNvSpPr>
            <a:spLocks noGrp="1"/>
          </p:cNvSpPr>
          <p:nvPr/>
        </p:nvSpPr>
        <p:spPr>
          <a:xfrm>
            <a:off x="6915150" y="47625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Two giant ears are pierced and joined to a blade</a:t>
            </a:r>
          </a:p>
        </p:txBody>
      </p:sp>
      <p:sp>
        <p:nvSpPr>
          <p:cNvPr id="15" name="Rectangle: Rounded Corners 14">
            <a:extLst>
              <a:ext uri="{FF2B5EF4-FFF2-40B4-BE49-F238E27FC236}">
                <a16:creationId xmlns:a16="http://schemas.microsoft.com/office/drawing/2014/main" id="{13DB636A-141F-443D-8FA9-C78F29C52D7D}"/>
              </a:ext>
            </a:extLst>
          </p:cNvPr>
          <p:cNvSpPr>
            <a:spLocks noGrp="1"/>
          </p:cNvSpPr>
          <p:nvPr/>
        </p:nvSpPr>
        <p:spPr>
          <a:xfrm>
            <a:off x="6667500" y="5238750"/>
            <a:ext cx="95250" cy="95250"/>
          </a:xfrm>
          <a:prstGeom prst="roundRect">
            <a:avLst>
              <a:gd name="adj" fmla="val 50000"/>
            </a:avLst>
          </a:prstGeom>
          <a:solidFill>
            <a:srgbClr val="8FB6C2"/>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B8C795B0-C9E3-4F5A-AF9C-0AF9C257D097}"/>
              </a:ext>
            </a:extLst>
          </p:cNvPr>
          <p:cNvSpPr>
            <a:spLocks noGrp="1"/>
          </p:cNvSpPr>
          <p:nvPr/>
        </p:nvSpPr>
        <p:spPr>
          <a:xfrm>
            <a:off x="6915150" y="51625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Sense organ and weapon become one hybrid</a:t>
            </a:r>
          </a:p>
        </p:txBody>
      </p:sp>
      <p:sp>
        <p:nvSpPr>
          <p:cNvPr id="17" name="Rectangle: Rounded Corners 16">
            <a:extLst>
              <a:ext uri="{FF2B5EF4-FFF2-40B4-BE49-F238E27FC236}">
                <a16:creationId xmlns:a16="http://schemas.microsoft.com/office/drawing/2014/main" id="{3F7DBB95-273C-48FF-A76C-83042E05FEBC}"/>
              </a:ext>
            </a:extLst>
          </p:cNvPr>
          <p:cNvSpPr>
            <a:spLocks noGrp="1"/>
          </p:cNvSpPr>
          <p:nvPr/>
        </p:nvSpPr>
        <p:spPr>
          <a:xfrm>
            <a:off x="6667500" y="5638800"/>
            <a:ext cx="95250" cy="95250"/>
          </a:xfrm>
          <a:prstGeom prst="roundRect">
            <a:avLst>
              <a:gd name="adj" fmla="val 50000"/>
            </a:avLst>
          </a:prstGeom>
          <a:solidFill>
            <a:srgbClr val="D38C86"/>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A90461AF-B51B-40ED-8A8E-3B163E7137CC}"/>
              </a:ext>
            </a:extLst>
          </p:cNvPr>
          <p:cNvSpPr>
            <a:spLocks noGrp="1"/>
          </p:cNvSpPr>
          <p:nvPr/>
        </p:nvSpPr>
        <p:spPr>
          <a:xfrm>
            <a:off x="6915150" y="55626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meaning of the letter M is not securely known</a:t>
            </a:r>
          </a:p>
        </p:txBody>
      </p:sp>
      <p:sp>
        <p:nvSpPr>
          <p:cNvPr id="19" name="Rectangle 18">
            <a:extLst>
              <a:ext uri="{FF2B5EF4-FFF2-40B4-BE49-F238E27FC236}">
                <a16:creationId xmlns:a16="http://schemas.microsoft.com/office/drawing/2014/main" id="{81A7D41C-D259-4C3F-B8D9-927C84150DEF}"/>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BDC20410-040D-4E48-AFDE-CAD9F98ABDC7}"/>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An organ made for listening is rebuilt as a machine of violence.</a:t>
            </a:r>
          </a:p>
        </p:txBody>
      </p:sp>
      <p:sp>
        <p:nvSpPr>
          <p:cNvPr id="21" name="Rectangle 20">
            <a:extLst>
              <a:ext uri="{FF2B5EF4-FFF2-40B4-BE49-F238E27FC236}">
                <a16:creationId xmlns:a16="http://schemas.microsoft.com/office/drawing/2014/main" id="{22740892-0EE0-4E56-86D9-90A3CA516065}"/>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429875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B4CE5D6-F718-42E4-BE44-F4AFEFDA08F2}"/>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BC8E91B6-A84C-4493-9C78-3A42B62E412E}"/>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14 | HOW A MONSTER WAS MADE</a:t>
            </a:r>
          </a:p>
        </p:txBody>
      </p:sp>
      <p:sp>
        <p:nvSpPr>
          <p:cNvPr id="4" name="Rectangle 3">
            <a:extLst>
              <a:ext uri="{FF2B5EF4-FFF2-40B4-BE49-F238E27FC236}">
                <a16:creationId xmlns:a16="http://schemas.microsoft.com/office/drawing/2014/main" id="{D1F32721-A978-4870-9290-A30E8F3A8441}"/>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Tree-Man: Person, Dead Tree, Tavern, and Landscape</a:t>
            </a:r>
          </a:p>
        </p:txBody>
      </p:sp>
      <p:sp>
        <p:nvSpPr>
          <p:cNvPr id="5" name="Rectangle 4">
            <a:extLst>
              <a:ext uri="{FF2B5EF4-FFF2-40B4-BE49-F238E27FC236}">
                <a16:creationId xmlns:a16="http://schemas.microsoft.com/office/drawing/2014/main" id="{C34E3F0E-F180-47B5-9302-5E139CE03CCC}"/>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15</a:t>
            </a:r>
          </a:p>
        </p:txBody>
      </p:sp>
      <p:sp>
        <p:nvSpPr>
          <p:cNvPr id="6" name="Rectangle 5">
            <a:extLst>
              <a:ext uri="{FF2B5EF4-FFF2-40B4-BE49-F238E27FC236}">
                <a16:creationId xmlns:a16="http://schemas.microsoft.com/office/drawing/2014/main" id="{87314D21-9EEB-4DD8-9B6B-60007D0D9894}"/>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42FEE85A-68FB-4C64-BF6F-DCF25FBA4DFA}"/>
              </a:ext>
            </a:extLst>
          </p:cNvPr>
          <p:cNvSpPr>
            <a:spLocks noGrp="1"/>
          </p:cNvSpPr>
          <p:nvPr/>
        </p:nvSpPr>
        <p:spPr>
          <a:xfrm>
            <a:off x="381000" y="1409700"/>
            <a:ext cx="5219700" cy="4476750"/>
          </a:xfrm>
          <a:prstGeom prst="roundRect">
            <a:avLst>
              <a:gd name="adj" fmla="val 2553"/>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6C7F5EB8-DC45-48DD-95E1-6C2D0F48E4B5}"/>
              </a:ext>
            </a:extLst>
          </p:cNvPr>
          <p:cNvSpPr>
            <a:spLocks noGrp="1"/>
          </p:cNvSpPr>
          <p:nvPr/>
        </p:nvSpPr>
        <p:spPr>
          <a:xfrm>
            <a:off x="6705600" y="1390650"/>
            <a:ext cx="4953000" cy="4610100"/>
          </a:xfrm>
          <a:prstGeom prst="roundRect">
            <a:avLst>
              <a:gd name="adj" fmla="val 2479"/>
            </a:avLst>
          </a:prstGeom>
          <a:solidFill>
            <a:srgbClr val="171816"/>
          </a:solidFill>
          <a:ln w="9525">
            <a:solidFill>
              <a:srgbClr val="D5AE58"/>
            </a:solidFill>
            <a:prstDash val="solid"/>
          </a:ln>
        </p:spPr>
        <p:txBody>
          <a:bodyPr/>
          <a:lstStyle/>
          <a:p>
            <a:endParaRPr lang="en-US"/>
          </a:p>
        </p:txBody>
      </p:sp>
      <p:pic>
        <p:nvPicPr>
          <p:cNvPr id="31" name="Picture 30"/>
          <p:cNvPicPr>
            <a:picLocks noChangeAspect="1"/>
          </p:cNvPicPr>
          <p:nvPr/>
        </p:nvPicPr>
        <p:blipFill>
          <a:blip r:embed="rId4"/>
          <a:stretch/>
        </p:blipFill>
        <p:spPr>
          <a:xfrm>
            <a:off x="7085552" y="1485900"/>
            <a:ext cx="4193095" cy="4419600"/>
          </a:xfrm>
          <a:prstGeom prst="roundRect">
            <a:avLst>
              <a:gd name="adj" fmla="val 1724"/>
            </a:avLst>
          </a:prstGeom>
        </p:spPr>
      </p:pic>
      <p:sp>
        <p:nvSpPr>
          <p:cNvPr id="10" name="Rectangle 9">
            <a:extLst>
              <a:ext uri="{FF2B5EF4-FFF2-40B4-BE49-F238E27FC236}">
                <a16:creationId xmlns:a16="http://schemas.microsoft.com/office/drawing/2014/main" id="{C1B6B959-2FB0-472A-A763-CB79CD47B709}"/>
              </a:ext>
            </a:extLst>
          </p:cNvPr>
          <p:cNvSpPr>
            <a:spLocks noGrp="1"/>
          </p:cNvSpPr>
          <p:nvPr/>
        </p:nvSpPr>
        <p:spPr>
          <a:xfrm>
            <a:off x="6800850" y="5619750"/>
            <a:ext cx="4762500" cy="285750"/>
          </a:xfrm>
          <a:prstGeom prst="rect">
            <a:avLst/>
          </a:prstGeom>
          <a:solidFill>
            <a:srgbClr val="0B0C0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752118D0-4790-4EEA-997D-6448BD9B7C60}"/>
              </a:ext>
            </a:extLst>
          </p:cNvPr>
          <p:cNvSpPr>
            <a:spLocks noGrp="1"/>
          </p:cNvSpPr>
          <p:nvPr/>
        </p:nvSpPr>
        <p:spPr>
          <a:xfrm>
            <a:off x="6896100" y="5686425"/>
            <a:ext cx="457200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Right panel | Tree-Man</a:t>
            </a:r>
          </a:p>
        </p:txBody>
      </p:sp>
      <p:sp>
        <p:nvSpPr>
          <p:cNvPr id="12" name="Rectangle 11">
            <a:extLst>
              <a:ext uri="{FF2B5EF4-FFF2-40B4-BE49-F238E27FC236}">
                <a16:creationId xmlns:a16="http://schemas.microsoft.com/office/drawing/2014/main" id="{C6FE1E37-47BE-493C-A4DE-A6FB22734023}"/>
              </a:ext>
            </a:extLst>
          </p:cNvPr>
          <p:cNvSpPr>
            <a:spLocks noGrp="1"/>
          </p:cNvSpPr>
          <p:nvPr/>
        </p:nvSpPr>
        <p:spPr>
          <a:xfrm>
            <a:off x="552450" y="1619250"/>
            <a:ext cx="4857750" cy="100965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The monster feels real because every impossible part is concrete.</a:t>
            </a:r>
          </a:p>
        </p:txBody>
      </p:sp>
      <p:sp>
        <p:nvSpPr>
          <p:cNvPr id="13" name="Rectangle 12">
            <a:extLst>
              <a:ext uri="{FF2B5EF4-FFF2-40B4-BE49-F238E27FC236}">
                <a16:creationId xmlns:a16="http://schemas.microsoft.com/office/drawing/2014/main" id="{65C5F47C-F5AC-4655-AAE2-AAE5116B852C}"/>
              </a:ext>
            </a:extLst>
          </p:cNvPr>
          <p:cNvSpPr>
            <a:spLocks noGrp="1"/>
          </p:cNvSpPr>
          <p:nvPr/>
        </p:nvSpPr>
        <p:spPr>
          <a:xfrm>
            <a:off x="552450" y="2895600"/>
            <a:ext cx="895350" cy="38100"/>
          </a:xfrm>
          <a:prstGeom prst="rect">
            <a:avLst/>
          </a:prstGeom>
          <a:solidFill>
            <a:srgbClr val="D38C86"/>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74F7ACAD-ECE7-4442-B964-F0818ED8EAE2}"/>
              </a:ext>
            </a:extLst>
          </p:cNvPr>
          <p:cNvSpPr>
            <a:spLocks noGrp="1"/>
          </p:cNvSpPr>
          <p:nvPr/>
        </p:nvSpPr>
        <p:spPr>
          <a:xfrm>
            <a:off x="590550" y="3371850"/>
            <a:ext cx="95250" cy="95250"/>
          </a:xfrm>
          <a:prstGeom prst="roundRect">
            <a:avLst>
              <a:gd name="adj" fmla="val 50000"/>
            </a:avLst>
          </a:prstGeom>
          <a:solidFill>
            <a:srgbClr val="D38C86"/>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8C5D7A90-D31C-4714-9AD0-997881BC78B0}"/>
              </a:ext>
            </a:extLst>
          </p:cNvPr>
          <p:cNvSpPr>
            <a:spLocks noGrp="1"/>
          </p:cNvSpPr>
          <p:nvPr/>
        </p:nvSpPr>
        <p:spPr>
          <a:xfrm>
            <a:off x="838200" y="3295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Face, dead wood, shell, tavern, boats, and landscape merge</a:t>
            </a:r>
          </a:p>
        </p:txBody>
      </p:sp>
      <p:sp>
        <p:nvSpPr>
          <p:cNvPr id="16" name="Rectangle: Rounded Corners 15">
            <a:extLst>
              <a:ext uri="{FF2B5EF4-FFF2-40B4-BE49-F238E27FC236}">
                <a16:creationId xmlns:a16="http://schemas.microsoft.com/office/drawing/2014/main" id="{C67831CF-69F9-4D91-A488-BFB92C0DF9BD}"/>
              </a:ext>
            </a:extLst>
          </p:cNvPr>
          <p:cNvSpPr>
            <a:spLocks noGrp="1"/>
          </p:cNvSpPr>
          <p:nvPr/>
        </p:nvSpPr>
        <p:spPr>
          <a:xfrm>
            <a:off x="590550" y="3943350"/>
            <a:ext cx="95250" cy="95250"/>
          </a:xfrm>
          <a:prstGeom prst="roundRect">
            <a:avLst>
              <a:gd name="adj" fmla="val 50000"/>
            </a:avLst>
          </a:prstGeom>
          <a:solidFill>
            <a:srgbClr val="8FB6C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0BE99507-9679-4ECB-A85B-1D832E2C96AD}"/>
              </a:ext>
            </a:extLst>
          </p:cNvPr>
          <p:cNvSpPr>
            <a:spLocks noGrp="1"/>
          </p:cNvSpPr>
          <p:nvPr/>
        </p:nvSpPr>
        <p:spPr>
          <a:xfrm>
            <a:off x="838200" y="38671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Oil paint makes skin, wood, ice, and metal tactile</a:t>
            </a:r>
          </a:p>
        </p:txBody>
      </p:sp>
      <p:sp>
        <p:nvSpPr>
          <p:cNvPr id="18" name="Rectangle: Rounded Corners 17">
            <a:extLst>
              <a:ext uri="{FF2B5EF4-FFF2-40B4-BE49-F238E27FC236}">
                <a16:creationId xmlns:a16="http://schemas.microsoft.com/office/drawing/2014/main" id="{ADC494DA-DCB1-4D7E-89B1-A34E379C3D05}"/>
              </a:ext>
            </a:extLst>
          </p:cNvPr>
          <p:cNvSpPr>
            <a:spLocks noGrp="1"/>
          </p:cNvSpPr>
          <p:nvPr/>
        </p:nvSpPr>
        <p:spPr>
          <a:xfrm>
            <a:off x="590550" y="4514850"/>
            <a:ext cx="95250" cy="95250"/>
          </a:xfrm>
          <a:prstGeom prst="roundRect">
            <a:avLst>
              <a:gd name="adj" fmla="val 50000"/>
            </a:avLst>
          </a:prstGeom>
          <a:solidFill>
            <a:srgbClr val="D38C8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C7F2C1C2-6EA6-47D6-BB2E-B7F7C814C5FB}"/>
              </a:ext>
            </a:extLst>
          </p:cNvPr>
          <p:cNvSpPr>
            <a:spLocks noGrp="1"/>
          </p:cNvSpPr>
          <p:nvPr/>
        </p:nvSpPr>
        <p:spPr>
          <a:xfrm>
            <a:off x="838200" y="443865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face is not a confirmed Bosch self-portrait</a:t>
            </a:r>
          </a:p>
        </p:txBody>
      </p:sp>
      <p:sp>
        <p:nvSpPr>
          <p:cNvPr id="20" name="Rectangle 19">
            <a:extLst>
              <a:ext uri="{FF2B5EF4-FFF2-40B4-BE49-F238E27FC236}">
                <a16:creationId xmlns:a16="http://schemas.microsoft.com/office/drawing/2014/main" id="{67D6D4A4-AA71-4375-8E5E-937323BB8329}"/>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3F324751-6966-4A26-90C3-A33D068E94B6}"/>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The monster feels real because every impossible part is concrete.</a:t>
            </a:r>
          </a:p>
        </p:txBody>
      </p:sp>
      <p:sp>
        <p:nvSpPr>
          <p:cNvPr id="22" name="Rectangle 21">
            <a:extLst>
              <a:ext uri="{FF2B5EF4-FFF2-40B4-BE49-F238E27FC236}">
                <a16:creationId xmlns:a16="http://schemas.microsoft.com/office/drawing/2014/main" id="{5D29A0CA-0F9F-4071-9332-C702B25D3195}"/>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136780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B0D1DD4-6B32-461E-BF28-E54CAC98885B}"/>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081406E8-CA91-42BE-996E-5F02C6643652}"/>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15 | SWALLOWING AND EXCRETION</a:t>
            </a:r>
          </a:p>
        </p:txBody>
      </p:sp>
      <p:sp>
        <p:nvSpPr>
          <p:cNvPr id="4" name="Rectangle 3">
            <a:extLst>
              <a:ext uri="{FF2B5EF4-FFF2-40B4-BE49-F238E27FC236}">
                <a16:creationId xmlns:a16="http://schemas.microsoft.com/office/drawing/2014/main" id="{98B40FB0-1315-43AE-92C6-394C5CF5F07B}"/>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The Bird-Headed Monster and the Nun-Pig</a:t>
            </a:r>
          </a:p>
        </p:txBody>
      </p:sp>
      <p:sp>
        <p:nvSpPr>
          <p:cNvPr id="5" name="Rectangle 4">
            <a:extLst>
              <a:ext uri="{FF2B5EF4-FFF2-40B4-BE49-F238E27FC236}">
                <a16:creationId xmlns:a16="http://schemas.microsoft.com/office/drawing/2014/main" id="{B5971CDE-4DB0-4BDA-871B-A6C5FC535FB7}"/>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16</a:t>
            </a:r>
          </a:p>
        </p:txBody>
      </p:sp>
      <p:sp>
        <p:nvSpPr>
          <p:cNvPr id="6" name="Rectangle 5">
            <a:extLst>
              <a:ext uri="{FF2B5EF4-FFF2-40B4-BE49-F238E27FC236}">
                <a16:creationId xmlns:a16="http://schemas.microsoft.com/office/drawing/2014/main" id="{B9A12C29-DBF4-49D0-9FCF-F0D1DFBC9BEA}"/>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E37DEEC7-BC55-4BB0-940E-B852725012D9}"/>
              </a:ext>
            </a:extLst>
          </p:cNvPr>
          <p:cNvSpPr>
            <a:spLocks noGrp="1"/>
          </p:cNvSpPr>
          <p:nvPr/>
        </p:nvSpPr>
        <p:spPr>
          <a:xfrm>
            <a:off x="6381750" y="1409700"/>
            <a:ext cx="5314950" cy="4533900"/>
          </a:xfrm>
          <a:prstGeom prst="roundRect">
            <a:avLst>
              <a:gd name="adj" fmla="val 2521"/>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CC768554-824B-4C79-A832-7F6939A31060}"/>
              </a:ext>
            </a:extLst>
          </p:cNvPr>
          <p:cNvSpPr>
            <a:spLocks noGrp="1"/>
          </p:cNvSpPr>
          <p:nvPr/>
        </p:nvSpPr>
        <p:spPr>
          <a:xfrm>
            <a:off x="514350" y="1447800"/>
            <a:ext cx="2686050" cy="4476750"/>
          </a:xfrm>
          <a:prstGeom prst="roundRect">
            <a:avLst>
              <a:gd name="adj" fmla="val 4255"/>
            </a:avLst>
          </a:prstGeom>
          <a:solidFill>
            <a:srgbClr val="171816"/>
          </a:solidFill>
          <a:ln w="9525">
            <a:solidFill>
              <a:srgbClr val="D5AE58"/>
            </a:solidFill>
            <a:prstDash val="solid"/>
          </a:ln>
        </p:spPr>
        <p:txBody>
          <a:bodyPr/>
          <a:lstStyle/>
          <a:p>
            <a:endParaRPr lang="en-US"/>
          </a:p>
        </p:txBody>
      </p:sp>
      <p:pic>
        <p:nvPicPr>
          <p:cNvPr id="33" name="Picture 32"/>
          <p:cNvPicPr>
            <a:picLocks noChangeAspect="1"/>
          </p:cNvPicPr>
          <p:nvPr/>
        </p:nvPicPr>
        <p:blipFill>
          <a:blip r:embed="rId4"/>
          <a:srcRect l="13324" r="13324"/>
          <a:stretch>
            <a:fillRect/>
          </a:stretch>
        </p:blipFill>
        <p:spPr>
          <a:xfrm>
            <a:off x="600075" y="1533525"/>
            <a:ext cx="2514600" cy="4305300"/>
          </a:xfrm>
          <a:prstGeom prst="roundRect">
            <a:avLst>
              <a:gd name="adj" fmla="val 3030"/>
            </a:avLst>
          </a:prstGeom>
        </p:spPr>
      </p:pic>
      <p:sp>
        <p:nvSpPr>
          <p:cNvPr id="10" name="Rectangle: Rounded Corners 9">
            <a:extLst>
              <a:ext uri="{FF2B5EF4-FFF2-40B4-BE49-F238E27FC236}">
                <a16:creationId xmlns:a16="http://schemas.microsoft.com/office/drawing/2014/main" id="{B6758A94-F145-4058-A4F3-0FC3D60FF292}"/>
              </a:ext>
            </a:extLst>
          </p:cNvPr>
          <p:cNvSpPr>
            <a:spLocks noGrp="1"/>
          </p:cNvSpPr>
          <p:nvPr/>
        </p:nvSpPr>
        <p:spPr>
          <a:xfrm>
            <a:off x="3371850" y="1447800"/>
            <a:ext cx="2686050" cy="4476750"/>
          </a:xfrm>
          <a:prstGeom prst="roundRect">
            <a:avLst>
              <a:gd name="adj" fmla="val 4255"/>
            </a:avLst>
          </a:prstGeom>
          <a:solidFill>
            <a:srgbClr val="171816"/>
          </a:solidFill>
          <a:ln w="9525">
            <a:solidFill>
              <a:srgbClr val="8FB6C2"/>
            </a:solidFill>
            <a:prstDash val="solid"/>
          </a:ln>
        </p:spPr>
        <p:txBody>
          <a:bodyPr/>
          <a:lstStyle/>
          <a:p>
            <a:endParaRPr lang="en-US"/>
          </a:p>
        </p:txBody>
      </p:sp>
      <p:pic>
        <p:nvPicPr>
          <p:cNvPr id="35" name="Picture 34"/>
          <p:cNvPicPr>
            <a:picLocks noChangeAspect="1"/>
          </p:cNvPicPr>
          <p:nvPr/>
        </p:nvPicPr>
        <p:blipFill>
          <a:blip r:embed="rId5"/>
          <a:srcRect l="10536" r="10536"/>
          <a:stretch>
            <a:fillRect/>
          </a:stretch>
        </p:blipFill>
        <p:spPr>
          <a:xfrm>
            <a:off x="3457575" y="1533525"/>
            <a:ext cx="2514600" cy="4305300"/>
          </a:xfrm>
          <a:prstGeom prst="roundRect">
            <a:avLst>
              <a:gd name="adj" fmla="val 3030"/>
            </a:avLst>
          </a:prstGeom>
        </p:spPr>
      </p:pic>
      <p:sp>
        <p:nvSpPr>
          <p:cNvPr id="12" name="Rectangle 11">
            <a:extLst>
              <a:ext uri="{FF2B5EF4-FFF2-40B4-BE49-F238E27FC236}">
                <a16:creationId xmlns:a16="http://schemas.microsoft.com/office/drawing/2014/main" id="{104DC4E9-51D8-47A7-811A-FD32FD908709}"/>
              </a:ext>
            </a:extLst>
          </p:cNvPr>
          <p:cNvSpPr>
            <a:spLocks noGrp="1"/>
          </p:cNvSpPr>
          <p:nvPr/>
        </p:nvSpPr>
        <p:spPr>
          <a:xfrm>
            <a:off x="514350" y="5638800"/>
            <a:ext cx="5543550" cy="285750"/>
          </a:xfrm>
          <a:prstGeom prst="rect">
            <a:avLst/>
          </a:prstGeom>
          <a:solidFill>
            <a:srgbClr val="0B0C0C"/>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7047E751-25F2-4796-9EDA-1B14A9DC45A6}"/>
              </a:ext>
            </a:extLst>
          </p:cNvPr>
          <p:cNvSpPr>
            <a:spLocks noGrp="1"/>
          </p:cNvSpPr>
          <p:nvPr/>
        </p:nvSpPr>
        <p:spPr>
          <a:xfrm>
            <a:off x="609600" y="5705475"/>
            <a:ext cx="5353050" cy="171450"/>
          </a:xfrm>
          <a:prstGeom prst="rect">
            <a:avLst/>
          </a:prstGeom>
          <a:noFill/>
          <a:ln w="0">
            <a:noFill/>
            <a:prstDash val="solid"/>
          </a:ln>
        </p:spPr>
        <p:txBody>
          <a:bodyPr/>
          <a:lstStyle/>
          <a:p>
            <a:pPr algn="ctr">
              <a:defRPr sz="675" b="0" i="0">
                <a:solidFill>
                  <a:srgbClr val="D7E4DB"/>
                </a:solidFill>
                <a:latin typeface="DejaVu Sans"/>
                <a:ea typeface="DejaVu Sans"/>
                <a:cs typeface="DejaVu Sans"/>
              </a:defRPr>
            </a:pPr>
            <a:r>
              <a:rPr sz="675" b="0" i="0">
                <a:solidFill>
                  <a:srgbClr val="D7E4DB"/>
                </a:solidFill>
                <a:latin typeface="DejaVu Sans"/>
                <a:ea typeface="DejaVu Sans"/>
                <a:cs typeface="DejaVu Sans"/>
              </a:rPr>
              <a:t>Right panel | bird-headed monster + nun-pig and contract</a:t>
            </a:r>
          </a:p>
        </p:txBody>
      </p:sp>
      <p:sp>
        <p:nvSpPr>
          <p:cNvPr id="14" name="Rectangle 13">
            <a:extLst>
              <a:ext uri="{FF2B5EF4-FFF2-40B4-BE49-F238E27FC236}">
                <a16:creationId xmlns:a16="http://schemas.microsoft.com/office/drawing/2014/main" id="{C67CB267-E11D-479F-8A01-B9758DC40322}"/>
              </a:ext>
            </a:extLst>
          </p:cNvPr>
          <p:cNvSpPr>
            <a:spLocks noGrp="1"/>
          </p:cNvSpPr>
          <p:nvPr/>
        </p:nvSpPr>
        <p:spPr>
          <a:xfrm>
            <a:off x="6553200" y="1600200"/>
            <a:ext cx="4953000" cy="1066800"/>
          </a:xfrm>
          <a:prstGeom prst="rect">
            <a:avLst/>
          </a:prstGeom>
          <a:noFill/>
          <a:ln w="0">
            <a:noFill/>
            <a:prstDash val="solid"/>
          </a:ln>
        </p:spPr>
        <p:txBody>
          <a:bodyPr/>
          <a:lstStyle/>
          <a:p>
            <a:pPr algn="l">
              <a:defRPr sz="1800" b="1" i="0">
                <a:solidFill>
                  <a:srgbClr val="FFFDF5"/>
                </a:solidFill>
                <a:latin typeface="DejaVu Sans"/>
                <a:ea typeface="DejaVu Sans"/>
                <a:cs typeface="DejaVu Sans"/>
              </a:defRPr>
            </a:pPr>
            <a:r>
              <a:rPr sz="1800" b="1" i="0">
                <a:solidFill>
                  <a:srgbClr val="FFFDF5"/>
                </a:solidFill>
                <a:latin typeface="DejaVu Sans"/>
                <a:ea typeface="DejaVu Sans"/>
                <a:cs typeface="DejaVu Sans"/>
              </a:rPr>
              <a:t>Power, appetite, law, and religious costume fuse into absurd machines.</a:t>
            </a:r>
          </a:p>
        </p:txBody>
      </p:sp>
      <p:sp>
        <p:nvSpPr>
          <p:cNvPr id="15" name="Rectangle 14">
            <a:extLst>
              <a:ext uri="{FF2B5EF4-FFF2-40B4-BE49-F238E27FC236}">
                <a16:creationId xmlns:a16="http://schemas.microsoft.com/office/drawing/2014/main" id="{C228E0B3-4984-4F54-9012-071F3E7D01B5}"/>
              </a:ext>
            </a:extLst>
          </p:cNvPr>
          <p:cNvSpPr>
            <a:spLocks noGrp="1"/>
          </p:cNvSpPr>
          <p:nvPr/>
        </p:nvSpPr>
        <p:spPr>
          <a:xfrm>
            <a:off x="6553200" y="2914650"/>
            <a:ext cx="895350" cy="38100"/>
          </a:xfrm>
          <a:prstGeom prst="rect">
            <a:avLst/>
          </a:prstGeom>
          <a:solidFill>
            <a:srgbClr val="D38C86"/>
          </a:solidFill>
          <a:ln w="0">
            <a:noFill/>
            <a:prstDash val="solid"/>
          </a:ln>
        </p:spPr>
        <p:txBody>
          <a:bodyPr/>
          <a:lstStyle/>
          <a:p>
            <a:endParaRPr lang="en-US"/>
          </a:p>
        </p:txBody>
      </p:sp>
      <p:sp>
        <p:nvSpPr>
          <p:cNvPr id="16" name="Rectangle: Rounded Corners 15">
            <a:extLst>
              <a:ext uri="{FF2B5EF4-FFF2-40B4-BE49-F238E27FC236}">
                <a16:creationId xmlns:a16="http://schemas.microsoft.com/office/drawing/2014/main" id="{46B3E4CB-8F58-4021-9DF0-56E51EE9D796}"/>
              </a:ext>
            </a:extLst>
          </p:cNvPr>
          <p:cNvSpPr>
            <a:spLocks noGrp="1"/>
          </p:cNvSpPr>
          <p:nvPr/>
        </p:nvSpPr>
        <p:spPr>
          <a:xfrm>
            <a:off x="6591300" y="3390900"/>
            <a:ext cx="95250" cy="95250"/>
          </a:xfrm>
          <a:prstGeom prst="roundRect">
            <a:avLst>
              <a:gd name="adj" fmla="val 50000"/>
            </a:avLst>
          </a:prstGeom>
          <a:solidFill>
            <a:srgbClr val="D38C86"/>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6DB68093-8577-49A9-9F2E-613BF3A2F05A}"/>
              </a:ext>
            </a:extLst>
          </p:cNvPr>
          <p:cNvSpPr>
            <a:spLocks noGrp="1"/>
          </p:cNvSpPr>
          <p:nvPr/>
        </p:nvSpPr>
        <p:spPr>
          <a:xfrm>
            <a:off x="6838950" y="33147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The bird-headed figure swallows and excretes sinners</a:t>
            </a:r>
          </a:p>
        </p:txBody>
      </p:sp>
      <p:sp>
        <p:nvSpPr>
          <p:cNvPr id="18" name="Rectangle: Rounded Corners 17">
            <a:extLst>
              <a:ext uri="{FF2B5EF4-FFF2-40B4-BE49-F238E27FC236}">
                <a16:creationId xmlns:a16="http://schemas.microsoft.com/office/drawing/2014/main" id="{D22C974B-1FB0-457C-8CA9-F04216F73A50}"/>
              </a:ext>
            </a:extLst>
          </p:cNvPr>
          <p:cNvSpPr>
            <a:spLocks noGrp="1"/>
          </p:cNvSpPr>
          <p:nvPr/>
        </p:nvSpPr>
        <p:spPr>
          <a:xfrm>
            <a:off x="6591300" y="3962400"/>
            <a:ext cx="95250" cy="95250"/>
          </a:xfrm>
          <a:prstGeom prst="roundRect">
            <a:avLst>
              <a:gd name="adj" fmla="val 50000"/>
            </a:avLst>
          </a:prstGeom>
          <a:solidFill>
            <a:srgbClr val="8FB6C2"/>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36861D73-7F3B-4FEF-9194-46883665ACA3}"/>
              </a:ext>
            </a:extLst>
          </p:cNvPr>
          <p:cNvSpPr>
            <a:spLocks noGrp="1"/>
          </p:cNvSpPr>
          <p:nvPr/>
        </p:nvSpPr>
        <p:spPr>
          <a:xfrm>
            <a:off x="6838950" y="38862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A nun-pig pressures a man to sign a document</a:t>
            </a:r>
          </a:p>
        </p:txBody>
      </p:sp>
      <p:sp>
        <p:nvSpPr>
          <p:cNvPr id="20" name="Rectangle: Rounded Corners 19">
            <a:extLst>
              <a:ext uri="{FF2B5EF4-FFF2-40B4-BE49-F238E27FC236}">
                <a16:creationId xmlns:a16="http://schemas.microsoft.com/office/drawing/2014/main" id="{E7A1CA9C-B898-4313-B80D-05EF592C2B80}"/>
              </a:ext>
            </a:extLst>
          </p:cNvPr>
          <p:cNvSpPr>
            <a:spLocks noGrp="1"/>
          </p:cNvSpPr>
          <p:nvPr/>
        </p:nvSpPr>
        <p:spPr>
          <a:xfrm>
            <a:off x="6591300" y="4533900"/>
            <a:ext cx="95250" cy="95250"/>
          </a:xfrm>
          <a:prstGeom prst="roundRect">
            <a:avLst>
              <a:gd name="adj" fmla="val 50000"/>
            </a:avLst>
          </a:prstGeom>
          <a:solidFill>
            <a:srgbClr val="D38C86"/>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B603A128-1C30-4AC1-AB83-7EEE3F63D1D1}"/>
              </a:ext>
            </a:extLst>
          </p:cNvPr>
          <p:cNvSpPr>
            <a:spLocks noGrp="1"/>
          </p:cNvSpPr>
          <p:nvPr/>
        </p:nvSpPr>
        <p:spPr>
          <a:xfrm>
            <a:off x="6838950" y="4457700"/>
            <a:ext cx="4514850" cy="400050"/>
          </a:xfrm>
          <a:prstGeom prst="rect">
            <a:avLst/>
          </a:prstGeom>
          <a:noFill/>
          <a:ln w="0">
            <a:noFill/>
            <a:prstDash val="solid"/>
          </a:ln>
        </p:spPr>
        <p:txBody>
          <a:bodyPr/>
          <a:lstStyle/>
          <a:p>
            <a:pPr algn="l">
              <a:defRPr sz="1163" b="0" i="0">
                <a:solidFill>
                  <a:srgbClr val="C9C3AE"/>
                </a:solidFill>
                <a:latin typeface="DejaVu Sans"/>
                <a:ea typeface="DejaVu Sans"/>
                <a:cs typeface="DejaVu Sans"/>
              </a:defRPr>
            </a:pPr>
            <a:r>
              <a:rPr sz="1163" b="0" i="0">
                <a:solidFill>
                  <a:srgbClr val="C9C3AE"/>
                </a:solidFill>
                <a:latin typeface="DejaVu Sans"/>
                <a:ea typeface="DejaVu Sans"/>
                <a:cs typeface="DejaVu Sans"/>
              </a:rPr>
              <a:t>Animals repeatedly reverse their relationship to humans</a:t>
            </a:r>
          </a:p>
        </p:txBody>
      </p:sp>
      <p:sp>
        <p:nvSpPr>
          <p:cNvPr id="22" name="Rectangle 21">
            <a:extLst>
              <a:ext uri="{FF2B5EF4-FFF2-40B4-BE49-F238E27FC236}">
                <a16:creationId xmlns:a16="http://schemas.microsoft.com/office/drawing/2014/main" id="{97069B0D-D375-4B7A-9B98-2054F6264552}"/>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3474635A-7C8B-4D5C-A510-74C8A54D2846}"/>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Power, appetite, law, and religious costume fuse into absurd machines.</a:t>
            </a:r>
          </a:p>
        </p:txBody>
      </p:sp>
      <p:sp>
        <p:nvSpPr>
          <p:cNvPr id="24" name="Rectangle 23">
            <a:extLst>
              <a:ext uri="{FF2B5EF4-FFF2-40B4-BE49-F238E27FC236}">
                <a16:creationId xmlns:a16="http://schemas.microsoft.com/office/drawing/2014/main" id="{6268673B-9768-41BC-80DB-9A9628E231A6}"/>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1848680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B8C9DEE-CE9F-4C16-AE93-307AB728233D}"/>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9CA860C4-D9F5-4C38-B93E-6511BC269B0B}"/>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16 | A MORAL MACHINE WITHOUT ONE ANSWER</a:t>
            </a:r>
          </a:p>
        </p:txBody>
      </p:sp>
      <p:sp>
        <p:nvSpPr>
          <p:cNvPr id="4" name="Rectangle 3">
            <a:extLst>
              <a:ext uri="{FF2B5EF4-FFF2-40B4-BE49-F238E27FC236}">
                <a16:creationId xmlns:a16="http://schemas.microsoft.com/office/drawing/2014/main" id="{35B074A6-E472-4B76-875F-2923D7308353}"/>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Is the Central Garden Paradise—or a Trap?</a:t>
            </a:r>
          </a:p>
        </p:txBody>
      </p:sp>
      <p:sp>
        <p:nvSpPr>
          <p:cNvPr id="5" name="Rectangle 4">
            <a:extLst>
              <a:ext uri="{FF2B5EF4-FFF2-40B4-BE49-F238E27FC236}">
                <a16:creationId xmlns:a16="http://schemas.microsoft.com/office/drawing/2014/main" id="{72C8C84E-DD07-40AC-9B22-81A33769A48F}"/>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17</a:t>
            </a:r>
          </a:p>
        </p:txBody>
      </p:sp>
      <p:sp>
        <p:nvSpPr>
          <p:cNvPr id="6" name="Rectangle 5">
            <a:extLst>
              <a:ext uri="{FF2B5EF4-FFF2-40B4-BE49-F238E27FC236}">
                <a16:creationId xmlns:a16="http://schemas.microsoft.com/office/drawing/2014/main" id="{AB754938-B05B-4D86-BF36-848639DB5DBD}"/>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3114D4BF-ED0D-4016-84C2-68EF6D97EF61}"/>
              </a:ext>
            </a:extLst>
          </p:cNvPr>
          <p:cNvSpPr>
            <a:spLocks noGrp="1"/>
          </p:cNvSpPr>
          <p:nvPr/>
        </p:nvSpPr>
        <p:spPr>
          <a:xfrm>
            <a:off x="361950" y="1390650"/>
            <a:ext cx="11468100" cy="4629150"/>
          </a:xfrm>
          <a:prstGeom prst="roundRect">
            <a:avLst>
              <a:gd name="adj" fmla="val 2469"/>
            </a:avLst>
          </a:prstGeom>
          <a:solidFill>
            <a:srgbClr val="0B0C0C"/>
          </a:solidFill>
          <a:ln w="9525">
            <a:solidFill>
              <a:srgbClr val="2A211B"/>
            </a:solidFill>
            <a:prstDash val="solid"/>
          </a:ln>
        </p:spPr>
        <p:txBody>
          <a:bodyPr/>
          <a:lstStyle/>
          <a:p>
            <a:endParaRPr lang="en-US"/>
          </a:p>
        </p:txBody>
      </p:sp>
      <p:sp>
        <p:nvSpPr>
          <p:cNvPr id="8" name="Rectangle 7">
            <a:extLst>
              <a:ext uri="{FF2B5EF4-FFF2-40B4-BE49-F238E27FC236}">
                <a16:creationId xmlns:a16="http://schemas.microsoft.com/office/drawing/2014/main" id="{F9EA94BE-6834-4FF7-8BC6-7C58F247D2D1}"/>
              </a:ext>
            </a:extLst>
          </p:cNvPr>
          <p:cNvSpPr>
            <a:spLocks noGrp="1"/>
          </p:cNvSpPr>
          <p:nvPr/>
        </p:nvSpPr>
        <p:spPr>
          <a:xfrm>
            <a:off x="1047750" y="1524000"/>
            <a:ext cx="10096500" cy="685800"/>
          </a:xfrm>
          <a:prstGeom prst="rect">
            <a:avLst/>
          </a:prstGeom>
          <a:noFill/>
          <a:ln w="0">
            <a:noFill/>
            <a:prstDash val="solid"/>
          </a:ln>
        </p:spPr>
        <p:txBody>
          <a:bodyPr/>
          <a:lstStyle/>
          <a:p>
            <a:pPr algn="ctr">
              <a:defRPr sz="2025" b="1" i="0">
                <a:solidFill>
                  <a:srgbClr val="FFFDF5"/>
                </a:solidFill>
                <a:latin typeface="DejaVu Sans"/>
                <a:ea typeface="DejaVu Sans"/>
                <a:cs typeface="DejaVu Sans"/>
              </a:defRPr>
            </a:pPr>
            <a:r>
              <a:rPr sz="2025" b="1" i="0">
                <a:solidFill>
                  <a:srgbClr val="FFFDF5"/>
                </a:solidFill>
                <a:latin typeface="DejaVu Sans"/>
                <a:ea typeface="DejaVu Sans"/>
                <a:cs typeface="DejaVu Sans"/>
              </a:rPr>
              <a:t>Uncertainty is not a failure of scholarship; it is part of the viewer's position.</a:t>
            </a:r>
          </a:p>
        </p:txBody>
      </p:sp>
      <p:sp>
        <p:nvSpPr>
          <p:cNvPr id="9" name="Rectangle: Rounded Corners 8">
            <a:extLst>
              <a:ext uri="{FF2B5EF4-FFF2-40B4-BE49-F238E27FC236}">
                <a16:creationId xmlns:a16="http://schemas.microsoft.com/office/drawing/2014/main" id="{293D45A1-F147-463E-A653-5380BDD1C599}"/>
              </a:ext>
            </a:extLst>
          </p:cNvPr>
          <p:cNvSpPr>
            <a:spLocks noGrp="1"/>
          </p:cNvSpPr>
          <p:nvPr/>
        </p:nvSpPr>
        <p:spPr>
          <a:xfrm>
            <a:off x="609600" y="2724150"/>
            <a:ext cx="3429000" cy="2190750"/>
          </a:xfrm>
          <a:prstGeom prst="roundRect">
            <a:avLst>
              <a:gd name="adj" fmla="val 5217"/>
            </a:avLst>
          </a:prstGeom>
          <a:solidFill>
            <a:srgbClr val="2A211B"/>
          </a:solidFill>
          <a:ln w="9525">
            <a:solidFill>
              <a:srgbClr val="D5AE58"/>
            </a:solidFill>
            <a:prstDash val="solid"/>
          </a:ln>
        </p:spPr>
        <p:txBody>
          <a:bodyPr/>
          <a:lstStyle/>
          <a:p>
            <a:endParaRPr lang="en-US"/>
          </a:p>
        </p:txBody>
      </p:sp>
      <p:sp>
        <p:nvSpPr>
          <p:cNvPr id="10" name="Rectangle 9">
            <a:extLst>
              <a:ext uri="{FF2B5EF4-FFF2-40B4-BE49-F238E27FC236}">
                <a16:creationId xmlns:a16="http://schemas.microsoft.com/office/drawing/2014/main" id="{F0A7BE89-741F-4663-8137-D5164BF166E9}"/>
              </a:ext>
            </a:extLst>
          </p:cNvPr>
          <p:cNvSpPr>
            <a:spLocks noGrp="1"/>
          </p:cNvSpPr>
          <p:nvPr/>
        </p:nvSpPr>
        <p:spPr>
          <a:xfrm>
            <a:off x="838200" y="3028950"/>
            <a:ext cx="2971800" cy="342900"/>
          </a:xfrm>
          <a:prstGeom prst="rect">
            <a:avLst/>
          </a:prstGeom>
          <a:noFill/>
          <a:ln w="0">
            <a:noFill/>
            <a:prstDash val="solid"/>
          </a:ln>
        </p:spPr>
        <p:txBody>
          <a:bodyPr/>
          <a:lstStyle/>
          <a:p>
            <a:pPr algn="ctr">
              <a:defRPr sz="1500" b="1" i="0">
                <a:solidFill>
                  <a:srgbClr val="D5AE58"/>
                </a:solidFill>
                <a:latin typeface="DejaVu Sans"/>
                <a:ea typeface="DejaVu Sans"/>
                <a:cs typeface="DejaVu Sans"/>
              </a:defRPr>
            </a:pPr>
            <a:r>
              <a:rPr sz="1500" b="1" i="0">
                <a:solidFill>
                  <a:srgbClr val="D5AE58"/>
                </a:solidFill>
                <a:latin typeface="DejaVu Sans"/>
                <a:ea typeface="DejaVu Sans"/>
                <a:cs typeface="DejaVu Sans"/>
              </a:rPr>
              <a:t>MORAL WARNING</a:t>
            </a:r>
          </a:p>
        </p:txBody>
      </p:sp>
      <p:sp>
        <p:nvSpPr>
          <p:cNvPr id="11" name="Rectangle 10">
            <a:extLst>
              <a:ext uri="{FF2B5EF4-FFF2-40B4-BE49-F238E27FC236}">
                <a16:creationId xmlns:a16="http://schemas.microsoft.com/office/drawing/2014/main" id="{5D596FCC-79D5-4C8D-9DE8-6DAD82447E26}"/>
              </a:ext>
            </a:extLst>
          </p:cNvPr>
          <p:cNvSpPr>
            <a:spLocks noGrp="1"/>
          </p:cNvSpPr>
          <p:nvPr/>
        </p:nvSpPr>
        <p:spPr>
          <a:xfrm>
            <a:off x="914400" y="3676650"/>
            <a:ext cx="2819400" cy="762000"/>
          </a:xfrm>
          <a:prstGeom prst="rect">
            <a:avLst/>
          </a:prstGeom>
          <a:noFill/>
          <a:ln w="0">
            <a:noFill/>
            <a:prstDash val="solid"/>
          </a:ln>
        </p:spPr>
        <p:txBody>
          <a:bodyPr/>
          <a:lstStyle/>
          <a:p>
            <a:pPr algn="ctr">
              <a:defRPr sz="1200" b="0" i="0">
                <a:solidFill>
                  <a:srgbClr val="FFFDF5"/>
                </a:solidFill>
                <a:latin typeface="DejaVu Sans"/>
                <a:ea typeface="DejaVu Sans"/>
                <a:cs typeface="DejaVu Sans"/>
              </a:defRPr>
            </a:pPr>
            <a:r>
              <a:rPr sz="1200" b="0" i="0">
                <a:solidFill>
                  <a:srgbClr val="FFFDF5"/>
                </a:solidFill>
                <a:latin typeface="DejaVu Sans"/>
                <a:ea typeface="DejaVu Sans"/>
                <a:cs typeface="DejaVu Sans"/>
              </a:rPr>
              <a:t>Moral warning | sensual excess leads toward Hell</a:t>
            </a:r>
          </a:p>
        </p:txBody>
      </p:sp>
      <p:sp>
        <p:nvSpPr>
          <p:cNvPr id="12" name="Rectangle: Rounded Corners 11">
            <a:extLst>
              <a:ext uri="{FF2B5EF4-FFF2-40B4-BE49-F238E27FC236}">
                <a16:creationId xmlns:a16="http://schemas.microsoft.com/office/drawing/2014/main" id="{D203CEE4-5AE0-4BEF-B5CC-9C3FEF91CD6C}"/>
              </a:ext>
            </a:extLst>
          </p:cNvPr>
          <p:cNvSpPr>
            <a:spLocks noGrp="1"/>
          </p:cNvSpPr>
          <p:nvPr/>
        </p:nvSpPr>
        <p:spPr>
          <a:xfrm>
            <a:off x="4457700" y="2724150"/>
            <a:ext cx="3429000" cy="2190750"/>
          </a:xfrm>
          <a:prstGeom prst="roundRect">
            <a:avLst>
              <a:gd name="adj" fmla="val 5217"/>
            </a:avLst>
          </a:prstGeom>
          <a:solidFill>
            <a:srgbClr val="59633B"/>
          </a:solidFill>
          <a:ln w="9525">
            <a:solidFill>
              <a:srgbClr val="D5AE58"/>
            </a:solidFill>
            <a:prstDash val="solid"/>
          </a:ln>
        </p:spPr>
        <p:txBody>
          <a:bodyPr/>
          <a:lstStyle/>
          <a:p>
            <a:endParaRPr lang="en-US"/>
          </a:p>
        </p:txBody>
      </p:sp>
      <p:sp>
        <p:nvSpPr>
          <p:cNvPr id="13" name="Rectangle 12">
            <a:extLst>
              <a:ext uri="{FF2B5EF4-FFF2-40B4-BE49-F238E27FC236}">
                <a16:creationId xmlns:a16="http://schemas.microsoft.com/office/drawing/2014/main" id="{D3C14ED0-FC40-49C8-AECD-D164821037F6}"/>
              </a:ext>
            </a:extLst>
          </p:cNvPr>
          <p:cNvSpPr>
            <a:spLocks noGrp="1"/>
          </p:cNvSpPr>
          <p:nvPr/>
        </p:nvSpPr>
        <p:spPr>
          <a:xfrm>
            <a:off x="4686300" y="3028950"/>
            <a:ext cx="2971800" cy="342900"/>
          </a:xfrm>
          <a:prstGeom prst="rect">
            <a:avLst/>
          </a:prstGeom>
          <a:noFill/>
          <a:ln w="0">
            <a:noFill/>
            <a:prstDash val="solid"/>
          </a:ln>
        </p:spPr>
        <p:txBody>
          <a:bodyPr/>
          <a:lstStyle/>
          <a:p>
            <a:pPr algn="ctr">
              <a:defRPr sz="1500" b="1" i="0">
                <a:solidFill>
                  <a:srgbClr val="D5AE58"/>
                </a:solidFill>
                <a:latin typeface="DejaVu Sans"/>
                <a:ea typeface="DejaVu Sans"/>
                <a:cs typeface="DejaVu Sans"/>
              </a:defRPr>
            </a:pPr>
            <a:r>
              <a:rPr sz="1500" b="1" i="0">
                <a:solidFill>
                  <a:srgbClr val="D5AE58"/>
                </a:solidFill>
                <a:latin typeface="DejaVu Sans"/>
                <a:ea typeface="DejaVu Sans"/>
                <a:cs typeface="DejaVu Sans"/>
              </a:rPr>
              <a:t>UNFALLEN WORLD</a:t>
            </a:r>
          </a:p>
        </p:txBody>
      </p:sp>
      <p:sp>
        <p:nvSpPr>
          <p:cNvPr id="14" name="Rectangle 13">
            <a:extLst>
              <a:ext uri="{FF2B5EF4-FFF2-40B4-BE49-F238E27FC236}">
                <a16:creationId xmlns:a16="http://schemas.microsoft.com/office/drawing/2014/main" id="{BB0E1917-7F33-40FB-BC1D-C6CAAAF8F87E}"/>
              </a:ext>
            </a:extLst>
          </p:cNvPr>
          <p:cNvSpPr>
            <a:spLocks noGrp="1"/>
          </p:cNvSpPr>
          <p:nvPr/>
        </p:nvSpPr>
        <p:spPr>
          <a:xfrm>
            <a:off x="4762500" y="3676650"/>
            <a:ext cx="2819400" cy="762000"/>
          </a:xfrm>
          <a:prstGeom prst="rect">
            <a:avLst/>
          </a:prstGeom>
          <a:noFill/>
          <a:ln w="0">
            <a:noFill/>
            <a:prstDash val="solid"/>
          </a:ln>
        </p:spPr>
        <p:txBody>
          <a:bodyPr/>
          <a:lstStyle/>
          <a:p>
            <a:pPr algn="ctr">
              <a:defRPr sz="1200" b="0" i="0">
                <a:solidFill>
                  <a:srgbClr val="FFFDF5"/>
                </a:solidFill>
                <a:latin typeface="DejaVu Sans"/>
                <a:ea typeface="DejaVu Sans"/>
                <a:cs typeface="DejaVu Sans"/>
              </a:defRPr>
            </a:pPr>
            <a:r>
              <a:rPr sz="1200" b="0" i="0">
                <a:solidFill>
                  <a:srgbClr val="FFFDF5"/>
                </a:solidFill>
                <a:latin typeface="DejaVu Sans"/>
                <a:ea typeface="DejaVu Sans"/>
                <a:cs typeface="DejaVu Sans"/>
              </a:rPr>
              <a:t>Unfallen or pre-civilized world | no obvious pain or hierarchy</a:t>
            </a:r>
          </a:p>
        </p:txBody>
      </p:sp>
      <p:sp>
        <p:nvSpPr>
          <p:cNvPr id="15" name="Rectangle: Rounded Corners 14">
            <a:extLst>
              <a:ext uri="{FF2B5EF4-FFF2-40B4-BE49-F238E27FC236}">
                <a16:creationId xmlns:a16="http://schemas.microsoft.com/office/drawing/2014/main" id="{37AFEE85-7491-4D78-BCCA-8B6F63123499}"/>
              </a:ext>
            </a:extLst>
          </p:cNvPr>
          <p:cNvSpPr>
            <a:spLocks noGrp="1"/>
          </p:cNvSpPr>
          <p:nvPr/>
        </p:nvSpPr>
        <p:spPr>
          <a:xfrm>
            <a:off x="8305800" y="2724150"/>
            <a:ext cx="3429000" cy="2190750"/>
          </a:xfrm>
          <a:prstGeom prst="roundRect">
            <a:avLst>
              <a:gd name="adj" fmla="val 5217"/>
            </a:avLst>
          </a:prstGeom>
          <a:solidFill>
            <a:srgbClr val="284858"/>
          </a:solidFill>
          <a:ln w="9525">
            <a:solidFill>
              <a:srgbClr val="D5AE58"/>
            </a:solidFill>
            <a:prstDash val="solid"/>
          </a:ln>
        </p:spPr>
        <p:txBody>
          <a:bodyPr/>
          <a:lstStyle/>
          <a:p>
            <a:endParaRPr lang="en-US"/>
          </a:p>
        </p:txBody>
      </p:sp>
      <p:sp>
        <p:nvSpPr>
          <p:cNvPr id="16" name="Rectangle 15">
            <a:extLst>
              <a:ext uri="{FF2B5EF4-FFF2-40B4-BE49-F238E27FC236}">
                <a16:creationId xmlns:a16="http://schemas.microsoft.com/office/drawing/2014/main" id="{5010147D-DEF0-40A6-A193-922EFFA65CA5}"/>
              </a:ext>
            </a:extLst>
          </p:cNvPr>
          <p:cNvSpPr>
            <a:spLocks noGrp="1"/>
          </p:cNvSpPr>
          <p:nvPr/>
        </p:nvSpPr>
        <p:spPr>
          <a:xfrm>
            <a:off x="8534400" y="3028950"/>
            <a:ext cx="2971800" cy="342900"/>
          </a:xfrm>
          <a:prstGeom prst="rect">
            <a:avLst/>
          </a:prstGeom>
          <a:noFill/>
          <a:ln w="0">
            <a:noFill/>
            <a:prstDash val="solid"/>
          </a:ln>
        </p:spPr>
        <p:txBody>
          <a:bodyPr/>
          <a:lstStyle/>
          <a:p>
            <a:pPr algn="ctr">
              <a:defRPr sz="1500" b="1" i="0">
                <a:solidFill>
                  <a:srgbClr val="D5AE58"/>
                </a:solidFill>
                <a:latin typeface="DejaVu Sans"/>
                <a:ea typeface="DejaVu Sans"/>
                <a:cs typeface="DejaVu Sans"/>
              </a:defRPr>
            </a:pPr>
            <a:r>
              <a:rPr sz="1500" b="1" i="0">
                <a:solidFill>
                  <a:srgbClr val="D5AE58"/>
                </a:solidFill>
                <a:latin typeface="DejaVu Sans"/>
                <a:ea typeface="DejaVu Sans"/>
                <a:cs typeface="DejaVu Sans"/>
              </a:rPr>
              <a:t>COURTLY CONVERSATION</a:t>
            </a:r>
          </a:p>
        </p:txBody>
      </p:sp>
      <p:sp>
        <p:nvSpPr>
          <p:cNvPr id="17" name="Rectangle 16">
            <a:extLst>
              <a:ext uri="{FF2B5EF4-FFF2-40B4-BE49-F238E27FC236}">
                <a16:creationId xmlns:a16="http://schemas.microsoft.com/office/drawing/2014/main" id="{4AE5C183-7570-431F-9598-D0EA1E3DA0C1}"/>
              </a:ext>
            </a:extLst>
          </p:cNvPr>
          <p:cNvSpPr>
            <a:spLocks noGrp="1"/>
          </p:cNvSpPr>
          <p:nvPr/>
        </p:nvSpPr>
        <p:spPr>
          <a:xfrm>
            <a:off x="8610600" y="3676650"/>
            <a:ext cx="2819400" cy="762000"/>
          </a:xfrm>
          <a:prstGeom prst="rect">
            <a:avLst/>
          </a:prstGeom>
          <a:noFill/>
          <a:ln w="0">
            <a:noFill/>
            <a:prstDash val="solid"/>
          </a:ln>
        </p:spPr>
        <p:txBody>
          <a:bodyPr/>
          <a:lstStyle/>
          <a:p>
            <a:pPr algn="ctr">
              <a:defRPr sz="1200" b="0" i="0">
                <a:solidFill>
                  <a:srgbClr val="FFFDF5"/>
                </a:solidFill>
                <a:latin typeface="DejaVu Sans"/>
                <a:ea typeface="DejaVu Sans"/>
                <a:cs typeface="DejaVu Sans"/>
              </a:defRPr>
            </a:pPr>
            <a:r>
              <a:rPr sz="1200" b="0" i="0">
                <a:solidFill>
                  <a:srgbClr val="FFFDF5"/>
                </a:solidFill>
                <a:latin typeface="DejaVu Sans"/>
                <a:ea typeface="DejaVu Sans"/>
                <a:cs typeface="DejaVu Sans"/>
              </a:rPr>
              <a:t>Courtly conversation object | entertainment, debate, and warning coexist</a:t>
            </a:r>
          </a:p>
        </p:txBody>
      </p:sp>
      <p:sp>
        <p:nvSpPr>
          <p:cNvPr id="18" name="Rectangle 17">
            <a:extLst>
              <a:ext uri="{FF2B5EF4-FFF2-40B4-BE49-F238E27FC236}">
                <a16:creationId xmlns:a16="http://schemas.microsoft.com/office/drawing/2014/main" id="{6A184A83-A61E-417B-B128-E0A1AB5561D5}"/>
              </a:ext>
            </a:extLst>
          </p:cNvPr>
          <p:cNvSpPr>
            <a:spLocks noGrp="1"/>
          </p:cNvSpPr>
          <p:nvPr/>
        </p:nvSpPr>
        <p:spPr>
          <a:xfrm>
            <a:off x="1714500" y="5295900"/>
            <a:ext cx="8763000" cy="304800"/>
          </a:xfrm>
          <a:prstGeom prst="rect">
            <a:avLst/>
          </a:prstGeom>
          <a:noFill/>
          <a:ln w="0">
            <a:noFill/>
            <a:prstDash val="solid"/>
          </a:ln>
        </p:spPr>
        <p:txBody>
          <a:bodyPr/>
          <a:lstStyle/>
          <a:p>
            <a:pPr algn="ctr">
              <a:defRPr sz="1050" b="0" i="0">
                <a:solidFill>
                  <a:srgbClr val="C9C3AE"/>
                </a:solidFill>
                <a:latin typeface="DejaVu Sans"/>
                <a:ea typeface="DejaVu Sans"/>
                <a:cs typeface="DejaVu Sans"/>
              </a:defRPr>
            </a:pPr>
            <a:r>
              <a:rPr sz="1050" b="0" i="0">
                <a:solidFill>
                  <a:srgbClr val="C9C3AE"/>
                </a:solidFill>
                <a:latin typeface="DejaVu Sans"/>
                <a:ea typeface="DejaVu Sans"/>
                <a:cs typeface="DejaVu Sans"/>
              </a:rPr>
              <a:t>Fraenger's Adamite theory was influential but lacks reliable documentary proof</a:t>
            </a:r>
          </a:p>
        </p:txBody>
      </p:sp>
      <p:sp>
        <p:nvSpPr>
          <p:cNvPr id="19" name="Rectangle 18">
            <a:extLst>
              <a:ext uri="{FF2B5EF4-FFF2-40B4-BE49-F238E27FC236}">
                <a16:creationId xmlns:a16="http://schemas.microsoft.com/office/drawing/2014/main" id="{666D953F-8833-4749-826E-A272FFD883A7}"/>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EF3EB209-7730-4A92-B4D4-0ACBC8FC51E3}"/>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Uncertainty is not a failure of scholarship; it is part of the viewer's position.</a:t>
            </a:r>
          </a:p>
        </p:txBody>
      </p:sp>
      <p:sp>
        <p:nvSpPr>
          <p:cNvPr id="21" name="Rectangle 20">
            <a:extLst>
              <a:ext uri="{FF2B5EF4-FFF2-40B4-BE49-F238E27FC236}">
                <a16:creationId xmlns:a16="http://schemas.microsoft.com/office/drawing/2014/main" id="{4D5E1430-3433-4A3B-A432-1A724ACBC07E}"/>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337519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BA72FB9-993B-4D2F-94D5-DCA19271A700}"/>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015A126D-9AF0-4679-9F05-D0B4F1B2B1C8}"/>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17 | OTHER FANTASTICAL WORLDS</a:t>
            </a:r>
          </a:p>
        </p:txBody>
      </p:sp>
      <p:sp>
        <p:nvSpPr>
          <p:cNvPr id="4" name="Rectangle 3">
            <a:extLst>
              <a:ext uri="{FF2B5EF4-FFF2-40B4-BE49-F238E27FC236}">
                <a16:creationId xmlns:a16="http://schemas.microsoft.com/office/drawing/2014/main" id="{9D0736EC-6E45-4D09-9E33-50FE0CDA7DA2}"/>
              </a:ext>
            </a:extLst>
          </p:cNvPr>
          <p:cNvSpPr>
            <a:spLocks noGrp="1"/>
          </p:cNvSpPr>
          <p:nvPr/>
        </p:nvSpPr>
        <p:spPr>
          <a:xfrm>
            <a:off x="552450" y="523875"/>
            <a:ext cx="10287000" cy="514350"/>
          </a:xfrm>
          <a:prstGeom prst="rect">
            <a:avLst/>
          </a:prstGeom>
          <a:noFill/>
          <a:ln w="0">
            <a:noFill/>
            <a:prstDash val="solid"/>
          </a:ln>
        </p:spPr>
        <p:txBody>
          <a:bodyPr/>
          <a:lstStyle/>
          <a:p>
            <a:pPr algn="l">
              <a:defRPr sz="2625" b="1" i="0">
                <a:solidFill>
                  <a:srgbClr val="FFFDF5"/>
                </a:solidFill>
                <a:latin typeface="DejaVu Sans"/>
                <a:ea typeface="DejaVu Sans"/>
                <a:cs typeface="DejaVu Sans"/>
              </a:defRPr>
            </a:pPr>
            <a:r>
              <a:rPr sz="2625" b="1" i="0">
                <a:solidFill>
                  <a:srgbClr val="FFFDF5"/>
                </a:solidFill>
                <a:latin typeface="DejaVu Sans"/>
                <a:ea typeface="DejaVu Sans"/>
                <a:cs typeface="DejaVu Sans"/>
              </a:rPr>
              <a:t>Fantasy Is Bosch's Recurring Moral Language</a:t>
            </a:r>
          </a:p>
        </p:txBody>
      </p:sp>
      <p:sp>
        <p:nvSpPr>
          <p:cNvPr id="5" name="Rectangle 4">
            <a:extLst>
              <a:ext uri="{FF2B5EF4-FFF2-40B4-BE49-F238E27FC236}">
                <a16:creationId xmlns:a16="http://schemas.microsoft.com/office/drawing/2014/main" id="{C228DA92-BE84-43E8-9841-D3EFE93E3A8E}"/>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18</a:t>
            </a:r>
          </a:p>
        </p:txBody>
      </p:sp>
      <p:sp>
        <p:nvSpPr>
          <p:cNvPr id="6" name="Rectangle 5">
            <a:extLst>
              <a:ext uri="{FF2B5EF4-FFF2-40B4-BE49-F238E27FC236}">
                <a16:creationId xmlns:a16="http://schemas.microsoft.com/office/drawing/2014/main" id="{5880DAF9-B8A3-4B31-A6EB-541F5D0EE38A}"/>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07B766C2-AEB4-45FD-B595-05035FF56BF3}"/>
              </a:ext>
            </a:extLst>
          </p:cNvPr>
          <p:cNvSpPr>
            <a:spLocks noGrp="1"/>
          </p:cNvSpPr>
          <p:nvPr/>
        </p:nvSpPr>
        <p:spPr>
          <a:xfrm>
            <a:off x="361950" y="1352550"/>
            <a:ext cx="11468100" cy="4686300"/>
          </a:xfrm>
          <a:prstGeom prst="roundRect">
            <a:avLst>
              <a:gd name="adj" fmla="val 2439"/>
            </a:avLst>
          </a:prstGeom>
          <a:solidFill>
            <a:srgbClr val="0B0C0C"/>
          </a:solidFill>
          <a:ln w="9525">
            <a:solidFill>
              <a:srgbClr val="2A211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F8DD9E5E-E0ED-4EBB-BD59-6218B0F43464}"/>
              </a:ext>
            </a:extLst>
          </p:cNvPr>
          <p:cNvSpPr>
            <a:spLocks noGrp="1"/>
          </p:cNvSpPr>
          <p:nvPr/>
        </p:nvSpPr>
        <p:spPr>
          <a:xfrm>
            <a:off x="552450" y="1543050"/>
            <a:ext cx="2095500" cy="2952750"/>
          </a:xfrm>
          <a:prstGeom prst="roundRect">
            <a:avLst>
              <a:gd name="adj" fmla="val 5455"/>
            </a:avLst>
          </a:prstGeom>
          <a:solidFill>
            <a:srgbClr val="171816"/>
          </a:solidFill>
          <a:ln w="9525">
            <a:solidFill>
              <a:srgbClr val="D5AE58"/>
            </a:solidFill>
            <a:prstDash val="solid"/>
          </a:ln>
        </p:spPr>
        <p:txBody>
          <a:bodyPr/>
          <a:lstStyle/>
          <a:p>
            <a:endParaRPr lang="en-US"/>
          </a:p>
        </p:txBody>
      </p:sp>
      <p:pic>
        <p:nvPicPr>
          <p:cNvPr id="41" name="Picture 40"/>
          <p:cNvPicPr>
            <a:picLocks noChangeAspect="1"/>
          </p:cNvPicPr>
          <p:nvPr/>
        </p:nvPicPr>
        <p:blipFill>
          <a:blip r:embed="rId4"/>
          <a:stretch/>
        </p:blipFill>
        <p:spPr>
          <a:xfrm>
            <a:off x="628650" y="1844232"/>
            <a:ext cx="1943100" cy="1683636"/>
          </a:xfrm>
          <a:prstGeom prst="roundRect">
            <a:avLst>
              <a:gd name="adj" fmla="val 3922"/>
            </a:avLst>
          </a:prstGeom>
        </p:spPr>
      </p:pic>
      <p:sp>
        <p:nvSpPr>
          <p:cNvPr id="10" name="Rectangle 9">
            <a:extLst>
              <a:ext uri="{FF2B5EF4-FFF2-40B4-BE49-F238E27FC236}">
                <a16:creationId xmlns:a16="http://schemas.microsoft.com/office/drawing/2014/main" id="{DCC1AB24-B05F-4890-A428-F2D1326BE1C7}"/>
              </a:ext>
            </a:extLst>
          </p:cNvPr>
          <p:cNvSpPr>
            <a:spLocks noGrp="1"/>
          </p:cNvSpPr>
          <p:nvPr/>
        </p:nvSpPr>
        <p:spPr>
          <a:xfrm>
            <a:off x="628650" y="3905250"/>
            <a:ext cx="1943100" cy="419100"/>
          </a:xfrm>
          <a:prstGeom prst="rect">
            <a:avLst/>
          </a:prstGeom>
          <a:noFill/>
          <a:ln w="0">
            <a:noFill/>
            <a:prstDash val="solid"/>
          </a:ln>
        </p:spPr>
        <p:txBody>
          <a:bodyPr/>
          <a:lstStyle/>
          <a:p>
            <a:pPr algn="ctr">
              <a:defRPr sz="1125" b="1" i="0">
                <a:solidFill>
                  <a:srgbClr val="FFFDF5"/>
                </a:solidFill>
                <a:latin typeface="DejaVu Sans"/>
                <a:ea typeface="DejaVu Sans"/>
                <a:cs typeface="DejaVu Sans"/>
              </a:defRPr>
            </a:pPr>
            <a:r>
              <a:rPr sz="1125" b="1" i="0" dirty="0">
                <a:solidFill>
                  <a:srgbClr val="FFFDF5"/>
                </a:solidFill>
                <a:latin typeface="DejaVu Sans"/>
                <a:ea typeface="DejaVu Sans"/>
                <a:cs typeface="DejaVu Sans"/>
              </a:rPr>
              <a:t>Seven Deadly Sins</a:t>
            </a:r>
          </a:p>
        </p:txBody>
      </p:sp>
      <p:sp>
        <p:nvSpPr>
          <p:cNvPr id="11" name="Rectangle 10">
            <a:extLst>
              <a:ext uri="{FF2B5EF4-FFF2-40B4-BE49-F238E27FC236}">
                <a16:creationId xmlns:a16="http://schemas.microsoft.com/office/drawing/2014/main" id="{5942E70B-0C1F-443B-89D3-AEF68FAAA6BF}"/>
              </a:ext>
            </a:extLst>
          </p:cNvPr>
          <p:cNvSpPr>
            <a:spLocks noGrp="1"/>
          </p:cNvSpPr>
          <p:nvPr/>
        </p:nvSpPr>
        <p:spPr>
          <a:xfrm>
            <a:off x="628650" y="4520946"/>
            <a:ext cx="1943100" cy="285750"/>
          </a:xfrm>
          <a:prstGeom prst="rect">
            <a:avLst/>
          </a:prstGeom>
          <a:noFill/>
          <a:ln w="0">
            <a:noFill/>
            <a:prstDash val="solid"/>
          </a:ln>
        </p:spPr>
        <p:txBody>
          <a:bodyPr/>
          <a:lstStyle/>
          <a:p>
            <a:pPr algn="ctr">
              <a:defRPr sz="975" b="0" i="0">
                <a:solidFill>
                  <a:srgbClr val="D5AE58"/>
                </a:solidFill>
                <a:latin typeface="DejaVu Sans"/>
                <a:ea typeface="DejaVu Sans"/>
                <a:cs typeface="DejaVu Sans"/>
              </a:defRPr>
            </a:pPr>
            <a:r>
              <a:rPr sz="975" b="0" i="0" dirty="0">
                <a:solidFill>
                  <a:srgbClr val="D5AE58"/>
                </a:solidFill>
                <a:latin typeface="DejaVu Sans"/>
                <a:ea typeface="DejaVu Sans"/>
                <a:cs typeface="DejaVu Sans"/>
              </a:rPr>
              <a:t>Moral surveillance</a:t>
            </a:r>
          </a:p>
        </p:txBody>
      </p:sp>
      <p:sp>
        <p:nvSpPr>
          <p:cNvPr id="12" name="Rectangle: Rounded Corners 11">
            <a:extLst>
              <a:ext uri="{FF2B5EF4-FFF2-40B4-BE49-F238E27FC236}">
                <a16:creationId xmlns:a16="http://schemas.microsoft.com/office/drawing/2014/main" id="{BBB27B65-FC26-42BE-9F42-24BF81F576E8}"/>
              </a:ext>
            </a:extLst>
          </p:cNvPr>
          <p:cNvSpPr>
            <a:spLocks noGrp="1"/>
          </p:cNvSpPr>
          <p:nvPr/>
        </p:nvSpPr>
        <p:spPr>
          <a:xfrm>
            <a:off x="2828925" y="1543050"/>
            <a:ext cx="2095500" cy="2952750"/>
          </a:xfrm>
          <a:prstGeom prst="roundRect">
            <a:avLst>
              <a:gd name="adj" fmla="val 5455"/>
            </a:avLst>
          </a:prstGeom>
          <a:solidFill>
            <a:srgbClr val="171816"/>
          </a:solidFill>
          <a:ln w="9525">
            <a:solidFill>
              <a:srgbClr val="8FB6C2"/>
            </a:solidFill>
            <a:prstDash val="solid"/>
          </a:ln>
        </p:spPr>
        <p:txBody>
          <a:bodyPr/>
          <a:lstStyle/>
          <a:p>
            <a:endParaRPr lang="en-US"/>
          </a:p>
        </p:txBody>
      </p:sp>
      <p:pic>
        <p:nvPicPr>
          <p:cNvPr id="45" name="Picture 44"/>
          <p:cNvPicPr>
            <a:picLocks noChangeAspect="1"/>
          </p:cNvPicPr>
          <p:nvPr/>
        </p:nvPicPr>
        <p:blipFill>
          <a:blip r:embed="rId5"/>
          <a:stretch/>
        </p:blipFill>
        <p:spPr>
          <a:xfrm>
            <a:off x="3295881" y="1619250"/>
            <a:ext cx="1161588" cy="2133600"/>
          </a:xfrm>
          <a:prstGeom prst="roundRect">
            <a:avLst>
              <a:gd name="adj" fmla="val 3922"/>
            </a:avLst>
          </a:prstGeom>
        </p:spPr>
      </p:pic>
      <p:sp>
        <p:nvSpPr>
          <p:cNvPr id="14" name="Rectangle 13">
            <a:extLst>
              <a:ext uri="{FF2B5EF4-FFF2-40B4-BE49-F238E27FC236}">
                <a16:creationId xmlns:a16="http://schemas.microsoft.com/office/drawing/2014/main" id="{24A326E1-A0D3-4CD4-B6EF-03FF4F1CF45F}"/>
              </a:ext>
            </a:extLst>
          </p:cNvPr>
          <p:cNvSpPr>
            <a:spLocks noGrp="1"/>
          </p:cNvSpPr>
          <p:nvPr/>
        </p:nvSpPr>
        <p:spPr>
          <a:xfrm>
            <a:off x="2905125" y="3905250"/>
            <a:ext cx="1943100" cy="419100"/>
          </a:xfrm>
          <a:prstGeom prst="rect">
            <a:avLst/>
          </a:prstGeom>
          <a:noFill/>
          <a:ln w="0">
            <a:noFill/>
            <a:prstDash val="solid"/>
          </a:ln>
        </p:spPr>
        <p:txBody>
          <a:bodyPr/>
          <a:lstStyle/>
          <a:p>
            <a:pPr algn="ctr">
              <a:defRPr sz="1125" b="1" i="0">
                <a:solidFill>
                  <a:srgbClr val="FFFDF5"/>
                </a:solidFill>
                <a:latin typeface="DejaVu Sans"/>
                <a:ea typeface="DejaVu Sans"/>
                <a:cs typeface="DejaVu Sans"/>
              </a:defRPr>
            </a:pPr>
            <a:r>
              <a:rPr sz="1125" b="1" i="0">
                <a:solidFill>
                  <a:srgbClr val="FFFDF5"/>
                </a:solidFill>
                <a:latin typeface="DejaVu Sans"/>
                <a:ea typeface="DejaVu Sans"/>
                <a:cs typeface="DejaVu Sans"/>
              </a:rPr>
              <a:t>Ship of Fools</a:t>
            </a:r>
          </a:p>
        </p:txBody>
      </p:sp>
      <p:sp>
        <p:nvSpPr>
          <p:cNvPr id="15" name="Rectangle 14">
            <a:extLst>
              <a:ext uri="{FF2B5EF4-FFF2-40B4-BE49-F238E27FC236}">
                <a16:creationId xmlns:a16="http://schemas.microsoft.com/office/drawing/2014/main" id="{8406A121-2344-4126-AB57-6AD080747414}"/>
              </a:ext>
            </a:extLst>
          </p:cNvPr>
          <p:cNvSpPr>
            <a:spLocks noGrp="1"/>
          </p:cNvSpPr>
          <p:nvPr/>
        </p:nvSpPr>
        <p:spPr>
          <a:xfrm>
            <a:off x="2905125" y="4520946"/>
            <a:ext cx="1943100" cy="285750"/>
          </a:xfrm>
          <a:prstGeom prst="rect">
            <a:avLst/>
          </a:prstGeom>
          <a:noFill/>
          <a:ln w="0">
            <a:noFill/>
            <a:prstDash val="solid"/>
          </a:ln>
        </p:spPr>
        <p:txBody>
          <a:bodyPr/>
          <a:lstStyle/>
          <a:p>
            <a:pPr algn="ctr">
              <a:defRPr sz="975" b="0" i="0">
                <a:solidFill>
                  <a:srgbClr val="D5AE58"/>
                </a:solidFill>
                <a:latin typeface="DejaVu Sans"/>
                <a:ea typeface="DejaVu Sans"/>
                <a:cs typeface="DejaVu Sans"/>
              </a:defRPr>
            </a:pPr>
            <a:r>
              <a:rPr sz="975" b="0" i="0">
                <a:solidFill>
                  <a:srgbClr val="D5AE58"/>
                </a:solidFill>
                <a:latin typeface="DejaVu Sans"/>
                <a:ea typeface="DejaVu Sans"/>
                <a:cs typeface="DejaVu Sans"/>
              </a:rPr>
              <a:t>Collective folly</a:t>
            </a:r>
          </a:p>
        </p:txBody>
      </p:sp>
      <p:sp>
        <p:nvSpPr>
          <p:cNvPr id="16" name="Rectangle: Rounded Corners 15">
            <a:extLst>
              <a:ext uri="{FF2B5EF4-FFF2-40B4-BE49-F238E27FC236}">
                <a16:creationId xmlns:a16="http://schemas.microsoft.com/office/drawing/2014/main" id="{14A0DB53-3264-4F41-BCD5-18261AED8881}"/>
              </a:ext>
            </a:extLst>
          </p:cNvPr>
          <p:cNvSpPr>
            <a:spLocks noGrp="1"/>
          </p:cNvSpPr>
          <p:nvPr/>
        </p:nvSpPr>
        <p:spPr>
          <a:xfrm>
            <a:off x="5105400" y="1543050"/>
            <a:ext cx="2095500" cy="2952750"/>
          </a:xfrm>
          <a:prstGeom prst="roundRect">
            <a:avLst>
              <a:gd name="adj" fmla="val 5455"/>
            </a:avLst>
          </a:prstGeom>
          <a:solidFill>
            <a:srgbClr val="171816"/>
          </a:solidFill>
          <a:ln w="9525">
            <a:solidFill>
              <a:srgbClr val="D5AE58"/>
            </a:solidFill>
            <a:prstDash val="solid"/>
          </a:ln>
        </p:spPr>
        <p:txBody>
          <a:bodyPr/>
          <a:lstStyle/>
          <a:p>
            <a:endParaRPr lang="en-US"/>
          </a:p>
        </p:txBody>
      </p:sp>
      <p:pic>
        <p:nvPicPr>
          <p:cNvPr id="49" name="Picture 48"/>
          <p:cNvPicPr>
            <a:picLocks noChangeAspect="1"/>
          </p:cNvPicPr>
          <p:nvPr/>
        </p:nvPicPr>
        <p:blipFill>
          <a:blip r:embed="rId6"/>
          <a:stretch/>
        </p:blipFill>
        <p:spPr>
          <a:xfrm>
            <a:off x="5287219" y="1619250"/>
            <a:ext cx="1731862" cy="2133600"/>
          </a:xfrm>
          <a:prstGeom prst="roundRect">
            <a:avLst>
              <a:gd name="adj" fmla="val 3922"/>
            </a:avLst>
          </a:prstGeom>
        </p:spPr>
      </p:pic>
      <p:sp>
        <p:nvSpPr>
          <p:cNvPr id="18" name="Rectangle 17">
            <a:extLst>
              <a:ext uri="{FF2B5EF4-FFF2-40B4-BE49-F238E27FC236}">
                <a16:creationId xmlns:a16="http://schemas.microsoft.com/office/drawing/2014/main" id="{5995E245-F296-47C3-8EDF-11F52FA11674}"/>
              </a:ext>
            </a:extLst>
          </p:cNvPr>
          <p:cNvSpPr>
            <a:spLocks noGrp="1"/>
          </p:cNvSpPr>
          <p:nvPr/>
        </p:nvSpPr>
        <p:spPr>
          <a:xfrm>
            <a:off x="5181600" y="3905250"/>
            <a:ext cx="1943100" cy="419100"/>
          </a:xfrm>
          <a:prstGeom prst="rect">
            <a:avLst/>
          </a:prstGeom>
          <a:noFill/>
          <a:ln w="0">
            <a:noFill/>
            <a:prstDash val="solid"/>
          </a:ln>
        </p:spPr>
        <p:txBody>
          <a:bodyPr/>
          <a:lstStyle/>
          <a:p>
            <a:pPr algn="ctr">
              <a:defRPr sz="1125" b="1" i="0">
                <a:solidFill>
                  <a:srgbClr val="FFFDF5"/>
                </a:solidFill>
                <a:latin typeface="DejaVu Sans"/>
                <a:ea typeface="DejaVu Sans"/>
                <a:cs typeface="DejaVu Sans"/>
              </a:defRPr>
            </a:pPr>
            <a:r>
              <a:rPr sz="1125" b="1" i="0">
                <a:solidFill>
                  <a:srgbClr val="FFFDF5"/>
                </a:solidFill>
                <a:latin typeface="DejaVu Sans"/>
                <a:ea typeface="DejaVu Sans"/>
                <a:cs typeface="DejaVu Sans"/>
              </a:rPr>
              <a:t>Last Judgment</a:t>
            </a:r>
          </a:p>
        </p:txBody>
      </p:sp>
      <p:sp>
        <p:nvSpPr>
          <p:cNvPr id="19" name="Rectangle 18">
            <a:extLst>
              <a:ext uri="{FF2B5EF4-FFF2-40B4-BE49-F238E27FC236}">
                <a16:creationId xmlns:a16="http://schemas.microsoft.com/office/drawing/2014/main" id="{E0461188-9760-4F81-9000-77B70F0EC41B}"/>
              </a:ext>
            </a:extLst>
          </p:cNvPr>
          <p:cNvSpPr>
            <a:spLocks noGrp="1"/>
          </p:cNvSpPr>
          <p:nvPr/>
        </p:nvSpPr>
        <p:spPr>
          <a:xfrm>
            <a:off x="5181600" y="4520946"/>
            <a:ext cx="1943100" cy="285750"/>
          </a:xfrm>
          <a:prstGeom prst="rect">
            <a:avLst/>
          </a:prstGeom>
          <a:noFill/>
          <a:ln w="0">
            <a:noFill/>
            <a:prstDash val="solid"/>
          </a:ln>
        </p:spPr>
        <p:txBody>
          <a:bodyPr/>
          <a:lstStyle/>
          <a:p>
            <a:pPr algn="ctr">
              <a:defRPr sz="975" b="0" i="0">
                <a:solidFill>
                  <a:srgbClr val="D5AE58"/>
                </a:solidFill>
                <a:latin typeface="DejaVu Sans"/>
                <a:ea typeface="DejaVu Sans"/>
                <a:cs typeface="DejaVu Sans"/>
              </a:defRPr>
            </a:pPr>
            <a:r>
              <a:rPr sz="975" b="0" i="0">
                <a:solidFill>
                  <a:srgbClr val="D5AE58"/>
                </a:solidFill>
                <a:latin typeface="DejaVu Sans"/>
                <a:ea typeface="DejaVu Sans"/>
                <a:cs typeface="DejaVu Sans"/>
              </a:rPr>
              <a:t>Cosmic collapse</a:t>
            </a:r>
          </a:p>
        </p:txBody>
      </p:sp>
      <p:sp>
        <p:nvSpPr>
          <p:cNvPr id="20" name="Rectangle: Rounded Corners 19">
            <a:extLst>
              <a:ext uri="{FF2B5EF4-FFF2-40B4-BE49-F238E27FC236}">
                <a16:creationId xmlns:a16="http://schemas.microsoft.com/office/drawing/2014/main" id="{08707B75-0655-400F-92B9-771FBD270CD0}"/>
              </a:ext>
            </a:extLst>
          </p:cNvPr>
          <p:cNvSpPr>
            <a:spLocks noGrp="1"/>
          </p:cNvSpPr>
          <p:nvPr/>
        </p:nvSpPr>
        <p:spPr>
          <a:xfrm>
            <a:off x="7381875" y="1543050"/>
            <a:ext cx="2095500" cy="2952750"/>
          </a:xfrm>
          <a:prstGeom prst="roundRect">
            <a:avLst>
              <a:gd name="adj" fmla="val 5455"/>
            </a:avLst>
          </a:prstGeom>
          <a:solidFill>
            <a:srgbClr val="171816"/>
          </a:solidFill>
          <a:ln w="9525">
            <a:solidFill>
              <a:srgbClr val="8FB6C2"/>
            </a:solidFill>
            <a:prstDash val="solid"/>
          </a:ln>
        </p:spPr>
        <p:txBody>
          <a:bodyPr/>
          <a:lstStyle/>
          <a:p>
            <a:endParaRPr lang="en-US"/>
          </a:p>
        </p:txBody>
      </p:sp>
      <p:pic>
        <p:nvPicPr>
          <p:cNvPr id="53" name="Picture 52"/>
          <p:cNvPicPr>
            <a:picLocks noChangeAspect="1"/>
          </p:cNvPicPr>
          <p:nvPr/>
        </p:nvPicPr>
        <p:blipFill>
          <a:blip r:embed="rId7"/>
          <a:stretch/>
        </p:blipFill>
        <p:spPr>
          <a:xfrm>
            <a:off x="7458075" y="1763510"/>
            <a:ext cx="1943100" cy="1845080"/>
          </a:xfrm>
          <a:prstGeom prst="roundRect">
            <a:avLst>
              <a:gd name="adj" fmla="val 3922"/>
            </a:avLst>
          </a:prstGeom>
        </p:spPr>
      </p:pic>
      <p:sp>
        <p:nvSpPr>
          <p:cNvPr id="22" name="Rectangle 21">
            <a:extLst>
              <a:ext uri="{FF2B5EF4-FFF2-40B4-BE49-F238E27FC236}">
                <a16:creationId xmlns:a16="http://schemas.microsoft.com/office/drawing/2014/main" id="{D65A105D-2546-4309-814F-DA47559B28B7}"/>
              </a:ext>
            </a:extLst>
          </p:cNvPr>
          <p:cNvSpPr>
            <a:spLocks noGrp="1"/>
          </p:cNvSpPr>
          <p:nvPr/>
        </p:nvSpPr>
        <p:spPr>
          <a:xfrm>
            <a:off x="7458075" y="3905250"/>
            <a:ext cx="1943100" cy="419100"/>
          </a:xfrm>
          <a:prstGeom prst="rect">
            <a:avLst/>
          </a:prstGeom>
          <a:noFill/>
          <a:ln w="0">
            <a:noFill/>
            <a:prstDash val="solid"/>
          </a:ln>
        </p:spPr>
        <p:txBody>
          <a:bodyPr/>
          <a:lstStyle/>
          <a:p>
            <a:pPr algn="ctr">
              <a:defRPr sz="975" b="1" i="0">
                <a:solidFill>
                  <a:srgbClr val="FFFDF5"/>
                </a:solidFill>
                <a:latin typeface="DejaVu Sans"/>
                <a:ea typeface="DejaVu Sans"/>
                <a:cs typeface="DejaVu Sans"/>
              </a:defRPr>
            </a:pPr>
            <a:r>
              <a:rPr sz="975" b="1" i="0">
                <a:solidFill>
                  <a:srgbClr val="FFFDF5"/>
                </a:solidFill>
                <a:latin typeface="DejaVu Sans"/>
                <a:ea typeface="DejaVu Sans"/>
                <a:cs typeface="DejaVu Sans"/>
              </a:rPr>
              <a:t>Christ Carrying the Cross</a:t>
            </a:r>
          </a:p>
        </p:txBody>
      </p:sp>
      <p:sp>
        <p:nvSpPr>
          <p:cNvPr id="23" name="Rectangle 22">
            <a:extLst>
              <a:ext uri="{FF2B5EF4-FFF2-40B4-BE49-F238E27FC236}">
                <a16:creationId xmlns:a16="http://schemas.microsoft.com/office/drawing/2014/main" id="{57492695-A908-4D24-B7F1-ADC501DA1EE8}"/>
              </a:ext>
            </a:extLst>
          </p:cNvPr>
          <p:cNvSpPr>
            <a:spLocks noGrp="1"/>
          </p:cNvSpPr>
          <p:nvPr/>
        </p:nvSpPr>
        <p:spPr>
          <a:xfrm>
            <a:off x="7458075" y="4520946"/>
            <a:ext cx="1943100" cy="285750"/>
          </a:xfrm>
          <a:prstGeom prst="rect">
            <a:avLst/>
          </a:prstGeom>
          <a:noFill/>
          <a:ln w="0">
            <a:noFill/>
            <a:prstDash val="solid"/>
          </a:ln>
        </p:spPr>
        <p:txBody>
          <a:bodyPr/>
          <a:lstStyle/>
          <a:p>
            <a:pPr algn="ctr">
              <a:defRPr sz="975" b="0" i="0">
                <a:solidFill>
                  <a:srgbClr val="D38C86"/>
                </a:solidFill>
                <a:latin typeface="DejaVu Sans"/>
                <a:ea typeface="DejaVu Sans"/>
                <a:cs typeface="DejaVu Sans"/>
              </a:defRPr>
            </a:pPr>
            <a:r>
              <a:rPr sz="975" b="0" i="0">
                <a:solidFill>
                  <a:srgbClr val="D38C86"/>
                </a:solidFill>
                <a:latin typeface="DejaVu Sans"/>
                <a:ea typeface="DejaVu Sans"/>
                <a:cs typeface="DejaVu Sans"/>
              </a:rPr>
              <a:t>Cruelty closes in</a:t>
            </a:r>
          </a:p>
        </p:txBody>
      </p:sp>
      <p:sp>
        <p:nvSpPr>
          <p:cNvPr id="24" name="Rectangle: Rounded Corners 23">
            <a:extLst>
              <a:ext uri="{FF2B5EF4-FFF2-40B4-BE49-F238E27FC236}">
                <a16:creationId xmlns:a16="http://schemas.microsoft.com/office/drawing/2014/main" id="{9141BF2F-5234-48A1-BA9E-FAAACEE739CD}"/>
              </a:ext>
            </a:extLst>
          </p:cNvPr>
          <p:cNvSpPr>
            <a:spLocks noGrp="1"/>
          </p:cNvSpPr>
          <p:nvPr/>
        </p:nvSpPr>
        <p:spPr>
          <a:xfrm>
            <a:off x="9658350" y="1543050"/>
            <a:ext cx="2095500" cy="2952750"/>
          </a:xfrm>
          <a:prstGeom prst="roundRect">
            <a:avLst>
              <a:gd name="adj" fmla="val 5455"/>
            </a:avLst>
          </a:prstGeom>
          <a:solidFill>
            <a:srgbClr val="171816"/>
          </a:solidFill>
          <a:ln w="9525">
            <a:solidFill>
              <a:srgbClr val="D5AE58"/>
            </a:solidFill>
            <a:prstDash val="solid"/>
          </a:ln>
        </p:spPr>
        <p:txBody>
          <a:bodyPr/>
          <a:lstStyle/>
          <a:p>
            <a:endParaRPr lang="en-US"/>
          </a:p>
        </p:txBody>
      </p:sp>
      <p:pic>
        <p:nvPicPr>
          <p:cNvPr id="57" name="Picture 56"/>
          <p:cNvPicPr>
            <a:picLocks noChangeAspect="1"/>
          </p:cNvPicPr>
          <p:nvPr/>
        </p:nvPicPr>
        <p:blipFill>
          <a:blip r:embed="rId8"/>
          <a:stretch/>
        </p:blipFill>
        <p:spPr>
          <a:xfrm>
            <a:off x="9734550" y="2023892"/>
            <a:ext cx="1943100" cy="1324315"/>
          </a:xfrm>
          <a:prstGeom prst="roundRect">
            <a:avLst>
              <a:gd name="adj" fmla="val 3922"/>
            </a:avLst>
          </a:prstGeom>
        </p:spPr>
      </p:pic>
      <p:sp>
        <p:nvSpPr>
          <p:cNvPr id="26" name="Rectangle 25">
            <a:extLst>
              <a:ext uri="{FF2B5EF4-FFF2-40B4-BE49-F238E27FC236}">
                <a16:creationId xmlns:a16="http://schemas.microsoft.com/office/drawing/2014/main" id="{24C4B5B9-69E1-423D-A43F-0368D9D7DF6C}"/>
              </a:ext>
            </a:extLst>
          </p:cNvPr>
          <p:cNvSpPr>
            <a:spLocks noGrp="1"/>
          </p:cNvSpPr>
          <p:nvPr/>
        </p:nvSpPr>
        <p:spPr>
          <a:xfrm>
            <a:off x="9734550" y="3905250"/>
            <a:ext cx="1943100" cy="419100"/>
          </a:xfrm>
          <a:prstGeom prst="rect">
            <a:avLst/>
          </a:prstGeom>
          <a:noFill/>
          <a:ln w="0">
            <a:noFill/>
            <a:prstDash val="solid"/>
          </a:ln>
        </p:spPr>
        <p:txBody>
          <a:bodyPr/>
          <a:lstStyle/>
          <a:p>
            <a:pPr algn="ctr">
              <a:defRPr sz="1125" b="1" i="0">
                <a:solidFill>
                  <a:srgbClr val="FFFDF5"/>
                </a:solidFill>
                <a:latin typeface="DejaVu Sans"/>
                <a:ea typeface="DejaVu Sans"/>
                <a:cs typeface="DejaVu Sans"/>
              </a:defRPr>
            </a:pPr>
            <a:r>
              <a:rPr sz="1125" b="1" i="0">
                <a:solidFill>
                  <a:srgbClr val="FFFDF5"/>
                </a:solidFill>
                <a:latin typeface="DejaVu Sans"/>
                <a:ea typeface="DejaVu Sans"/>
                <a:cs typeface="DejaVu Sans"/>
              </a:rPr>
              <a:t>Haywain Triptych</a:t>
            </a:r>
          </a:p>
        </p:txBody>
      </p:sp>
      <p:sp>
        <p:nvSpPr>
          <p:cNvPr id="27" name="Rectangle 26">
            <a:extLst>
              <a:ext uri="{FF2B5EF4-FFF2-40B4-BE49-F238E27FC236}">
                <a16:creationId xmlns:a16="http://schemas.microsoft.com/office/drawing/2014/main" id="{5D6709B8-0D58-4461-86FF-B1D0258761C4}"/>
              </a:ext>
            </a:extLst>
          </p:cNvPr>
          <p:cNvSpPr>
            <a:spLocks noGrp="1"/>
          </p:cNvSpPr>
          <p:nvPr/>
        </p:nvSpPr>
        <p:spPr>
          <a:xfrm>
            <a:off x="9734550" y="4520946"/>
            <a:ext cx="1943100" cy="285750"/>
          </a:xfrm>
          <a:prstGeom prst="rect">
            <a:avLst/>
          </a:prstGeom>
          <a:noFill/>
          <a:ln w="0">
            <a:noFill/>
            <a:prstDash val="solid"/>
          </a:ln>
        </p:spPr>
        <p:txBody>
          <a:bodyPr/>
          <a:lstStyle/>
          <a:p>
            <a:pPr algn="ctr">
              <a:defRPr sz="975" b="0" i="0">
                <a:solidFill>
                  <a:srgbClr val="D5AE58"/>
                </a:solidFill>
                <a:latin typeface="DejaVu Sans"/>
                <a:ea typeface="DejaVu Sans"/>
                <a:cs typeface="DejaVu Sans"/>
              </a:defRPr>
            </a:pPr>
            <a:r>
              <a:rPr sz="975" b="0" i="0">
                <a:solidFill>
                  <a:srgbClr val="D5AE58"/>
                </a:solidFill>
                <a:latin typeface="DejaVu Sans"/>
                <a:ea typeface="DejaVu Sans"/>
                <a:cs typeface="DejaVu Sans"/>
              </a:rPr>
              <a:t>The scramble for gain</a:t>
            </a:r>
          </a:p>
        </p:txBody>
      </p:sp>
      <p:sp>
        <p:nvSpPr>
          <p:cNvPr id="28" name="Rectangle 27">
            <a:extLst>
              <a:ext uri="{FF2B5EF4-FFF2-40B4-BE49-F238E27FC236}">
                <a16:creationId xmlns:a16="http://schemas.microsoft.com/office/drawing/2014/main" id="{B93C9D0C-CDB7-44FF-987C-B697BD5B86ED}"/>
              </a:ext>
            </a:extLst>
          </p:cNvPr>
          <p:cNvSpPr>
            <a:spLocks noGrp="1"/>
          </p:cNvSpPr>
          <p:nvPr/>
        </p:nvSpPr>
        <p:spPr>
          <a:xfrm>
            <a:off x="1047750" y="5048250"/>
            <a:ext cx="10096500" cy="400050"/>
          </a:xfrm>
          <a:prstGeom prst="rect">
            <a:avLst/>
          </a:prstGeom>
          <a:noFill/>
          <a:ln w="0">
            <a:noFill/>
            <a:prstDash val="solid"/>
          </a:ln>
        </p:spPr>
        <p:txBody>
          <a:bodyPr/>
          <a:lstStyle/>
          <a:p>
            <a:pPr algn="ctr">
              <a:defRPr sz="1650" b="1" i="0">
                <a:solidFill>
                  <a:srgbClr val="FFF4D8"/>
                </a:solidFill>
                <a:latin typeface="DejaVu Sans"/>
                <a:ea typeface="DejaVu Sans"/>
                <a:cs typeface="DejaVu Sans"/>
              </a:defRPr>
            </a:pPr>
            <a:r>
              <a:rPr sz="1650" b="1" i="0">
                <a:solidFill>
                  <a:srgbClr val="FFF4D8"/>
                </a:solidFill>
                <a:latin typeface="DejaVu Sans"/>
                <a:ea typeface="DejaVu Sans"/>
                <a:cs typeface="DejaVu Sans"/>
              </a:rPr>
              <a:t>Desire, folly, and consequence keep moving humanity forward.</a:t>
            </a:r>
          </a:p>
        </p:txBody>
      </p:sp>
      <p:sp>
        <p:nvSpPr>
          <p:cNvPr id="29" name="Rectangle 28">
            <a:extLst>
              <a:ext uri="{FF2B5EF4-FFF2-40B4-BE49-F238E27FC236}">
                <a16:creationId xmlns:a16="http://schemas.microsoft.com/office/drawing/2014/main" id="{3DD51553-8CEC-495E-BEA3-8FCC862C548A}"/>
              </a:ext>
            </a:extLst>
          </p:cNvPr>
          <p:cNvSpPr>
            <a:spLocks noGrp="1"/>
          </p:cNvSpPr>
          <p:nvPr/>
        </p:nvSpPr>
        <p:spPr>
          <a:xfrm>
            <a:off x="1714500" y="5562600"/>
            <a:ext cx="8763000" cy="228600"/>
          </a:xfrm>
          <a:prstGeom prst="rect">
            <a:avLst/>
          </a:prstGeom>
          <a:noFill/>
          <a:ln w="0">
            <a:noFill/>
            <a:prstDash val="solid"/>
          </a:ln>
        </p:spPr>
        <p:txBody>
          <a:bodyPr/>
          <a:lstStyle/>
          <a:p>
            <a:pPr algn="ctr">
              <a:defRPr sz="900" b="0" i="0">
                <a:solidFill>
                  <a:srgbClr val="C9C3AE"/>
                </a:solidFill>
                <a:latin typeface="DejaVu Sans"/>
                <a:ea typeface="DejaVu Sans"/>
                <a:cs typeface="DejaVu Sans"/>
              </a:defRPr>
            </a:pPr>
            <a:r>
              <a:rPr sz="900" b="0" i="0">
                <a:solidFill>
                  <a:srgbClr val="C9C3AE"/>
                </a:solidFill>
                <a:latin typeface="DejaVu Sans"/>
                <a:ea typeface="DejaVu Sans"/>
                <a:cs typeface="DejaVu Sans"/>
              </a:rPr>
              <a:t>Dates and attributions remain debated for several works</a:t>
            </a:r>
          </a:p>
        </p:txBody>
      </p:sp>
      <p:sp>
        <p:nvSpPr>
          <p:cNvPr id="30" name="Rectangle 29">
            <a:extLst>
              <a:ext uri="{FF2B5EF4-FFF2-40B4-BE49-F238E27FC236}">
                <a16:creationId xmlns:a16="http://schemas.microsoft.com/office/drawing/2014/main" id="{F23314BD-9C24-45F5-89A4-9A20DB45E6F2}"/>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AFBD9797-5924-4F0F-903B-FCBFBA196709}"/>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Desire, folly, and consequence keep moving humanity forward.</a:t>
            </a:r>
          </a:p>
        </p:txBody>
      </p:sp>
      <p:sp>
        <p:nvSpPr>
          <p:cNvPr id="32" name="Rectangle 31">
            <a:extLst>
              <a:ext uri="{FF2B5EF4-FFF2-40B4-BE49-F238E27FC236}">
                <a16:creationId xmlns:a16="http://schemas.microsoft.com/office/drawing/2014/main" id="{CE7DE3D0-DA94-4DAE-B82E-A79D1503B8D0}"/>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133218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C0D46E7-EF45-423E-A42C-151478B105DC}"/>
              </a:ext>
            </a:extLst>
          </p:cNvPr>
          <p:cNvSpPr>
            <a:spLocks noGrp="1"/>
          </p:cNvSpPr>
          <p:nvPr/>
        </p:nvSpPr>
        <p:spPr>
          <a:xfrm>
            <a:off x="0" y="0"/>
            <a:ext cx="12192000" cy="1162050"/>
          </a:xfrm>
          <a:prstGeom prst="rect">
            <a:avLst/>
          </a:prstGeom>
          <a:solidFill>
            <a:srgbClr val="171816"/>
          </a:solidFill>
          <a:ln w="0">
            <a:noFill/>
            <a:prstDash val="solid"/>
          </a:ln>
        </p:spPr>
        <p:txBody>
          <a:bodyPr/>
          <a:lstStyle/>
          <a:p>
            <a:endParaRPr lang="en-US"/>
          </a:p>
        </p:txBody>
      </p:sp>
      <p:sp>
        <p:nvSpPr>
          <p:cNvPr id="3" name="Rectangle 2">
            <a:extLst>
              <a:ext uri="{FF2B5EF4-FFF2-40B4-BE49-F238E27FC236}">
                <a16:creationId xmlns:a16="http://schemas.microsoft.com/office/drawing/2014/main" id="{59E61721-7A50-482B-887D-41F014E4D81E}"/>
              </a:ext>
            </a:extLst>
          </p:cNvPr>
          <p:cNvSpPr>
            <a:spLocks noGrp="1"/>
          </p:cNvSpPr>
          <p:nvPr/>
        </p:nvSpPr>
        <p:spPr>
          <a:xfrm>
            <a:off x="552450" y="228600"/>
            <a:ext cx="8572500" cy="228600"/>
          </a:xfrm>
          <a:prstGeom prst="rect">
            <a:avLst/>
          </a:prstGeom>
          <a:noFill/>
          <a:ln w="0">
            <a:noFill/>
            <a:prstDash val="solid"/>
          </a:ln>
        </p:spPr>
        <p:txBody>
          <a:bodyPr/>
          <a:lstStyle/>
          <a:p>
            <a:pPr algn="l">
              <a:defRPr sz="975" b="1" i="0">
                <a:solidFill>
                  <a:srgbClr val="D5AE58"/>
                </a:solidFill>
                <a:latin typeface="DejaVu Sans"/>
                <a:ea typeface="DejaVu Sans"/>
                <a:cs typeface="DejaVu Sans"/>
              </a:defRPr>
            </a:pPr>
            <a:r>
              <a:rPr sz="975" b="1" i="0">
                <a:solidFill>
                  <a:srgbClr val="D5AE58"/>
                </a:solidFill>
                <a:latin typeface="DejaVu Sans"/>
                <a:ea typeface="DejaVu Sans"/>
                <a:cs typeface="DejaVu Sans"/>
              </a:rPr>
              <a:t>18 | HOW THE TRIPTYCH REACHED US</a:t>
            </a:r>
          </a:p>
        </p:txBody>
      </p:sp>
      <p:sp>
        <p:nvSpPr>
          <p:cNvPr id="4" name="Rectangle 3">
            <a:extLst>
              <a:ext uri="{FF2B5EF4-FFF2-40B4-BE49-F238E27FC236}">
                <a16:creationId xmlns:a16="http://schemas.microsoft.com/office/drawing/2014/main" id="{E7C83B94-E579-4CCD-9841-1DDF68AEB5DE}"/>
              </a:ext>
            </a:extLst>
          </p:cNvPr>
          <p:cNvSpPr>
            <a:spLocks noGrp="1"/>
          </p:cNvSpPr>
          <p:nvPr/>
        </p:nvSpPr>
        <p:spPr>
          <a:xfrm>
            <a:off x="552450" y="523875"/>
            <a:ext cx="10287000" cy="514350"/>
          </a:xfrm>
          <a:prstGeom prst="rect">
            <a:avLst/>
          </a:prstGeom>
          <a:noFill/>
          <a:ln w="0">
            <a:noFill/>
            <a:prstDash val="solid"/>
          </a:ln>
        </p:spPr>
        <p:txBody>
          <a:bodyPr/>
          <a:lstStyle/>
          <a:p>
            <a:pPr algn="l">
              <a:defRPr sz="2100" b="1" i="0">
                <a:solidFill>
                  <a:srgbClr val="FFFDF5"/>
                </a:solidFill>
                <a:latin typeface="DejaVu Sans"/>
                <a:ea typeface="DejaVu Sans"/>
                <a:cs typeface="DejaVu Sans"/>
              </a:defRPr>
            </a:pPr>
            <a:r>
              <a:rPr sz="2100" b="1" i="0">
                <a:solidFill>
                  <a:srgbClr val="FFFDF5"/>
                </a:solidFill>
                <a:latin typeface="DejaVu Sans"/>
                <a:ea typeface="DejaVu Sans"/>
                <a:cs typeface="DejaVu Sans"/>
              </a:rPr>
              <a:t>From the Nassau Palace to the Prado—and Back to Silence</a:t>
            </a:r>
          </a:p>
        </p:txBody>
      </p:sp>
      <p:sp>
        <p:nvSpPr>
          <p:cNvPr id="5" name="Rectangle 4">
            <a:extLst>
              <a:ext uri="{FF2B5EF4-FFF2-40B4-BE49-F238E27FC236}">
                <a16:creationId xmlns:a16="http://schemas.microsoft.com/office/drawing/2014/main" id="{463CF6DD-2F0B-4F5B-A34D-342617342844}"/>
              </a:ext>
            </a:extLst>
          </p:cNvPr>
          <p:cNvSpPr>
            <a:spLocks noGrp="1"/>
          </p:cNvSpPr>
          <p:nvPr/>
        </p:nvSpPr>
        <p:spPr>
          <a:xfrm>
            <a:off x="11144250" y="266700"/>
            <a:ext cx="495300" cy="190500"/>
          </a:xfrm>
          <a:prstGeom prst="rect">
            <a:avLst/>
          </a:prstGeom>
          <a:noFill/>
          <a:ln w="0">
            <a:noFill/>
            <a:prstDash val="solid"/>
          </a:ln>
        </p:spPr>
        <p:txBody>
          <a:bodyPr/>
          <a:lstStyle/>
          <a:p>
            <a:pPr algn="r">
              <a:defRPr sz="900" b="1" i="0">
                <a:solidFill>
                  <a:srgbClr val="C9C3AE"/>
                </a:solidFill>
                <a:latin typeface="DejaVu Sans"/>
                <a:ea typeface="DejaVu Sans"/>
                <a:cs typeface="DejaVu Sans"/>
              </a:defRPr>
            </a:pPr>
            <a:r>
              <a:rPr sz="900" b="1" i="0">
                <a:solidFill>
                  <a:srgbClr val="C9C3AE"/>
                </a:solidFill>
                <a:latin typeface="DejaVu Sans"/>
                <a:ea typeface="DejaVu Sans"/>
                <a:cs typeface="DejaVu Sans"/>
              </a:rPr>
              <a:t>19</a:t>
            </a:r>
          </a:p>
        </p:txBody>
      </p:sp>
      <p:sp>
        <p:nvSpPr>
          <p:cNvPr id="6" name="Rectangle 5">
            <a:extLst>
              <a:ext uri="{FF2B5EF4-FFF2-40B4-BE49-F238E27FC236}">
                <a16:creationId xmlns:a16="http://schemas.microsoft.com/office/drawing/2014/main" id="{901F53F8-CD6A-46D4-BC18-3DF3CEB4819A}"/>
              </a:ext>
            </a:extLst>
          </p:cNvPr>
          <p:cNvSpPr>
            <a:spLocks noGrp="1"/>
          </p:cNvSpPr>
          <p:nvPr/>
        </p:nvSpPr>
        <p:spPr>
          <a:xfrm>
            <a:off x="552450" y="1095375"/>
            <a:ext cx="876300" cy="38100"/>
          </a:xfrm>
          <a:prstGeom prst="rect">
            <a:avLst/>
          </a:prstGeom>
          <a:solidFill>
            <a:srgbClr val="D38C86"/>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BF4C70BB-3D05-469A-9CE6-009BFFCDC770}"/>
              </a:ext>
            </a:extLst>
          </p:cNvPr>
          <p:cNvSpPr>
            <a:spLocks noGrp="1"/>
          </p:cNvSpPr>
          <p:nvPr/>
        </p:nvSpPr>
        <p:spPr>
          <a:xfrm>
            <a:off x="361950" y="1390650"/>
            <a:ext cx="11468100" cy="4629150"/>
          </a:xfrm>
          <a:prstGeom prst="roundRect">
            <a:avLst>
              <a:gd name="adj" fmla="val 2469"/>
            </a:avLst>
          </a:prstGeom>
          <a:solidFill>
            <a:srgbClr val="0B0C0C"/>
          </a:solidFill>
          <a:ln w="9525">
            <a:solidFill>
              <a:srgbClr val="2A211B"/>
            </a:solidFill>
            <a:prstDash val="solid"/>
          </a:ln>
        </p:spPr>
        <p:txBody>
          <a:bodyPr/>
          <a:lstStyle/>
          <a:p>
            <a:endParaRPr lang="en-US"/>
          </a:p>
        </p:txBody>
      </p:sp>
      <p:sp>
        <p:nvSpPr>
          <p:cNvPr id="8" name="Rectangle 7">
            <a:extLst>
              <a:ext uri="{FF2B5EF4-FFF2-40B4-BE49-F238E27FC236}">
                <a16:creationId xmlns:a16="http://schemas.microsoft.com/office/drawing/2014/main" id="{D61B8827-94BB-447F-96E4-8AC8CF7C9100}"/>
              </a:ext>
            </a:extLst>
          </p:cNvPr>
          <p:cNvSpPr>
            <a:spLocks noGrp="1"/>
          </p:cNvSpPr>
          <p:nvPr/>
        </p:nvSpPr>
        <p:spPr>
          <a:xfrm>
            <a:off x="1047750" y="1504950"/>
            <a:ext cx="10096500" cy="647700"/>
          </a:xfrm>
          <a:prstGeom prst="rect">
            <a:avLst/>
          </a:prstGeom>
          <a:noFill/>
          <a:ln w="0">
            <a:noFill/>
            <a:prstDash val="solid"/>
          </a:ln>
        </p:spPr>
        <p:txBody>
          <a:bodyPr/>
          <a:lstStyle/>
          <a:p>
            <a:pPr algn="ctr">
              <a:defRPr sz="2025" b="1" i="0">
                <a:solidFill>
                  <a:srgbClr val="FFFDF5"/>
                </a:solidFill>
                <a:latin typeface="DejaVu Sans"/>
                <a:ea typeface="DejaVu Sans"/>
                <a:cs typeface="DejaVu Sans"/>
              </a:defRPr>
            </a:pPr>
            <a:r>
              <a:rPr sz="2025" b="1" i="0">
                <a:solidFill>
                  <a:srgbClr val="FFFDF5"/>
                </a:solidFill>
                <a:latin typeface="DejaVu Sans"/>
                <a:ea typeface="DejaVu Sans"/>
                <a:cs typeface="DejaVu Sans"/>
              </a:rPr>
              <a:t>See the whole, approach the details, then return to the whole.</a:t>
            </a:r>
          </a:p>
        </p:txBody>
      </p:sp>
      <p:sp>
        <p:nvSpPr>
          <p:cNvPr id="9" name="Rectangle 8">
            <a:extLst>
              <a:ext uri="{FF2B5EF4-FFF2-40B4-BE49-F238E27FC236}">
                <a16:creationId xmlns:a16="http://schemas.microsoft.com/office/drawing/2014/main" id="{BBCE3D02-6184-4A64-93B4-59E191B461D8}"/>
              </a:ext>
            </a:extLst>
          </p:cNvPr>
          <p:cNvSpPr>
            <a:spLocks noGrp="1"/>
          </p:cNvSpPr>
          <p:nvPr/>
        </p:nvSpPr>
        <p:spPr>
          <a:xfrm>
            <a:off x="1143000" y="3390900"/>
            <a:ext cx="9886950" cy="47625"/>
          </a:xfrm>
          <a:prstGeom prst="rect">
            <a:avLst/>
          </a:prstGeom>
          <a:solidFill>
            <a:srgbClr val="D5AE58"/>
          </a:solidFill>
          <a:ln w="0">
            <a:noFill/>
            <a:prstDash val="solid"/>
          </a:ln>
        </p:spPr>
        <p:txBody>
          <a:bodyPr/>
          <a:lstStyle/>
          <a:p>
            <a:endParaRPr lang="en-US"/>
          </a:p>
        </p:txBody>
      </p:sp>
      <p:sp>
        <p:nvSpPr>
          <p:cNvPr id="10" name="Rectangle: Rounded Corners 9">
            <a:extLst>
              <a:ext uri="{FF2B5EF4-FFF2-40B4-BE49-F238E27FC236}">
                <a16:creationId xmlns:a16="http://schemas.microsoft.com/office/drawing/2014/main" id="{D566FA40-193F-4D51-80CB-9C9B6B768AE8}"/>
              </a:ext>
            </a:extLst>
          </p:cNvPr>
          <p:cNvSpPr>
            <a:spLocks noGrp="1"/>
          </p:cNvSpPr>
          <p:nvPr/>
        </p:nvSpPr>
        <p:spPr>
          <a:xfrm>
            <a:off x="1047750" y="3267075"/>
            <a:ext cx="285750" cy="285750"/>
          </a:xfrm>
          <a:prstGeom prst="roundRect">
            <a:avLst>
              <a:gd name="adj" fmla="val 40000"/>
            </a:avLst>
          </a:prstGeom>
          <a:solidFill>
            <a:srgbClr val="59633B"/>
          </a:solidFill>
          <a:ln w="19050">
            <a:solidFill>
              <a:srgbClr val="D5AE58"/>
            </a:solidFill>
            <a:prstDash val="solid"/>
          </a:ln>
        </p:spPr>
        <p:txBody>
          <a:bodyPr/>
          <a:lstStyle/>
          <a:p>
            <a:endParaRPr lang="en-US"/>
          </a:p>
        </p:txBody>
      </p:sp>
      <p:sp>
        <p:nvSpPr>
          <p:cNvPr id="11" name="Rectangle 10">
            <a:extLst>
              <a:ext uri="{FF2B5EF4-FFF2-40B4-BE49-F238E27FC236}">
                <a16:creationId xmlns:a16="http://schemas.microsoft.com/office/drawing/2014/main" id="{F6FE853D-7BA6-4520-8CEC-9D93AEDB517A}"/>
              </a:ext>
            </a:extLst>
          </p:cNvPr>
          <p:cNvSpPr>
            <a:spLocks noGrp="1"/>
          </p:cNvSpPr>
          <p:nvPr/>
        </p:nvSpPr>
        <p:spPr>
          <a:xfrm>
            <a:off x="400050" y="2705100"/>
            <a:ext cx="1581150" cy="361950"/>
          </a:xfrm>
          <a:prstGeom prst="rect">
            <a:avLst/>
          </a:prstGeom>
          <a:noFill/>
          <a:ln w="0">
            <a:noFill/>
            <a:prstDash val="solid"/>
          </a:ln>
        </p:spPr>
        <p:txBody>
          <a:bodyPr/>
          <a:lstStyle/>
          <a:p>
            <a:pPr algn="ctr">
              <a:defRPr sz="1650" b="1" i="0">
                <a:solidFill>
                  <a:srgbClr val="D5AE58"/>
                </a:solidFill>
                <a:latin typeface="DejaVu Sans"/>
                <a:ea typeface="DejaVu Sans"/>
                <a:cs typeface="DejaVu Sans"/>
              </a:defRPr>
            </a:pPr>
            <a:r>
              <a:rPr sz="1650" b="1" i="0">
                <a:solidFill>
                  <a:srgbClr val="D5AE58"/>
                </a:solidFill>
                <a:latin typeface="DejaVu Sans"/>
                <a:ea typeface="DejaVu Sans"/>
                <a:cs typeface="DejaVu Sans"/>
              </a:rPr>
              <a:t>1517</a:t>
            </a:r>
          </a:p>
        </p:txBody>
      </p:sp>
      <p:sp>
        <p:nvSpPr>
          <p:cNvPr id="12" name="Rectangle 11">
            <a:extLst>
              <a:ext uri="{FF2B5EF4-FFF2-40B4-BE49-F238E27FC236}">
                <a16:creationId xmlns:a16="http://schemas.microsoft.com/office/drawing/2014/main" id="{8E969ABE-D5FA-467C-852F-49DCF7538701}"/>
              </a:ext>
            </a:extLst>
          </p:cNvPr>
          <p:cNvSpPr>
            <a:spLocks noGrp="1"/>
          </p:cNvSpPr>
          <p:nvPr/>
        </p:nvSpPr>
        <p:spPr>
          <a:xfrm>
            <a:off x="171450" y="3886200"/>
            <a:ext cx="2095500" cy="876300"/>
          </a:xfrm>
          <a:prstGeom prst="rect">
            <a:avLst/>
          </a:prstGeom>
          <a:noFill/>
          <a:ln w="0">
            <a:noFill/>
            <a:prstDash val="solid"/>
          </a:ln>
        </p:spPr>
        <p:txBody>
          <a:bodyPr/>
          <a:lstStyle/>
          <a:p>
            <a:pPr algn="ctr">
              <a:defRPr sz="1125" b="0" i="0">
                <a:solidFill>
                  <a:srgbClr val="FFF4D8"/>
                </a:solidFill>
                <a:latin typeface="DejaVu Sans"/>
                <a:ea typeface="DejaVu Sans"/>
                <a:cs typeface="DejaVu Sans"/>
              </a:defRPr>
            </a:pPr>
            <a:r>
              <a:rPr sz="1125" b="0" i="0">
                <a:solidFill>
                  <a:srgbClr val="FFF4D8"/>
                </a:solidFill>
                <a:latin typeface="DejaVu Sans"/>
                <a:ea typeface="DejaVu Sans"/>
                <a:cs typeface="DejaVu Sans"/>
              </a:rPr>
              <a:t>1517 | earliest secure record in the Nassau Palace</a:t>
            </a:r>
          </a:p>
        </p:txBody>
      </p:sp>
      <p:sp>
        <p:nvSpPr>
          <p:cNvPr id="13" name="Rectangle: Rounded Corners 12">
            <a:extLst>
              <a:ext uri="{FF2B5EF4-FFF2-40B4-BE49-F238E27FC236}">
                <a16:creationId xmlns:a16="http://schemas.microsoft.com/office/drawing/2014/main" id="{1C4C4EB7-2B91-4CFA-BAE8-8F11D43A5866}"/>
              </a:ext>
            </a:extLst>
          </p:cNvPr>
          <p:cNvSpPr>
            <a:spLocks noGrp="1"/>
          </p:cNvSpPr>
          <p:nvPr/>
        </p:nvSpPr>
        <p:spPr>
          <a:xfrm>
            <a:off x="4343400" y="3267075"/>
            <a:ext cx="285750" cy="285750"/>
          </a:xfrm>
          <a:prstGeom prst="roundRect">
            <a:avLst>
              <a:gd name="adj" fmla="val 40000"/>
            </a:avLst>
          </a:prstGeom>
          <a:solidFill>
            <a:srgbClr val="D38C86"/>
          </a:solidFill>
          <a:ln w="19050">
            <a:solidFill>
              <a:srgbClr val="D5AE58"/>
            </a:solidFill>
            <a:prstDash val="solid"/>
          </a:ln>
        </p:spPr>
        <p:txBody>
          <a:bodyPr/>
          <a:lstStyle/>
          <a:p>
            <a:endParaRPr lang="en-US"/>
          </a:p>
        </p:txBody>
      </p:sp>
      <p:sp>
        <p:nvSpPr>
          <p:cNvPr id="14" name="Rectangle 13">
            <a:extLst>
              <a:ext uri="{FF2B5EF4-FFF2-40B4-BE49-F238E27FC236}">
                <a16:creationId xmlns:a16="http://schemas.microsoft.com/office/drawing/2014/main" id="{98F282B4-C43C-4405-B8E9-D7A9729A5790}"/>
              </a:ext>
            </a:extLst>
          </p:cNvPr>
          <p:cNvSpPr>
            <a:spLocks noGrp="1"/>
          </p:cNvSpPr>
          <p:nvPr/>
        </p:nvSpPr>
        <p:spPr>
          <a:xfrm>
            <a:off x="3695700" y="2705100"/>
            <a:ext cx="1581150" cy="361950"/>
          </a:xfrm>
          <a:prstGeom prst="rect">
            <a:avLst/>
          </a:prstGeom>
          <a:noFill/>
          <a:ln w="0">
            <a:noFill/>
            <a:prstDash val="solid"/>
          </a:ln>
        </p:spPr>
        <p:txBody>
          <a:bodyPr/>
          <a:lstStyle/>
          <a:p>
            <a:pPr algn="ctr">
              <a:defRPr sz="1650" b="1" i="0">
                <a:solidFill>
                  <a:srgbClr val="D5AE58"/>
                </a:solidFill>
                <a:latin typeface="DejaVu Sans"/>
                <a:ea typeface="DejaVu Sans"/>
                <a:cs typeface="DejaVu Sans"/>
              </a:defRPr>
            </a:pPr>
            <a:r>
              <a:rPr sz="1650" b="1" i="0">
                <a:solidFill>
                  <a:srgbClr val="D5AE58"/>
                </a:solidFill>
                <a:latin typeface="DejaVu Sans"/>
                <a:ea typeface="DejaVu Sans"/>
                <a:cs typeface="DejaVu Sans"/>
              </a:rPr>
              <a:t>1591/93</a:t>
            </a:r>
          </a:p>
        </p:txBody>
      </p:sp>
      <p:sp>
        <p:nvSpPr>
          <p:cNvPr id="15" name="Rectangle 14">
            <a:extLst>
              <a:ext uri="{FF2B5EF4-FFF2-40B4-BE49-F238E27FC236}">
                <a16:creationId xmlns:a16="http://schemas.microsoft.com/office/drawing/2014/main" id="{4D4BB88F-4BB9-4554-8DB8-5AB656A9415B}"/>
              </a:ext>
            </a:extLst>
          </p:cNvPr>
          <p:cNvSpPr>
            <a:spLocks noGrp="1"/>
          </p:cNvSpPr>
          <p:nvPr/>
        </p:nvSpPr>
        <p:spPr>
          <a:xfrm>
            <a:off x="3467100" y="3886200"/>
            <a:ext cx="2095500" cy="876300"/>
          </a:xfrm>
          <a:prstGeom prst="rect">
            <a:avLst/>
          </a:prstGeom>
          <a:noFill/>
          <a:ln w="0">
            <a:noFill/>
            <a:prstDash val="solid"/>
          </a:ln>
        </p:spPr>
        <p:txBody>
          <a:bodyPr/>
          <a:lstStyle/>
          <a:p>
            <a:pPr algn="ctr">
              <a:defRPr sz="1125" b="0" i="0">
                <a:solidFill>
                  <a:srgbClr val="FFF4D8"/>
                </a:solidFill>
                <a:latin typeface="DejaVu Sans"/>
                <a:ea typeface="DejaVu Sans"/>
                <a:cs typeface="DejaVu Sans"/>
              </a:defRPr>
            </a:pPr>
            <a:r>
              <a:rPr sz="1125" b="0" i="0">
                <a:solidFill>
                  <a:srgbClr val="FFF4D8"/>
                </a:solidFill>
                <a:latin typeface="DejaVu Sans"/>
                <a:ea typeface="DejaVu Sans"/>
                <a:cs typeface="DejaVu Sans"/>
              </a:rPr>
              <a:t>1591/1593 | acquired by Philip II and sent to El Escorial</a:t>
            </a:r>
          </a:p>
        </p:txBody>
      </p:sp>
      <p:sp>
        <p:nvSpPr>
          <p:cNvPr id="16" name="Rectangle: Rounded Corners 15">
            <a:extLst>
              <a:ext uri="{FF2B5EF4-FFF2-40B4-BE49-F238E27FC236}">
                <a16:creationId xmlns:a16="http://schemas.microsoft.com/office/drawing/2014/main" id="{90827C9F-B2C5-4B6D-A941-A4821D17B615}"/>
              </a:ext>
            </a:extLst>
          </p:cNvPr>
          <p:cNvSpPr>
            <a:spLocks noGrp="1"/>
          </p:cNvSpPr>
          <p:nvPr/>
        </p:nvSpPr>
        <p:spPr>
          <a:xfrm>
            <a:off x="7639050" y="3267075"/>
            <a:ext cx="285750" cy="285750"/>
          </a:xfrm>
          <a:prstGeom prst="roundRect">
            <a:avLst>
              <a:gd name="adj" fmla="val 40000"/>
            </a:avLst>
          </a:prstGeom>
          <a:solidFill>
            <a:srgbClr val="8FB6C2"/>
          </a:solidFill>
          <a:ln w="19050">
            <a:solidFill>
              <a:srgbClr val="D5AE58"/>
            </a:solidFill>
            <a:prstDash val="solid"/>
          </a:ln>
        </p:spPr>
        <p:txBody>
          <a:bodyPr/>
          <a:lstStyle/>
          <a:p>
            <a:endParaRPr lang="en-US"/>
          </a:p>
        </p:txBody>
      </p:sp>
      <p:sp>
        <p:nvSpPr>
          <p:cNvPr id="17" name="Rectangle 16">
            <a:extLst>
              <a:ext uri="{FF2B5EF4-FFF2-40B4-BE49-F238E27FC236}">
                <a16:creationId xmlns:a16="http://schemas.microsoft.com/office/drawing/2014/main" id="{5720BC0B-A97B-4FCD-9BF8-41D86C31FE13}"/>
              </a:ext>
            </a:extLst>
          </p:cNvPr>
          <p:cNvSpPr>
            <a:spLocks noGrp="1"/>
          </p:cNvSpPr>
          <p:nvPr/>
        </p:nvSpPr>
        <p:spPr>
          <a:xfrm>
            <a:off x="6991350" y="2705100"/>
            <a:ext cx="1581150" cy="361950"/>
          </a:xfrm>
          <a:prstGeom prst="rect">
            <a:avLst/>
          </a:prstGeom>
          <a:noFill/>
          <a:ln w="0">
            <a:noFill/>
            <a:prstDash val="solid"/>
          </a:ln>
        </p:spPr>
        <p:txBody>
          <a:bodyPr/>
          <a:lstStyle/>
          <a:p>
            <a:pPr algn="ctr">
              <a:defRPr sz="1650" b="1" i="0">
                <a:solidFill>
                  <a:srgbClr val="D5AE58"/>
                </a:solidFill>
                <a:latin typeface="DejaVu Sans"/>
                <a:ea typeface="DejaVu Sans"/>
                <a:cs typeface="DejaVu Sans"/>
              </a:defRPr>
            </a:pPr>
            <a:r>
              <a:rPr sz="1650" b="1" i="0">
                <a:solidFill>
                  <a:srgbClr val="D5AE58"/>
                </a:solidFill>
                <a:latin typeface="DejaVu Sans"/>
                <a:ea typeface="DejaVu Sans"/>
                <a:cs typeface="DejaVu Sans"/>
              </a:rPr>
              <a:t>1933–43</a:t>
            </a:r>
          </a:p>
        </p:txBody>
      </p:sp>
      <p:sp>
        <p:nvSpPr>
          <p:cNvPr id="18" name="Rectangle 17">
            <a:extLst>
              <a:ext uri="{FF2B5EF4-FFF2-40B4-BE49-F238E27FC236}">
                <a16:creationId xmlns:a16="http://schemas.microsoft.com/office/drawing/2014/main" id="{55DE495A-0725-4BCB-8A22-7CA483761518}"/>
              </a:ext>
            </a:extLst>
          </p:cNvPr>
          <p:cNvSpPr>
            <a:spLocks noGrp="1"/>
          </p:cNvSpPr>
          <p:nvPr/>
        </p:nvSpPr>
        <p:spPr>
          <a:xfrm>
            <a:off x="6762750" y="3886200"/>
            <a:ext cx="2095500" cy="876300"/>
          </a:xfrm>
          <a:prstGeom prst="rect">
            <a:avLst/>
          </a:prstGeom>
          <a:noFill/>
          <a:ln w="0">
            <a:noFill/>
            <a:prstDash val="solid"/>
          </a:ln>
        </p:spPr>
        <p:txBody>
          <a:bodyPr/>
          <a:lstStyle/>
          <a:p>
            <a:pPr algn="ctr">
              <a:defRPr sz="1125" b="0" i="0">
                <a:solidFill>
                  <a:srgbClr val="FFF4D8"/>
                </a:solidFill>
                <a:latin typeface="DejaVu Sans"/>
                <a:ea typeface="DejaVu Sans"/>
                <a:cs typeface="DejaVu Sans"/>
              </a:defRPr>
            </a:pPr>
            <a:r>
              <a:rPr sz="1125" b="0" i="0">
                <a:solidFill>
                  <a:srgbClr val="FFF4D8"/>
                </a:solidFill>
                <a:latin typeface="DejaVu Sans"/>
                <a:ea typeface="DejaVu Sans"/>
                <a:cs typeface="DejaVu Sans"/>
              </a:rPr>
              <a:t>1933–1943 | restoration, custody, and permanent loan to the Prado</a:t>
            </a:r>
          </a:p>
        </p:txBody>
      </p:sp>
      <p:sp>
        <p:nvSpPr>
          <p:cNvPr id="19" name="Rectangle: Rounded Corners 18">
            <a:extLst>
              <a:ext uri="{FF2B5EF4-FFF2-40B4-BE49-F238E27FC236}">
                <a16:creationId xmlns:a16="http://schemas.microsoft.com/office/drawing/2014/main" id="{31FCA7B5-A37C-4FC9-A0A3-28CA9C89BE00}"/>
              </a:ext>
            </a:extLst>
          </p:cNvPr>
          <p:cNvSpPr>
            <a:spLocks noGrp="1"/>
          </p:cNvSpPr>
          <p:nvPr/>
        </p:nvSpPr>
        <p:spPr>
          <a:xfrm>
            <a:off x="10934700" y="3267075"/>
            <a:ext cx="285750" cy="285750"/>
          </a:xfrm>
          <a:prstGeom prst="roundRect">
            <a:avLst>
              <a:gd name="adj" fmla="val 40000"/>
            </a:avLst>
          </a:prstGeom>
          <a:solidFill>
            <a:srgbClr val="D16B3C"/>
          </a:solidFill>
          <a:ln w="19050">
            <a:solidFill>
              <a:srgbClr val="D5AE58"/>
            </a:solidFill>
            <a:prstDash val="solid"/>
          </a:ln>
        </p:spPr>
        <p:txBody>
          <a:bodyPr/>
          <a:lstStyle/>
          <a:p>
            <a:endParaRPr lang="en-US"/>
          </a:p>
        </p:txBody>
      </p:sp>
      <p:sp>
        <p:nvSpPr>
          <p:cNvPr id="20" name="Rectangle 19">
            <a:extLst>
              <a:ext uri="{FF2B5EF4-FFF2-40B4-BE49-F238E27FC236}">
                <a16:creationId xmlns:a16="http://schemas.microsoft.com/office/drawing/2014/main" id="{45CB6629-E616-4C12-82DB-4914E7F72813}"/>
              </a:ext>
            </a:extLst>
          </p:cNvPr>
          <p:cNvSpPr>
            <a:spLocks noGrp="1"/>
          </p:cNvSpPr>
          <p:nvPr/>
        </p:nvSpPr>
        <p:spPr>
          <a:xfrm>
            <a:off x="10287000" y="2705100"/>
            <a:ext cx="1581150" cy="361950"/>
          </a:xfrm>
          <a:prstGeom prst="rect">
            <a:avLst/>
          </a:prstGeom>
          <a:noFill/>
          <a:ln w="0">
            <a:noFill/>
            <a:prstDash val="solid"/>
          </a:ln>
        </p:spPr>
        <p:txBody>
          <a:bodyPr/>
          <a:lstStyle/>
          <a:p>
            <a:pPr algn="ctr">
              <a:defRPr sz="1650" b="1" i="0">
                <a:solidFill>
                  <a:srgbClr val="D5AE58"/>
                </a:solidFill>
                <a:latin typeface="DejaVu Sans"/>
                <a:ea typeface="DejaVu Sans"/>
                <a:cs typeface="DejaVu Sans"/>
              </a:defRPr>
            </a:pPr>
            <a:r>
              <a:rPr sz="1650" b="1" i="0">
                <a:solidFill>
                  <a:srgbClr val="D5AE58"/>
                </a:solidFill>
                <a:latin typeface="DejaVu Sans"/>
                <a:ea typeface="DejaVu Sans"/>
                <a:cs typeface="DejaVu Sans"/>
              </a:rPr>
              <a:t>TODAY</a:t>
            </a:r>
          </a:p>
        </p:txBody>
      </p:sp>
      <p:sp>
        <p:nvSpPr>
          <p:cNvPr id="21" name="Rectangle 20">
            <a:extLst>
              <a:ext uri="{FF2B5EF4-FFF2-40B4-BE49-F238E27FC236}">
                <a16:creationId xmlns:a16="http://schemas.microsoft.com/office/drawing/2014/main" id="{323E0D3A-A024-4DC7-BB9E-0EDA3E613C65}"/>
              </a:ext>
            </a:extLst>
          </p:cNvPr>
          <p:cNvSpPr>
            <a:spLocks noGrp="1"/>
          </p:cNvSpPr>
          <p:nvPr/>
        </p:nvSpPr>
        <p:spPr>
          <a:xfrm>
            <a:off x="10058400" y="3886200"/>
            <a:ext cx="2095500" cy="876300"/>
          </a:xfrm>
          <a:prstGeom prst="rect">
            <a:avLst/>
          </a:prstGeom>
          <a:noFill/>
          <a:ln w="0">
            <a:noFill/>
            <a:prstDash val="solid"/>
          </a:ln>
        </p:spPr>
        <p:txBody>
          <a:bodyPr/>
          <a:lstStyle/>
          <a:p>
            <a:pPr algn="ctr">
              <a:defRPr sz="1125" b="0" i="0">
                <a:solidFill>
                  <a:srgbClr val="FFF4D8"/>
                </a:solidFill>
                <a:latin typeface="DejaVu Sans"/>
                <a:ea typeface="DejaVu Sans"/>
                <a:cs typeface="DejaVu Sans"/>
              </a:defRPr>
            </a:pPr>
            <a:r>
              <a:rPr sz="1125" b="0" i="0">
                <a:solidFill>
                  <a:srgbClr val="FFF4D8"/>
                </a:solidFill>
                <a:latin typeface="DejaVu Sans"/>
                <a:ea typeface="DejaVu Sans"/>
                <a:cs typeface="DejaVu Sans"/>
              </a:rPr>
              <a:t>Today | follow pleasure as it changes into control</a:t>
            </a:r>
          </a:p>
        </p:txBody>
      </p:sp>
      <p:sp>
        <p:nvSpPr>
          <p:cNvPr id="22" name="Rectangle 21">
            <a:extLst>
              <a:ext uri="{FF2B5EF4-FFF2-40B4-BE49-F238E27FC236}">
                <a16:creationId xmlns:a16="http://schemas.microsoft.com/office/drawing/2014/main" id="{258FDA1C-206C-4B10-9DAA-BA05392CA449}"/>
              </a:ext>
            </a:extLst>
          </p:cNvPr>
          <p:cNvSpPr>
            <a:spLocks noGrp="1"/>
          </p:cNvSpPr>
          <p:nvPr/>
        </p:nvSpPr>
        <p:spPr>
          <a:xfrm>
            <a:off x="1428750" y="5219700"/>
            <a:ext cx="9334500" cy="361950"/>
          </a:xfrm>
          <a:prstGeom prst="rect">
            <a:avLst/>
          </a:prstGeom>
          <a:noFill/>
          <a:ln w="0">
            <a:noFill/>
            <a:prstDash val="solid"/>
          </a:ln>
        </p:spPr>
        <p:txBody>
          <a:bodyPr/>
          <a:lstStyle/>
          <a:p>
            <a:pPr algn="ctr">
              <a:defRPr sz="1050" b="0" i="0">
                <a:solidFill>
                  <a:srgbClr val="C9C3AE"/>
                </a:solidFill>
                <a:latin typeface="DejaVu Sans"/>
                <a:ea typeface="DejaVu Sans"/>
                <a:cs typeface="DejaVu Sans"/>
              </a:defRPr>
            </a:pPr>
            <a:r>
              <a:rPr sz="1050" b="0" i="0">
                <a:solidFill>
                  <a:srgbClr val="C9C3AE"/>
                </a:solidFill>
                <a:latin typeface="DejaVu Sans"/>
                <a:ea typeface="DejaVu Sans"/>
                <a:cs typeface="DejaVu Sans"/>
              </a:rPr>
              <a:t>Owned by Patrimonio Nacional and on permanent loan to the Prado; verify current gallery information</a:t>
            </a:r>
          </a:p>
        </p:txBody>
      </p:sp>
      <p:sp>
        <p:nvSpPr>
          <p:cNvPr id="23" name="Rectangle 22">
            <a:extLst>
              <a:ext uri="{FF2B5EF4-FFF2-40B4-BE49-F238E27FC236}">
                <a16:creationId xmlns:a16="http://schemas.microsoft.com/office/drawing/2014/main" id="{ABA4AA2C-928D-4A69-ACED-AEB5C55CB0A7}"/>
              </a:ext>
            </a:extLst>
          </p:cNvPr>
          <p:cNvSpPr>
            <a:spLocks noGrp="1"/>
          </p:cNvSpPr>
          <p:nvPr/>
        </p:nvSpPr>
        <p:spPr>
          <a:xfrm>
            <a:off x="0" y="6229350"/>
            <a:ext cx="12192000" cy="628650"/>
          </a:xfrm>
          <a:prstGeom prst="rect">
            <a:avLst/>
          </a:prstGeom>
          <a:solidFill>
            <a:srgbClr val="171816"/>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E57FF979-D54C-4B6E-900E-AEB97CD6BD04}"/>
              </a:ext>
            </a:extLst>
          </p:cNvPr>
          <p:cNvSpPr>
            <a:spLocks noGrp="1"/>
          </p:cNvSpPr>
          <p:nvPr/>
        </p:nvSpPr>
        <p:spPr>
          <a:xfrm>
            <a:off x="552450" y="6400800"/>
            <a:ext cx="9715500" cy="285750"/>
          </a:xfrm>
          <a:prstGeom prst="rect">
            <a:avLst/>
          </a:prstGeom>
          <a:noFill/>
          <a:ln w="0">
            <a:noFill/>
            <a:prstDash val="solid"/>
          </a:ln>
        </p:spPr>
        <p:txBody>
          <a:bodyPr/>
          <a:lstStyle/>
          <a:p>
            <a:pPr algn="l">
              <a:defRPr sz="1200" b="0" i="0">
                <a:solidFill>
                  <a:srgbClr val="FFF4D8"/>
                </a:solidFill>
                <a:latin typeface="DejaVu Sans"/>
                <a:ea typeface="DejaVu Sans"/>
                <a:cs typeface="DejaVu Sans"/>
              </a:defRPr>
            </a:pPr>
            <a:r>
              <a:rPr sz="1200" b="0" i="0">
                <a:solidFill>
                  <a:srgbClr val="FFF4D8"/>
                </a:solidFill>
                <a:latin typeface="DejaVu Sans"/>
                <a:ea typeface="DejaVu Sans"/>
                <a:cs typeface="DejaVu Sans"/>
              </a:rPr>
              <a:t>See the whole, approach the details, then return to the whole.</a:t>
            </a:r>
          </a:p>
        </p:txBody>
      </p:sp>
      <p:sp>
        <p:nvSpPr>
          <p:cNvPr id="25" name="Rectangle 24">
            <a:extLst>
              <a:ext uri="{FF2B5EF4-FFF2-40B4-BE49-F238E27FC236}">
                <a16:creationId xmlns:a16="http://schemas.microsoft.com/office/drawing/2014/main" id="{10E54D25-1822-4656-AD7D-030194AD9055}"/>
              </a:ext>
            </a:extLst>
          </p:cNvPr>
          <p:cNvSpPr>
            <a:spLocks noGrp="1"/>
          </p:cNvSpPr>
          <p:nvPr/>
        </p:nvSpPr>
        <p:spPr>
          <a:xfrm>
            <a:off x="10048875" y="6457950"/>
            <a:ext cx="1571625" cy="171450"/>
          </a:xfrm>
          <a:prstGeom prst="rect">
            <a:avLst/>
          </a:prstGeom>
          <a:noFill/>
          <a:ln w="0">
            <a:noFill/>
            <a:prstDash val="solid"/>
          </a:ln>
        </p:spPr>
        <p:txBody>
          <a:bodyPr/>
          <a:lstStyle/>
          <a:p>
            <a:pPr algn="r">
              <a:defRPr sz="675" b="1" i="0">
                <a:solidFill>
                  <a:srgbClr val="D5AE58"/>
                </a:solidFill>
                <a:latin typeface="DejaVu Sans"/>
                <a:ea typeface="DejaVu Sans"/>
                <a:cs typeface="DejaVu Sans"/>
              </a:defRPr>
            </a:pPr>
            <a:r>
              <a:rPr sz="675" b="1" i="0">
                <a:solidFill>
                  <a:srgbClr val="D5AE58"/>
                </a:solidFill>
                <a:latin typeface="DejaVu Sans"/>
                <a:ea typeface="DejaVu Sans"/>
                <a:cs typeface="DejaVu Sans"/>
              </a:rPr>
              <a:t>MASTERS &amp; MASTERPIECES</a:t>
            </a:r>
          </a:p>
        </p:txBody>
      </p:sp>
    </p:spTree>
    <p:extLst>
      <p:ext uri="{BB962C8B-B14F-4D97-AF65-F5344CB8AC3E}">
        <p14:creationId xmlns:p14="http://schemas.microsoft.com/office/powerpoint/2010/main" val="2028418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4C7421AF-9247-8B9F-EB1A-8287454846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2825" y="885825"/>
            <a:ext cx="5086350" cy="5086350"/>
          </a:xfrm>
          <a:prstGeom prst="rect">
            <a:avLst/>
          </a:prstGeom>
        </p:spPr>
      </p:pic>
    </p:spTree>
    <p:extLst>
      <p:ext uri="{BB962C8B-B14F-4D97-AF65-F5344CB8AC3E}">
        <p14:creationId xmlns:p14="http://schemas.microsoft.com/office/powerpoint/2010/main" val="28918652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4668</Words>
  <Application>Microsoft Office PowerPoint</Application>
  <DocSecurity>0</DocSecurity>
  <PresentationFormat>Widescreen</PresentationFormat>
  <Paragraphs>331</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DejaVu Sans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YY de Taipei Hsieh</cp:lastModifiedBy>
  <cp:revision>2</cp:revision>
  <dcterms:created xsi:type="dcterms:W3CDTF">2026-09-04T10:23:28Z</dcterms:created>
  <dcterms:modified xsi:type="dcterms:W3CDTF">2026-09-04T12:00:58Z</dcterms:modified>
</cp:coreProperties>
</file>