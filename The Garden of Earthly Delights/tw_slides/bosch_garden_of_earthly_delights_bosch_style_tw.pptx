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029" autoAdjust="0"/>
  </p:normalViewPr>
  <p:slideViewPr>
    <p:cSldViewPr snapToGrid="0">
      <p:cViewPr varScale="1">
        <p:scale>
          <a:sx n="84" d="100"/>
          <a:sy n="84" d="100"/>
        </p:scale>
        <p:origin x="15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《人間樂園》闔起來，眼前只剩灰綠、安靜、尚無人類的世界；打開兩扇畫翼，近四公尺寬的表面卻突然湧出裸體、巨果、異獸、樂器與刑罰。波希真正設下的謎題，不只是怪物代表什麼，而是：如果這是一幅警告感官放縱的作品，誘惑為什麼必須畫得如此迷人？接下來，我們會依三聯畫原本的開合經驗，從創世走進花園，再抵達音樂地獄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不要急著看最著名的中央花園。闔上的外翼以灰階畫法描繪一個被透明球體包住的世界：陸地、水域與植物已經出現，人類、太陽與月亮仍不在其中。左上角的造物主小得令人意外。上方拉丁文呼應《詩篇》三十三篇九節：祂說有，就有；命立，就立。外翼通常被理解為創世第三日，但這是主流圖像判讀，不是波希留下的說明書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當兩扇畫翼打開，灰綠寂靜瞬間變成粉紅、天藍、嫩綠、肉色與火光。左翼是上帝、亞當與夏娃；中央是果實、鳥獸、騎乘者、玻璃球與身體遊戲；右翼則以夜色、冰面、火災和刑罰結束。作品高一百八十五點八公分，展開寬度約三百二十五點五公分。它不是網路上永遠攤開的一張平面圖；闔上與打開之間的巨大反差，就是觀眾最初的身體經驗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波希本名耶羅尼穆斯・范・阿肯，約一四五〇年生於布拉班特的斯海爾托亨博斯，祖父、父親與其他親屬都與繪畫工作有關。他後來以故鄉縮寫 Bosch 署名。加入聖母兄弟會與一五〇四年的宮廷委託顯示，他不是與社會隔絕的幻覺畫家，而是城市宗教與菁英網絡中的專業工作者。《人間樂園》的合約與原題沒有保存；但一五一七年的旅行記證明，它很早就在布魯塞爾拿騷宮供宮廷觀眾觀看。</a:t>
            </a:r>
          </a:p>
          <a:p>
            <a:endParaRPr/>
          </a:p>
          <a:p>
            <a:r>
              <a:t>[Sources]</a:t>
            </a:r>
          </a:p>
          <a:p>
            <a:r>
              <a:t>- https://www.museodelprado.es/en/the-collection/artist/hieronymus-bosch/c9716e4a-4c24-44dd-ac65-44bc4661c8b5</a:t>
            </a:r>
          </a:p>
          <a:p>
            <a:r>
              <a:t>- https://www.huygens.knaw.nl/en/resources/boschdoc-2/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翼前景中，上帝以年輕、近似基督的形象出現，握住夏娃手腕，把她帶到半臥的亞當面前。手、視線與姿勢形成一條關係鏈。亞當抬頭看向夏娃；這一眼可以是驚訝、認識，也可能成為欲望的起點。作品沒有替他的心理下結論，卻讓觀看本身變成事件。中央花園中數百個身體的追逐，似乎都從左翼這一道凝視開始擴張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粉紅色生命泉位於伊甸園中央，造型混合植物、礦物、建築與身體。泉底洞口藏著貓頭鷹；它在中世紀可能連結黑暗、盲目、邪惡或沉默，卻沒有一把適用所有作品的象徵鑰匙。周圍還有大象、長頸鹿、獨角獸般生物、怪魚與捕食場面。如果這是原罪之前的完美天堂，死亡為何已存在？波希不回答，而是在最有秩序的位置先放入裂縫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https://docs.google.com/document/d/1Vjy7zvqamZy86taq1dsKhdKd97FuGD-3J8yaHpLhkm0/edit</a:t>
            </a:r>
          </a:p>
          <a:p>
            <a:r>
              <a:rPr dirty="0"/>
              <a:t>- https://www.museodelprado.es/en/the-collection/art-work/the-garden-of-earthly-delights-triptych/02388242-6d6a-4e9e-a992-e1311eab3609</a:t>
            </a:r>
          </a:p>
          <a:p>
            <a:r>
              <a:rPr dirty="0"/>
              <a:t>- Background: OpenAI </a:t>
            </a:r>
            <a:r>
              <a:rPr dirty="0" err="1"/>
              <a:t>ImageGen</a:t>
            </a:r>
            <a:r>
              <a:rPr dirty="0"/>
              <a:t>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央板延續伊甸園的地平線、水域與奇異岩層，彷彿天堂向右生長；但上帝消失了。人物幾乎都是年輕裸體，沒有明顯老人、兒童、工作、疾病、住宅或制度。他們採摘、吞食、搬運果實，彼此觸碰、泡在水中、騎乘動物，也躲進玻璃、貝殼和植物外殼。畫面沒有明顯痛苦，這正使判讀變得困難：這是未墮落的人類樂園，還是一場尚未感到後果的感官狂歡？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中央花園第一個令人不安的結構，是尺度倒置。莓果大到足以包住或壓過人，鳥與貝殼也變成可進入的容器。人物看似使用果實，整體構圖卻更像果實在搬運、包覆甚至支配身體。早期西班牙清單以 madroño，也就是歐洲草莓樹的果實來稱呼作品，證明果實一開始就非常醒目。但把草莓固定翻譯成單一的色慾符號，反而會錯過短暫、易腐與失去尺度的整體問題。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透明球中的兩人像被世界暫時保護，也像被陳列在觀眾面前。球體提供邊界，卻薄得隨時可能破裂；親密因此同時具有安全感、暴露感與短暫性。類似的球、薄膜、細管、果皮和貝殼在中央板反覆出現。它們不一定只有一個象徵答案，但共同建立一種物質感：快樂可以包住人，卻無法永久保存人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圓池外，男性騎著馬、牛、駱駝、豬與幻想動物反覆繞行。單獨看一位騎乘者，人似乎控制了動物；退後看整個圓周，人又像被本能牽引。畫面充滿速度與活動，方向卻沒有出口。這個循環可以被理解為欲望的節奏：每一次追逐都帶來下一次追逐，快樂不是抵達，而是不斷重複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央板出現不同膚色與覆毛的人物，可能連結異域想像、原初人類、歐洲野人傳統與擴張中的地理知識。我們不應脫離畫面獵奇，也不能在缺乏專門研究時替每個人物指定現代族群。右下角還有一名男子直接看向畫外；他被猜為亞當、畫家、委託人或見證者，沒有定論。但他的回望逆轉了觀看關係：我們原本偷看畫中人的慾望，突然發現自己也成為被觀看的人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右翼先用色彩切斷花園：嫩綠與晴空變成黑褐、冰冷藍光與遠方城市大火。前景不是抽象火海，而是人類文化的殘骸組成的刑場。樂器、骰子、酒器、文件、動物與感官器官都取得主動權。中央板中人追逐的快樂沒有消失，只是翻轉了主客關係。食物不再滋養，音樂不再協調，身體也不再屬於自己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音樂地獄最殘酷的地方，在於刑具不是陌生武器，而是人類熟悉的娛樂。罪人被固定在豎琴弦間，被巨大的魯特琴壓住；鼓與管樂器不再服務舞蹈或宴會，而把身體變成可演奏材料。臀部上的樂譜在數位時代被重新演奏，但在原畫中，它首先是一種倒置：原本應創造和諧的記號，現在變成公開羞辱與失去自主的證據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兩隻巨耳被箭穿透，夾住一把巨大刀刃，感官器官與武器組成無法運作卻極具威脅的混種機器。耳朵原本接收音樂與語言，如今只能參與暴力。刀刃上的 M 經常被解釋成刀匠記號、姓名縮寫或其他標誌，但沒有安全定論。比破解字母更重要的是看見轉換：人在中央花園尋求感官刺激，到了右翼，感官本身成為施加刑罰的裝置。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樹人同時像人、枯樹、蛋殼、酒館、船與風景。波希的怪物之所以可信，不是因為它們模糊，而是每一個不可能的零件都被畫得像真的：皮膚、木材、冰面、金屬與薄殼各有質感。技術研究也顯示，底稿與完成畫面之間存在刪除和修改，局部怪物可能在作畫過程中逐步形成。樹人的臉常被猜成波希自畫像，但目前沒有確證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https://boschproject.org/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鳥頭怪物坐在便器般高座上，吞食並排泄罪人，把暴食、權力與無止盡消耗變成荒謬機器；常見的「地獄王子」只是後世便利稱呼。另一側，穿修女服的豬迫使男子在文件上簽字，宗教服飾、契約、貪欲與身體侵犯被黏合在一起。兔子與其他動物也反過來支配人類。地獄的共同規則不是某一種怪物，而是所有主客關係都被顛倒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https://docs.google.com/document/d/1Vjy7zvqamZy86taq1dsKhdKd97FuGD-3J8yaHpLhkm0/edit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持久的解讀是道德警世說：左翼建立創造，中央擴張感官快樂，右翼展示失序後果。另一種看法認為中央缺少疾病、衰老與階級，可能描繪未墮落或文明前的人類。威廉・弗蘭格曾提出亞當派與秘密性愛儀式，影響很大，卻缺乏可靠檔案。更有生產力的方向，是把作品理解為宮廷對話物件：娛樂、知識競賽與警告可以同時存在。好的解讀必須能一起說明外翼、中央之美與右翼倒置。</a:t>
            </a:r>
          </a:p>
          <a:p>
            <a:endParaRPr/>
          </a:p>
          <a:p>
            <a:r>
              <a:t>[Sources]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https://www.huygens.knaw.nl/en/resources/boschdoc-2/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《</a:t>
            </a:r>
            <a:r>
              <a:rPr dirty="0" err="1"/>
              <a:t>人間樂園》並不是波希奇幻想像的孤例</a:t>
            </a:r>
            <a:r>
              <a:rPr dirty="0"/>
              <a:t>。《</a:t>
            </a:r>
            <a:r>
              <a:rPr dirty="0" err="1"/>
              <a:t>七宗罪與四終》把日常罪行排成一隻監視世界的眼睛</a:t>
            </a:r>
            <a:r>
              <a:rPr dirty="0"/>
              <a:t>；《愚人船》讓一群人沉迷飲酒、歌唱與爭奪，卻沒有人真正掌舵；維也納《最後審判》把整個世界擴展成墮落與刑罰的景觀；根特《背負十字架》以擁擠而扭曲的臉孔包圍基督，但今日多被謹慎標為波希追隨者或工作室相關作品；《</a:t>
            </a:r>
            <a:r>
              <a:rPr dirty="0" err="1"/>
              <a:t>乾草車三聯畫》則讓所有階層追逐一車終將消失的乾草。它們共同顯示，怪物不是裝飾，而是把愚行、貪欲與後果變得可見的方法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https://commons.wikimedia.org/wiki/File:Hieronymus_Bosch-_The_Seven_Deadly_Sins_and_the_Four_Last_Things.JPG</a:t>
            </a:r>
          </a:p>
          <a:p>
            <a:r>
              <a:rPr dirty="0"/>
              <a:t>- https://commons.wikimedia.org/wiki/File:Jheronimus_Bosch_011.jpg</a:t>
            </a:r>
          </a:p>
          <a:p>
            <a:r>
              <a:rPr dirty="0"/>
              <a:t>- https://commons.wikimedia.org/wiki/File:Hieronymus_Bosch,_The_Last_Judgment.JPG</a:t>
            </a:r>
          </a:p>
          <a:p>
            <a:r>
              <a:rPr dirty="0"/>
              <a:t>- https://commons.wikimedia.org/wiki/File:Jheronimus_Bosch_or_follower_001.jpg</a:t>
            </a:r>
          </a:p>
          <a:p>
            <a:r>
              <a:rPr dirty="0"/>
              <a:t>- https://commons.wikimedia.org/wiki/File:Bosch_-_Haywain_Triptych.jpg</a:t>
            </a:r>
          </a:p>
          <a:p>
            <a:r>
              <a:rPr dirty="0"/>
              <a:t>- https://boschproject.org/</a:t>
            </a:r>
          </a:p>
          <a:p>
            <a:r>
              <a:rPr dirty="0"/>
              <a:t>- Background: OpenAI </a:t>
            </a:r>
            <a:r>
              <a:rPr dirty="0" err="1"/>
              <a:t>ImageGen</a:t>
            </a:r>
            <a:r>
              <a:rPr dirty="0"/>
              <a:t>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品最晚於一五一七年已在布魯塞爾拿騷宮；一五九一年由菲利普二世取得，一五九三年送往埃斯科里亞爾。二十世紀三〇年代它被送至普拉多修復與保管，一九四三年確立永久借展，法律上仍屬西班牙國家遺產。站在原作前，可以先退後看三板全貌，再追蹤水、球體、果實、動物與樂器如何從快樂變成控制，最後再次退後。當畫翼重新闔上，數百人的聲音突然消失；波希留下的問題，則重新落到觀看者身上。</a:t>
            </a:r>
          </a:p>
          <a:p>
            <a:endParaRPr/>
          </a:p>
          <a:p>
            <a:r>
              <a:t>[Sources]</a:t>
            </a:r>
          </a:p>
          <a:p>
            <a:r>
              <a:t>- https://www.museodelprado.es/en/the-collection/art-work/the-garden-of-earthly-delights-triptych/02388242-6d6a-4e9e-a992-e1311eab3609</a:t>
            </a:r>
          </a:p>
          <a:p>
            <a:r>
              <a:t>- https://www.museodelprado.es/en/resource/restoration-of-the-garden-of-earthly-delights/98d5fd6c-2dcf-4c37-8bdc-a05df5b69cfe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這裡是《大師與名作》。如果你喜歡這樣從作品細節與證據重新觀看藝術，歡迎訂閱、分享，並繼續和我們一起看見畫中的世界。</a:t>
            </a:r>
          </a:p>
          <a:p>
            <a:endParaRPr/>
          </a:p>
          <a:p>
            <a:r>
              <a:t>[Sources]</a:t>
            </a:r>
          </a:p>
          <a:p>
            <a:r>
              <a:t>- Channel end card; no external sources.</a:t>
            </a:r>
          </a:p>
          <a:p>
            <a:r>
              <a:t>- Background: OpenAI ImageGen, generated from the user's Bosch-inspired visual direction; not a reproduction of an existing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rcRect l="18968" r="18968"/>
          <a:stretch>
            <a:fillRect/>
          </a:stretch>
        </p:blipFill>
        <p:spPr>
          <a:xfrm>
            <a:off x="5334000" y="0"/>
            <a:ext cx="6858000" cy="62293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54A2AC-9FC1-4AB8-BF5E-C593576BA26F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6858000" cy="5467350"/>
          </a:xfrm>
          <a:prstGeom prst="roundRect">
            <a:avLst>
              <a:gd name="adj" fmla="val 2091"/>
            </a:avLst>
          </a:prstGeom>
          <a:solidFill>
            <a:srgbClr val="0B0C0C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C2DE48-5CB2-4707-80DF-7A2C2D56736F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大師與名作｜耶羅尼米斯・波希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42CCD-DE48-4B50-A719-430DF8D1A654}"/>
              </a:ext>
            </a:extLst>
          </p:cNvPr>
          <p:cNvSpPr>
            <a:spLocks noGrp="1"/>
          </p:cNvSpPr>
          <p:nvPr/>
        </p:nvSpPr>
        <p:spPr>
          <a:xfrm>
            <a:off x="723900" y="1352550"/>
            <a:ext cx="6096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750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《人間樂園》五百年謎題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5DC8DC-88E2-4426-A247-3B7BC80C50B5}"/>
              </a:ext>
            </a:extLst>
          </p:cNvPr>
          <p:cNvSpPr>
            <a:spLocks noGrp="1"/>
          </p:cNvSpPr>
          <p:nvPr/>
        </p:nvSpPr>
        <p:spPr>
          <a:xfrm>
            <a:off x="723900" y="3048000"/>
            <a:ext cx="1047750" cy="47625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BA9FF0-31A6-4930-8571-54C08873735D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5905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誘惑為什麼必須如此美麗？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DF12B9-73C2-4D0C-BC90-21241332CE59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約 1490–1500／BRCP：1501–1505｜普拉多博物館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3239BB-F3E4-4CE4-B591-543C62CEC4AB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98F824-2B6F-4AEA-B5A0-6BAC83299B2A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誘惑為什麼必須如此美麗？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3DEDC6-F4AA-4F42-AC8E-9203E3FB4A6F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1296265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FCFD9D6-3C11-4473-9B50-CF1FFC7897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7228B9-455D-41E5-9C52-79B393989387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01｜闔上的世界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C2C348-E05C-424C-9C00-11FB3A354325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創世第三日：人類尚未出現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241769-FEA6-47DF-9BA7-D2CB52B12F7F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9CACD-4F48-4D61-A299-DA3CEF6B8F30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2D50B3-05B0-4D21-BFBF-3D3AEF4107CC}"/>
              </a:ext>
            </a:extLst>
          </p:cNvPr>
          <p:cNvSpPr>
            <a:spLocks noGrp="1"/>
          </p:cNvSpPr>
          <p:nvPr/>
        </p:nvSpPr>
        <p:spPr>
          <a:xfrm>
            <a:off x="6515100" y="1409700"/>
            <a:ext cx="5219700" cy="4476750"/>
          </a:xfrm>
          <a:prstGeom prst="roundRect">
            <a:avLst>
              <a:gd name="adj" fmla="val 2553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E75EB94-D4C8-4970-9C64-13CCD2D60A6A}"/>
              </a:ext>
            </a:extLst>
          </p:cNvPr>
          <p:cNvSpPr>
            <a:spLocks noGrp="1"/>
          </p:cNvSpPr>
          <p:nvPr/>
        </p:nvSpPr>
        <p:spPr>
          <a:xfrm>
            <a:off x="514350" y="1390650"/>
            <a:ext cx="4953000" cy="4610100"/>
          </a:xfrm>
          <a:prstGeom prst="roundRect">
            <a:avLst>
              <a:gd name="adj" fmla="val 2479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3182" y="1485900"/>
            <a:ext cx="4075336" cy="4419600"/>
          </a:xfrm>
          <a:prstGeom prst="roundRect">
            <a:avLst>
              <a:gd name="adj" fmla="val 1724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20378A-8B00-4F15-8C2F-47D44A0568D3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4762500" cy="285750"/>
          </a:xfrm>
          <a:prstGeom prst="rect">
            <a:avLst/>
          </a:prstGeom>
          <a:solidFill>
            <a:srgbClr val="0B0C0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4DB19B-C933-4A91-A214-D33776D490D3}"/>
              </a:ext>
            </a:extLst>
          </p:cNvPr>
          <p:cNvSpPr>
            <a:spLocks noGrp="1"/>
          </p:cNvSpPr>
          <p:nvPr/>
        </p:nvSpPr>
        <p:spPr>
          <a:xfrm>
            <a:off x="704850" y="56864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外翼｜The</a:t>
            </a:r>
            <a:r>
              <a:rPr sz="1200" b="0" i="0" dirty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Creation｜公版重製圖</a:t>
            </a:r>
            <a:endParaRPr sz="1200" b="0" i="0" dirty="0">
              <a:solidFill>
                <a:srgbClr val="D7E4DB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C5AEFC-E283-48CF-8830-8335A7EBCCFF}"/>
              </a:ext>
            </a:extLst>
          </p:cNvPr>
          <p:cNvSpPr>
            <a:spLocks noGrp="1"/>
          </p:cNvSpPr>
          <p:nvPr/>
        </p:nvSpPr>
        <p:spPr>
          <a:xfrm>
            <a:off x="6686550" y="1619250"/>
            <a:ext cx="4857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 dirty="0" err="1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外翼的寂靜，是打開後視覺爆炸的前奏</a:t>
            </a:r>
            <a:r>
              <a:rPr sz="2025" b="1" i="0" dirty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CC94C2-B87E-4233-8219-40375C979561}"/>
              </a:ext>
            </a:extLst>
          </p:cNvPr>
          <p:cNvSpPr>
            <a:spLocks noGrp="1"/>
          </p:cNvSpPr>
          <p:nvPr/>
        </p:nvSpPr>
        <p:spPr>
          <a:xfrm>
            <a:off x="6686550" y="2895600"/>
            <a:ext cx="89535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119B38-0439-4A80-B876-14BFA4BCC3EE}"/>
              </a:ext>
            </a:extLst>
          </p:cNvPr>
          <p:cNvSpPr>
            <a:spLocks noGrp="1"/>
          </p:cNvSpPr>
          <p:nvPr/>
        </p:nvSpPr>
        <p:spPr>
          <a:xfrm>
            <a:off x="6724650" y="3371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3908A8-09CE-450D-BAA1-C98EFA0AC3D3}"/>
              </a:ext>
            </a:extLst>
          </p:cNvPr>
          <p:cNvSpPr>
            <a:spLocks noGrp="1"/>
          </p:cNvSpPr>
          <p:nvPr/>
        </p:nvSpPr>
        <p:spPr>
          <a:xfrm>
            <a:off x="6972300" y="3295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灰階畫法把世界壓低成灰綠色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FF7125-34DE-4B04-8C2F-8CFDD7A81640}"/>
              </a:ext>
            </a:extLst>
          </p:cNvPr>
          <p:cNvSpPr>
            <a:spLocks noGrp="1"/>
          </p:cNvSpPr>
          <p:nvPr/>
        </p:nvSpPr>
        <p:spPr>
          <a:xfrm>
            <a:off x="6724650" y="3943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E0B50-AE5E-4409-9539-F65100946128}"/>
              </a:ext>
            </a:extLst>
          </p:cNvPr>
          <p:cNvSpPr>
            <a:spLocks noGrp="1"/>
          </p:cNvSpPr>
          <p:nvPr/>
        </p:nvSpPr>
        <p:spPr>
          <a:xfrm>
            <a:off x="6972300" y="38671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透明球體包住陸地、水與植物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7EC65DD-4A1F-46D0-BE0A-D68DE544B74B}"/>
              </a:ext>
            </a:extLst>
          </p:cNvPr>
          <p:cNvSpPr>
            <a:spLocks noGrp="1"/>
          </p:cNvSpPr>
          <p:nvPr/>
        </p:nvSpPr>
        <p:spPr>
          <a:xfrm>
            <a:off x="6724650" y="4514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25627F-73C2-4F1F-A69B-DDBFF3C33E24}"/>
              </a:ext>
            </a:extLst>
          </p:cNvPr>
          <p:cNvSpPr>
            <a:spLocks noGrp="1"/>
          </p:cNvSpPr>
          <p:nvPr/>
        </p:nvSpPr>
        <p:spPr>
          <a:xfrm>
            <a:off x="6972300" y="4438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左上角造物主小得令人意外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E9EE70-BEF8-4A4E-ADDA-E59FD1E24877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E64C4C-11E1-44F1-8456-E5A562DE324A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外翼的寂靜，是打開後視覺爆炸的前奏。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5D4846-73CC-4C91-A43A-32AD862605E7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1393366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64537B-A07E-4608-B878-90E7BF7C7B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7E2DDE-0BDD-483A-80F2-8F119C830BB8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02｜打開畫翼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C33064-FC70-448F-9120-78CA6A8F86E9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從無聲世界到感官洪流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B8DE0-6381-4609-B9B6-5B9688AB3050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D732B6-DE24-4668-A866-83EA8BB21EA8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345937-8855-4A03-B2A5-3DFCFDAE3A8B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11201400" cy="3238500"/>
          </a:xfrm>
          <a:prstGeom prst="roundRect">
            <a:avLst>
              <a:gd name="adj" fmla="val 3529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392674" y="1447800"/>
            <a:ext cx="5406652" cy="3048000"/>
          </a:xfrm>
          <a:prstGeom prst="roundRect">
            <a:avLst>
              <a:gd name="adj" fmla="val 2500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DA761E3-7273-4CE1-AE00-FE1DC013D524}"/>
              </a:ext>
            </a:extLst>
          </p:cNvPr>
          <p:cNvSpPr>
            <a:spLocks noGrp="1"/>
          </p:cNvSpPr>
          <p:nvPr/>
        </p:nvSpPr>
        <p:spPr>
          <a:xfrm>
            <a:off x="590550" y="4210050"/>
            <a:ext cx="11010900" cy="285750"/>
          </a:xfrm>
          <a:prstGeom prst="rect">
            <a:avLst/>
          </a:prstGeom>
          <a:solidFill>
            <a:srgbClr val="0B0C0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00E78B-0251-4904-8537-354DB41F8730}"/>
              </a:ext>
            </a:extLst>
          </p:cNvPr>
          <p:cNvSpPr>
            <a:spLocks noGrp="1"/>
          </p:cNvSpPr>
          <p:nvPr/>
        </p:nvSpPr>
        <p:spPr>
          <a:xfrm>
            <a:off x="685800" y="4276725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完整三聯畫</a:t>
            </a:r>
            <a:endParaRPr sz="1200" b="0" i="0" dirty="0">
              <a:solidFill>
                <a:srgbClr val="D7E4DB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53A554-87CB-4D69-B4EF-6C4AE46D2AA4}"/>
              </a:ext>
            </a:extLst>
          </p:cNvPr>
          <p:cNvSpPr>
            <a:spLocks noGrp="1"/>
          </p:cNvSpPr>
          <p:nvPr/>
        </p:nvSpPr>
        <p:spPr>
          <a:xfrm>
            <a:off x="419100" y="4686300"/>
            <a:ext cx="11353800" cy="1352550"/>
          </a:xfrm>
          <a:prstGeom prst="roundRect">
            <a:avLst>
              <a:gd name="adj" fmla="val 8451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E4050B-5CF7-4C16-AC83-8CD731C93662}"/>
              </a:ext>
            </a:extLst>
          </p:cNvPr>
          <p:cNvSpPr>
            <a:spLocks noGrp="1"/>
          </p:cNvSpPr>
          <p:nvPr/>
        </p:nvSpPr>
        <p:spPr>
          <a:xfrm>
            <a:off x="590550" y="4857750"/>
            <a:ext cx="5429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打開的動作，本身就是作品的第一個敘事事件。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089BF6-AF59-45F2-8995-A747FE8E0CE9}"/>
              </a:ext>
            </a:extLst>
          </p:cNvPr>
          <p:cNvSpPr>
            <a:spLocks noGrp="1"/>
          </p:cNvSpPr>
          <p:nvPr/>
        </p:nvSpPr>
        <p:spPr>
          <a:xfrm>
            <a:off x="6667500" y="4838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F869F0-CBED-49FA-BA51-F7A39ACC444E}"/>
              </a:ext>
            </a:extLst>
          </p:cNvPr>
          <p:cNvSpPr>
            <a:spLocks noGrp="1"/>
          </p:cNvSpPr>
          <p:nvPr/>
        </p:nvSpPr>
        <p:spPr>
          <a:xfrm>
            <a:off x="6915150" y="47625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高 185.8 公分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29F9B08-FAD6-4BA2-A7D5-6957CCC1AD96}"/>
              </a:ext>
            </a:extLst>
          </p:cNvPr>
          <p:cNvSpPr>
            <a:spLocks noGrp="1"/>
          </p:cNvSpPr>
          <p:nvPr/>
        </p:nvSpPr>
        <p:spPr>
          <a:xfrm>
            <a:off x="6667500" y="5238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839061-4E6D-4C3B-8FD0-3718BED4B335}"/>
              </a:ext>
            </a:extLst>
          </p:cNvPr>
          <p:cNvSpPr>
            <a:spLocks noGrp="1"/>
          </p:cNvSpPr>
          <p:nvPr/>
        </p:nvSpPr>
        <p:spPr>
          <a:xfrm>
            <a:off x="6915150" y="51625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展開寬度約 325.5 公分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F642851-881F-4E80-94A0-15E3F5998245}"/>
              </a:ext>
            </a:extLst>
          </p:cNvPr>
          <p:cNvSpPr>
            <a:spLocks noGrp="1"/>
          </p:cNvSpPr>
          <p:nvPr/>
        </p:nvSpPr>
        <p:spPr>
          <a:xfrm>
            <a:off x="6667500" y="5638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DB7356-8092-4B63-97C7-089830624C74}"/>
              </a:ext>
            </a:extLst>
          </p:cNvPr>
          <p:cNvSpPr>
            <a:spLocks noGrp="1"/>
          </p:cNvSpPr>
          <p:nvPr/>
        </p:nvSpPr>
        <p:spPr>
          <a:xfrm>
            <a:off x="6915150" y="55626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伊甸園｜中央花園｜音樂地獄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465E13-869E-4567-A6AA-74A5C0E2D218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387451-AAAE-4B49-8DB4-FE4149EA2C31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打開的動作，本身就是作品的第一個敘事事件。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A8FE8F-9C7D-402C-8798-E81CE0463641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1286806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72AF5B-14F6-4A9B-9C4A-BF52F48B8D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A372C-E604-4942-9F44-1E1690EC9019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03｜神聖形式，世俗宮殿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71DA23-FFEA-4EAD-A03B-C2BB50287D73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波希不是孤立的幻覺怪才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587BE0-0EFD-432D-9DB5-5FEC3CC3158B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5A94B-7F97-43E2-AF13-6C34EE89976E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15123C-7EE7-4546-B259-6FF2FEE4B006}"/>
              </a:ext>
            </a:extLst>
          </p:cNvPr>
          <p:cNvSpPr>
            <a:spLocks noGrp="1"/>
          </p:cNvSpPr>
          <p:nvPr/>
        </p:nvSpPr>
        <p:spPr>
          <a:xfrm>
            <a:off x="361950" y="1390650"/>
            <a:ext cx="11468100" cy="4629150"/>
          </a:xfrm>
          <a:prstGeom prst="roundRect">
            <a:avLst>
              <a:gd name="adj" fmla="val 2469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8274F1-520E-4AB4-832E-1108AFB83F90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他熟悉宗教與宮廷規則，因此更懂得如何扭轉它們。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D1E289-DD2A-4CAB-8B31-60E663D730D0}"/>
              </a:ext>
            </a:extLst>
          </p:cNvPr>
          <p:cNvSpPr>
            <a:spLocks noGrp="1"/>
          </p:cNvSpPr>
          <p:nvPr/>
        </p:nvSpPr>
        <p:spPr>
          <a:xfrm>
            <a:off x="1238250" y="3429000"/>
            <a:ext cx="9715500" cy="47625"/>
          </a:xfrm>
          <a:prstGeom prst="rect">
            <a:avLst/>
          </a:prstGeom>
          <a:solidFill>
            <a:srgbClr val="D5AE5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5683AC-1905-404E-B25D-3F3B723AEFB8}"/>
              </a:ext>
            </a:extLst>
          </p:cNvPr>
          <p:cNvSpPr>
            <a:spLocks noGrp="1"/>
          </p:cNvSpPr>
          <p:nvPr/>
        </p:nvSpPr>
        <p:spPr>
          <a:xfrm>
            <a:off x="1123950" y="3295650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59633B"/>
          </a:solidFill>
          <a:ln w="19050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475C40-941A-4E7D-A5EB-6C0793900CA9}"/>
              </a:ext>
            </a:extLst>
          </p:cNvPr>
          <p:cNvSpPr>
            <a:spLocks noGrp="1"/>
          </p:cNvSpPr>
          <p:nvPr/>
        </p:nvSpPr>
        <p:spPr>
          <a:xfrm>
            <a:off x="533400" y="27241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rPr>
              <a:t>c. 1450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E4BC8A-31FA-4206-AD4B-4CD727E65521}"/>
              </a:ext>
            </a:extLst>
          </p:cNvPr>
          <p:cNvSpPr>
            <a:spLocks noGrp="1"/>
          </p:cNvSpPr>
          <p:nvPr/>
        </p:nvSpPr>
        <p:spPr>
          <a:xfrm>
            <a:off x="429006" y="3962400"/>
            <a:ext cx="1856994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生於斯海爾托亨博斯的畫家家族</a:t>
            </a:r>
            <a:endParaRPr sz="1600" b="0" i="0" dirty="0">
              <a:solidFill>
                <a:srgbClr val="FFF4D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778E94-16C6-45AC-B25A-F1C5FACD2E36}"/>
              </a:ext>
            </a:extLst>
          </p:cNvPr>
          <p:cNvSpPr>
            <a:spLocks noGrp="1"/>
          </p:cNvSpPr>
          <p:nvPr/>
        </p:nvSpPr>
        <p:spPr>
          <a:xfrm>
            <a:off x="4362450" y="3295650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D38C86"/>
          </a:solidFill>
          <a:ln w="19050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79DC54-BB12-4C9A-BE1E-0E4AD9B7AF9D}"/>
              </a:ext>
            </a:extLst>
          </p:cNvPr>
          <p:cNvSpPr>
            <a:spLocks noGrp="1"/>
          </p:cNvSpPr>
          <p:nvPr/>
        </p:nvSpPr>
        <p:spPr>
          <a:xfrm>
            <a:off x="3771900" y="27241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rPr>
              <a:t>1486/87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631E4-3FF4-457B-A6FF-DA2E083BF189}"/>
              </a:ext>
            </a:extLst>
          </p:cNvPr>
          <p:cNvSpPr>
            <a:spLocks noGrp="1"/>
          </p:cNvSpPr>
          <p:nvPr/>
        </p:nvSpPr>
        <p:spPr>
          <a:xfrm>
            <a:off x="3448050" y="3943350"/>
            <a:ext cx="2190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加入聖母兄弟會</a:t>
            </a:r>
            <a:endParaRPr sz="1600" b="0" i="0" dirty="0">
              <a:solidFill>
                <a:srgbClr val="FFF4D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18BBA8-1B91-4FCD-A5AA-0A599C32B35B}"/>
              </a:ext>
            </a:extLst>
          </p:cNvPr>
          <p:cNvSpPr>
            <a:spLocks noGrp="1"/>
          </p:cNvSpPr>
          <p:nvPr/>
        </p:nvSpPr>
        <p:spPr>
          <a:xfrm>
            <a:off x="7600950" y="3295650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8FB6C2"/>
          </a:solidFill>
          <a:ln w="19050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9F4179-DF8C-402F-90AE-548E5CD7C200}"/>
              </a:ext>
            </a:extLst>
          </p:cNvPr>
          <p:cNvSpPr>
            <a:spLocks noGrp="1"/>
          </p:cNvSpPr>
          <p:nvPr/>
        </p:nvSpPr>
        <p:spPr>
          <a:xfrm>
            <a:off x="7010400" y="27241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rPr>
              <a:t>1504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24ED8F-87C4-485B-90F5-0B5333851F2A}"/>
              </a:ext>
            </a:extLst>
          </p:cNvPr>
          <p:cNvSpPr>
            <a:spLocks noGrp="1"/>
          </p:cNvSpPr>
          <p:nvPr/>
        </p:nvSpPr>
        <p:spPr>
          <a:xfrm>
            <a:off x="6686550" y="3943350"/>
            <a:ext cx="2190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1600" dirty="0">
                <a:solidFill>
                  <a:srgbClr val="FFF4D8"/>
                </a:solidFill>
                <a:latin typeface="Noto Sans CJK TC"/>
              </a:rPr>
              <a:t>融入城市、宗教、精英圈的專業藝術家</a:t>
            </a:r>
            <a:endParaRPr lang="zh-TW" altLang="en-US" sz="1600" dirty="0">
              <a:solidFill>
                <a:srgbClr val="FFF4D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24E0D3F-19FC-4B39-A597-70AB70C5B254}"/>
              </a:ext>
            </a:extLst>
          </p:cNvPr>
          <p:cNvSpPr>
            <a:spLocks noGrp="1"/>
          </p:cNvSpPr>
          <p:nvPr/>
        </p:nvSpPr>
        <p:spPr>
          <a:xfrm>
            <a:off x="10839450" y="3295650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D16B3C"/>
          </a:solidFill>
          <a:ln w="19050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4C2EFC-2028-49AC-9668-636AE542AA95}"/>
              </a:ext>
            </a:extLst>
          </p:cNvPr>
          <p:cNvSpPr>
            <a:spLocks noGrp="1"/>
          </p:cNvSpPr>
          <p:nvPr/>
        </p:nvSpPr>
        <p:spPr>
          <a:xfrm>
            <a:off x="10248900" y="27241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rPr>
              <a:t>1517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D9AF7B-6C12-40A1-9F73-2DD982AA1E16}"/>
              </a:ext>
            </a:extLst>
          </p:cNvPr>
          <p:cNvSpPr>
            <a:spLocks noGrp="1"/>
          </p:cNvSpPr>
          <p:nvPr/>
        </p:nvSpPr>
        <p:spPr>
          <a:xfrm>
            <a:off x="9644634" y="3925824"/>
            <a:ext cx="2190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1600" dirty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作品在布魯塞爾拿騷宮展出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122550-88D1-4E01-BB98-80B33E7A581B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確切委託人、原題與最初用途仍不詳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2CD612-CDF7-4B2D-903B-3476B7F627EB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E041BE-349A-4DE3-BC7E-45DE64B5BEDD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他熟悉宗教與宮廷規則，因此更懂得如何扭轉它們。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42C00B-045E-4A52-A153-9E82BEEBB138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548953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5C8C4C-C507-46D5-ABEC-871F5E80A8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FAD45-112A-4C1C-8782-C9E1971B1669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04｜左翼伊甸園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854479-4361-47C3-9E3B-9EE191790BDE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第一道目光已經不再單純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2F515D-D767-4CCD-857F-983CB1110F7F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8EE643-8468-41E2-97CE-F7DC88026050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57C507-37D5-41AF-A2F5-07C31BEB8D0D}"/>
              </a:ext>
            </a:extLst>
          </p:cNvPr>
          <p:cNvSpPr>
            <a:spLocks noGrp="1"/>
          </p:cNvSpPr>
          <p:nvPr/>
        </p:nvSpPr>
        <p:spPr>
          <a:xfrm>
            <a:off x="6381750" y="1409700"/>
            <a:ext cx="5314950" cy="4533900"/>
          </a:xfrm>
          <a:prstGeom prst="roundRect">
            <a:avLst>
              <a:gd name="adj" fmla="val 2521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D3DE5A-8E4F-4E19-B1F1-6CDECE6E4A84}"/>
              </a:ext>
            </a:extLst>
          </p:cNvPr>
          <p:cNvSpPr>
            <a:spLocks noGrp="1"/>
          </p:cNvSpPr>
          <p:nvPr/>
        </p:nvSpPr>
        <p:spPr>
          <a:xfrm>
            <a:off x="514350" y="1447800"/>
            <a:ext cx="2686050" cy="4476750"/>
          </a:xfrm>
          <a:prstGeom prst="roundRect">
            <a:avLst>
              <a:gd name="adj" fmla="val 4255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rcRect t="13938" b="13938"/>
          <a:stretch>
            <a:fillRect/>
          </a:stretch>
        </p:blipFill>
        <p:spPr>
          <a:xfrm>
            <a:off x="600075" y="1533525"/>
            <a:ext cx="2514600" cy="4305300"/>
          </a:xfrm>
          <a:prstGeom prst="roundRect">
            <a:avLst>
              <a:gd name="adj" fmla="val 3030"/>
            </a:avLst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1268EE-D2C1-44C2-9F83-77BACC2D77A0}"/>
              </a:ext>
            </a:extLst>
          </p:cNvPr>
          <p:cNvSpPr>
            <a:spLocks noGrp="1"/>
          </p:cNvSpPr>
          <p:nvPr/>
        </p:nvSpPr>
        <p:spPr>
          <a:xfrm>
            <a:off x="3371850" y="1447800"/>
            <a:ext cx="2686050" cy="4476750"/>
          </a:xfrm>
          <a:prstGeom prst="roundRect">
            <a:avLst>
              <a:gd name="adj" fmla="val 4255"/>
            </a:avLst>
          </a:prstGeom>
          <a:solidFill>
            <a:srgbClr val="171816"/>
          </a:solidFill>
          <a:ln w="9525">
            <a:solidFill>
              <a:srgbClr val="8FB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rcRect l="24045" r="24045"/>
          <a:stretch>
            <a:fillRect/>
          </a:stretch>
        </p:blipFill>
        <p:spPr>
          <a:xfrm>
            <a:off x="3457575" y="1533525"/>
            <a:ext cx="2514600" cy="4305300"/>
          </a:xfrm>
          <a:prstGeom prst="roundRect">
            <a:avLst>
              <a:gd name="adj" fmla="val 3030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9B3103-7D6A-4A49-A630-40E34FF609BD}"/>
              </a:ext>
            </a:extLst>
          </p:cNvPr>
          <p:cNvSpPr>
            <a:spLocks noGrp="1"/>
          </p:cNvSpPr>
          <p:nvPr/>
        </p:nvSpPr>
        <p:spPr>
          <a:xfrm>
            <a:off x="514350" y="5638800"/>
            <a:ext cx="5543550" cy="285750"/>
          </a:xfrm>
          <a:prstGeom prst="rect">
            <a:avLst/>
          </a:prstGeom>
          <a:solidFill>
            <a:srgbClr val="0B0C0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5A1570-7152-440F-9ABB-8C2953D52A32}"/>
              </a:ext>
            </a:extLst>
          </p:cNvPr>
          <p:cNvSpPr>
            <a:spLocks noGrp="1"/>
          </p:cNvSpPr>
          <p:nvPr/>
        </p:nvSpPr>
        <p:spPr>
          <a:xfrm>
            <a:off x="609600" y="5659755"/>
            <a:ext cx="535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左翼全圖＋上帝將夏娃帶到亞當面前</a:t>
            </a:r>
            <a:endParaRPr sz="1200" b="0" i="0" dirty="0">
              <a:solidFill>
                <a:srgbClr val="D7E4DB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F06226-7C8C-4A02-84DD-0AE5B7E11F25}"/>
              </a:ext>
            </a:extLst>
          </p:cNvPr>
          <p:cNvSpPr>
            <a:spLocks noGrp="1"/>
          </p:cNvSpPr>
          <p:nvPr/>
        </p:nvSpPr>
        <p:spPr>
          <a:xfrm>
            <a:off x="6553200" y="1600200"/>
            <a:ext cx="4953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波希把「觀看」畫成了人類故事中的第一個事件。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A30DF4-B953-4BCF-96F9-19556AB7B91B}"/>
              </a:ext>
            </a:extLst>
          </p:cNvPr>
          <p:cNvSpPr>
            <a:spLocks noGrp="1"/>
          </p:cNvSpPr>
          <p:nvPr/>
        </p:nvSpPr>
        <p:spPr>
          <a:xfrm>
            <a:off x="6553200" y="2914650"/>
            <a:ext cx="89535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C10CCA6-39A2-4C9E-8D7B-3AADEF5CF395}"/>
              </a:ext>
            </a:extLst>
          </p:cNvPr>
          <p:cNvSpPr>
            <a:spLocks noGrp="1"/>
          </p:cNvSpPr>
          <p:nvPr/>
        </p:nvSpPr>
        <p:spPr>
          <a:xfrm>
            <a:off x="6591300" y="3390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F0638E-25F3-4919-A409-2A6B6E22FACD}"/>
              </a:ext>
            </a:extLst>
          </p:cNvPr>
          <p:cNvSpPr>
            <a:spLocks noGrp="1"/>
          </p:cNvSpPr>
          <p:nvPr/>
        </p:nvSpPr>
        <p:spPr>
          <a:xfrm>
            <a:off x="6838950" y="33147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上帝握住夏娃手腕，把她帶到亞當面前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99B6968-9EC6-4E9C-ACC7-4B90844D0E16}"/>
              </a:ext>
            </a:extLst>
          </p:cNvPr>
          <p:cNvSpPr>
            <a:spLocks noGrp="1"/>
          </p:cNvSpPr>
          <p:nvPr/>
        </p:nvSpPr>
        <p:spPr>
          <a:xfrm>
            <a:off x="6591300" y="39624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6B7BE6-06BC-4851-82E0-ABD47F3EF15D}"/>
              </a:ext>
            </a:extLst>
          </p:cNvPr>
          <p:cNvSpPr>
            <a:spLocks noGrp="1"/>
          </p:cNvSpPr>
          <p:nvPr/>
        </p:nvSpPr>
        <p:spPr>
          <a:xfrm>
            <a:off x="6838950" y="38862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亞當抬頭凝視夏娃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5C548F4-95F2-4CF5-A92E-CE866FA76E47}"/>
              </a:ext>
            </a:extLst>
          </p:cNvPr>
          <p:cNvSpPr>
            <a:spLocks noGrp="1"/>
          </p:cNvSpPr>
          <p:nvPr/>
        </p:nvSpPr>
        <p:spPr>
          <a:xfrm>
            <a:off x="6591300" y="4533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625947-AF92-429B-8F6B-446BF2B64817}"/>
              </a:ext>
            </a:extLst>
          </p:cNvPr>
          <p:cNvSpPr>
            <a:spLocks noGrp="1"/>
          </p:cNvSpPr>
          <p:nvPr/>
        </p:nvSpPr>
        <p:spPr>
          <a:xfrm>
            <a:off x="6838950" y="44577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祝福、認識與欲望在同一姿態中重疊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58A03-47CE-4ACA-BBCC-05BD45129EB1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4DF05D-87C4-4781-9FF6-A63C4688115E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波希把「觀看」畫成了人類故事中的第一個事件。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52B3-8DF2-47B7-B7DB-FD82EB583736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451607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A7C666E-2CDE-4B0C-B057-AECD42E5AB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11DC9C-3CD9-42F3-8ED2-AA2EB1BC5291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05｜不穩定的天堂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64C9AB-CAF6-4B62-B37B-36DF897787B8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生命泉中央，藏著一雙黑暗的眼睛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75E1A9-0E64-4AD0-8320-BB9052D7A902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BAB493-0036-498E-B3E5-F3DB78438231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24001F-3E8C-4744-A1DF-CFD5F84ABB80}"/>
              </a:ext>
            </a:extLst>
          </p:cNvPr>
          <p:cNvSpPr>
            <a:spLocks noGrp="1"/>
          </p:cNvSpPr>
          <p:nvPr/>
        </p:nvSpPr>
        <p:spPr>
          <a:xfrm>
            <a:off x="6381750" y="1409700"/>
            <a:ext cx="5314950" cy="4533900"/>
          </a:xfrm>
          <a:prstGeom prst="roundRect">
            <a:avLst>
              <a:gd name="adj" fmla="val 2521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26D62C-C138-4EF2-89FF-61C59A8B3540}"/>
              </a:ext>
            </a:extLst>
          </p:cNvPr>
          <p:cNvSpPr>
            <a:spLocks noGrp="1"/>
          </p:cNvSpPr>
          <p:nvPr/>
        </p:nvSpPr>
        <p:spPr>
          <a:xfrm>
            <a:off x="514350" y="1447800"/>
            <a:ext cx="2686050" cy="4476750"/>
          </a:xfrm>
          <a:prstGeom prst="roundRect">
            <a:avLst>
              <a:gd name="adj" fmla="val 4255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rcRect l="12012" r="12012"/>
          <a:stretch>
            <a:fillRect/>
          </a:stretch>
        </p:blipFill>
        <p:spPr>
          <a:xfrm>
            <a:off x="600075" y="1533525"/>
            <a:ext cx="2514600" cy="4305300"/>
          </a:xfrm>
          <a:prstGeom prst="roundRect">
            <a:avLst>
              <a:gd name="adj" fmla="val 3030"/>
            </a:avLst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1FEB1E-5717-49A0-B513-601883B96B28}"/>
              </a:ext>
            </a:extLst>
          </p:cNvPr>
          <p:cNvSpPr>
            <a:spLocks noGrp="1"/>
          </p:cNvSpPr>
          <p:nvPr/>
        </p:nvSpPr>
        <p:spPr>
          <a:xfrm>
            <a:off x="3371850" y="1447800"/>
            <a:ext cx="2686050" cy="4476750"/>
          </a:xfrm>
          <a:prstGeom prst="roundRect">
            <a:avLst>
              <a:gd name="adj" fmla="val 4255"/>
            </a:avLst>
          </a:prstGeom>
          <a:solidFill>
            <a:srgbClr val="171816"/>
          </a:solidFill>
          <a:ln w="9525">
            <a:solidFill>
              <a:srgbClr val="8FB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rcRect l="31584" r="31584"/>
          <a:stretch>
            <a:fillRect/>
          </a:stretch>
        </p:blipFill>
        <p:spPr>
          <a:xfrm>
            <a:off x="3457575" y="1533525"/>
            <a:ext cx="2514600" cy="4305300"/>
          </a:xfrm>
          <a:prstGeom prst="roundRect">
            <a:avLst>
              <a:gd name="adj" fmla="val 3030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12E0D4E-FFC4-47D2-BAB9-D5C545C7AC5D}"/>
              </a:ext>
            </a:extLst>
          </p:cNvPr>
          <p:cNvSpPr>
            <a:spLocks noGrp="1"/>
          </p:cNvSpPr>
          <p:nvPr/>
        </p:nvSpPr>
        <p:spPr>
          <a:xfrm>
            <a:off x="514350" y="5638800"/>
            <a:ext cx="5543550" cy="285750"/>
          </a:xfrm>
          <a:prstGeom prst="rect">
            <a:avLst/>
          </a:prstGeom>
          <a:solidFill>
            <a:srgbClr val="0B0C0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062418-0B6D-4E9A-AF02-699970695D37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535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生命泉與貓頭鷹＋伊甸園動物與捕食</a:t>
            </a:r>
            <a:endParaRPr sz="1200" b="0" i="0" dirty="0">
              <a:solidFill>
                <a:srgbClr val="D7E4DB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C39EF7-EAF2-4B36-AC57-2D3A8A45ED69}"/>
              </a:ext>
            </a:extLst>
          </p:cNvPr>
          <p:cNvSpPr>
            <a:spLocks noGrp="1"/>
          </p:cNvSpPr>
          <p:nvPr/>
        </p:nvSpPr>
        <p:spPr>
          <a:xfrm>
            <a:off x="6553200" y="1600200"/>
            <a:ext cx="4953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完美伊甸園的秩序中，捕食與不安已經存在。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B69EB0-9563-46F6-8120-02B13AA00768}"/>
              </a:ext>
            </a:extLst>
          </p:cNvPr>
          <p:cNvSpPr>
            <a:spLocks noGrp="1"/>
          </p:cNvSpPr>
          <p:nvPr/>
        </p:nvSpPr>
        <p:spPr>
          <a:xfrm>
            <a:off x="6553200" y="2914650"/>
            <a:ext cx="89535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C73E940-2F0A-4CF9-8013-2FA7A45022FE}"/>
              </a:ext>
            </a:extLst>
          </p:cNvPr>
          <p:cNvSpPr>
            <a:spLocks noGrp="1"/>
          </p:cNvSpPr>
          <p:nvPr/>
        </p:nvSpPr>
        <p:spPr>
          <a:xfrm>
            <a:off x="6591300" y="3390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99C9B4-DA1F-4076-B02A-01ACF0BF5D9C}"/>
              </a:ext>
            </a:extLst>
          </p:cNvPr>
          <p:cNvSpPr>
            <a:spLocks noGrp="1"/>
          </p:cNvSpPr>
          <p:nvPr/>
        </p:nvSpPr>
        <p:spPr>
          <a:xfrm>
            <a:off x="6838950" y="33147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粉紅生命泉混合植物、礦物與建築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848CDF-6429-472F-B60F-723A4032689F}"/>
              </a:ext>
            </a:extLst>
          </p:cNvPr>
          <p:cNvSpPr>
            <a:spLocks noGrp="1"/>
          </p:cNvSpPr>
          <p:nvPr/>
        </p:nvSpPr>
        <p:spPr>
          <a:xfrm>
            <a:off x="6591300" y="39624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24F20F-A296-4B70-A38D-35C0BC5E08E7}"/>
              </a:ext>
            </a:extLst>
          </p:cNvPr>
          <p:cNvSpPr>
            <a:spLocks noGrp="1"/>
          </p:cNvSpPr>
          <p:nvPr/>
        </p:nvSpPr>
        <p:spPr>
          <a:xfrm>
            <a:off x="6838950" y="38862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洞口貓頭鷹沒有單一固定象徵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CA7633A-C119-441D-B6D8-88B2B0474F41}"/>
              </a:ext>
            </a:extLst>
          </p:cNvPr>
          <p:cNvSpPr>
            <a:spLocks noGrp="1"/>
          </p:cNvSpPr>
          <p:nvPr/>
        </p:nvSpPr>
        <p:spPr>
          <a:xfrm>
            <a:off x="6591300" y="4533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D432C3-F1AA-4F42-A568-F541048FC2EC}"/>
              </a:ext>
            </a:extLst>
          </p:cNvPr>
          <p:cNvSpPr>
            <a:spLocks noGrp="1"/>
          </p:cNvSpPr>
          <p:nvPr/>
        </p:nvSpPr>
        <p:spPr>
          <a:xfrm>
            <a:off x="6838950" y="44577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長頸鹿、大象、怪魚與捕食場面同時出現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78F646-0303-473C-8378-315AE6A0A88D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9D5059-9288-4F89-9DD2-E4E3D07AB711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完美伊甸園的秩序中，捕食與不安已經存在。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F109AA-9531-416B-9444-58EEA01EE7DB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855416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66956C-2F0F-4D49-8E11-F3C697C84C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9DBAA3-6BD5-4C25-B224-B8166F4EE2B4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06｜中央花園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C84C85-4B97-4092-B66F-39B90BB7011B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美得令人放下戒心的世界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C3E76B-7904-484C-8D9E-A19AC4F12907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960212-5FEA-428D-99EE-3C55B83FB690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7BF3A9-8498-4455-8ECF-B30E2C06D4D6}"/>
              </a:ext>
            </a:extLst>
          </p:cNvPr>
          <p:cNvSpPr>
            <a:spLocks noGrp="1"/>
          </p:cNvSpPr>
          <p:nvPr/>
        </p:nvSpPr>
        <p:spPr>
          <a:xfrm>
            <a:off x="381000" y="1409700"/>
            <a:ext cx="5219700" cy="4476750"/>
          </a:xfrm>
          <a:prstGeom prst="roundRect">
            <a:avLst>
              <a:gd name="adj" fmla="val 2553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5854C7-E596-4DD6-9BFF-ECB89F663524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953000" cy="4610100"/>
          </a:xfrm>
          <a:prstGeom prst="roundRect">
            <a:avLst>
              <a:gd name="adj" fmla="val 2479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9801" y="1485900"/>
            <a:ext cx="4024598" cy="4419600"/>
          </a:xfrm>
          <a:prstGeom prst="roundRect">
            <a:avLst>
              <a:gd name="adj" fmla="val 1724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F8AEA75-E2DF-4C69-B448-460A74C1026C}"/>
              </a:ext>
            </a:extLst>
          </p:cNvPr>
          <p:cNvSpPr>
            <a:spLocks noGrp="1"/>
          </p:cNvSpPr>
          <p:nvPr/>
        </p:nvSpPr>
        <p:spPr>
          <a:xfrm>
            <a:off x="6800850" y="5619750"/>
            <a:ext cx="4762500" cy="285750"/>
          </a:xfrm>
          <a:prstGeom prst="rect">
            <a:avLst/>
          </a:prstGeom>
          <a:solidFill>
            <a:srgbClr val="0B0C0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D14DD2-6C92-4EC2-9941-FF032E1B907C}"/>
              </a:ext>
            </a:extLst>
          </p:cNvPr>
          <p:cNvSpPr>
            <a:spLocks noGrp="1"/>
          </p:cNvSpPr>
          <p:nvPr/>
        </p:nvSpPr>
        <p:spPr>
          <a:xfrm>
            <a:off x="6896100" y="56864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中央板全圖｜Earthly</a:t>
            </a:r>
            <a:r>
              <a:rPr sz="1200" b="0" i="0" dirty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 Delights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3F52A5-08FC-4461-A779-00CA17531DE4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4857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上帝消失後，慾望成為畫面唯一的組織力量。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4A9862-67F6-42F6-8A22-5BD5C1AE1CB9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89535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B6004C-4E04-49B3-A2A0-EACEA8946BC1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B6891D-BFA8-431F-AD84-DE3A9F40D290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年輕裸體人物採摘、吞食、騎乘與觸碰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99C12E-D1FC-4580-8194-56452D5AAC92}"/>
              </a:ext>
            </a:extLst>
          </p:cNvPr>
          <p:cNvSpPr>
            <a:spLocks noGrp="1"/>
          </p:cNvSpPr>
          <p:nvPr/>
        </p:nvSpPr>
        <p:spPr>
          <a:xfrm>
            <a:off x="590550" y="3943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DB9E9E-CBD4-452A-A553-4ED9CD514F78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沒有明顯老人、兒童、工作或制度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F4700D-72A0-4AB3-8399-8CEA8A886A4E}"/>
              </a:ext>
            </a:extLst>
          </p:cNvPr>
          <p:cNvSpPr>
            <a:spLocks noGrp="1"/>
          </p:cNvSpPr>
          <p:nvPr/>
        </p:nvSpPr>
        <p:spPr>
          <a:xfrm>
            <a:off x="590550" y="4514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B2FDC8-8F89-420E-B2B7-E385B0E74776}"/>
              </a:ext>
            </a:extLst>
          </p:cNvPr>
          <p:cNvSpPr>
            <a:spLocks noGrp="1"/>
          </p:cNvSpPr>
          <p:nvPr/>
        </p:nvSpPr>
        <p:spPr>
          <a:xfrm>
            <a:off x="838200" y="4438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歡愉看似無痛，卻沒有可以停下來的位置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2F4C01-6A8C-46C4-A637-7DD747BD9411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D99ACF-67F6-4653-A069-BA27D06F4EBE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上帝消失後，慾望成為畫面唯一的組織力量。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7A1DE9-583E-4116-8CC2-CD13811EAFC3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478467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5C128E-D871-4438-B362-DEE59B77C2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F95664-03D2-43A2-B722-07A529E682CB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07｜尺度倒置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E7E61D-66C5-44AA-BCF8-B8D1272D66E7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當果實大到足以支配人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3445C7-1A06-4756-B4E8-D5CED0735034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472E20-C462-4EDE-A1AB-B5609A0B4ADB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D978EE-2C43-4261-89EA-01BF67AB30AE}"/>
              </a:ext>
            </a:extLst>
          </p:cNvPr>
          <p:cNvSpPr>
            <a:spLocks noGrp="1"/>
          </p:cNvSpPr>
          <p:nvPr/>
        </p:nvSpPr>
        <p:spPr>
          <a:xfrm>
            <a:off x="6515100" y="1409700"/>
            <a:ext cx="5219700" cy="4476750"/>
          </a:xfrm>
          <a:prstGeom prst="roundRect">
            <a:avLst>
              <a:gd name="adj" fmla="val 2553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96F3A1-B901-40E0-B983-D581BF844293}"/>
              </a:ext>
            </a:extLst>
          </p:cNvPr>
          <p:cNvSpPr>
            <a:spLocks noGrp="1"/>
          </p:cNvSpPr>
          <p:nvPr/>
        </p:nvSpPr>
        <p:spPr>
          <a:xfrm>
            <a:off x="514350" y="1390650"/>
            <a:ext cx="4953000" cy="4610100"/>
          </a:xfrm>
          <a:prstGeom prst="roundRect">
            <a:avLst>
              <a:gd name="adj" fmla="val 2479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1866602"/>
            <a:ext cx="4762500" cy="3658195"/>
          </a:xfrm>
          <a:prstGeom prst="roundRect">
            <a:avLst>
              <a:gd name="adj" fmla="val 1724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025B0B2-059C-4483-A17B-223EA284AAFF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4762500" cy="285750"/>
          </a:xfrm>
          <a:prstGeom prst="rect">
            <a:avLst/>
          </a:prstGeom>
          <a:solidFill>
            <a:srgbClr val="0B0C0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66B058-6B23-4AAF-A6D9-38387A7BBE6E}"/>
              </a:ext>
            </a:extLst>
          </p:cNvPr>
          <p:cNvSpPr>
            <a:spLocks noGrp="1"/>
          </p:cNvSpPr>
          <p:nvPr/>
        </p:nvSpPr>
        <p:spPr>
          <a:xfrm>
            <a:off x="704850" y="56864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中央板｜巨果與身體遊戲</a:t>
            </a:r>
            <a:endParaRPr sz="1200" b="0" i="0" dirty="0">
              <a:solidFill>
                <a:srgbClr val="D7E4DB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EBDC58-14DD-4AE3-A757-7CE27918A317}"/>
              </a:ext>
            </a:extLst>
          </p:cNvPr>
          <p:cNvSpPr>
            <a:spLocks noGrp="1"/>
          </p:cNvSpPr>
          <p:nvPr/>
        </p:nvSpPr>
        <p:spPr>
          <a:xfrm>
            <a:off x="6686550" y="1619250"/>
            <a:ext cx="4857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人不再是自然的主人，而像被短暫快樂搬運。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DC6618-F1D3-4BD8-B07E-A49AA3BC8C3B}"/>
              </a:ext>
            </a:extLst>
          </p:cNvPr>
          <p:cNvSpPr>
            <a:spLocks noGrp="1"/>
          </p:cNvSpPr>
          <p:nvPr/>
        </p:nvSpPr>
        <p:spPr>
          <a:xfrm>
            <a:off x="6686550" y="2895600"/>
            <a:ext cx="89535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F64B173-6144-4C37-8B26-13485D74A107}"/>
              </a:ext>
            </a:extLst>
          </p:cNvPr>
          <p:cNvSpPr>
            <a:spLocks noGrp="1"/>
          </p:cNvSpPr>
          <p:nvPr/>
        </p:nvSpPr>
        <p:spPr>
          <a:xfrm>
            <a:off x="6724650" y="3371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BDCB68-F46E-458E-9DD6-60959EE291E5}"/>
              </a:ext>
            </a:extLst>
          </p:cNvPr>
          <p:cNvSpPr>
            <a:spLocks noGrp="1"/>
          </p:cNvSpPr>
          <p:nvPr/>
        </p:nvSpPr>
        <p:spPr>
          <a:xfrm>
            <a:off x="6972300" y="3295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莓果、鳥與貝殼超出日常尺度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0C4B769-4843-446F-A275-6F3811C5CB96}"/>
              </a:ext>
            </a:extLst>
          </p:cNvPr>
          <p:cNvSpPr>
            <a:spLocks noGrp="1"/>
          </p:cNvSpPr>
          <p:nvPr/>
        </p:nvSpPr>
        <p:spPr>
          <a:xfrm>
            <a:off x="6724650" y="3943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9A3E1A-5579-4301-9386-6A59B68FA0F9}"/>
              </a:ext>
            </a:extLst>
          </p:cNvPr>
          <p:cNvSpPr>
            <a:spLocks noGrp="1"/>
          </p:cNvSpPr>
          <p:nvPr/>
        </p:nvSpPr>
        <p:spPr>
          <a:xfrm>
            <a:off x="6972300" y="38671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人被包住、壓住、吞入或搬運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BE88B0F-A8C9-4F87-A40D-8C1FA622969A}"/>
              </a:ext>
            </a:extLst>
          </p:cNvPr>
          <p:cNvSpPr>
            <a:spLocks noGrp="1"/>
          </p:cNvSpPr>
          <p:nvPr/>
        </p:nvSpPr>
        <p:spPr>
          <a:xfrm>
            <a:off x="6724650" y="4514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5C83F0-9D9A-4EAB-BE1A-0F4B2AEF4FCF}"/>
              </a:ext>
            </a:extLst>
          </p:cNvPr>
          <p:cNvSpPr>
            <a:spLocks noGrp="1"/>
          </p:cNvSpPr>
          <p:nvPr/>
        </p:nvSpPr>
        <p:spPr>
          <a:xfrm>
            <a:off x="6972300" y="4438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早期清單以</a:t>
            </a:r>
            <a:r>
              <a:rPr sz="1600" b="0" i="0" dirty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madroño</a:t>
            </a:r>
            <a:r>
              <a:rPr sz="1600" b="0" i="0" dirty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果實稱呼作品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7C2899-0965-411A-8AE5-3C19B7C448BC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68693F-5DFB-46A1-9EEC-37C51DF8EC7E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人不再是自然的主人，而像被短暫快樂搬運。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A39263-DA5F-4859-9B98-99AAA47854B9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674723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95F86A-525F-487F-BBB0-678B00EEDC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C6618C-C0AC-41ED-ACDB-10ECA036A135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08｜脆弱容器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9B404-6E0C-409D-A96F-6A9ED68B39EE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透明球體裡的親密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DD1256-AE2A-4D99-B6F5-0D604C0859C0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BE631F-06B7-42B9-A717-4CC671C1A31F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26A3C4-14CB-436D-BA2F-EBB0EC965382}"/>
              </a:ext>
            </a:extLst>
          </p:cNvPr>
          <p:cNvSpPr>
            <a:spLocks noGrp="1"/>
          </p:cNvSpPr>
          <p:nvPr/>
        </p:nvSpPr>
        <p:spPr>
          <a:xfrm>
            <a:off x="381000" y="1409700"/>
            <a:ext cx="5219700" cy="4476750"/>
          </a:xfrm>
          <a:prstGeom prst="roundRect">
            <a:avLst>
              <a:gd name="adj" fmla="val 2553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D8C718-16B1-44B4-9C7C-C1E02C91B5A7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953000" cy="4610100"/>
          </a:xfrm>
          <a:prstGeom prst="roundRect">
            <a:avLst>
              <a:gd name="adj" fmla="val 2479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36654" y="1485900"/>
            <a:ext cx="4090892" cy="4419600"/>
          </a:xfrm>
          <a:prstGeom prst="roundRect">
            <a:avLst>
              <a:gd name="adj" fmla="val 1724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92B57A7-1192-4046-BCFA-D22BE962D609}"/>
              </a:ext>
            </a:extLst>
          </p:cNvPr>
          <p:cNvSpPr>
            <a:spLocks noGrp="1"/>
          </p:cNvSpPr>
          <p:nvPr/>
        </p:nvSpPr>
        <p:spPr>
          <a:xfrm>
            <a:off x="6800850" y="5619750"/>
            <a:ext cx="4762500" cy="285750"/>
          </a:xfrm>
          <a:prstGeom prst="rect">
            <a:avLst/>
          </a:prstGeom>
          <a:solidFill>
            <a:srgbClr val="0B0C0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4F4900-AAAE-4C00-8DC4-D66F724258F6}"/>
              </a:ext>
            </a:extLst>
          </p:cNvPr>
          <p:cNvSpPr>
            <a:spLocks noGrp="1"/>
          </p:cNvSpPr>
          <p:nvPr/>
        </p:nvSpPr>
        <p:spPr>
          <a:xfrm>
            <a:off x="6896100" y="56864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中央板｜透明球中的兩人</a:t>
            </a:r>
            <a:endParaRPr sz="1200" b="0" i="0" dirty="0">
              <a:solidFill>
                <a:srgbClr val="D7E4DB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8FC440-9AFB-4D18-8A6A-038BC47DD70B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4857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看似被保護的快樂，也把自己的脆弱完全展示出來。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269686-3901-40CE-A7DC-7EBBC25211C1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89535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9DD7A0F-CFCB-423C-B831-2812459F9D10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4604A1-8AA0-452D-98BC-377A0C364779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玻璃般薄膜包住兩個身體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47CC23E-ED02-496B-88BA-C40AB4F71185}"/>
              </a:ext>
            </a:extLst>
          </p:cNvPr>
          <p:cNvSpPr>
            <a:spLocks noGrp="1"/>
          </p:cNvSpPr>
          <p:nvPr/>
        </p:nvSpPr>
        <p:spPr>
          <a:xfrm>
            <a:off x="590550" y="3943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32FD05-250B-432B-BE47-09FB4864DAEA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親密被保護，也被觀看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7D0616-6EE4-41DD-85CD-D946D290E46D}"/>
              </a:ext>
            </a:extLst>
          </p:cNvPr>
          <p:cNvSpPr>
            <a:spLocks noGrp="1"/>
          </p:cNvSpPr>
          <p:nvPr/>
        </p:nvSpPr>
        <p:spPr>
          <a:xfrm>
            <a:off x="590550" y="4514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480958-55A3-48F4-9B96-AABE6A017832}"/>
              </a:ext>
            </a:extLst>
          </p:cNvPr>
          <p:cNvSpPr>
            <a:spLocks noGrp="1"/>
          </p:cNvSpPr>
          <p:nvPr/>
        </p:nvSpPr>
        <p:spPr>
          <a:xfrm>
            <a:off x="838200" y="4438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球、薄殼與細管反覆出現在全作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FC8A34-4131-47F8-8B1E-2774D7EFE04A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654FBB-F977-42EC-890F-F5EFE8CF55B0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看似被保護的快樂，也把自己的脆弱完全展示出來。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058D21-15E6-4140-BCE3-6B7DA03C481A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2097075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FB09DC-210C-4868-8A52-85D1BAAEB0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B6BC48-4A83-4A12-B53E-B60805681F6C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09｜欲望循環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26EF92-B997-42E4-A7CE-ADF48D58BA4D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騎乘者真的掌握了動物嗎？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A3C377-DFBD-4F2F-85FC-4CD964241A3F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24D65-6F41-419E-9E1B-F43CC399A9E0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C3B835-1DE9-4C3C-9B6B-8AEB1120894E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11201400" cy="3238500"/>
          </a:xfrm>
          <a:prstGeom prst="roundRect">
            <a:avLst>
              <a:gd name="adj" fmla="val 3529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791935" y="1447800"/>
            <a:ext cx="6608130" cy="3048000"/>
          </a:xfrm>
          <a:prstGeom prst="roundRect">
            <a:avLst>
              <a:gd name="adj" fmla="val 2500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BDB94AF-FD66-41D5-89A4-DB62658D2527}"/>
              </a:ext>
            </a:extLst>
          </p:cNvPr>
          <p:cNvSpPr>
            <a:spLocks noGrp="1"/>
          </p:cNvSpPr>
          <p:nvPr/>
        </p:nvSpPr>
        <p:spPr>
          <a:xfrm>
            <a:off x="590550" y="4210050"/>
            <a:ext cx="11010900" cy="285750"/>
          </a:xfrm>
          <a:prstGeom prst="rect">
            <a:avLst/>
          </a:prstGeom>
          <a:solidFill>
            <a:srgbClr val="0B0C0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0C1BF4-0BCD-4671-8CBC-80FF4E0E8B63}"/>
              </a:ext>
            </a:extLst>
          </p:cNvPr>
          <p:cNvSpPr>
            <a:spLocks noGrp="1"/>
          </p:cNvSpPr>
          <p:nvPr/>
        </p:nvSpPr>
        <p:spPr>
          <a:xfrm>
            <a:off x="685800" y="4276725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中央板｜圓池與騎乘隊伍</a:t>
            </a:r>
            <a:endParaRPr sz="675" b="0" i="0" dirty="0">
              <a:solidFill>
                <a:srgbClr val="D7E4DB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06965B8-E1EB-44BE-82B1-B5D66B1401CA}"/>
              </a:ext>
            </a:extLst>
          </p:cNvPr>
          <p:cNvSpPr>
            <a:spLocks noGrp="1"/>
          </p:cNvSpPr>
          <p:nvPr/>
        </p:nvSpPr>
        <p:spPr>
          <a:xfrm>
            <a:off x="419100" y="4686300"/>
            <a:ext cx="11353800" cy="1352550"/>
          </a:xfrm>
          <a:prstGeom prst="roundRect">
            <a:avLst>
              <a:gd name="adj" fmla="val 8451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5ECF00-D910-4B03-90CC-4F0D97EAE67B}"/>
              </a:ext>
            </a:extLst>
          </p:cNvPr>
          <p:cNvSpPr>
            <a:spLocks noGrp="1"/>
          </p:cNvSpPr>
          <p:nvPr/>
        </p:nvSpPr>
        <p:spPr>
          <a:xfrm>
            <a:off x="590550" y="4857750"/>
            <a:ext cx="5429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看似控制動物的人，也可能正在被本能帶著繞圈。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13A6E3-065B-46F6-B74D-03DA4DBAAC3B}"/>
              </a:ext>
            </a:extLst>
          </p:cNvPr>
          <p:cNvSpPr>
            <a:spLocks noGrp="1"/>
          </p:cNvSpPr>
          <p:nvPr/>
        </p:nvSpPr>
        <p:spPr>
          <a:xfrm>
            <a:off x="6667500" y="4838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A7123E-80B9-4A27-BFCB-D1AD0A272FC6}"/>
              </a:ext>
            </a:extLst>
          </p:cNvPr>
          <p:cNvSpPr>
            <a:spLocks noGrp="1"/>
          </p:cNvSpPr>
          <p:nvPr/>
        </p:nvSpPr>
        <p:spPr>
          <a:xfrm>
            <a:off x="6915150" y="47625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男性騎著馬、牛、駱駝、豬與幻想生物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2F45F5-911C-452D-94DA-7485D64A82CA}"/>
              </a:ext>
            </a:extLst>
          </p:cNvPr>
          <p:cNvSpPr>
            <a:spLocks noGrp="1"/>
          </p:cNvSpPr>
          <p:nvPr/>
        </p:nvSpPr>
        <p:spPr>
          <a:xfrm>
            <a:off x="6667500" y="5238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947CF9-EE72-44F1-952A-71AC2CCC9521}"/>
              </a:ext>
            </a:extLst>
          </p:cNvPr>
          <p:cNvSpPr>
            <a:spLocks noGrp="1"/>
          </p:cNvSpPr>
          <p:nvPr/>
        </p:nvSpPr>
        <p:spPr>
          <a:xfrm>
            <a:off x="6915150" y="51625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隊伍圍繞圓池不斷循環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78F35D3-A925-433F-8A30-97E66BA28DE5}"/>
              </a:ext>
            </a:extLst>
          </p:cNvPr>
          <p:cNvSpPr>
            <a:spLocks noGrp="1"/>
          </p:cNvSpPr>
          <p:nvPr/>
        </p:nvSpPr>
        <p:spPr>
          <a:xfrm>
            <a:off x="6667500" y="5638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EE2AD7-485B-447A-8669-52CF381264BD}"/>
              </a:ext>
            </a:extLst>
          </p:cNvPr>
          <p:cNvSpPr>
            <a:spLocks noGrp="1"/>
          </p:cNvSpPr>
          <p:nvPr/>
        </p:nvSpPr>
        <p:spPr>
          <a:xfrm>
            <a:off x="6915150" y="55626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運動很多，方向卻沒有出口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1BCE87-82C6-4D1B-8121-0E14E3E27547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A63EBA-9BA3-42A9-8888-AADFE3CFF79A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看似控制動物的人，也可能正在被本能帶著繞圈。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A6A5C1-BE1E-493C-ADD6-EF6D6B6A6659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356183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DC2F9A6-8D50-4B2A-8FB6-37E0D6B826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603311-0C88-4344-A9D3-FF186F4CA7AD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10｜誰在觀看誰？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3611BD-E73A-4E5C-9D11-F20B03C9E51A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陌生身體與回望的人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891394-BE64-4D9C-A530-4D393BB72595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F1B8E8-E041-432E-BF8A-4B0C20DDFD44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D06CF9-FA75-4FE5-9FFB-BD610BE34CED}"/>
              </a:ext>
            </a:extLst>
          </p:cNvPr>
          <p:cNvSpPr>
            <a:spLocks noGrp="1"/>
          </p:cNvSpPr>
          <p:nvPr/>
        </p:nvSpPr>
        <p:spPr>
          <a:xfrm>
            <a:off x="6381750" y="1409700"/>
            <a:ext cx="5314950" cy="4533900"/>
          </a:xfrm>
          <a:prstGeom prst="roundRect">
            <a:avLst>
              <a:gd name="adj" fmla="val 2521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F26F59-6929-4BEB-95F9-82795F184B57}"/>
              </a:ext>
            </a:extLst>
          </p:cNvPr>
          <p:cNvSpPr>
            <a:spLocks noGrp="1"/>
          </p:cNvSpPr>
          <p:nvPr/>
        </p:nvSpPr>
        <p:spPr>
          <a:xfrm>
            <a:off x="514350" y="1447800"/>
            <a:ext cx="2686050" cy="4476750"/>
          </a:xfrm>
          <a:prstGeom prst="roundRect">
            <a:avLst>
              <a:gd name="adj" fmla="val 4255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rcRect l="17864" r="17864"/>
          <a:stretch>
            <a:fillRect/>
          </a:stretch>
        </p:blipFill>
        <p:spPr>
          <a:xfrm>
            <a:off x="600075" y="1533525"/>
            <a:ext cx="2514600" cy="4305300"/>
          </a:xfrm>
          <a:prstGeom prst="roundRect">
            <a:avLst>
              <a:gd name="adj" fmla="val 3030"/>
            </a:avLst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6F28A2-0EB7-4B6A-A6F0-FEA981CE3EF4}"/>
              </a:ext>
            </a:extLst>
          </p:cNvPr>
          <p:cNvSpPr>
            <a:spLocks noGrp="1"/>
          </p:cNvSpPr>
          <p:nvPr/>
        </p:nvSpPr>
        <p:spPr>
          <a:xfrm>
            <a:off x="3371850" y="1447800"/>
            <a:ext cx="2686050" cy="4476750"/>
          </a:xfrm>
          <a:prstGeom prst="roundRect">
            <a:avLst>
              <a:gd name="adj" fmla="val 4255"/>
            </a:avLst>
          </a:prstGeom>
          <a:solidFill>
            <a:srgbClr val="171816"/>
          </a:solidFill>
          <a:ln w="9525">
            <a:solidFill>
              <a:srgbClr val="8FB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rcRect l="5584" r="5584"/>
          <a:stretch>
            <a:fillRect/>
          </a:stretch>
        </p:blipFill>
        <p:spPr>
          <a:xfrm>
            <a:off x="3457575" y="1533525"/>
            <a:ext cx="2514600" cy="4305300"/>
          </a:xfrm>
          <a:prstGeom prst="roundRect">
            <a:avLst>
              <a:gd name="adj" fmla="val 3030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6AB4D8B-291B-4A3D-AD17-70D47BCAE5CE}"/>
              </a:ext>
            </a:extLst>
          </p:cNvPr>
          <p:cNvSpPr>
            <a:spLocks noGrp="1"/>
          </p:cNvSpPr>
          <p:nvPr/>
        </p:nvSpPr>
        <p:spPr>
          <a:xfrm>
            <a:off x="514350" y="5638800"/>
            <a:ext cx="5543550" cy="285750"/>
          </a:xfrm>
          <a:prstGeom prst="rect">
            <a:avLst/>
          </a:prstGeom>
          <a:solidFill>
            <a:srgbClr val="0B0C0C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41172A-0346-4E08-BC30-CF9589731657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535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中央板｜不同身體＋向畫外回望的人</a:t>
            </a:r>
            <a:endParaRPr sz="1200" b="0" i="0" dirty="0">
              <a:solidFill>
                <a:srgbClr val="D7E4DB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B6EBB8-4D7F-4943-8EB6-A16BE8A6AADA}"/>
              </a:ext>
            </a:extLst>
          </p:cNvPr>
          <p:cNvSpPr>
            <a:spLocks noGrp="1"/>
          </p:cNvSpPr>
          <p:nvPr/>
        </p:nvSpPr>
        <p:spPr>
          <a:xfrm>
            <a:off x="6553200" y="1600200"/>
            <a:ext cx="4953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我們原本偷看畫中人的慾望，突然發現畫中也有人看見我們。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F55188-E141-465D-9166-BAEF78A580EC}"/>
              </a:ext>
            </a:extLst>
          </p:cNvPr>
          <p:cNvSpPr>
            <a:spLocks noGrp="1"/>
          </p:cNvSpPr>
          <p:nvPr/>
        </p:nvSpPr>
        <p:spPr>
          <a:xfrm>
            <a:off x="6553200" y="2914650"/>
            <a:ext cx="89535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7455029-2D7E-4FC8-B673-DC8AFC1332F7}"/>
              </a:ext>
            </a:extLst>
          </p:cNvPr>
          <p:cNvSpPr>
            <a:spLocks noGrp="1"/>
          </p:cNvSpPr>
          <p:nvPr/>
        </p:nvSpPr>
        <p:spPr>
          <a:xfrm>
            <a:off x="6591300" y="3390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AD1017-D365-4B8D-A7FA-ECEBE0E8F763}"/>
              </a:ext>
            </a:extLst>
          </p:cNvPr>
          <p:cNvSpPr>
            <a:spLocks noGrp="1"/>
          </p:cNvSpPr>
          <p:nvPr/>
        </p:nvSpPr>
        <p:spPr>
          <a:xfrm>
            <a:off x="6838950" y="33147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不同膚色與覆毛人物需留在完整語境中觀看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A0B2FD-81A2-4959-812C-869A9515C833}"/>
              </a:ext>
            </a:extLst>
          </p:cNvPr>
          <p:cNvSpPr>
            <a:spLocks noGrp="1"/>
          </p:cNvSpPr>
          <p:nvPr/>
        </p:nvSpPr>
        <p:spPr>
          <a:xfrm>
            <a:off x="6591300" y="39624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96B08A-9F14-4D64-BC46-0DA310E739F4}"/>
              </a:ext>
            </a:extLst>
          </p:cNvPr>
          <p:cNvSpPr>
            <a:spLocks noGrp="1"/>
          </p:cNvSpPr>
          <p:nvPr/>
        </p:nvSpPr>
        <p:spPr>
          <a:xfrm>
            <a:off x="6838950" y="38862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不可直接套用現代族群身分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3369538-0E69-4261-96B2-D86C43A0DA9E}"/>
              </a:ext>
            </a:extLst>
          </p:cNvPr>
          <p:cNvSpPr>
            <a:spLocks noGrp="1"/>
          </p:cNvSpPr>
          <p:nvPr/>
        </p:nvSpPr>
        <p:spPr>
          <a:xfrm>
            <a:off x="6591300" y="4533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D7FB4D-E8EA-403C-9F28-4955CA280C57}"/>
              </a:ext>
            </a:extLst>
          </p:cNvPr>
          <p:cNvSpPr>
            <a:spLocks noGrp="1"/>
          </p:cNvSpPr>
          <p:nvPr/>
        </p:nvSpPr>
        <p:spPr>
          <a:xfrm>
            <a:off x="6838950" y="44577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右下男子身分未定，卻把凝視送回畫外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94033D-10F2-4EC4-88BF-2DD4876E498A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C71973-447F-453D-9610-728E93332935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我們原本偷看畫中人的慾望，突然發現畫中也有人看見我們。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238386-82EF-4569-A63D-68AC4996FEAE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745456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5D31E3-F59C-485E-A1ED-510D67E508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BC6149-5894-4A38-85FB-71151E45299D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11｜右翼音樂地獄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05753D-6DA7-4EAC-8E8A-7EBAD3C6D6E7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享樂的工具開始反過來使用人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D2052-5668-4351-9C77-9035AA632D41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D2AD4A-09AA-4816-8777-7BFBE3FFCA1A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98931A-3307-456D-8017-FA3BE6071AED}"/>
              </a:ext>
            </a:extLst>
          </p:cNvPr>
          <p:cNvSpPr>
            <a:spLocks noGrp="1"/>
          </p:cNvSpPr>
          <p:nvPr/>
        </p:nvSpPr>
        <p:spPr>
          <a:xfrm>
            <a:off x="6515100" y="1409700"/>
            <a:ext cx="5219700" cy="4476750"/>
          </a:xfrm>
          <a:prstGeom prst="roundRect">
            <a:avLst>
              <a:gd name="adj" fmla="val 2553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9066E8-933E-4095-ABA0-78A28B65CEE0}"/>
              </a:ext>
            </a:extLst>
          </p:cNvPr>
          <p:cNvSpPr>
            <a:spLocks noGrp="1"/>
          </p:cNvSpPr>
          <p:nvPr/>
        </p:nvSpPr>
        <p:spPr>
          <a:xfrm>
            <a:off x="514350" y="1390650"/>
            <a:ext cx="4953000" cy="4610100"/>
          </a:xfrm>
          <a:prstGeom prst="roundRect">
            <a:avLst>
              <a:gd name="adj" fmla="val 2479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036493" y="1485900"/>
            <a:ext cx="1908715" cy="4419600"/>
          </a:xfrm>
          <a:prstGeom prst="roundRect">
            <a:avLst>
              <a:gd name="adj" fmla="val 1724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6E7270B-7AFC-4CC2-BA1E-D856D3EAB76C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4762500" cy="285750"/>
          </a:xfrm>
          <a:prstGeom prst="rect">
            <a:avLst/>
          </a:prstGeom>
          <a:solidFill>
            <a:srgbClr val="0B0C0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3B4E85-4A9A-403F-8846-B700BD7300F8}"/>
              </a:ext>
            </a:extLst>
          </p:cNvPr>
          <p:cNvSpPr>
            <a:spLocks noGrp="1"/>
          </p:cNvSpPr>
          <p:nvPr/>
        </p:nvSpPr>
        <p:spPr>
          <a:xfrm>
            <a:off x="704850" y="56864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右翼全圖｜Musical</a:t>
            </a:r>
            <a:r>
              <a:rPr sz="1200" b="0" i="0" dirty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 Hell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E534B1-7003-4816-A07A-A9A9B3B2AA43}"/>
              </a:ext>
            </a:extLst>
          </p:cNvPr>
          <p:cNvSpPr>
            <a:spLocks noGrp="1"/>
          </p:cNvSpPr>
          <p:nvPr/>
        </p:nvSpPr>
        <p:spPr>
          <a:xfrm>
            <a:off x="6686550" y="1619250"/>
            <a:ext cx="4857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花園中的快樂沒有消失，而是從主人變成刑具。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8C6225-D6D2-4054-B52F-A6F8F5BC2E1E}"/>
              </a:ext>
            </a:extLst>
          </p:cNvPr>
          <p:cNvSpPr>
            <a:spLocks noGrp="1"/>
          </p:cNvSpPr>
          <p:nvPr/>
        </p:nvSpPr>
        <p:spPr>
          <a:xfrm>
            <a:off x="6686550" y="2895600"/>
            <a:ext cx="89535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233AEA3-531A-4E5C-BABB-CA77DF100FBB}"/>
              </a:ext>
            </a:extLst>
          </p:cNvPr>
          <p:cNvSpPr>
            <a:spLocks noGrp="1"/>
          </p:cNvSpPr>
          <p:nvPr/>
        </p:nvSpPr>
        <p:spPr>
          <a:xfrm>
            <a:off x="6724650" y="3371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2125F8-9A70-4B82-A85A-0263295A9CA3}"/>
              </a:ext>
            </a:extLst>
          </p:cNvPr>
          <p:cNvSpPr>
            <a:spLocks noGrp="1"/>
          </p:cNvSpPr>
          <p:nvPr/>
        </p:nvSpPr>
        <p:spPr>
          <a:xfrm>
            <a:off x="6972300" y="3295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嫩綠與晴空變成夜色、冰面與城市大火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63C038B-5B1B-4AD4-A270-6DE123916678}"/>
              </a:ext>
            </a:extLst>
          </p:cNvPr>
          <p:cNvSpPr>
            <a:spLocks noGrp="1"/>
          </p:cNvSpPr>
          <p:nvPr/>
        </p:nvSpPr>
        <p:spPr>
          <a:xfrm>
            <a:off x="6724650" y="3943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75787B-B63F-4CBD-95D7-0A0F59A89453}"/>
              </a:ext>
            </a:extLst>
          </p:cNvPr>
          <p:cNvSpPr>
            <a:spLocks noGrp="1"/>
          </p:cNvSpPr>
          <p:nvPr/>
        </p:nvSpPr>
        <p:spPr>
          <a:xfrm>
            <a:off x="6972300" y="38671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身體被樂器、器具與動物支配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E7AA467-6F46-4FC0-925E-B87B0604E6F1}"/>
              </a:ext>
            </a:extLst>
          </p:cNvPr>
          <p:cNvSpPr>
            <a:spLocks noGrp="1"/>
          </p:cNvSpPr>
          <p:nvPr/>
        </p:nvSpPr>
        <p:spPr>
          <a:xfrm>
            <a:off x="6724650" y="4514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24BC17-DD4D-4B7C-8207-B9756526DAA9}"/>
              </a:ext>
            </a:extLst>
          </p:cNvPr>
          <p:cNvSpPr>
            <a:spLocks noGrp="1"/>
          </p:cNvSpPr>
          <p:nvPr/>
        </p:nvSpPr>
        <p:spPr>
          <a:xfrm>
            <a:off x="6972300" y="4438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地獄像中央花園失去尺度後的內部翻轉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3C7121-4A59-4963-A4E5-2233588C85BD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2E78F5-60CC-4C6D-BE49-C68D1AE3F99C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花園中的快樂沒有消失，而是從主人變成刑具。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8DFF8C-9691-4209-895F-42BBB3F3FCD7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2124663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317ED0-740A-4312-9198-46D697340E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6919D1-3200-4B12-B24F-4374C65E1C66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12｜當樂器開始演奏人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A8DBF4-6A0A-410F-AE40-DD95D27A0CB0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和諧的工具，變成羞辱的機器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268D67-E9B9-4428-A6A7-836B222186EE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B18F56-0DFD-4F0B-B818-0C92BA43E429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5DC359-B41B-4557-BA60-A6B212679C12}"/>
              </a:ext>
            </a:extLst>
          </p:cNvPr>
          <p:cNvSpPr>
            <a:spLocks noGrp="1"/>
          </p:cNvSpPr>
          <p:nvPr/>
        </p:nvSpPr>
        <p:spPr>
          <a:xfrm>
            <a:off x="381000" y="1409700"/>
            <a:ext cx="5219700" cy="4476750"/>
          </a:xfrm>
          <a:prstGeom prst="roundRect">
            <a:avLst>
              <a:gd name="adj" fmla="val 2553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2DED94-F5E2-4F73-B08F-3C27C075CA59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953000" cy="4610100"/>
          </a:xfrm>
          <a:prstGeom prst="roundRect">
            <a:avLst>
              <a:gd name="adj" fmla="val 2479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98805" y="1485900"/>
            <a:ext cx="3966591" cy="4419600"/>
          </a:xfrm>
          <a:prstGeom prst="roundRect">
            <a:avLst>
              <a:gd name="adj" fmla="val 1724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6604E4-627C-4C48-9A4E-E892B0370249}"/>
              </a:ext>
            </a:extLst>
          </p:cNvPr>
          <p:cNvSpPr>
            <a:spLocks noGrp="1"/>
          </p:cNvSpPr>
          <p:nvPr/>
        </p:nvSpPr>
        <p:spPr>
          <a:xfrm>
            <a:off x="6800850" y="5619750"/>
            <a:ext cx="4762500" cy="285750"/>
          </a:xfrm>
          <a:prstGeom prst="rect">
            <a:avLst/>
          </a:prstGeom>
          <a:solidFill>
            <a:srgbClr val="0B0C0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872B4A-5C65-4FC4-8646-3CB30DB20899}"/>
              </a:ext>
            </a:extLst>
          </p:cNvPr>
          <p:cNvSpPr>
            <a:spLocks noGrp="1"/>
          </p:cNvSpPr>
          <p:nvPr/>
        </p:nvSpPr>
        <p:spPr>
          <a:xfrm>
            <a:off x="6896100" y="56864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右翼｜樂器地獄與臀部樂譜區</a:t>
            </a:r>
            <a:endParaRPr sz="1200" b="0" i="0" dirty="0">
              <a:solidFill>
                <a:srgbClr val="D7E4DB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CDB062-F181-4A94-BB17-1E338F770F84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4857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波希的刑具並不陌生；它們正是人類最熟悉的娛樂。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E7F4E4-E3EB-493B-95A3-F1E08F941BFA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89535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589EC7-8DE8-4421-80FC-BE3851938153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63CABD-9135-43A1-9C3E-9DE784C5D5EB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罪人被固定在豎琴弦間、被魯特琴壓住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C8D8D43-AE76-4B38-8717-F9E7CF24DDD4}"/>
              </a:ext>
            </a:extLst>
          </p:cNvPr>
          <p:cNvSpPr>
            <a:spLocks noGrp="1"/>
          </p:cNvSpPr>
          <p:nvPr/>
        </p:nvSpPr>
        <p:spPr>
          <a:xfrm>
            <a:off x="590550" y="3943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630CF6-6E33-4D44-B8E9-66F8F6CDA2D2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鼓、管樂器與樂譜改寫身體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1202977-F4C7-4B21-A2B3-E8E84AEE5F4E}"/>
              </a:ext>
            </a:extLst>
          </p:cNvPr>
          <p:cNvSpPr>
            <a:spLocks noGrp="1"/>
          </p:cNvSpPr>
          <p:nvPr/>
        </p:nvSpPr>
        <p:spPr>
          <a:xfrm>
            <a:off x="590550" y="4514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B4E52F-6108-4784-8DC0-4809B2AACA2B}"/>
              </a:ext>
            </a:extLst>
          </p:cNvPr>
          <p:cNvSpPr>
            <a:spLocks noGrp="1"/>
          </p:cNvSpPr>
          <p:nvPr/>
        </p:nvSpPr>
        <p:spPr>
          <a:xfrm>
            <a:off x="838200" y="4438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臀部樂譜是娛樂與羞辱的倒置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777B01-572D-462F-B6BC-F3F98FC0E7D0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185BFB-E76A-48B7-8BD6-FE4FA91CEEB4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波希的刑具並不陌生；它們正是人類最熟悉的娛樂。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4BDD11-98AC-4C91-A69C-141130A2FE70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1479104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F64DF45-0979-42AF-AAF2-4143040F5E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56FE7A-E963-4CB3-B9DA-55CF1F1F3B44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13｜感官變成刑具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65FC0F-AA75-46B8-90FB-F0981D7DA83F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巨耳與刻有 M 的刀刃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AC9048-236C-4744-857C-6871E9B25823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C36C3B-13B4-4B4D-8F1F-24B1342174A8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9BBD4D-BA4F-4E74-8074-1E4A58226D91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11201400" cy="3238500"/>
          </a:xfrm>
          <a:prstGeom prst="roundRect">
            <a:avLst>
              <a:gd name="adj" fmla="val 3529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769282" y="1447800"/>
            <a:ext cx="4653435" cy="3048000"/>
          </a:xfrm>
          <a:prstGeom prst="roundRect">
            <a:avLst>
              <a:gd name="adj" fmla="val 2500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52C0500-19B7-4A48-96F1-8E5019EB2299}"/>
              </a:ext>
            </a:extLst>
          </p:cNvPr>
          <p:cNvSpPr>
            <a:spLocks noGrp="1"/>
          </p:cNvSpPr>
          <p:nvPr/>
        </p:nvSpPr>
        <p:spPr>
          <a:xfrm>
            <a:off x="590550" y="4210050"/>
            <a:ext cx="11010900" cy="285750"/>
          </a:xfrm>
          <a:prstGeom prst="rect">
            <a:avLst/>
          </a:prstGeom>
          <a:solidFill>
            <a:srgbClr val="0B0C0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2EFA91-E20E-404E-BF3A-0D8187C29F94}"/>
              </a:ext>
            </a:extLst>
          </p:cNvPr>
          <p:cNvSpPr>
            <a:spLocks noGrp="1"/>
          </p:cNvSpPr>
          <p:nvPr/>
        </p:nvSpPr>
        <p:spPr>
          <a:xfrm>
            <a:off x="685800" y="4276725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右翼｜巨耳與</a:t>
            </a:r>
            <a:r>
              <a:rPr sz="1200" b="0" i="0" dirty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 M </a:t>
            </a: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字刀刃</a:t>
            </a:r>
            <a:endParaRPr sz="1200" b="0" i="0" dirty="0">
              <a:solidFill>
                <a:srgbClr val="D7E4DB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6FAEAD-DAEC-4A2B-A6C8-7F1360E7823E}"/>
              </a:ext>
            </a:extLst>
          </p:cNvPr>
          <p:cNvSpPr>
            <a:spLocks noGrp="1"/>
          </p:cNvSpPr>
          <p:nvPr/>
        </p:nvSpPr>
        <p:spPr>
          <a:xfrm>
            <a:off x="419100" y="4686300"/>
            <a:ext cx="11353800" cy="1352550"/>
          </a:xfrm>
          <a:prstGeom prst="roundRect">
            <a:avLst>
              <a:gd name="adj" fmla="val 8451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D1DC88-456A-422E-8730-B0892476872A}"/>
              </a:ext>
            </a:extLst>
          </p:cNvPr>
          <p:cNvSpPr>
            <a:spLocks noGrp="1"/>
          </p:cNvSpPr>
          <p:nvPr/>
        </p:nvSpPr>
        <p:spPr>
          <a:xfrm>
            <a:off x="590550" y="4857750"/>
            <a:ext cx="5429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用來聆聽的器官，被改造成一台暴力機器。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72D654-D6F2-4CAA-8AD5-FB60FE0C857F}"/>
              </a:ext>
            </a:extLst>
          </p:cNvPr>
          <p:cNvSpPr>
            <a:spLocks noGrp="1"/>
          </p:cNvSpPr>
          <p:nvPr/>
        </p:nvSpPr>
        <p:spPr>
          <a:xfrm>
            <a:off x="6667500" y="4838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719DD6-2399-480C-8125-17A259537C58}"/>
              </a:ext>
            </a:extLst>
          </p:cNvPr>
          <p:cNvSpPr>
            <a:spLocks noGrp="1"/>
          </p:cNvSpPr>
          <p:nvPr/>
        </p:nvSpPr>
        <p:spPr>
          <a:xfrm>
            <a:off x="6915150" y="47625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兩隻巨耳被箭穿透並夾住刀刃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E21523D-9C75-4F47-BE71-76D22732F332}"/>
              </a:ext>
            </a:extLst>
          </p:cNvPr>
          <p:cNvSpPr>
            <a:spLocks noGrp="1"/>
          </p:cNvSpPr>
          <p:nvPr/>
        </p:nvSpPr>
        <p:spPr>
          <a:xfrm>
            <a:off x="6667500" y="5238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0D74E6-D460-4847-ACE4-5F1F3901DDD7}"/>
              </a:ext>
            </a:extLst>
          </p:cNvPr>
          <p:cNvSpPr>
            <a:spLocks noGrp="1"/>
          </p:cNvSpPr>
          <p:nvPr/>
        </p:nvSpPr>
        <p:spPr>
          <a:xfrm>
            <a:off x="6915150" y="51625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感官器官與武器組成混種物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31FD1B-2B48-42C0-8AF5-D10A74FC2C5A}"/>
              </a:ext>
            </a:extLst>
          </p:cNvPr>
          <p:cNvSpPr>
            <a:spLocks noGrp="1"/>
          </p:cNvSpPr>
          <p:nvPr/>
        </p:nvSpPr>
        <p:spPr>
          <a:xfrm>
            <a:off x="6667500" y="5638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642D5E-C79F-48B9-8AE0-B211DA36AC12}"/>
              </a:ext>
            </a:extLst>
          </p:cNvPr>
          <p:cNvSpPr>
            <a:spLocks noGrp="1"/>
          </p:cNvSpPr>
          <p:nvPr/>
        </p:nvSpPr>
        <p:spPr>
          <a:xfrm>
            <a:off x="6915150" y="55626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M </a:t>
            </a: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可能是刀匠記號或縮寫，含義未定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016712-05C0-4C70-B594-569E49A8EC4F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9CE083-6671-4D1E-8E97-663DAFE53F73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用來聆聽的器官，被改造成一台暴力機器。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72A582-B8D6-4BE6-9835-38B9C26AE5BF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691861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E8904E-09D5-4113-A7CB-9978491654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2D537F-0BAC-42FC-AF03-E0599103C382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14｜怪物如何被畫出來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2D3738-8FDF-46CE-90EA-EE5080AA1FDE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樹人：人、枯木、酒館與風景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AEFD0-9163-49F0-AB41-23111BB79BDF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E417C-8814-4DB9-987E-1C2371104EC5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C8BD53-18CA-4DA6-BEF0-0AF8C9E6671D}"/>
              </a:ext>
            </a:extLst>
          </p:cNvPr>
          <p:cNvSpPr>
            <a:spLocks noGrp="1"/>
          </p:cNvSpPr>
          <p:nvPr/>
        </p:nvSpPr>
        <p:spPr>
          <a:xfrm>
            <a:off x="381000" y="1409700"/>
            <a:ext cx="5219700" cy="4476750"/>
          </a:xfrm>
          <a:prstGeom prst="roundRect">
            <a:avLst>
              <a:gd name="adj" fmla="val 2553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D9DE82-5AC6-4742-8E29-2A86AD7F42C5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953000" cy="4610100"/>
          </a:xfrm>
          <a:prstGeom prst="roundRect">
            <a:avLst>
              <a:gd name="adj" fmla="val 2479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85552" y="1485900"/>
            <a:ext cx="4193095" cy="4419600"/>
          </a:xfrm>
          <a:prstGeom prst="roundRect">
            <a:avLst>
              <a:gd name="adj" fmla="val 1724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C3F7F3-50E3-4CBC-94CF-4E4D6CCD5F74}"/>
              </a:ext>
            </a:extLst>
          </p:cNvPr>
          <p:cNvSpPr>
            <a:spLocks noGrp="1"/>
          </p:cNvSpPr>
          <p:nvPr/>
        </p:nvSpPr>
        <p:spPr>
          <a:xfrm>
            <a:off x="6800850" y="5619750"/>
            <a:ext cx="4762500" cy="285750"/>
          </a:xfrm>
          <a:prstGeom prst="rect">
            <a:avLst/>
          </a:prstGeom>
          <a:solidFill>
            <a:srgbClr val="0B0C0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50074-1BD8-42EB-92A3-80CB3912265C}"/>
              </a:ext>
            </a:extLst>
          </p:cNvPr>
          <p:cNvSpPr>
            <a:spLocks noGrp="1"/>
          </p:cNvSpPr>
          <p:nvPr/>
        </p:nvSpPr>
        <p:spPr>
          <a:xfrm>
            <a:off x="6896100" y="56864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右翼｜Tree-Man</a:t>
            </a:r>
            <a:endParaRPr sz="1200" b="0" i="0" dirty="0">
              <a:solidFill>
                <a:srgbClr val="D7E4DB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10644-31D0-4D76-9080-C1CCBC5B0839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4857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怪物之所以可信，是因為每一個不可能的零件都被畫得具體。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F7B7E2-6CB0-4404-A906-C0C7143E1101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89535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89CA1E-DC4B-414F-B9C9-4C562405309A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250B13-F7D2-4157-9E17-FD49AB1DAFDA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臉、枯樹、蛋殼、酒館、船與風景融合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A2FB199-7CA5-4495-ADA2-1D6A1EA8BB97}"/>
              </a:ext>
            </a:extLst>
          </p:cNvPr>
          <p:cNvSpPr>
            <a:spLocks noGrp="1"/>
          </p:cNvSpPr>
          <p:nvPr/>
        </p:nvSpPr>
        <p:spPr>
          <a:xfrm>
            <a:off x="590550" y="3943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6F7A5E-8CEA-4B35-BCEA-8D065A9D8D71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油畫讓皮膚、木材、冰與金屬具有觸感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BF35C24-88BF-4AAA-98D3-716AFACAE62A}"/>
              </a:ext>
            </a:extLst>
          </p:cNvPr>
          <p:cNvSpPr>
            <a:spLocks noGrp="1"/>
          </p:cNvSpPr>
          <p:nvPr/>
        </p:nvSpPr>
        <p:spPr>
          <a:xfrm>
            <a:off x="590550" y="4514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326BD3-2E84-4B08-9B6C-231EEB416A2D}"/>
              </a:ext>
            </a:extLst>
          </p:cNvPr>
          <p:cNvSpPr>
            <a:spLocks noGrp="1"/>
          </p:cNvSpPr>
          <p:nvPr/>
        </p:nvSpPr>
        <p:spPr>
          <a:xfrm>
            <a:off x="838200" y="44386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這張臉不是已確認的波希自畫像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75D770-059E-454F-84D1-C3339A886567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A698AC-02C8-44B2-AFB9-0B8C2304AA66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怪物之所以可信，是因為每一個不可能的零件都被畫得具體。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C6D181-73DF-486C-AC29-B1BB4DD52E3E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1053453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682D838-64BF-43A9-9620-5309575EC0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624F2D-0467-45FB-A9D3-DE7F771C1F8C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15｜吞食與排泄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61131F-94E6-434D-863D-3884D7203740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鳥頭怪物與修女豬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D34868-0E76-4C17-AD8E-9B1CF2D38B76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E514A2-3E72-4F21-9A13-4062F23BF461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90D7CD-D947-4923-BDFA-90EB9F03F92C}"/>
              </a:ext>
            </a:extLst>
          </p:cNvPr>
          <p:cNvSpPr>
            <a:spLocks noGrp="1"/>
          </p:cNvSpPr>
          <p:nvPr/>
        </p:nvSpPr>
        <p:spPr>
          <a:xfrm>
            <a:off x="6381750" y="1409700"/>
            <a:ext cx="5314950" cy="4533900"/>
          </a:xfrm>
          <a:prstGeom prst="roundRect">
            <a:avLst>
              <a:gd name="adj" fmla="val 2521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6C0772-CCD6-4824-9D45-AC9754DD07FC}"/>
              </a:ext>
            </a:extLst>
          </p:cNvPr>
          <p:cNvSpPr>
            <a:spLocks noGrp="1"/>
          </p:cNvSpPr>
          <p:nvPr/>
        </p:nvSpPr>
        <p:spPr>
          <a:xfrm>
            <a:off x="514350" y="1447800"/>
            <a:ext cx="2686050" cy="4476750"/>
          </a:xfrm>
          <a:prstGeom prst="roundRect">
            <a:avLst>
              <a:gd name="adj" fmla="val 4255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rcRect l="13324" r="13324"/>
          <a:stretch>
            <a:fillRect/>
          </a:stretch>
        </p:blipFill>
        <p:spPr>
          <a:xfrm>
            <a:off x="600075" y="1533525"/>
            <a:ext cx="2514600" cy="4305300"/>
          </a:xfrm>
          <a:prstGeom prst="roundRect">
            <a:avLst>
              <a:gd name="adj" fmla="val 3030"/>
            </a:avLst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5A250A-61F4-4EE9-8708-66C6819D0B58}"/>
              </a:ext>
            </a:extLst>
          </p:cNvPr>
          <p:cNvSpPr>
            <a:spLocks noGrp="1"/>
          </p:cNvSpPr>
          <p:nvPr/>
        </p:nvSpPr>
        <p:spPr>
          <a:xfrm>
            <a:off x="3371850" y="1447800"/>
            <a:ext cx="2686050" cy="4476750"/>
          </a:xfrm>
          <a:prstGeom prst="roundRect">
            <a:avLst>
              <a:gd name="adj" fmla="val 4255"/>
            </a:avLst>
          </a:prstGeom>
          <a:solidFill>
            <a:srgbClr val="171816"/>
          </a:solidFill>
          <a:ln w="9525">
            <a:solidFill>
              <a:srgbClr val="8FB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rcRect l="10536" r="10536"/>
          <a:stretch>
            <a:fillRect/>
          </a:stretch>
        </p:blipFill>
        <p:spPr>
          <a:xfrm>
            <a:off x="3457575" y="1533525"/>
            <a:ext cx="2514600" cy="4305300"/>
          </a:xfrm>
          <a:prstGeom prst="roundRect">
            <a:avLst>
              <a:gd name="adj" fmla="val 3030"/>
            </a:avLst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53E7E18-8A0B-4EBE-B6BA-4F6371132A41}"/>
              </a:ext>
            </a:extLst>
          </p:cNvPr>
          <p:cNvSpPr>
            <a:spLocks noGrp="1"/>
          </p:cNvSpPr>
          <p:nvPr/>
        </p:nvSpPr>
        <p:spPr>
          <a:xfrm>
            <a:off x="600075" y="5915025"/>
            <a:ext cx="535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 i="0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 dirty="0" err="1">
                <a:solidFill>
                  <a:srgbClr val="D7E4DB"/>
                </a:solidFill>
                <a:latin typeface="Noto Sans CJK TC"/>
                <a:ea typeface="Noto Sans CJK TC"/>
                <a:cs typeface="Noto Sans CJK TC"/>
              </a:rPr>
              <a:t>右翼｜鳥頭怪物＋修女豬與契約</a:t>
            </a:r>
            <a:endParaRPr sz="1200" b="0" i="0" dirty="0">
              <a:solidFill>
                <a:srgbClr val="D7E4DB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E6F60-B352-448B-9500-8C74E471E89D}"/>
              </a:ext>
            </a:extLst>
          </p:cNvPr>
          <p:cNvSpPr>
            <a:spLocks noGrp="1"/>
          </p:cNvSpPr>
          <p:nvPr/>
        </p:nvSpPr>
        <p:spPr>
          <a:xfrm>
            <a:off x="6553200" y="1600200"/>
            <a:ext cx="4953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權力、食慾、契約與宗教服飾，被黏合成荒謬機器。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FA643E-5A66-4A2B-B427-596A3CABAE01}"/>
              </a:ext>
            </a:extLst>
          </p:cNvPr>
          <p:cNvSpPr>
            <a:spLocks noGrp="1"/>
          </p:cNvSpPr>
          <p:nvPr/>
        </p:nvSpPr>
        <p:spPr>
          <a:xfrm>
            <a:off x="6553200" y="2914650"/>
            <a:ext cx="89535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85B8AF-1748-40EC-8DEA-95397D0D796D}"/>
              </a:ext>
            </a:extLst>
          </p:cNvPr>
          <p:cNvSpPr>
            <a:spLocks noGrp="1"/>
          </p:cNvSpPr>
          <p:nvPr/>
        </p:nvSpPr>
        <p:spPr>
          <a:xfrm>
            <a:off x="6591300" y="3390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C28855-8577-4145-A4F9-1664C09B35C3}"/>
              </a:ext>
            </a:extLst>
          </p:cNvPr>
          <p:cNvSpPr>
            <a:spLocks noGrp="1"/>
          </p:cNvSpPr>
          <p:nvPr/>
        </p:nvSpPr>
        <p:spPr>
          <a:xfrm>
            <a:off x="6838950" y="33147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鳥頭怪物吞下並排泄罪人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7363A6-2ED8-44F9-B98C-F95BDDC73EFC}"/>
              </a:ext>
            </a:extLst>
          </p:cNvPr>
          <p:cNvSpPr>
            <a:spLocks noGrp="1"/>
          </p:cNvSpPr>
          <p:nvPr/>
        </p:nvSpPr>
        <p:spPr>
          <a:xfrm>
            <a:off x="6591300" y="39624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FB6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CE10D9-EEFE-4191-9859-59F78EEB44D4}"/>
              </a:ext>
            </a:extLst>
          </p:cNvPr>
          <p:cNvSpPr>
            <a:spLocks noGrp="1"/>
          </p:cNvSpPr>
          <p:nvPr/>
        </p:nvSpPr>
        <p:spPr>
          <a:xfrm>
            <a:off x="6838950" y="38862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修女豬迫使男子在文件上簽字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6F04A2E-AD0A-43BA-8A0E-893C1E15C711}"/>
              </a:ext>
            </a:extLst>
          </p:cNvPr>
          <p:cNvSpPr>
            <a:spLocks noGrp="1"/>
          </p:cNvSpPr>
          <p:nvPr/>
        </p:nvSpPr>
        <p:spPr>
          <a:xfrm>
            <a:off x="6591300" y="4533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3B54E7-BC5C-446F-89A3-227C3086633E}"/>
              </a:ext>
            </a:extLst>
          </p:cNvPr>
          <p:cNvSpPr>
            <a:spLocks noGrp="1"/>
          </p:cNvSpPr>
          <p:nvPr/>
        </p:nvSpPr>
        <p:spPr>
          <a:xfrm>
            <a:off x="6838950" y="445770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兔子與其他動物反過來支配人類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C12FAA-8013-467D-8B61-D269E6911685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E5C6C1-908D-45EF-A04F-CA22B1EC64F9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權力、食慾、契約與宗教服飾，被黏合成荒謬機器。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0BE191-AF4D-47A3-9DEC-4C250A976F0A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597464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ECE6C39-E16E-48A8-9C66-6704A56488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A44E97-AE78-4474-AF00-1EF4DDF137FB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16｜沒有標準答案的道德機器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968713-BC13-43D7-8636-27B12BA88882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中央花園是天堂，還是陷阱？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CD817C-E81D-4F13-B8AC-15CB203DDF66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DE5BE4-763E-4B77-8E05-7A2D5A6BF707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9DFF47-9145-45E9-BAD2-01BDD18499EF}"/>
              </a:ext>
            </a:extLst>
          </p:cNvPr>
          <p:cNvSpPr>
            <a:spLocks noGrp="1"/>
          </p:cNvSpPr>
          <p:nvPr/>
        </p:nvSpPr>
        <p:spPr>
          <a:xfrm>
            <a:off x="361950" y="1390650"/>
            <a:ext cx="11468100" cy="4629150"/>
          </a:xfrm>
          <a:prstGeom prst="roundRect">
            <a:avLst>
              <a:gd name="adj" fmla="val 2469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07B86-0923-4631-8628-05DAC783FBF5}"/>
              </a:ext>
            </a:extLst>
          </p:cNvPr>
          <p:cNvSpPr>
            <a:spLocks noGrp="1"/>
          </p:cNvSpPr>
          <p:nvPr/>
        </p:nvSpPr>
        <p:spPr>
          <a:xfrm>
            <a:off x="1047750" y="1524000"/>
            <a:ext cx="1009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不確定性不是研究失敗，而是作品設計觀眾的位置。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E37FDC-25D2-4077-B5F9-E719A6C1F2C5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3429000" cy="2190750"/>
          </a:xfrm>
          <a:prstGeom prst="roundRect">
            <a:avLst>
              <a:gd name="adj" fmla="val 5217"/>
            </a:avLst>
          </a:prstGeom>
          <a:solidFill>
            <a:srgbClr val="2A211B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195500-53E6-482E-ACE4-34A28ED9FF96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1" i="0" dirty="0" err="1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警世寓言</a:t>
            </a:r>
            <a:endParaRPr sz="1600" b="1" i="0" dirty="0">
              <a:solidFill>
                <a:srgbClr val="D5AE5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D2990B-F2D2-4357-9FE8-CD2FEBE3D2E6}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2819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感官放縱通往右翼後果</a:t>
            </a:r>
            <a:endParaRPr sz="1600" b="0" i="0" dirty="0">
              <a:solidFill>
                <a:srgbClr val="FFFDF5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5B2E3A-4B54-41A0-9935-7B26D70D4B31}"/>
              </a:ext>
            </a:extLst>
          </p:cNvPr>
          <p:cNvSpPr>
            <a:spLocks noGrp="1"/>
          </p:cNvSpPr>
          <p:nvPr/>
        </p:nvSpPr>
        <p:spPr>
          <a:xfrm>
            <a:off x="4457700" y="2724150"/>
            <a:ext cx="3429000" cy="2190750"/>
          </a:xfrm>
          <a:prstGeom prst="roundRect">
            <a:avLst>
              <a:gd name="adj" fmla="val 5217"/>
            </a:avLst>
          </a:prstGeom>
          <a:solidFill>
            <a:srgbClr val="59633B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53BC82-E7D5-4A22-9966-DF86EE86EF13}"/>
              </a:ext>
            </a:extLst>
          </p:cNvPr>
          <p:cNvSpPr>
            <a:spLocks noGrp="1"/>
          </p:cNvSpPr>
          <p:nvPr/>
        </p:nvSpPr>
        <p:spPr>
          <a:xfrm>
            <a:off x="4686300" y="302895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1" i="0" dirty="0" err="1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未墮落世界</a:t>
            </a:r>
            <a:endParaRPr sz="1600" b="1" i="0" dirty="0">
              <a:solidFill>
                <a:srgbClr val="D5AE5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BC7B35-4159-4CE6-A685-E28B4F0D7C2B}"/>
              </a:ext>
            </a:extLst>
          </p:cNvPr>
          <p:cNvSpPr>
            <a:spLocks noGrp="1"/>
          </p:cNvSpPr>
          <p:nvPr/>
        </p:nvSpPr>
        <p:spPr>
          <a:xfrm>
            <a:off x="4762500" y="3676650"/>
            <a:ext cx="2819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沒有明顯痛苦與制度</a:t>
            </a:r>
            <a:endParaRPr sz="1600" b="0" i="0" dirty="0">
              <a:solidFill>
                <a:srgbClr val="FFFDF5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B84E16-A28C-4DC1-9B2C-51F884CB5C60}"/>
              </a:ext>
            </a:extLst>
          </p:cNvPr>
          <p:cNvSpPr>
            <a:spLocks noGrp="1"/>
          </p:cNvSpPr>
          <p:nvPr/>
        </p:nvSpPr>
        <p:spPr>
          <a:xfrm>
            <a:off x="8305800" y="2724150"/>
            <a:ext cx="3429000" cy="2190750"/>
          </a:xfrm>
          <a:prstGeom prst="roundRect">
            <a:avLst>
              <a:gd name="adj" fmla="val 5217"/>
            </a:avLst>
          </a:prstGeom>
          <a:solidFill>
            <a:srgbClr val="284858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0D7217-93F6-4D52-9040-85D18AA69D71}"/>
              </a:ext>
            </a:extLst>
          </p:cNvPr>
          <p:cNvSpPr>
            <a:spLocks noGrp="1"/>
          </p:cNvSpPr>
          <p:nvPr/>
        </p:nvSpPr>
        <p:spPr>
          <a:xfrm>
            <a:off x="8534400" y="302895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1" i="0" dirty="0" err="1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宮廷對話</a:t>
            </a:r>
            <a:endParaRPr sz="1600" b="1" i="0" dirty="0">
              <a:solidFill>
                <a:srgbClr val="D5AE5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0A0A91-CB66-4780-B74A-A838613319F6}"/>
              </a:ext>
            </a:extLst>
          </p:cNvPr>
          <p:cNvSpPr>
            <a:spLocks noGrp="1"/>
          </p:cNvSpPr>
          <p:nvPr/>
        </p:nvSpPr>
        <p:spPr>
          <a:xfrm>
            <a:off x="8610600" y="3676650"/>
            <a:ext cx="2819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娛樂、知識競賽與警告並存</a:t>
            </a:r>
            <a:endParaRPr sz="1600" b="0" i="0" dirty="0">
              <a:solidFill>
                <a:srgbClr val="FFFDF5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2A9729-F5F3-423F-8507-30D2311FADB8}"/>
              </a:ext>
            </a:extLst>
          </p:cNvPr>
          <p:cNvSpPr>
            <a:spLocks noGrp="1"/>
          </p:cNvSpPr>
          <p:nvPr/>
        </p:nvSpPr>
        <p:spPr>
          <a:xfrm>
            <a:off x="1714500" y="52959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弗蘭格的亞當派理論影響深遠，但缺乏可靠檔案證明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E8699D-EA71-43D1-B21A-A26E4AEC463E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5E174-80A1-4252-B103-260D73EAB8A9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不確定性不是研究失敗，而是作品設計觀眾的位置。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E88C54-8A14-43E3-B5AB-E751992CA595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636166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0D7856D-4782-4CE7-ABDD-F0E7B08C64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DD46C0-4C08-4012-9298-DBBBAB23B5B8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17｜波希的其他奇幻世界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02D576-1F8F-449E-9D2E-A7923EE8A0CC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奇幻不是裝飾，而是一套反覆出現的道德語言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94D76C-DE21-4C81-808B-99F89495B2EA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7C6F6F-26AC-4F91-A7B3-EAFD5053E13B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4655E5-F1C0-41D2-A76E-095B8595DCF6}"/>
              </a:ext>
            </a:extLst>
          </p:cNvPr>
          <p:cNvSpPr>
            <a:spLocks noGrp="1"/>
          </p:cNvSpPr>
          <p:nvPr/>
        </p:nvSpPr>
        <p:spPr>
          <a:xfrm>
            <a:off x="361950" y="1352550"/>
            <a:ext cx="11468100" cy="4686300"/>
          </a:xfrm>
          <a:prstGeom prst="roundRect">
            <a:avLst>
              <a:gd name="adj" fmla="val 2439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A96A51-572A-4A23-ACAC-B31B27133EE3}"/>
              </a:ext>
            </a:extLst>
          </p:cNvPr>
          <p:cNvSpPr>
            <a:spLocks noGrp="1"/>
          </p:cNvSpPr>
          <p:nvPr/>
        </p:nvSpPr>
        <p:spPr>
          <a:xfrm>
            <a:off x="552450" y="1543050"/>
            <a:ext cx="2095500" cy="2952750"/>
          </a:xfrm>
          <a:prstGeom prst="roundRect">
            <a:avLst>
              <a:gd name="adj" fmla="val 5455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" y="1844232"/>
            <a:ext cx="1943100" cy="1683636"/>
          </a:xfrm>
          <a:prstGeom prst="roundRect">
            <a:avLst>
              <a:gd name="adj" fmla="val 3922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0032310-BCA7-4680-A103-4A0EEC057554}"/>
              </a:ext>
            </a:extLst>
          </p:cNvPr>
          <p:cNvSpPr>
            <a:spLocks noGrp="1"/>
          </p:cNvSpPr>
          <p:nvPr/>
        </p:nvSpPr>
        <p:spPr>
          <a:xfrm>
            <a:off x="628650" y="39052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《七宗罪與四終》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DA6594-A1B1-44D5-8E1A-9B511C4248BB}"/>
              </a:ext>
            </a:extLst>
          </p:cNvPr>
          <p:cNvSpPr>
            <a:spLocks noGrp="1"/>
          </p:cNvSpPr>
          <p:nvPr/>
        </p:nvSpPr>
        <p:spPr>
          <a:xfrm>
            <a:off x="628650" y="456628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道德凝視</a:t>
            </a:r>
            <a:endParaRPr sz="1600" b="0" i="0" dirty="0">
              <a:solidFill>
                <a:srgbClr val="D5AE5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3E868F-AD92-4E84-90F3-18F125B9480F}"/>
              </a:ext>
            </a:extLst>
          </p:cNvPr>
          <p:cNvSpPr>
            <a:spLocks noGrp="1"/>
          </p:cNvSpPr>
          <p:nvPr/>
        </p:nvSpPr>
        <p:spPr>
          <a:xfrm>
            <a:off x="2828925" y="1543050"/>
            <a:ext cx="2095500" cy="2952750"/>
          </a:xfrm>
          <a:prstGeom prst="roundRect">
            <a:avLst>
              <a:gd name="adj" fmla="val 5455"/>
            </a:avLst>
          </a:prstGeom>
          <a:solidFill>
            <a:srgbClr val="171816"/>
          </a:solidFill>
          <a:ln w="9525">
            <a:solidFill>
              <a:srgbClr val="8FB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295881" y="1619250"/>
            <a:ext cx="1161588" cy="2133600"/>
          </a:xfrm>
          <a:prstGeom prst="roundRect">
            <a:avLst>
              <a:gd name="adj" fmla="val 3922"/>
            </a:avLst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F4EB56C-3F1D-4ED5-9687-C1BBB4166627}"/>
              </a:ext>
            </a:extLst>
          </p:cNvPr>
          <p:cNvSpPr>
            <a:spLocks noGrp="1"/>
          </p:cNvSpPr>
          <p:nvPr/>
        </p:nvSpPr>
        <p:spPr>
          <a:xfrm>
            <a:off x="2905125" y="39052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《愚人船》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4BF656-D3FA-443A-AF7B-78AFCF60CF54}"/>
              </a:ext>
            </a:extLst>
          </p:cNvPr>
          <p:cNvSpPr>
            <a:spLocks noGrp="1"/>
          </p:cNvSpPr>
          <p:nvPr/>
        </p:nvSpPr>
        <p:spPr>
          <a:xfrm>
            <a:off x="2905125" y="456628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群體失控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251F66F-528F-4DFC-A68C-5889066CAE8B}"/>
              </a:ext>
            </a:extLst>
          </p:cNvPr>
          <p:cNvSpPr>
            <a:spLocks noGrp="1"/>
          </p:cNvSpPr>
          <p:nvPr/>
        </p:nvSpPr>
        <p:spPr>
          <a:xfrm>
            <a:off x="5105400" y="1543050"/>
            <a:ext cx="2095500" cy="2952750"/>
          </a:xfrm>
          <a:prstGeom prst="roundRect">
            <a:avLst>
              <a:gd name="adj" fmla="val 5455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287219" y="1619250"/>
            <a:ext cx="1731862" cy="2133600"/>
          </a:xfrm>
          <a:prstGeom prst="roundRect">
            <a:avLst>
              <a:gd name="adj" fmla="val 3922"/>
            </a:avLst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DEEC9CD-4389-40B4-9263-F2CB5983A52F}"/>
              </a:ext>
            </a:extLst>
          </p:cNvPr>
          <p:cNvSpPr>
            <a:spLocks noGrp="1"/>
          </p:cNvSpPr>
          <p:nvPr/>
        </p:nvSpPr>
        <p:spPr>
          <a:xfrm>
            <a:off x="5181600" y="39052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《最後審判》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DF29F6-583B-4456-9657-6631DBA7B5B5}"/>
              </a:ext>
            </a:extLst>
          </p:cNvPr>
          <p:cNvSpPr>
            <a:spLocks noGrp="1"/>
          </p:cNvSpPr>
          <p:nvPr/>
        </p:nvSpPr>
        <p:spPr>
          <a:xfrm>
            <a:off x="5181600" y="456628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世界崩解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0128EEB-C00E-48C8-AD87-E466224D9B8F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2095500" cy="2952750"/>
          </a:xfrm>
          <a:prstGeom prst="roundRect">
            <a:avLst>
              <a:gd name="adj" fmla="val 5455"/>
            </a:avLst>
          </a:prstGeom>
          <a:solidFill>
            <a:srgbClr val="171816"/>
          </a:solidFill>
          <a:ln w="9525">
            <a:solidFill>
              <a:srgbClr val="8FB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458075" y="1763510"/>
            <a:ext cx="1943100" cy="1845080"/>
          </a:xfrm>
          <a:prstGeom prst="roundRect">
            <a:avLst>
              <a:gd name="adj" fmla="val 3922"/>
            </a:avLst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CB36202-CEB2-4122-A95A-7053C2A3D89A}"/>
              </a:ext>
            </a:extLst>
          </p:cNvPr>
          <p:cNvSpPr>
            <a:spLocks noGrp="1"/>
          </p:cNvSpPr>
          <p:nvPr/>
        </p:nvSpPr>
        <p:spPr>
          <a:xfrm>
            <a:off x="7458075" y="39052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《背負十字架》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917C72-2753-4CEA-A91A-3CE7821B2772}"/>
              </a:ext>
            </a:extLst>
          </p:cNvPr>
          <p:cNvSpPr>
            <a:spLocks noGrp="1"/>
          </p:cNvSpPr>
          <p:nvPr/>
        </p:nvSpPr>
        <p:spPr>
          <a:xfrm>
            <a:off x="7458075" y="456628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D38C8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>
                <a:solidFill>
                  <a:srgbClr val="D38C86"/>
                </a:solidFill>
                <a:latin typeface="Noto Sans CJK TC"/>
                <a:ea typeface="Noto Sans CJK TC"/>
                <a:cs typeface="Noto Sans CJK TC"/>
              </a:rPr>
              <a:t>惡意逼近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DB34F69-C8A4-4EBD-84E9-EA0E462951AA}"/>
              </a:ext>
            </a:extLst>
          </p:cNvPr>
          <p:cNvSpPr>
            <a:spLocks noGrp="1"/>
          </p:cNvSpPr>
          <p:nvPr/>
        </p:nvSpPr>
        <p:spPr>
          <a:xfrm>
            <a:off x="9658350" y="1543050"/>
            <a:ext cx="2095500" cy="2952750"/>
          </a:xfrm>
          <a:prstGeom prst="roundRect">
            <a:avLst>
              <a:gd name="adj" fmla="val 5455"/>
            </a:avLst>
          </a:prstGeom>
          <a:solidFill>
            <a:srgbClr val="171816"/>
          </a:solidFill>
          <a:ln w="9525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734550" y="2023892"/>
            <a:ext cx="1943100" cy="1324315"/>
          </a:xfrm>
          <a:prstGeom prst="roundRect">
            <a:avLst>
              <a:gd name="adj" fmla="val 3922"/>
            </a:avLst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9F117A4-4AA7-41CF-9BED-D2ED17706CFC}"/>
              </a:ext>
            </a:extLst>
          </p:cNvPr>
          <p:cNvSpPr>
            <a:spLocks noGrp="1"/>
          </p:cNvSpPr>
          <p:nvPr/>
        </p:nvSpPr>
        <p:spPr>
          <a:xfrm>
            <a:off x="9734550" y="39052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《乾草車三聯畫》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CA2B60-76BD-499B-ACD7-D38109E5B220}"/>
              </a:ext>
            </a:extLst>
          </p:cNvPr>
          <p:cNvSpPr>
            <a:spLocks noGrp="1"/>
          </p:cNvSpPr>
          <p:nvPr/>
        </p:nvSpPr>
        <p:spPr>
          <a:xfrm>
            <a:off x="9734550" y="456628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貪欲競逐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3A6677-29F7-4B76-8E07-C9DE8CCABB7A}"/>
              </a:ext>
            </a:extLst>
          </p:cNvPr>
          <p:cNvSpPr>
            <a:spLocks noGrp="1"/>
          </p:cNvSpPr>
          <p:nvPr/>
        </p:nvSpPr>
        <p:spPr>
          <a:xfrm>
            <a:off x="1047750" y="5048250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 i="0" dirty="0" err="1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人總被慾望、愚行與後果推著向前</a:t>
            </a:r>
            <a:r>
              <a:rPr sz="1800" b="1" i="0" dirty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23AFCE-2EF8-4408-8C80-CE84BBBB5F86}"/>
              </a:ext>
            </a:extLst>
          </p:cNvPr>
          <p:cNvSpPr>
            <a:spLocks noGrp="1"/>
          </p:cNvSpPr>
          <p:nvPr/>
        </p:nvSpPr>
        <p:spPr>
          <a:xfrm>
            <a:off x="1714500" y="556260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五件作品的年代與歸屬仍有不同研究意見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A4614B-ACE1-4199-9532-15B13F4E6DBD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B9A5A4-16E9-4AF4-8419-E2B208CE9B40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人總被慾望、愚行與後果推著向前。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B66215-BD27-4175-8DFE-586ABEB22DE4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1621113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15695E-761A-4275-9018-FB14ECAAD7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8347BC-48BF-46D7-A91D-B1539CFFF75E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18｜一幅畫如何走到今天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157B37-C1C5-469F-8123-54655EC5C44C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從拿騷宮到普拉多，再回到闔上的世界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B00FFF-DE37-4ADE-8C99-E11C41C8C9AF}"/>
              </a:ext>
            </a:extLst>
          </p:cNvPr>
          <p:cNvSpPr>
            <a:spLocks noGrp="1"/>
          </p:cNvSpPr>
          <p:nvPr/>
        </p:nvSpPr>
        <p:spPr>
          <a:xfrm>
            <a:off x="11144250" y="2667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C9C3AE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03814C-24BD-482E-812F-53C5F81B31A4}"/>
              </a:ext>
            </a:extLst>
          </p:cNvPr>
          <p:cNvSpPr>
            <a:spLocks noGrp="1"/>
          </p:cNvSpPr>
          <p:nvPr/>
        </p:nvSpPr>
        <p:spPr>
          <a:xfrm>
            <a:off x="552450" y="1095375"/>
            <a:ext cx="876300" cy="38100"/>
          </a:xfrm>
          <a:prstGeom prst="rect">
            <a:avLst/>
          </a:prstGeom>
          <a:solidFill>
            <a:srgbClr val="D38C8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EF5131-F7EB-4405-860E-21FEF43A635B}"/>
              </a:ext>
            </a:extLst>
          </p:cNvPr>
          <p:cNvSpPr>
            <a:spLocks noGrp="1"/>
          </p:cNvSpPr>
          <p:nvPr/>
        </p:nvSpPr>
        <p:spPr>
          <a:xfrm>
            <a:off x="361950" y="1390650"/>
            <a:ext cx="11468100" cy="4629150"/>
          </a:xfrm>
          <a:prstGeom prst="roundRect">
            <a:avLst>
              <a:gd name="adj" fmla="val 2469"/>
            </a:avLst>
          </a:prstGeom>
          <a:solidFill>
            <a:srgbClr val="0B0C0C"/>
          </a:solidFill>
          <a:ln w="9525">
            <a:solidFill>
              <a:srgbClr val="2A2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350F9F-524B-4A61-B592-9E7C59D06BED}"/>
              </a:ext>
            </a:extLst>
          </p:cNvPr>
          <p:cNvSpPr>
            <a:spLocks noGrp="1"/>
          </p:cNvSpPr>
          <p:nvPr/>
        </p:nvSpPr>
        <p:spPr>
          <a:xfrm>
            <a:off x="1047750" y="15049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 i="0">
                <a:solidFill>
                  <a:srgbClr val="FFFDF5"/>
                </a:solidFill>
                <a:latin typeface="Noto Sans CJK TC"/>
                <a:ea typeface="Noto Sans CJK TC"/>
                <a:cs typeface="Noto Sans CJK TC"/>
              </a:rPr>
              <a:t>先看全景，再走近細節，最後退回全景。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5D3147-B07D-4E6A-9B2A-7BBF3C2D653F}"/>
              </a:ext>
            </a:extLst>
          </p:cNvPr>
          <p:cNvSpPr>
            <a:spLocks noGrp="1"/>
          </p:cNvSpPr>
          <p:nvPr/>
        </p:nvSpPr>
        <p:spPr>
          <a:xfrm>
            <a:off x="1143000" y="3390900"/>
            <a:ext cx="9886950" cy="47625"/>
          </a:xfrm>
          <a:prstGeom prst="rect">
            <a:avLst/>
          </a:prstGeom>
          <a:solidFill>
            <a:srgbClr val="D5AE5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69E57D-B135-47A3-BDE2-C6DC757F4550}"/>
              </a:ext>
            </a:extLst>
          </p:cNvPr>
          <p:cNvSpPr>
            <a:spLocks noGrp="1"/>
          </p:cNvSpPr>
          <p:nvPr/>
        </p:nvSpPr>
        <p:spPr>
          <a:xfrm>
            <a:off x="1047750" y="3267075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59633B"/>
          </a:solidFill>
          <a:ln w="19050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A59D68-D8CB-4D4E-9DC5-B32E36D457ED}"/>
              </a:ext>
            </a:extLst>
          </p:cNvPr>
          <p:cNvSpPr>
            <a:spLocks noGrp="1"/>
          </p:cNvSpPr>
          <p:nvPr/>
        </p:nvSpPr>
        <p:spPr>
          <a:xfrm>
            <a:off x="400050" y="2705100"/>
            <a:ext cx="1581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rPr>
              <a:t>1517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9995C8-E7B4-492A-BE20-61F11D08F89B}"/>
              </a:ext>
            </a:extLst>
          </p:cNvPr>
          <p:cNvSpPr>
            <a:spLocks noGrp="1"/>
          </p:cNvSpPr>
          <p:nvPr/>
        </p:nvSpPr>
        <p:spPr>
          <a:xfrm>
            <a:off x="400050" y="3862387"/>
            <a:ext cx="209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 dirty="0" err="1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布魯塞爾拿騷宮的最早可靠記錄</a:t>
            </a:r>
            <a:endParaRPr sz="1275" b="0" i="0" dirty="0">
              <a:solidFill>
                <a:srgbClr val="FFF4D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D6C24CB-1775-4103-AAE9-2E3530995D72}"/>
              </a:ext>
            </a:extLst>
          </p:cNvPr>
          <p:cNvSpPr>
            <a:spLocks noGrp="1"/>
          </p:cNvSpPr>
          <p:nvPr/>
        </p:nvSpPr>
        <p:spPr>
          <a:xfrm>
            <a:off x="4343400" y="3267075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D38C86"/>
          </a:solidFill>
          <a:ln w="19050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7CEEB6-ACF9-4F1A-A7DB-B25FD7600D03}"/>
              </a:ext>
            </a:extLst>
          </p:cNvPr>
          <p:cNvSpPr>
            <a:spLocks noGrp="1"/>
          </p:cNvSpPr>
          <p:nvPr/>
        </p:nvSpPr>
        <p:spPr>
          <a:xfrm>
            <a:off x="3695700" y="2705100"/>
            <a:ext cx="1581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rPr>
              <a:t>1591/93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44ADFA-F40D-44AB-8AD6-92CC6204AFA7}"/>
              </a:ext>
            </a:extLst>
          </p:cNvPr>
          <p:cNvSpPr>
            <a:spLocks noGrp="1"/>
          </p:cNvSpPr>
          <p:nvPr/>
        </p:nvSpPr>
        <p:spPr>
          <a:xfrm>
            <a:off x="3467100" y="3886200"/>
            <a:ext cx="209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菲利普二世取得並送往埃斯科里亞爾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8A0F34-813F-4509-A56A-C008E5F82AA8}"/>
              </a:ext>
            </a:extLst>
          </p:cNvPr>
          <p:cNvSpPr>
            <a:spLocks noGrp="1"/>
          </p:cNvSpPr>
          <p:nvPr/>
        </p:nvSpPr>
        <p:spPr>
          <a:xfrm>
            <a:off x="7639050" y="3267075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8FB6C2"/>
          </a:solidFill>
          <a:ln w="19050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ABD8AD-951B-475B-A46B-6F144EFC035A}"/>
              </a:ext>
            </a:extLst>
          </p:cNvPr>
          <p:cNvSpPr>
            <a:spLocks noGrp="1"/>
          </p:cNvSpPr>
          <p:nvPr/>
        </p:nvSpPr>
        <p:spPr>
          <a:xfrm>
            <a:off x="6991350" y="2705100"/>
            <a:ext cx="1581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rPr>
              <a:t>1933–43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C5394A-A208-4FB9-A09A-4631EAF795C9}"/>
              </a:ext>
            </a:extLst>
          </p:cNvPr>
          <p:cNvSpPr>
            <a:spLocks noGrp="1"/>
          </p:cNvSpPr>
          <p:nvPr/>
        </p:nvSpPr>
        <p:spPr>
          <a:xfrm>
            <a:off x="6762750" y="3886200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 dirty="0" err="1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修復、保管與永久借展普拉多</a:t>
            </a:r>
            <a:endParaRPr sz="1275" b="0" i="0" dirty="0">
              <a:solidFill>
                <a:srgbClr val="FFF4D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71BC19-14CB-4063-9DAC-7C213666F4B1}"/>
              </a:ext>
            </a:extLst>
          </p:cNvPr>
          <p:cNvSpPr>
            <a:spLocks noGrp="1"/>
          </p:cNvSpPr>
          <p:nvPr/>
        </p:nvSpPr>
        <p:spPr>
          <a:xfrm>
            <a:off x="10934700" y="3267075"/>
            <a:ext cx="285750" cy="285750"/>
          </a:xfrm>
          <a:prstGeom prst="roundRect">
            <a:avLst>
              <a:gd name="adj" fmla="val 40000"/>
            </a:avLst>
          </a:prstGeom>
          <a:solidFill>
            <a:srgbClr val="D16B3C"/>
          </a:solidFill>
          <a:ln w="19050">
            <a:solidFill>
              <a:srgbClr val="D5A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B83368-EBEF-41EA-B30D-76CBE7F58AFC}"/>
              </a:ext>
            </a:extLst>
          </p:cNvPr>
          <p:cNvSpPr>
            <a:spLocks noGrp="1"/>
          </p:cNvSpPr>
          <p:nvPr/>
        </p:nvSpPr>
        <p:spPr>
          <a:xfrm>
            <a:off x="10287000" y="2705100"/>
            <a:ext cx="1581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D5AE58"/>
                </a:solidFill>
                <a:latin typeface="DejaVu Sans"/>
                <a:ea typeface="DejaVu Sans"/>
                <a:cs typeface="DejaVu Sans"/>
              </a:rPr>
              <a:t>TODAY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9041DC-517A-4495-9EBC-68E8D1196DE9}"/>
              </a:ext>
            </a:extLst>
          </p:cNvPr>
          <p:cNvSpPr>
            <a:spLocks noGrp="1"/>
          </p:cNvSpPr>
          <p:nvPr/>
        </p:nvSpPr>
        <p:spPr>
          <a:xfrm>
            <a:off x="9886950" y="3862387"/>
            <a:ext cx="209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 dirty="0" err="1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追蹤同一事物如何從快樂變成控制</a:t>
            </a:r>
            <a:endParaRPr sz="1275" b="0" i="0" dirty="0">
              <a:solidFill>
                <a:srgbClr val="FFF4D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4D3386-D5E2-46E6-803E-F2BD2EBD890C}"/>
              </a:ext>
            </a:extLst>
          </p:cNvPr>
          <p:cNvSpPr>
            <a:spLocks noGrp="1"/>
          </p:cNvSpPr>
          <p:nvPr/>
        </p:nvSpPr>
        <p:spPr>
          <a:xfrm>
            <a:off x="1428750" y="521970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現屬</a:t>
            </a:r>
            <a:r>
              <a:rPr sz="1600" b="0" i="0" dirty="0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 Patrimonio </a:t>
            </a:r>
            <a:r>
              <a:rPr sz="1600" b="0" i="0" dirty="0" err="1">
                <a:solidFill>
                  <a:srgbClr val="C9C3AE"/>
                </a:solidFill>
                <a:latin typeface="Noto Sans CJK TC"/>
                <a:ea typeface="Noto Sans CJK TC"/>
                <a:cs typeface="Noto Sans CJK TC"/>
              </a:rPr>
              <a:t>Nacional，永久借展普拉多；展間資訊請以館方更新為準</a:t>
            </a:r>
            <a:endParaRPr sz="1600" b="0" i="0" dirty="0">
              <a:solidFill>
                <a:srgbClr val="C9C3AE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23700D-9634-4C71-AE5E-A7A4295FCBB3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2192000" cy="628650"/>
          </a:xfrm>
          <a:prstGeom prst="rect">
            <a:avLst/>
          </a:prstGeom>
          <a:solidFill>
            <a:srgbClr val="17181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BCB592-1DA1-4E9D-B7E2-B19FACBCE9E3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FFF4D8"/>
                </a:solidFill>
                <a:latin typeface="Noto Sans CJK TC"/>
                <a:ea typeface="Noto Sans CJK TC"/>
                <a:cs typeface="Noto Sans CJK TC"/>
              </a:rPr>
              <a:t>先看全景，再走近細節，最後退回全景。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819750-B0E4-498A-B58C-F0E1F14CD9A8}"/>
              </a:ext>
            </a:extLst>
          </p:cNvPr>
          <p:cNvSpPr>
            <a:spLocks noGrp="1"/>
          </p:cNvSpPr>
          <p:nvPr/>
        </p:nvSpPr>
        <p:spPr>
          <a:xfrm>
            <a:off x="10048875" y="64579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75" b="1" i="0">
                <a:solidFill>
                  <a:srgbClr val="D5AE58"/>
                </a:solidFill>
                <a:latin typeface="Noto Sans CJK TC"/>
                <a:ea typeface="Noto Sans CJK TC"/>
                <a:cs typeface="Noto Sans CJK TC"/>
              </a:rPr>
              <a:t>大師與名作</a:t>
            </a:r>
          </a:p>
        </p:txBody>
      </p:sp>
    </p:spTree>
    <p:extLst>
      <p:ext uri="{BB962C8B-B14F-4D97-AF65-F5344CB8AC3E}">
        <p14:creationId xmlns:p14="http://schemas.microsoft.com/office/powerpoint/2010/main" val="1029261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322E4D-2E8B-3916-C1AD-FE2C05B395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825" y="885825"/>
            <a:ext cx="508635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109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2469</Words>
  <Application>Microsoft Office PowerPoint</Application>
  <DocSecurity>0</DocSecurity>
  <PresentationFormat>Widescreen</PresentationFormat>
  <Paragraphs>331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DejaVu Sans</vt:lpstr>
      <vt:lpstr>Noto Sans CJK TC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YY de Taipei Hsieh</cp:lastModifiedBy>
  <cp:revision>17</cp:revision>
  <dcterms:created xsi:type="dcterms:W3CDTF">2026-09-04T10:23:21Z</dcterms:created>
  <dcterms:modified xsi:type="dcterms:W3CDTF">2026-09-04T11:59:51Z</dcterms:modified>
</cp:coreProperties>
</file>