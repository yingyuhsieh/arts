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9334bd2567f4e9c" /><Relationship Type="http://schemas.openxmlformats.org/officeDocument/2006/relationships/extended-properties" Target="/docProps/app.xml" Id="Rc469e0644f684158" /><Relationship Type="http://schemas.openxmlformats.org/officeDocument/2006/relationships/officeDocument" Target="/ppt/presentation.xml" Id="R751628656c4b4ea8" /></Relationships>
</file>

<file path=ppt/presentation.xml><?xml version="1.0" encoding="utf-8"?>
<p:presentation xmlns:p="http://schemas.openxmlformats.org/presentationml/2006/main">
  <p:sldMasterIdLst>
    <p:sldMasterId xmlns:r="http://schemas.openxmlformats.org/officeDocument/2006/relationships" id="2147483648" r:id="R175c6aebeb594a5f"/>
  </p:sldMasterIdLst>
  <p:notesMasterIdLst>
    <p:notesMasterId xmlns:r="http://schemas.openxmlformats.org/officeDocument/2006/relationships" r:id="Rb202ba54da8143f0"/>
  </p:notesMasterIdLst>
  <p:sldIdLst>
    <p:sldId xmlns:r="http://schemas.openxmlformats.org/officeDocument/2006/relationships" id="256" r:id="R7944ee6c85e14d70"/>
    <p:sldId xmlns:r="http://schemas.openxmlformats.org/officeDocument/2006/relationships" id="257" r:id="R693e89af6b2543d3"/>
    <p:sldId xmlns:r="http://schemas.openxmlformats.org/officeDocument/2006/relationships" id="258" r:id="Rb4b60ed537eb48c0"/>
    <p:sldId xmlns:r="http://schemas.openxmlformats.org/officeDocument/2006/relationships" id="259" r:id="R7683c8a7f7434c45"/>
    <p:sldId xmlns:r="http://schemas.openxmlformats.org/officeDocument/2006/relationships" id="260" r:id="R46682317d7024f9a"/>
    <p:sldId xmlns:r="http://schemas.openxmlformats.org/officeDocument/2006/relationships" id="261" r:id="R06fe6288d3534741"/>
    <p:sldId xmlns:r="http://schemas.openxmlformats.org/officeDocument/2006/relationships" id="262" r:id="R95de17ff209c4ee2"/>
    <p:sldId xmlns:r="http://schemas.openxmlformats.org/officeDocument/2006/relationships" id="263" r:id="R4ac807a85c334a73"/>
    <p:sldId xmlns:r="http://schemas.openxmlformats.org/officeDocument/2006/relationships" id="264" r:id="Rc5cd30cb6210421c"/>
    <p:sldId xmlns:r="http://schemas.openxmlformats.org/officeDocument/2006/relationships" id="265" r:id="R08ddb57a88754634"/>
    <p:sldId xmlns:r="http://schemas.openxmlformats.org/officeDocument/2006/relationships" id="266" r:id="Rbba7403c47ad41aa"/>
    <p:sldId xmlns:r="http://schemas.openxmlformats.org/officeDocument/2006/relationships" id="267" r:id="R163a4e5c68ea41c0"/>
    <p:sldId xmlns:r="http://schemas.openxmlformats.org/officeDocument/2006/relationships" id="268" r:id="Rd61f0ecbfccf4402"/>
    <p:sldId xmlns:r="http://schemas.openxmlformats.org/officeDocument/2006/relationships" id="269" r:id="Rc5c0aceb0edc4781"/>
    <p:sldId xmlns:r="http://schemas.openxmlformats.org/officeDocument/2006/relationships" id="270" r:id="Rbb49c8306b844aef"/>
    <p:sldId xmlns:r="http://schemas.openxmlformats.org/officeDocument/2006/relationships" id="271" r:id="R5ed9d4d2edb0407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b0e06200d44ac3" /><Relationship Type="http://schemas.openxmlformats.org/officeDocument/2006/relationships/slideMaster" Target="/ppt/slideMasters/slideMaster1.xml" Id="R175c6aebeb594a5f" /><Relationship Type="http://schemas.openxmlformats.org/officeDocument/2006/relationships/notesMaster" Target="/ppt/notesMasters/notesMaster1.xml" Id="Rb202ba54da8143f0" /><Relationship Type="http://schemas.openxmlformats.org/officeDocument/2006/relationships/presProps" Target="/ppt/presProps.xml" Id="R7d96185fd34348f4" /><Relationship Type="http://schemas.openxmlformats.org/officeDocument/2006/relationships/tableStyles" Target="/ppt/tableStyles.xml" Id="Recca490869c8429e" /><Relationship Type="http://schemas.openxmlformats.org/officeDocument/2006/relationships/slide" Target="/ppt/slides/slide1.xml" Id="R7944ee6c85e14d70" /><Relationship Type="http://schemas.openxmlformats.org/officeDocument/2006/relationships/slide" Target="/ppt/slides/slide2.xml" Id="R693e89af6b2543d3" /><Relationship Type="http://schemas.openxmlformats.org/officeDocument/2006/relationships/slide" Target="/ppt/slides/slide3.xml" Id="Rb4b60ed537eb48c0" /><Relationship Type="http://schemas.openxmlformats.org/officeDocument/2006/relationships/slide" Target="/ppt/slides/slide4.xml" Id="R7683c8a7f7434c45" /><Relationship Type="http://schemas.openxmlformats.org/officeDocument/2006/relationships/slide" Target="/ppt/slides/slide5.xml" Id="R46682317d7024f9a" /><Relationship Type="http://schemas.openxmlformats.org/officeDocument/2006/relationships/slide" Target="/ppt/slides/slide6.xml" Id="R06fe6288d3534741" /><Relationship Type="http://schemas.openxmlformats.org/officeDocument/2006/relationships/slide" Target="/ppt/slides/slide7.xml" Id="R95de17ff209c4ee2" /><Relationship Type="http://schemas.openxmlformats.org/officeDocument/2006/relationships/slide" Target="/ppt/slides/slide8.xml" Id="R4ac807a85c334a73" /><Relationship Type="http://schemas.openxmlformats.org/officeDocument/2006/relationships/slide" Target="/ppt/slides/slide9.xml" Id="Rc5cd30cb6210421c" /><Relationship Type="http://schemas.openxmlformats.org/officeDocument/2006/relationships/slide" Target="/ppt/slides/slide10.xml" Id="R08ddb57a88754634" /><Relationship Type="http://schemas.openxmlformats.org/officeDocument/2006/relationships/slide" Target="/ppt/slides/slide11.xml" Id="Rbba7403c47ad41aa" /><Relationship Type="http://schemas.openxmlformats.org/officeDocument/2006/relationships/slide" Target="/ppt/slides/slide12.xml" Id="R163a4e5c68ea41c0" /><Relationship Type="http://schemas.openxmlformats.org/officeDocument/2006/relationships/slide" Target="/ppt/slides/slide13.xml" Id="Rd61f0ecbfccf4402" /><Relationship Type="http://schemas.openxmlformats.org/officeDocument/2006/relationships/slide" Target="/ppt/slides/slide14.xml" Id="Rc5c0aceb0edc4781" /><Relationship Type="http://schemas.openxmlformats.org/officeDocument/2006/relationships/slide" Target="/ppt/slides/slide15.xml" Id="Rbb49c8306b844aef" /><Relationship Type="http://schemas.openxmlformats.org/officeDocument/2006/relationships/slide" Target="/ppt/slides/slide16.xml" Id="R5ed9d4d2edb0407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23a4713ac045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ddfd924ed6477e" /><Relationship Type="http://schemas.openxmlformats.org/officeDocument/2006/relationships/notesMaster" Target="/ppt/notesMasters/notesMaster1.xml" Id="Rbb47209f499d4d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9b9707745d4147" /><Relationship Type="http://schemas.openxmlformats.org/officeDocument/2006/relationships/notesMaster" Target="/ppt/notesMasters/notesMaster1.xml" Id="R50d49061c6814c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bac0ac93474a53" /><Relationship Type="http://schemas.openxmlformats.org/officeDocument/2006/relationships/notesMaster" Target="/ppt/notesMasters/notesMaster1.xml" Id="R43f4cfe2261e43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53dad84cd54aaa" /><Relationship Type="http://schemas.openxmlformats.org/officeDocument/2006/relationships/notesMaster" Target="/ppt/notesMasters/notesMaster1.xml" Id="R69b4c82d94644b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f43730bf454596" /><Relationship Type="http://schemas.openxmlformats.org/officeDocument/2006/relationships/notesMaster" Target="/ppt/notesMasters/notesMaster1.xml" Id="R70f76ab9357a45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b74de611c24d4f" /><Relationship Type="http://schemas.openxmlformats.org/officeDocument/2006/relationships/notesMaster" Target="/ppt/notesMasters/notesMaster1.xml" Id="Rf9909391a7f74b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69003f6e7b4c5b" /><Relationship Type="http://schemas.openxmlformats.org/officeDocument/2006/relationships/notesMaster" Target="/ppt/notesMasters/notesMaster1.xml" Id="R208e3ffe5cf648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a90f3ce4fc45bd" /><Relationship Type="http://schemas.openxmlformats.org/officeDocument/2006/relationships/notesMaster" Target="/ppt/notesMasters/notesMaster1.xml" Id="R1c5fdf88046245c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97cedf899b475e" /><Relationship Type="http://schemas.openxmlformats.org/officeDocument/2006/relationships/notesMaster" Target="/ppt/notesMasters/notesMaster1.xml" Id="Rbb671bcc920049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52aed371424d40" /><Relationship Type="http://schemas.openxmlformats.org/officeDocument/2006/relationships/notesMaster" Target="/ppt/notesMasters/notesMaster1.xml" Id="R3ebb97413cb84d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c08972618643ae" /><Relationship Type="http://schemas.openxmlformats.org/officeDocument/2006/relationships/notesMaster" Target="/ppt/notesMasters/notesMaster1.xml" Id="R97b634adc5a34d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1907d95b87e4edc" /><Relationship Type="http://schemas.openxmlformats.org/officeDocument/2006/relationships/notesMaster" Target="/ppt/notesMasters/notesMaster1.xml" Id="R7d13c8d534004c7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af480e1e4b4d25" /><Relationship Type="http://schemas.openxmlformats.org/officeDocument/2006/relationships/notesMaster" Target="/ppt/notesMasters/notesMaster1.xml" Id="Rb1c3741c4da44f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31cc51e7dd4e8b" /><Relationship Type="http://schemas.openxmlformats.org/officeDocument/2006/relationships/notesMaster" Target="/ppt/notesMasters/notesMaster1.xml" Id="R0004b10bd3f84f5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dae20bb7a345ff" /><Relationship Type="http://schemas.openxmlformats.org/officeDocument/2006/relationships/notesMaster" Target="/ppt/notesMasters/notesMaster1.xml" Id="Rcf939a4f41224b8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7ad34570dd24ddd" /><Relationship Type="http://schemas.openxmlformats.org/officeDocument/2006/relationships/notesMaster" Target="/ppt/notesMasters/notesMaster1.xml" Id="Rc99783cc06c048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Madrid’s Prado Museum, one painting makes sorrow feel as if it has been carved into the bodies themselves.</a:t>
            </a:r>
          </a:p>
          <a:p xmlns:a="http://schemas.openxmlformats.org/drawingml/2006/main">
            <a:r>
              <a:t/>
            </a:r>
          </a:p>
          <a:p xmlns:a="http://schemas.openxmlformats.org/drawingml/2006/main">
            <a:r>
              <a:t>Christ has just been lowered from the cross. At his feet, the Virgin Mary collapses in grief, her body bending backward in a curve that echoes the falling body of her son. They do not embrace, yet they repeat the same sorrowful gesture like two echoes of one wound.</a:t>
            </a:r>
          </a:p>
          <a:p xmlns:a="http://schemas.openxmlformats.org/drawingml/2006/main">
            <a:r>
              <a:t/>
            </a:r>
          </a:p>
          <a:p xmlns:a="http://schemas.openxmlformats.org/drawingml/2006/main">
            <a:r>
              <a:t>This is Rogier van der Weyden’s *The Descent from the Cross*. He left no reliable autobiography and very few secure signatures. Yet he made sorrow exist not only in tears and faces, but in shoulders, fingers, sleeves, and the direction in which one body leans toward another.</a:t>
            </a:r>
          </a:p>
          <a:p xmlns:a="http://schemas.openxmlformats.org/drawingml/2006/main">
            <a:r>
              <a:t/>
            </a:r>
          </a:p>
          <a:p xmlns:a="http://schemas.openxmlformats.org/drawingml/2006/main">
            <a:r>
              <a:t>If Jan van Eyck makes us see how light rests on metal, fur, and mirrors, van der Weyden makes us feel how emotion passes through the body and enters our own.</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https://commons.wikimedia.org/wiki/File:Weyden-descendimiento-prado-Ca-1435.jpg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Rogier van der Weyden was probably born in Tournai around 1399 or 1400. His early French name was Rogier de la Pasture. After he moved into the Dutch-speaking environment of Brussels, the name was translated as Rogier van der Weyden. These are not two artists, but one person moving through different languages and cities.</a:t>
            </a:r>
          </a:p>
          <a:p xmlns:a="http://schemas.openxmlformats.org/drawingml/2006/main">
            <a:r>
              <a:t/>
            </a:r>
          </a:p>
          <a:p xmlns:a="http://schemas.openxmlformats.org/drawingml/2006/main">
            <a:r>
              <a:t>The fifteenth-century Netherlands did not have today’s clear national borders. French, Dutch, Latin, and local dialects overlapped in courts, churches, workshops, and commerce. Van der Weyden’s career developed inside those networks.</a:t>
            </a:r>
          </a:p>
          <a:p xmlns:a="http://schemas.openxmlformats.org/drawingml/2006/main">
            <a:r>
              <a:t/>
            </a:r>
          </a:p>
          <a:p xmlns:a="http://schemas.openxmlformats.org/drawingml/2006/main">
            <a:r>
              <a:t>His father, Henri de le Pasture, was a master cutler, placing the family in the urban craft class. The record of Rogier’s childhood and earliest training is sparse. We should not romanticize him as a destitute genius, nor invent a fully documented family dynasty of painters.</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https://commons.wikimedia.org/wiki/File:Rogier%20van%20der%20Weyden%20-%20Portrait%20of%20a%20Lady%20-%20Google%20Art%20Project.jpg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1427, a Tournai guild document records a man named Rogelet de la Pasture entering the workshop of Robert Campin. On August 1, 1432, he became a master in the Tournai painters’ guild.</a:t>
            </a:r>
          </a:p>
          <a:p xmlns:a="http://schemas.openxmlformats.org/drawingml/2006/main">
            <a:r>
              <a:t/>
            </a:r>
          </a:p>
          <a:p xmlns:a="http://schemas.openxmlformats.org/drawingml/2006/main">
            <a:r>
              <a:t>Scholars still debate how exactly this Rogelet relates to the later van der Weyden and how long his training lasted. Most accept that the two figures were probably the same, but the details of his early formation cannot be reconstructed completely.</a:t>
            </a:r>
          </a:p>
          <a:p xmlns:a="http://schemas.openxmlformats.org/drawingml/2006/main">
            <a:r>
              <a:t/>
            </a:r>
          </a:p>
          <a:p xmlns:a="http://schemas.openxmlformats.org/drawingml/2006/main">
            <a:r>
              <a:t>The Campin workshop brought sacred stories into recognizable rooms: benches, fireplaces, water jugs, lilies, and wooden windows became the setting for holy events. Van der Weyden inherited close observation of cloth, wood, metal, and faces, as well as the ability to organize private devotion through an altarpiece.</a:t>
            </a:r>
          </a:p>
          <a:p xmlns:a="http://schemas.openxmlformats.org/drawingml/2006/main">
            <a:r>
              <a:t/>
            </a:r>
          </a:p>
          <a:p xmlns:a="http://schemas.openxmlformats.org/drawingml/2006/main">
            <a:r>
              <a:t>But he moved toward a different emphasis. He compressed spatial depth and pushed bodies toward the viewer. The environment no longer carried the main narrative. Bodies, folds, and lines of sight did.</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https://commons.wikimedia.org/wiki/File:The%20Magdalen%20Reading%20-%20Rogier%20van%20der%20Weyden.jpg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Around 1435, van der Weyden moved to Brussels. From March 2, 1436, he served as the city’s official painter. Brussels was the political and cultural center of the Burgundian Netherlands, where the duke’s court, nobles, officials, and foreign envoys generated commissions for paintings and luxury objects.</a:t>
            </a:r>
          </a:p>
          <a:p xmlns:a="http://schemas.openxmlformats.org/drawingml/2006/main">
            <a:r>
              <a:t/>
            </a:r>
          </a:p>
          <a:p xmlns:a="http://schemas.openxmlformats.org/drawingml/2006/main">
            <a:r>
              <a:t>For the town hall’s Golden Chamber, he painted four monumental panels known as *The Justice of Trajan and Herkinbald*. Their subject was rulers dispensing justice. Albrecht Dürer reportedly made a special effort to see them. The panels were destroyed when Brussels was bombarded in 1695; tapestry copies and documentary traces are all that remain.</a:t>
            </a:r>
          </a:p>
          <a:p xmlns:a="http://schemas.openxmlformats.org/drawingml/2006/main">
            <a:r>
              <a:t/>
            </a:r>
          </a:p>
          <a:p xmlns:a="http://schemas.openxmlformats.org/drawingml/2006/main">
            <a:r>
              <a:t>This lost commission matters. Van der Weyden did not paint only Virgins and martyrs for churches. He also designed public memory. His visual language of grief could serve justice, civic identity, and political legitimacy.</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https://commons.wikimedia.org/wiki/File:After%20Rogier%20van%20der%20Weyden%20-%20The%20Justice%20of%20Trajan%20and%20Herkinbald.jpg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According to the Prado, *The Descent from the Cross* was painted around 1435–38 and completed no later than 1443. It is oil on oak, approximately 220 by 262 centimeters, and now hangs in the Prado Museum. The original commission came from the Leuven crossbowmen’s guild for a chapel outside the city walls. Two small crossbows in the tracery preserve the guild’s mark.</a:t>
            </a:r>
          </a:p>
          <a:p xmlns:a="http://schemas.openxmlformats.org/drawingml/2006/main">
            <a:r>
              <a:t/>
            </a:r>
          </a:p>
          <a:p xmlns:a="http://schemas.openxmlformats.org/drawingml/2006/main">
            <a:r>
              <a:t>The painting resembles a golden wooden box or a shallow sculpted shrine. Ten life-size figures have almost nowhere to retreat. Shoulders, arms, sleeves, and feet approach the edges of the frame.</a:t>
            </a:r>
          </a:p>
          <a:p xmlns:a="http://schemas.openxmlformats.org/drawingml/2006/main">
            <a:r>
              <a:t/>
            </a:r>
          </a:p>
          <a:p xmlns:a="http://schemas.openxmlformats.org/drawingml/2006/main">
            <a:r>
              <a:t>The central tragedy is not staged with storms, black clouds, or a bloody landscape. It is carried by two bodies. Christ slides down from the cross while Mary collapses. Their bodies form related curves, allowing Mary to repeat the posture of Christ’s death through her own body.</a:t>
            </a:r>
          </a:p>
          <a:p xmlns:a="http://schemas.openxmlformats.org/drawingml/2006/main">
            <a:r>
              <a:t/>
            </a:r>
          </a:p>
          <a:p xmlns:a="http://schemas.openxmlformats.org/drawingml/2006/main">
            <a:r>
              <a:t>John supports Mary. Joseph and Nicodemus receive Christ. Mary Magdalene twists at the right. Everyone is trying to hold someone else, yet no gesture can undo death.</a:t>
            </a:r>
          </a:p>
          <a:p xmlns:a="http://schemas.openxmlformats.org/drawingml/2006/main">
            <a:r>
              <a:t/>
            </a:r>
          </a:p>
          <a:p xmlns:a="http://schemas.openxmlformats.org/drawingml/2006/main">
            <a:r>
              <a:t>Van der Weyden paints the tears small, but makes them catch the light through transparent glazes. Reddened skin, clenched fingers, and compressed fabric turn emotion into matter. The more rigorously the grief is ordered, the more inescapable it feels.</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https://commons.wikimedia.org/wiki/File:Weyden-descendimiento-prado-Ca-1435.jpg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Around 1435–40, van der Weyden painted *Saint Luke Drawing the Virgin*. The Boston version is one of the most important surviving examples and is often considered closest to the original. Related versions survive in Munich, Saint Petersburg, and Bruges; the degree of autograph work and workshop involvement remains a technical question.</a:t>
            </a:r>
          </a:p>
          <a:p xmlns:a="http://schemas.openxmlformats.org/drawingml/2006/main">
            <a:r>
              <a:t/>
            </a:r>
          </a:p>
          <a:p xmlns:a="http://schemas.openxmlformats.org/drawingml/2006/main">
            <a:r>
              <a:t>Luke kneels before the Virgin with a silverpoint or metal stylus. He resembles a court painter facing a sacred model, but he also becomes an allegory of van der Weyden’s own profession.</a:t>
            </a:r>
          </a:p>
          <a:p xmlns:a="http://schemas.openxmlformats.org/drawingml/2006/main">
            <a:r>
              <a:t/>
            </a:r>
          </a:p>
          <a:p xmlns:a="http://schemas.openxmlformats.org/drawingml/2006/main">
            <a:r>
              <a:t>Some writers have suggested that Luke’s face contains a projection of the artist. There is not enough evidence to identify him securely as a self-portrait. A safer reading is that van der Weyden places himself inside the theological tradition of Saint Luke, declaring that painting is not merely manual labor. It can be witness, prayer, and service.</a:t>
            </a:r>
          </a:p>
          <a:p xmlns:a="http://schemas.openxmlformats.org/drawingml/2006/main">
            <a:r>
              <a:t/>
            </a:r>
          </a:p>
          <a:p xmlns:a="http://schemas.openxmlformats.org/drawingml/2006/main">
            <a:r>
              <a:t>The interior, river, bridge, and distant city recall Jan van Eyck’s *Madonna of Chancellor Rolin*. But van der Weyden replaces the powerful donor with an artist kneeling at work. Optical marvel becomes professional humility.</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https://commons.wikimedia.org/wiki/File:Saint%20Luke%20Drawing%20the%20Virgin%20MFA%20Boston.jpg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*Miraflores Altarpiece* was probably made in the first half of the 1440s, often placed around 1440–45. Its three panels show the Holy Family, Mary mourning Christ, and the risen Christ appearing to his mother.</a:t>
            </a:r>
          </a:p>
          <a:p xmlns:a="http://schemas.openxmlformats.org/drawingml/2006/main">
            <a:r>
              <a:t/>
            </a:r>
          </a:p>
          <a:p xmlns:a="http://schemas.openxmlformats.org/drawingml/2006/main">
            <a:r>
              <a:t>This is not a record of one moment. It compresses birth, death, and resurrection into a theater that a believer can read again and again.</a:t>
            </a:r>
          </a:p>
          <a:p xmlns:a="http://schemas.openxmlformats.org/drawingml/2006/main">
            <a:r>
              <a:t/>
            </a:r>
          </a:p>
          <a:p xmlns:a="http://schemas.openxmlformats.org/drawingml/2006/main">
            <a:r>
              <a:t>The *Seven Sacraments Altarpiece* distributes baptism, confirmation, confession, Eucharist, marriage, ordination, and extreme unction inside a Gothic church. A central crucifix becomes the theological source of every ritual. Past sacrifice and present liturgy occupy one space.</a:t>
            </a:r>
          </a:p>
          <a:p xmlns:a="http://schemas.openxmlformats.org/drawingml/2006/main">
            <a:r>
              <a:t/>
            </a:r>
          </a:p>
          <a:p xmlns:a="http://schemas.openxmlformats.org/drawingml/2006/main">
            <a:r>
              <a:t>The work may have been commissioned by Jean Chevrot, bishop of Tournai, but no complete contract survives. His portrait and the arms of Tournai provide important clues, not a substitute for documentation. Van der Weyden shows that an altarpiece can hold time the way architecture holds bodies.</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https://commons.wikimedia.org/wiki/File:Rogier%20van%20der%20Weyden%20-%20The%20Altar%20of%20Our%20Lady%20(Miraflores%20Altar)%20-%20Google%20Art%20Project.jpg</a:t>
            </a:r>
          </a:p>
          <a:p xmlns:a="http://schemas.openxmlformats.org/drawingml/2006/main">
            <a:r>
              <a:t>https://commons.wikimedia.org/wiki/File:Rogier%20van%20der%20Weyden%20-%20Seven%20Sacraments%20Altarpiece%20-%20WGA25602.jpg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Around 1443–51, perhaps as late as 1452, Nicolas Rolin and his wife commissioned the *Last Judgment Altarpiece* for the Hôtel-Dieu in Beaune. The work originally stood at the end of the patients’ ward. People lying in their beds could see Christ, Michael, the scales, the resurrected dead, Heaven, and Hell.</a:t>
            </a:r>
          </a:p>
          <a:p xmlns:a="http://schemas.openxmlformats.org/drawingml/2006/main">
            <a:r>
              <a:t/>
            </a:r>
          </a:p>
          <a:p xmlns:a="http://schemas.openxmlformats.org/drawingml/2006/main">
            <a:r>
              <a:t>Michael’s scales divide the space between salvation and punishment. Van der Weyden does not rely mainly on monsters to produce fear. He uses frightened faces, the weight of bodies, and directions that cannot be reversed.</a:t>
            </a:r>
          </a:p>
          <a:p xmlns:a="http://schemas.openxmlformats.org/drawingml/2006/main">
            <a:r>
              <a:t/>
            </a:r>
          </a:p>
          <a:p xmlns:a="http://schemas.openxmlformats.org/drawingml/2006/main">
            <a:r>
              <a:t>The donors remain visible within the religious scene. Their portraits and heraldry do not erase their public power. Charity, political reputation, and personal hope for salvation occupy the same image.</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https://commons.wikimedia.org/wiki/File:Rogier%20van%20der%20Weyden%20001.jpg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Around the Jubilee of 1450, van der Weyden traveled to Italy, probably including Rome and perhaps as a pilgrim. Courts and collectors in Ferrara and Florence encountered Netherlandish painting through works and exchange.</a:t>
            </a:r>
          </a:p>
          <a:p xmlns:a="http://schemas.openxmlformats.org/drawingml/2006/main">
            <a:r>
              <a:t/>
            </a:r>
          </a:p>
          <a:p xmlns:a="http://schemas.openxmlformats.org/drawingml/2006/main">
            <a:r>
              <a:t>The importance of this journey is not that it suddenly turned van der Weyden into an Italian Renaissance painter. It shows that fifteenth-century art did not develop along two sealed roads. Paintings, merchants, envoys, marriages, and pilgrims carried styles across the Alps.</a:t>
            </a:r>
          </a:p>
          <a:p xmlns:a="http://schemas.openxmlformats.org/drawingml/2006/main">
            <a:r>
              <a:t/>
            </a:r>
          </a:p>
          <a:p xmlns:a="http://schemas.openxmlformats.org/drawingml/2006/main">
            <a:r>
              <a:t>Italian viewers admired Northern material description, portraiture, and detail. Van der Weyden may have encountered Italian symmetry and monumentality. Yet even in his late works, he retained shallow stages, sharp folds, gold grounds, and intense emotion. Travel created exchange without erasing his Northern language.</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https://commons.wikimedia.org/wiki/File:Der%20Dreik%C3%B6nigsaltar%20Rogier%20van%20der%20Weyden.jpg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Van der Weyden’s portraits often use the three-quarter view. Sitters stand against plain backgrounds with hands folded below. This is not photographic copying. He could lengthen a nose, narrow a face, or raise a forehead, balancing resemblance with social image.</a:t>
            </a:r>
          </a:p>
          <a:p xmlns:a="http://schemas.openxmlformats.org/drawingml/2006/main">
            <a:r>
              <a:t/>
            </a:r>
          </a:p>
          <a:p xmlns:a="http://schemas.openxmlformats.org/drawingml/2006/main">
            <a:r>
              <a:t>The portrait of Philip the Good survives largely through workshop versions and copies. Black clothing, the Order of the Golden Fleece, and a severe expression concentrate authority in the face, costume, and badge.</a:t>
            </a:r>
          </a:p>
          <a:p xmlns:a="http://schemas.openxmlformats.org/drawingml/2006/main">
            <a:r>
              <a:t/>
            </a:r>
          </a:p>
          <a:p xmlns:a="http://schemas.openxmlformats.org/drawingml/2006/main">
            <a:r>
              <a:t>In the portrait generally known as *Portrait of a Lady*, painted around 1460, a high forehead, transparent veil, lowered eyes, and folded hands construct modesty and rank. The high forehead also reflects the fashion of removing some hair at the hairline.</a:t>
            </a:r>
          </a:p>
          <a:p xmlns:a="http://schemas.openxmlformats.org/drawingml/2006/main">
            <a:r>
              <a:t/>
            </a:r>
          </a:p>
          <a:p xmlns:a="http://schemas.openxmlformats.org/drawingml/2006/main">
            <a:r>
              <a:t>These figures offer no narrative background to explain them. We must build their psychology from a mouth, a glance, and a finger. Silence becomes van der Weyden’s most efficient portrait language.</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https://commons.wikimedia.org/wiki/File:Rogier%20van%20der%20Weyden%20-%20Portrait%20of%20a%20Lady%20-%20Google%20Art%20Project.jpg</a:t>
            </a:r>
          </a:p>
          <a:p xmlns:a="http://schemas.openxmlformats.org/drawingml/2006/main">
            <a:r>
              <a:t>https://commons.wikimedia.org/wiki/File:Portret%20van%20Philippe%20de%20Croy%20-%20Rogier%20van%20der%20Weyden%20-%20Koninklijk%20Museum%20voor%20Schone%20Kunsten%20Antwerpen%20-%202.jpg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*Braque Triptych*, painted around 1452, is now in the Louvre. The center and interior wings show Christ, the Virgin and Child, John the Baptist, Mary Magdalene, and John the Evangelist. When closed, the exterior presents a skull and a cross.</a:t>
            </a:r>
          </a:p>
          <a:p xmlns:a="http://schemas.openxmlformats.org/drawingml/2006/main">
            <a:r>
              <a:t/>
            </a:r>
          </a:p>
          <a:p xmlns:a="http://schemas.openxmlformats.org/drawingml/2006/main">
            <a:r>
              <a:t>The exterior is not simply a gray decorative surface. It is a direct reminder of death. Louvre records connect the work with Jean Braque and Catherine de Brabant; it may have commemorated a deceased husband, but the precise commission and meanings of every symbol should remain qualified.</a:t>
            </a:r>
          </a:p>
          <a:p xmlns:a="http://schemas.openxmlformats.org/drawingml/2006/main">
            <a:r>
              <a:t/>
            </a:r>
          </a:p>
          <a:p xmlns:a="http://schemas.openxmlformats.org/drawingml/2006/main">
            <a:r>
              <a:t>The triptych could be opened, closed, and carried in a private room. The viewer had to open the wings by hand. Looking became a ritual: from death outside to salvation inside, from the memory of the dead to the image of prayer.</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https://commons.wikimedia.org/wiki/File:Weyden%20Braque%20Family%20Triptych.jpg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*Columba Altarpiece* was probably made around 1450–55, often dated about 1455. Its central *Adoration of the Magi* joins the Virgin and Child to a distant Flemish city, showing that late van der Weyden could still balance powerful feeling with an expansive landscape.</a:t>
            </a:r>
          </a:p>
          <a:p xmlns:a="http://schemas.openxmlformats.org/drawingml/2006/main">
            <a:r>
              <a:t/>
            </a:r>
          </a:p>
          <a:p xmlns:a="http://schemas.openxmlformats.org/drawingml/2006/main">
            <a:r>
              <a:t>The *Crucifixion Diptych*, around 1460, strips the narrative down to Christ, Mary, and John. The background approaches abstraction. Emotion now depends on three bodies, the vertical of the cross, and a dark, nearly empty space.</a:t>
            </a:r>
          </a:p>
          <a:p xmlns:a="http://schemas.openxmlformats.org/drawingml/2006/main">
            <a:r>
              <a:t/>
            </a:r>
          </a:p>
          <a:p xmlns:a="http://schemas.openxmlformats.org/drawingml/2006/main">
            <a:r>
              <a:t>The work survives as a diptych, but technical research suggests that its panels may once have been the outer wings of a larger altarpiece. This uncertainty does not reduce its power. It reminds us that museum objects can be survivors of centuries of dismantling and reconstruction.</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https://commons.wikimedia.org/wiki/File:Der%20Dreik%C3%B6nigsaltar%20Rogier%20van%20der%20Weyden.jpg</a:t>
            </a:r>
          </a:p>
          <a:p xmlns:a="http://schemas.openxmlformats.org/drawingml/2006/main">
            <a:r>
              <a:t>https://commons.wikimedia.org/wiki/File:Crucifixion%20Diptych%20(Rogier%20van%20der%20Weyden).jpg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Van der Weyden rarely signed his works, while his workshop produced repeated compositions and portrait versions. Art historians therefore cannot decide authorship by asking only whether a picture “looks like” him. They combine wood-ring analysis, underdrawing, pigments, brushwork, and documentary history.</a:t>
            </a:r>
          </a:p>
          <a:p xmlns:a="http://schemas.openxmlformats.org/drawingml/2006/main">
            <a:r>
              <a:t/>
            </a:r>
          </a:p>
          <a:p xmlns:a="http://schemas.openxmlformats.org/drawingml/2006/main">
            <a:r>
              <a:t>Even a recognized masterpiece may include workshop labor. The master could design the composition and paint crucial faces and hands while assistants handled clothing, backgrounds, or repeated passages. This was not automatically deceptive. It was a normal production system.</a:t>
            </a:r>
          </a:p>
          <a:p xmlns:a="http://schemas.openxmlformats.org/drawingml/2006/main">
            <a:r>
              <a:t/>
            </a:r>
          </a:p>
          <a:p xmlns:a="http://schemas.openxmlformats.org/drawingml/2006/main">
            <a:r>
              <a:t>“Workshop” does not mean “fake.” Van der Weyden’s influence exists not only in one wooden panel, but in a language of emotion that studios, patrons, and European markets could reproduce.</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https://commons.wikimedia.org/wiki/File:Saint%20Luke%20Drawing%20the%20Virgin%20MFA%20Boston.jpg</a:t>
            </a:r>
          </a:p>
          <a:p xmlns:a="http://schemas.openxmlformats.org/drawingml/2006/main">
            <a:r>
              <a:t>https://commons.wikimedia.org/wiki/File:The%20Magdalen%20Reading%20-%20Rogier%20van%20der%20Weyden.jpg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Calling van der Weyden the “heart” and van Eyck the “eye” is useful for a first approach, but it cannot replace close looking.</a:t>
            </a:r>
          </a:p>
          <a:p xmlns:a="http://schemas.openxmlformats.org/drawingml/2006/main">
            <a:r>
              <a:t/>
            </a:r>
          </a:p>
          <a:p xmlns:a="http://schemas.openxmlformats.org/drawingml/2006/main">
            <a:r>
              <a:t>Both artists care about material, portraiture, religious symbolism, and exact structure. Van Eyck can express feeling, and van der Weyden possessed extraordinary technical skill.</a:t>
            </a:r>
          </a:p>
          <a:p xmlns:a="http://schemas.openxmlformats.org/drawingml/2006/main">
            <a:r>
              <a:t/>
            </a:r>
          </a:p>
          <a:p xmlns:a="http://schemas.openxmlformats.org/drawingml/2006/main">
            <a:r>
              <a:t>The difference is the center of gravity. Van Eyck often opens space toward the distance, allowing the eye to travel through mirrors, windows, cities, and objects. Van der Weyden often flattens space and pushes bodies forward like relief sculpture. The eye does not travel among objects; it follows arms, folds, and curves.</a:t>
            </a:r>
          </a:p>
          <a:p xmlns:a="http://schemas.openxmlformats.org/drawingml/2006/main">
            <a:r>
              <a:t/>
            </a:r>
          </a:p>
          <a:p xmlns:a="http://schemas.openxmlformats.org/drawingml/2006/main">
            <a:r>
              <a:t>*Saint Luke Drawing the Virgin* makes the connection visible. It borrows van Eyck’s interior, river, and city, but replaces a powerful chancellor with an artist kneeling at work. Optical marvel becomes professional humility.</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https://commons.wikimedia.org/wiki/File:Van%20Eyck%20-%20Arnolfini%20Portrait.jpg</a:t>
            </a:r>
          </a:p>
          <a:p xmlns:a="http://schemas.openxmlformats.org/drawingml/2006/main">
            <a:r>
              <a:t>https://commons.wikimedia.org/wiki/File:Weyden-descendimiento-prado-Ca-1435.jpg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Van der Weyden died in Brussels in 1464. Sources differ on the exact day and on details of his burial, but by the end of his life he was a public city figure, not an anonymous craftsman.</a:t>
            </a:r>
          </a:p>
          <a:p xmlns:a="http://schemas.openxmlformats.org/drawingml/2006/main">
            <a:r>
              <a:t/>
            </a:r>
          </a:p>
          <a:p xmlns:a="http://schemas.openxmlformats.org/drawingml/2006/main">
            <a:r>
              <a:t>His influence reached Hans Memling, Dieric Bouts, Hugo van der Goes, and Petrus Christus, and traveled into Germany, Spain, Portugal, and Italy. Later artists repeatedly borrowed his fainting Virgin, twisted arms, three-quarter portraits, and folded hands.</a:t>
            </a:r>
          </a:p>
          <a:p xmlns:a="http://schemas.openxmlformats.org/drawingml/2006/main">
            <a:r>
              <a:t/>
            </a:r>
          </a:p>
          <a:p xmlns:a="http://schemas.openxmlformats.org/drawingml/2006/main">
            <a:r>
              <a:t>When looking at van der Weyden, remember five things: follow parallel bodies; notice compressed space; watch tears, skin, and metal carry emotion into matter; see gold and skulls connect salvation to death; and read silent faces without forcing them to tell a complete story.</a:t>
            </a:r>
          </a:p>
          <a:p xmlns:a="http://schemas.openxmlformats.org/drawingml/2006/main">
            <a:r>
              <a:t/>
            </a:r>
          </a:p>
          <a:p xmlns:a="http://schemas.openxmlformats.org/drawingml/2006/main">
            <a:r>
              <a:t>He did not paint sorrow as one expression. He turned sorrow into a form the body can remember.</a:t>
            </a:r>
          </a:p>
          <a:p xmlns:a="http://schemas.openxmlformats.org/drawingml/2006/main">
            <a:r>
              <a:t/>
            </a:r>
          </a:p>
          <a:p xmlns:a="http://schemas.openxmlformats.org/drawingml/2006/main">
            <a:r>
              <a:t>This is **Our Famous Artists**. Thank you for watching, and join us next time as we step closer to another great artist.</a:t>
            </a:r>
          </a:p>
          <a:p xmlns:a="http://schemas.openxmlformats.org/drawingml/2006/main">
            <a:r>
              <a:t/>
            </a:r>
          </a:p>
          <a:p xmlns:a="http://schemas.openxmlformats.org/drawingml/2006/main">
            <a:r>
              <a:t>[Sources]</a:t>
            </a:r>
          </a:p>
          <a:p xmlns:a="http://schemas.openxmlformats.org/drawingml/2006/main">
            <a:r>
              <a:t>https://www.museodelprado.es/en/the-collection/art-work/the-descent-from-the-cross/856d822a-dd22-4425-bebd-920a1d416aa7</a:t>
            </a:r>
          </a:p>
          <a:p xmlns:a="http://schemas.openxmlformats.org/drawingml/2006/main">
            <a:r>
              <a:t>https://collections.mfa.org/objects/31206</a:t>
            </a:r>
          </a:p>
          <a:p xmlns:a="http://schemas.openxmlformats.org/drawingml/2006/main">
            <a:r>
              <a:t>https://visit.smb.museum/en/object/obj-871481?term=Retabel</a:t>
            </a:r>
          </a:p>
          <a:p xmlns:a="http://schemas.openxmlformats.org/drawingml/2006/main">
            <a:r>
              <a:t>https://kmska.be/en/masterpiece/the-seven-sacraments</a:t>
            </a:r>
          </a:p>
          <a:p xmlns:a="http://schemas.openxmlformats.org/drawingml/2006/main">
            <a:r>
              <a:t>https://hoteldieu.hospices-de-beaune.com/node/31</a:t>
            </a:r>
          </a:p>
          <a:p xmlns:a="http://schemas.openxmlformats.org/drawingml/2006/main">
            <a:r>
              <a:t>https://collections.louvre.fr/en/ark%3A/53355/cl010061888</a:t>
            </a:r>
          </a:p>
          <a:p xmlns:a="http://schemas.openxmlformats.org/drawingml/2006/main">
            <a:r>
              <a:t>https://www.sammlung.pinakothek.de/en/artwork/jWLpO7nxKY</a:t>
            </a:r>
          </a:p>
          <a:p xmlns:a="http://schemas.openxmlformats.org/drawingml/2006/main">
            <a:r>
              <a:t>https://www.philamuseum.org/objects/102845</a:t>
            </a:r>
          </a:p>
          <a:p xmlns:a="http://schemas.openxmlformats.org/drawingml/2006/main">
            <a:r>
              <a:t>https://www.nationalgallery.org.uk/paintings/jan-van-eyck-the-arnolfini-portrait</a:t>
            </a:r>
          </a:p>
          <a:p xmlns:a="http://schemas.openxmlformats.org/drawingml/2006/main">
            <a:r>
              <a:t>https://commons.wikimedia.org/wiki/File:Weyden-descendimiento-prado-Ca-1435.jpg</a:t>
            </a:r>
          </a:p>
          <a:p xmlns:a="http://schemas.openxmlformats.org/drawingml/2006/main">
            <a:r>
              <a:t>https://commons.wikimedia.org/wiki/File:Saint%20Luke%20Drawing%20the%20Virgin%20MFA%20Boston.jpg</a:t>
            </a:r>
          </a:p>
          <a:p xmlns:a="http://schemas.openxmlformats.org/drawingml/2006/main">
            <a:r>
              <a:t>https://commons.wikimedia.org/wiki/File:Rogier%20van%20der%20Weyden%20001.jpg</a:t>
            </a:r>
          </a:p>
          <a:p xmlns:a="http://schemas.openxmlformats.org/drawingml/2006/main">
            <a:r>
              <a:t>https://commons.wikimedia.org/wiki/File:Rogier%20van%20der%20Weyden%20-%20Portrait%20of%20a%20Lady%20-%20Google%20Art%20Project.jpg</a:t>
            </a:r>
          </a:p>
          <a:p xmlns:a="http://schemas.openxmlformats.org/drawingml/2006/main">
            <a:r>
              <a:t>https://commons.wikimedia.org/wiki/File:Weyden%20Braque%20Family%20Triptych.jpg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Silent end card. 17:30–17:38. Our Famous Artists.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abdd575eeb49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ae660e07664571" /><Relationship Type="http://schemas.openxmlformats.org/officeDocument/2006/relationships/slideLayout" Target="/ppt/slideLayouts/slideLayout1.xml" Id="Re0c003cbf0f04d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c003cbf0f04d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97a01a03884756" /><Relationship Type="http://schemas.openxmlformats.org/officeDocument/2006/relationships/image" Target="/ppt/media/image.jpeg" Id="Rbe9080d48e374f90" /><Relationship Type="http://schemas.openxmlformats.org/officeDocument/2006/relationships/notesSlide" Target="/ppt/notesSlides/notesSlide1.xml" Id="R65acebbf4c4d4a6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f0797e59704e74" /><Relationship Type="http://schemas.openxmlformats.org/officeDocument/2006/relationships/image" Target="/ppt/media/image2.jpeg" Id="R10a58b5127c04a25" /><Relationship Type="http://schemas.openxmlformats.org/officeDocument/2006/relationships/notesSlide" Target="/ppt/notesSlides/notesSlide2.xml" Id="Rf3dc01ee345346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7c97a151834f53" /><Relationship Type="http://schemas.openxmlformats.org/officeDocument/2006/relationships/image" Target="/ppt/media/image3.jpeg" Id="R24d27bcba08946e3" /><Relationship Type="http://schemas.openxmlformats.org/officeDocument/2006/relationships/notesSlide" Target="/ppt/notesSlides/notesSlide3.xml" Id="R00d50cad3e5d4c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09e391ff5c4bc6" /><Relationship Type="http://schemas.openxmlformats.org/officeDocument/2006/relationships/image" Target="/ppt/media/image4.jpeg" Id="Rd9f2059846254c66" /><Relationship Type="http://schemas.openxmlformats.org/officeDocument/2006/relationships/notesSlide" Target="/ppt/notesSlides/notesSlide4.xml" Id="Radb85f4dc3c04e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4a2303d559494b" /><Relationship Type="http://schemas.openxmlformats.org/officeDocument/2006/relationships/image" Target="/ppt/media/image5.jpeg" Id="R1df5f4fe9163457c" /><Relationship Type="http://schemas.openxmlformats.org/officeDocument/2006/relationships/notesSlide" Target="/ppt/notesSlides/notesSlide5.xml" Id="R19e9226bd7c145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b12c99098d4c39" /><Relationship Type="http://schemas.openxmlformats.org/officeDocument/2006/relationships/image" Target="/ppt/media/image6.jpeg" Id="R5dc4ce992d3b433f" /><Relationship Type="http://schemas.openxmlformats.org/officeDocument/2006/relationships/notesSlide" Target="/ppt/notesSlides/notesSlide6.xml" Id="R1eb04a937faf4a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2f1a76d44ad4a37" /><Relationship Type="http://schemas.openxmlformats.org/officeDocument/2006/relationships/image" Target="/ppt/media/image7.jpeg" Id="R1b762b859eea4cd3" /><Relationship Type="http://schemas.openxmlformats.org/officeDocument/2006/relationships/image" Target="/ppt/media/image8.jpeg" Id="R421e56486a844366" /><Relationship Type="http://schemas.openxmlformats.org/officeDocument/2006/relationships/notesSlide" Target="/ppt/notesSlides/notesSlide7.xml" Id="R127634ea9d6e43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461df3b0ab412e" /><Relationship Type="http://schemas.openxmlformats.org/officeDocument/2006/relationships/image" Target="/ppt/media/image9.jpeg" Id="R0a7c43fb7fe74e2a" /><Relationship Type="http://schemas.openxmlformats.org/officeDocument/2006/relationships/notesSlide" Target="/ppt/notesSlides/notesSlide8.xml" Id="Re1580bac557a4c9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4faab706d44401" /><Relationship Type="http://schemas.openxmlformats.org/officeDocument/2006/relationships/image" Target="/ppt/media/image10.jpeg" Id="R4128f8c5aacb4b59" /><Relationship Type="http://schemas.openxmlformats.org/officeDocument/2006/relationships/notesSlide" Target="/ppt/notesSlides/notesSlide9.xml" Id="R25a62886d900472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dd744f46eef47a9" /><Relationship Type="http://schemas.openxmlformats.org/officeDocument/2006/relationships/image" Target="/ppt/media/image11.jpeg" Id="R043879e46caf48bf" /><Relationship Type="http://schemas.openxmlformats.org/officeDocument/2006/relationships/image" Target="/ppt/media/image12.jpeg" Id="R413ac2704f42426f" /><Relationship Type="http://schemas.openxmlformats.org/officeDocument/2006/relationships/notesSlide" Target="/ppt/notesSlides/notesSlide10.xml" Id="Ra8eb21319a4a49c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1a47c6e23cd411b" /><Relationship Type="http://schemas.openxmlformats.org/officeDocument/2006/relationships/image" Target="/ppt/media/image13.jpeg" Id="R4a43c6261706422d" /><Relationship Type="http://schemas.openxmlformats.org/officeDocument/2006/relationships/notesSlide" Target="/ppt/notesSlides/notesSlide11.xml" Id="Rcc4dbe81b38c4a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6c862b2fcd42c3" /><Relationship Type="http://schemas.openxmlformats.org/officeDocument/2006/relationships/image" Target="/ppt/media/image14.jpeg" Id="Rb115945ea48e4524" /><Relationship Type="http://schemas.openxmlformats.org/officeDocument/2006/relationships/image" Target="/ppt/media/image15.jpeg" Id="R6f8e851bda484381" /><Relationship Type="http://schemas.openxmlformats.org/officeDocument/2006/relationships/notesSlide" Target="/ppt/notesSlides/notesSlide12.xml" Id="R2a717979736e4e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a577531845494e" /><Relationship Type="http://schemas.openxmlformats.org/officeDocument/2006/relationships/image" Target="/ppt/media/image16.jpeg" Id="Rf501d8a5b7f34241" /><Relationship Type="http://schemas.openxmlformats.org/officeDocument/2006/relationships/image" Target="/ppt/media/image17.jpeg" Id="R575da4a167c9495e" /><Relationship Type="http://schemas.openxmlformats.org/officeDocument/2006/relationships/notesSlide" Target="/ppt/notesSlides/notesSlide13.xml" Id="Rf3d4e3393d6f4d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d04f466f3e2448e" /><Relationship Type="http://schemas.openxmlformats.org/officeDocument/2006/relationships/image" Target="/ppt/media/image18.jpeg" Id="R5e9c9d0175d34dcd" /><Relationship Type="http://schemas.openxmlformats.org/officeDocument/2006/relationships/image" Target="/ppt/media/image19.jpeg" Id="R865d4aa2471a408f" /><Relationship Type="http://schemas.openxmlformats.org/officeDocument/2006/relationships/notesSlide" Target="/ppt/notesSlides/notesSlide14.xml" Id="R395413ba810f42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f56ac961ff64065" /><Relationship Type="http://schemas.openxmlformats.org/officeDocument/2006/relationships/image" Target="/ppt/media/image20.jpeg" Id="Rc16b5266b059454d" /><Relationship Type="http://schemas.openxmlformats.org/officeDocument/2006/relationships/image" Target="/ppt/media/image21.jpeg" Id="Rf1110d133b3d4cbf" /><Relationship Type="http://schemas.openxmlformats.org/officeDocument/2006/relationships/image" Target="/ppt/media/image22.jpeg" Id="R3b49521f509e4119" /><Relationship Type="http://schemas.openxmlformats.org/officeDocument/2006/relationships/image" Target="/ppt/media/image23.jpeg" Id="R692b1a912dee4cb8" /><Relationship Type="http://schemas.openxmlformats.org/officeDocument/2006/relationships/image" Target="/ppt/media/image24.jpeg" Id="Rb074b898323743cc" /><Relationship Type="http://schemas.openxmlformats.org/officeDocument/2006/relationships/notesSlide" Target="/ppt/notesSlides/notesSlide15.xml" Id="Rd691d3561f8448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529f838a2c491d" /><Relationship Type="http://schemas.openxmlformats.org/officeDocument/2006/relationships/notesSlide" Target="/ppt/notesSlides/notesSlide16.xml" Id="R59aa5b74741f4b88" /></Relationships>
</file>

<file path=ppt/slides/slide1.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9ECFFD-9606-4809-B7DE-4644F37D1D6B}"/>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AD99AF-016A-4FD0-839A-7D0DF6D75125}"/>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5DA2863-36C9-43BC-8EC4-C1B55D5828EF}"/>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75" b="0">
                <a:solidFill>
                  <a:srgbClr val="F5E8D4"/>
                </a:solidFill>
                <a:latin typeface="Noto Sans"/>
                <a:ea typeface="Noto Sans"/>
                <a:cs typeface="Noto Sans"/>
              </a:defRPr>
            </a:pPr>
            <a:r>
              <a:rPr sz="3675" b="0">
                <a:solidFill>
                  <a:srgbClr val="F5E8D4"/>
                </a:solidFill>
                <a:latin typeface="Noto Sans"/>
                <a:ea typeface="Noto Sans"/>
                <a:cs typeface="Noto Sans"/>
              </a:rPr>
              <a:t>Rogier van der Weyden</a:t>
            </a:r>
          </a:p>
        </p:txBody>
      </p:sp>
      <p:sp>
        <p:nvSpPr>
          <p:cNvPr id="4" name="">
            <a:extLst xmlns:a="http://schemas.openxmlformats.org/drawingml/2006/main">
              <a:ext uri="{FF2B5EF4-FFF2-40B4-BE49-F238E27FC236}">
                <a16:creationId xmlns:a16="http://schemas.microsoft.com/office/drawing/2014/main" id="{B2026BE7-FD17-40E7-9831-CB9B3DA80ACF}"/>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The painter who sculpted sorrow</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e9080d48e374f90"/>
          <a:stretch xmlns:a="http://schemas.openxmlformats.org/drawingml/2006/main"/>
        </p:blipFill>
        <p:spPr>
          <a:xfrm xmlns:a="http://schemas.openxmlformats.org/drawingml/2006/main">
            <a:off x="3396000" y="1609725"/>
            <a:ext cx="5400000" cy="4286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D63C921-C4D5-4141-B7A5-0640A865662E}"/>
              </a:ext>
            </a:extLst>
          </p:cNvPr>
          <p:cNvSpPr>
            <a:spLocks xmlns:a="http://schemas.openxmlformats.org/drawingml/2006/main" noGrp="1"/>
          </p:cNvSpPr>
          <p:nvPr/>
        </p:nvSpPr>
        <p:spPr>
          <a:xfrm xmlns:a="http://schemas.openxmlformats.org/drawingml/2006/main">
            <a:off x="0" y="6191250"/>
            <a:ext cx="12192000" cy="666750"/>
          </a:xfrm>
          <a:prstGeom xmlns:a="http://schemas.openxmlformats.org/drawingml/2006/main" prst="rect">
            <a:avLst/>
          </a:prstGeom>
          <a:solidFill xmlns:a="http://schemas.openxmlformats.org/drawingml/2006/main">
            <a:srgbClr val="11130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1C843E6-B259-40D0-8ECF-F4FA63F7A9D9}"/>
              </a:ext>
            </a:extLst>
          </p:cNvPr>
          <p:cNvSpPr>
            <a:spLocks xmlns:a="http://schemas.openxmlformats.org/drawingml/2006/main" noGrp="1"/>
          </p:cNvSpPr>
          <p:nvPr/>
        </p:nvSpPr>
        <p:spPr>
          <a:xfrm xmlns:a="http://schemas.openxmlformats.org/drawingml/2006/main">
            <a:off x="666750" y="6334125"/>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C0A98D"/>
                </a:solidFill>
                <a:latin typeface="Noto Sans"/>
                <a:ea typeface="Noto Sans"/>
                <a:cs typeface="Noto Sans"/>
              </a:defRPr>
            </a:pPr>
            <a:r>
              <a:rPr sz="1500" b="1">
                <a:solidFill>
                  <a:srgbClr val="C0A98D"/>
                </a:solidFill>
                <a:latin typeface="Noto Sans"/>
                <a:ea typeface="Noto Sans"/>
                <a:cs typeface="Noto Sans"/>
              </a:rPr>
              <a:t>OUR FAMOUS ARTISTS</a:t>
            </a:r>
          </a:p>
        </p:txBody>
      </p:sp>
      <p:sp>
        <p:nvSpPr>
          <p:cNvPr id="8" name="">
            <a:extLst xmlns:a="http://schemas.openxmlformats.org/drawingml/2006/main">
              <a:ext uri="{FF2B5EF4-FFF2-40B4-BE49-F238E27FC236}">
                <a16:creationId xmlns:a16="http://schemas.microsoft.com/office/drawing/2014/main" id="{BF6FA6CF-51A5-42F3-A94C-421DF4CB6CA1}"/>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01 / 15</a:t>
            </a:r>
          </a:p>
        </p:txBody>
      </p:sp>
    </p:spTree>
    <p:extLst>
      <p:ext uri="{BB962C8B-B14F-4D97-AF65-F5344CB8AC3E}">
        <p14:creationId xmlns:p14="http://schemas.microsoft.com/office/powerpoint/2010/main" val="1676908409"/>
      </p:ext>
    </p:extLst>
  </p:cSld>
</p:sld>
</file>

<file path=ppt/slides/slide2.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AA663E-0A59-4935-B88C-CE89E0972FF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6AABC8-A527-4A78-B957-2A35AE3E2947}"/>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2DAB52-3C52-4CE2-9383-067B21F73674}"/>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Two Names, One Painter</a:t>
            </a:r>
          </a:p>
        </p:txBody>
      </p:sp>
      <p:sp>
        <p:nvSpPr>
          <p:cNvPr id="4" name="">
            <a:extLst xmlns:a="http://schemas.openxmlformats.org/drawingml/2006/main">
              <a:ext uri="{FF2B5EF4-FFF2-40B4-BE49-F238E27FC236}">
                <a16:creationId xmlns:a16="http://schemas.microsoft.com/office/drawing/2014/main" id="{F2D532CC-9DFF-4E03-B1F1-2298E0152428}"/>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c. 1399/1400–1464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0a58b5127c04a25"/>
          <a:stretch xmlns:a="http://schemas.openxmlformats.org/drawingml/2006/main"/>
        </p:blipFill>
        <p:spPr>
          <a:xfrm xmlns:a="http://schemas.openxmlformats.org/drawingml/2006/main">
            <a:off x="4461986" y="1504950"/>
            <a:ext cx="3268027"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03A4DFB-5DCD-4DCD-BD74-05F4194822D3}"/>
              </a:ext>
            </a:extLst>
          </p:cNvPr>
          <p:cNvSpPr>
            <a:spLocks xmlns:a="http://schemas.openxmlformats.org/drawingml/2006/main" noGrp="1"/>
          </p:cNvSpPr>
          <p:nvPr/>
        </p:nvSpPr>
        <p:spPr>
          <a:xfrm xmlns:a="http://schemas.openxmlformats.org/drawingml/2006/main">
            <a:off x="666750" y="6096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F5E8D4"/>
                </a:solidFill>
                <a:latin typeface="Noto Sans"/>
                <a:ea typeface="Noto Sans"/>
                <a:cs typeface="Noto Sans"/>
              </a:defRPr>
            </a:pPr>
            <a:r>
              <a:rPr sz="1575" b="0">
                <a:solidFill>
                  <a:srgbClr val="F5E8D4"/>
                </a:solidFill>
                <a:latin typeface="Noto Sans"/>
                <a:ea typeface="Noto Sans"/>
                <a:cs typeface="Noto Sans"/>
              </a:rPr>
              <a:t>Portrait of a Lady</a:t>
            </a:r>
          </a:p>
        </p:txBody>
      </p:sp>
      <p:sp>
        <p:nvSpPr>
          <p:cNvPr id="7" name="">
            <a:extLst xmlns:a="http://schemas.openxmlformats.org/drawingml/2006/main">
              <a:ext uri="{FF2B5EF4-FFF2-40B4-BE49-F238E27FC236}">
                <a16:creationId xmlns:a16="http://schemas.microsoft.com/office/drawing/2014/main" id="{86376BC8-D451-4572-95EE-1FBA31862A9A}"/>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02 / 15</a:t>
            </a:r>
          </a:p>
        </p:txBody>
      </p:sp>
    </p:spTree>
    <p:extLst>
      <p:ext uri="{BB962C8B-B14F-4D97-AF65-F5344CB8AC3E}">
        <p14:creationId xmlns:p14="http://schemas.microsoft.com/office/powerpoint/2010/main" val="749079083"/>
      </p:ext>
    </p:extLst>
  </p:cSld>
</p:sld>
</file>

<file path=ppt/slides/slide3.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B41AE0-4D2C-482D-BFB3-858C8A4CE49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C3D2B7-7D15-4CBF-A15E-7CC0BE05F999}"/>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A82EC2-EB5E-4B1E-B6FE-DDFBE10CBB93}"/>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The Campin Workshop</a:t>
            </a:r>
          </a:p>
        </p:txBody>
      </p:sp>
      <p:sp>
        <p:nvSpPr>
          <p:cNvPr id="4" name="">
            <a:extLst xmlns:a="http://schemas.openxmlformats.org/drawingml/2006/main">
              <a:ext uri="{FF2B5EF4-FFF2-40B4-BE49-F238E27FC236}">
                <a16:creationId xmlns:a16="http://schemas.microsoft.com/office/drawing/2014/main" id="{3510BB10-808A-41CE-B2C4-360B37867D11}"/>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Tournai, 1427–1432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24d27bcba08946e3"/>
          <a:stretch xmlns:a="http://schemas.openxmlformats.org/drawingml/2006/main"/>
        </p:blipFill>
        <p:spPr>
          <a:xfrm xmlns:a="http://schemas.openxmlformats.org/drawingml/2006/main">
            <a:off x="4182189" y="1504950"/>
            <a:ext cx="3827621"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EAD94B6-C805-44C4-8DC9-4D36724AA2DE}"/>
              </a:ext>
            </a:extLst>
          </p:cNvPr>
          <p:cNvSpPr>
            <a:spLocks xmlns:a="http://schemas.openxmlformats.org/drawingml/2006/main" noGrp="1"/>
          </p:cNvSpPr>
          <p:nvPr/>
        </p:nvSpPr>
        <p:spPr>
          <a:xfrm xmlns:a="http://schemas.openxmlformats.org/drawingml/2006/main">
            <a:off x="666750" y="6096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F5E8D4"/>
                </a:solidFill>
                <a:latin typeface="Noto Sans"/>
                <a:ea typeface="Noto Sans"/>
                <a:cs typeface="Noto Sans"/>
              </a:defRPr>
            </a:pPr>
            <a:r>
              <a:rPr sz="1575" b="0">
                <a:solidFill>
                  <a:srgbClr val="F5E8D4"/>
                </a:solidFill>
                <a:latin typeface="Noto Sans"/>
                <a:ea typeface="Noto Sans"/>
                <a:cs typeface="Noto Sans"/>
              </a:rPr>
              <a:t>The Magdalen Reading</a:t>
            </a:r>
          </a:p>
        </p:txBody>
      </p:sp>
      <p:sp>
        <p:nvSpPr>
          <p:cNvPr id="7" name="">
            <a:extLst xmlns:a="http://schemas.openxmlformats.org/drawingml/2006/main">
              <a:ext uri="{FF2B5EF4-FFF2-40B4-BE49-F238E27FC236}">
                <a16:creationId xmlns:a16="http://schemas.microsoft.com/office/drawing/2014/main" id="{29BEBFF5-83FA-482C-B499-6790A70DD88E}"/>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03 / 15</a:t>
            </a:r>
          </a:p>
        </p:txBody>
      </p:sp>
    </p:spTree>
    <p:extLst>
      <p:ext uri="{BB962C8B-B14F-4D97-AF65-F5344CB8AC3E}">
        <p14:creationId xmlns:p14="http://schemas.microsoft.com/office/powerpoint/2010/main" val="1801477191"/>
      </p:ext>
    </p:extLst>
  </p:cSld>
</p:sld>
</file>

<file path=ppt/slides/slide4.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EB581E-A7FC-4085-9707-2522DDF50810}"/>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D7528F4-7175-4E22-91C4-17BED2DC9013}"/>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B745A0-83A0-40F5-9599-EB11531E61EF}"/>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Painter to Brussels</a:t>
            </a:r>
          </a:p>
        </p:txBody>
      </p:sp>
      <p:sp>
        <p:nvSpPr>
          <p:cNvPr id="4" name="">
            <a:extLst xmlns:a="http://schemas.openxmlformats.org/drawingml/2006/main">
              <a:ext uri="{FF2B5EF4-FFF2-40B4-BE49-F238E27FC236}">
                <a16:creationId xmlns:a16="http://schemas.microsoft.com/office/drawing/2014/main" id="{EC1152EE-F80B-4328-B16D-752ECC61A06B}"/>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City painter from c. 1436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9f2059846254c66"/>
          <a:stretch xmlns:a="http://schemas.openxmlformats.org/drawingml/2006/main"/>
        </p:blipFill>
        <p:spPr>
          <a:xfrm xmlns:a="http://schemas.openxmlformats.org/drawingml/2006/main">
            <a:off x="952500" y="1525191"/>
            <a:ext cx="10287000" cy="443626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CD37F53-1F68-4E12-9FBB-2D0180540AE0}"/>
              </a:ext>
            </a:extLst>
          </p:cNvPr>
          <p:cNvSpPr>
            <a:spLocks xmlns:a="http://schemas.openxmlformats.org/drawingml/2006/main" noGrp="1"/>
          </p:cNvSpPr>
          <p:nvPr/>
        </p:nvSpPr>
        <p:spPr>
          <a:xfrm xmlns:a="http://schemas.openxmlformats.org/drawingml/2006/main">
            <a:off x="666750" y="6096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F5E8D4"/>
                </a:solidFill>
                <a:latin typeface="Noto Sans"/>
                <a:ea typeface="Noto Sans"/>
                <a:cs typeface="Noto Sans"/>
              </a:defRPr>
            </a:pPr>
            <a:r>
              <a:rPr sz="1575" b="0">
                <a:solidFill>
                  <a:srgbClr val="F5E8D4"/>
                </a:solidFill>
                <a:latin typeface="Noto Sans"/>
                <a:ea typeface="Noto Sans"/>
                <a:cs typeface="Noto Sans"/>
              </a:rPr>
              <a:t>Justice of Trajan and Herkinbald: tapestry copy</a:t>
            </a:r>
          </a:p>
        </p:txBody>
      </p:sp>
      <p:sp>
        <p:nvSpPr>
          <p:cNvPr id="7" name="">
            <a:extLst xmlns:a="http://schemas.openxmlformats.org/drawingml/2006/main">
              <a:ext uri="{FF2B5EF4-FFF2-40B4-BE49-F238E27FC236}">
                <a16:creationId xmlns:a16="http://schemas.microsoft.com/office/drawing/2014/main" id="{AB0658F4-71E4-4E6A-83A8-9193F5D77B1A}"/>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04 / 15</a:t>
            </a:r>
          </a:p>
        </p:txBody>
      </p:sp>
    </p:spTree>
    <p:extLst>
      <p:ext uri="{BB962C8B-B14F-4D97-AF65-F5344CB8AC3E}">
        <p14:creationId xmlns:p14="http://schemas.microsoft.com/office/powerpoint/2010/main" val="1912530027"/>
      </p:ext>
    </p:extLst>
  </p:cSld>
</p:sld>
</file>

<file path=ppt/slides/slide5.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3794C6-F559-4429-91B6-B67E2A8DDCB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DA93C4-4651-4C5A-A740-97B06A02AC00}"/>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B7B9F9D-C2F0-46BD-B84C-C20DEAB21340}"/>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The Descent from the Cross</a:t>
            </a:r>
          </a:p>
        </p:txBody>
      </p:sp>
      <p:sp>
        <p:nvSpPr>
          <p:cNvPr id="4" name="">
            <a:extLst xmlns:a="http://schemas.openxmlformats.org/drawingml/2006/main">
              <a:ext uri="{FF2B5EF4-FFF2-40B4-BE49-F238E27FC236}">
                <a16:creationId xmlns:a16="http://schemas.microsoft.com/office/drawing/2014/main" id="{E560385E-F078-4D15-8521-CF47C2F37632}"/>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c. 1435–1438, Museo del Prado</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df5f4fe9163457c"/>
          <a:stretch xmlns:a="http://schemas.openxmlformats.org/drawingml/2006/main"/>
        </p:blipFill>
        <p:spPr>
          <a:xfrm xmlns:a="http://schemas.openxmlformats.org/drawingml/2006/main">
            <a:off x="3276000" y="1504950"/>
            <a:ext cx="5640000"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2B4E54A-4584-4630-860B-D8F34351EC9B}"/>
              </a:ext>
            </a:extLst>
          </p:cNvPr>
          <p:cNvSpPr>
            <a:spLocks xmlns:a="http://schemas.openxmlformats.org/drawingml/2006/main" noGrp="1"/>
          </p:cNvSpPr>
          <p:nvPr/>
        </p:nvSpPr>
        <p:spPr>
          <a:xfrm xmlns:a="http://schemas.openxmlformats.org/drawingml/2006/main">
            <a:off x="666750" y="6096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F5E8D4"/>
                </a:solidFill>
                <a:latin typeface="Noto Sans"/>
                <a:ea typeface="Noto Sans"/>
                <a:cs typeface="Noto Sans"/>
              </a:defRPr>
            </a:pPr>
            <a:r>
              <a:rPr sz="1575" b="0">
                <a:solidFill>
                  <a:srgbClr val="F5E8D4"/>
                </a:solidFill>
                <a:latin typeface="Noto Sans"/>
                <a:ea typeface="Noto Sans"/>
                <a:cs typeface="Noto Sans"/>
              </a:rPr>
              <a:t>The Descent from the Cross</a:t>
            </a:r>
          </a:p>
        </p:txBody>
      </p:sp>
      <p:sp>
        <p:nvSpPr>
          <p:cNvPr id="7" name="">
            <a:extLst xmlns:a="http://schemas.openxmlformats.org/drawingml/2006/main">
              <a:ext uri="{FF2B5EF4-FFF2-40B4-BE49-F238E27FC236}">
                <a16:creationId xmlns:a16="http://schemas.microsoft.com/office/drawing/2014/main" id="{AEBBDE76-AF06-4593-976B-45284AC8021C}"/>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05 / 15</a:t>
            </a:r>
          </a:p>
        </p:txBody>
      </p:sp>
    </p:spTree>
    <p:extLst>
      <p:ext uri="{BB962C8B-B14F-4D97-AF65-F5344CB8AC3E}">
        <p14:creationId xmlns:p14="http://schemas.microsoft.com/office/powerpoint/2010/main" val="660194171"/>
      </p:ext>
    </p:extLst>
  </p:cSld>
</p:sld>
</file>

<file path=ppt/slides/slide6.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B88E04-28E1-475B-8C59-556F14AF77C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776101-8C4A-4F51-8DAB-C5377F5DEE43}"/>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383978A-345B-4030-9515-EC07F5DBFA37}"/>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Saint Luke Drawing the Virgin</a:t>
            </a:r>
          </a:p>
        </p:txBody>
      </p:sp>
      <p:sp>
        <p:nvSpPr>
          <p:cNvPr id="4" name="">
            <a:extLst xmlns:a="http://schemas.openxmlformats.org/drawingml/2006/main">
              <a:ext uri="{FF2B5EF4-FFF2-40B4-BE49-F238E27FC236}">
                <a16:creationId xmlns:a16="http://schemas.microsoft.com/office/drawing/2014/main" id="{DD8221A6-1B96-41BC-A4EC-426A34A22AE7}"/>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c. 1435–1440, Museum of Fine Arts, Boston</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dc4ce992d3b433f"/>
          <a:stretch xmlns:a="http://schemas.openxmlformats.org/drawingml/2006/main"/>
        </p:blipFill>
        <p:spPr>
          <a:xfrm xmlns:a="http://schemas.openxmlformats.org/drawingml/2006/main">
            <a:off x="4287113" y="1504950"/>
            <a:ext cx="3617774"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AFDE4CC-0AF5-4F7C-9B69-86DF521573F9}"/>
              </a:ext>
            </a:extLst>
          </p:cNvPr>
          <p:cNvSpPr>
            <a:spLocks xmlns:a="http://schemas.openxmlformats.org/drawingml/2006/main" noGrp="1"/>
          </p:cNvSpPr>
          <p:nvPr/>
        </p:nvSpPr>
        <p:spPr>
          <a:xfrm xmlns:a="http://schemas.openxmlformats.org/drawingml/2006/main">
            <a:off x="666750" y="6096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F5E8D4"/>
                </a:solidFill>
                <a:latin typeface="Noto Sans"/>
                <a:ea typeface="Noto Sans"/>
                <a:cs typeface="Noto Sans"/>
              </a:defRPr>
            </a:pPr>
            <a:r>
              <a:rPr sz="1575" b="0">
                <a:solidFill>
                  <a:srgbClr val="F5E8D4"/>
                </a:solidFill>
                <a:latin typeface="Noto Sans"/>
                <a:ea typeface="Noto Sans"/>
                <a:cs typeface="Noto Sans"/>
              </a:rPr>
              <a:t>Saint Luke Drawing the Virgin</a:t>
            </a:r>
          </a:p>
        </p:txBody>
      </p:sp>
      <p:sp>
        <p:nvSpPr>
          <p:cNvPr id="7" name="">
            <a:extLst xmlns:a="http://schemas.openxmlformats.org/drawingml/2006/main">
              <a:ext uri="{FF2B5EF4-FFF2-40B4-BE49-F238E27FC236}">
                <a16:creationId xmlns:a16="http://schemas.microsoft.com/office/drawing/2014/main" id="{35C69C02-176C-4E3B-B884-842B18AE609E}"/>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06 / 15</a:t>
            </a:r>
          </a:p>
        </p:txBody>
      </p:sp>
    </p:spTree>
    <p:extLst>
      <p:ext uri="{BB962C8B-B14F-4D97-AF65-F5344CB8AC3E}">
        <p14:creationId xmlns:p14="http://schemas.microsoft.com/office/powerpoint/2010/main" val="257564851"/>
      </p:ext>
    </p:extLst>
  </p:cSld>
</p:sld>
</file>

<file path=ppt/slides/slide7.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E0FF679-F873-4B44-B0ED-142D8EE496F1}"/>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D26E29-78D9-4083-9024-DD60EAA59B2A}"/>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1A3AFE8-70F4-4FE7-8687-36F647481E82}"/>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Altarpieces as Sacred Theater</a:t>
            </a:r>
          </a:p>
        </p:txBody>
      </p:sp>
      <p:sp>
        <p:nvSpPr>
          <p:cNvPr id="4" name="">
            <a:extLst xmlns:a="http://schemas.openxmlformats.org/drawingml/2006/main">
              <a:ext uri="{FF2B5EF4-FFF2-40B4-BE49-F238E27FC236}">
                <a16:creationId xmlns:a16="http://schemas.microsoft.com/office/drawing/2014/main" id="{FD26AE5D-23FA-4279-BC93-73B7A0BDECB2}"/>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Miraflores and the Seven Sacraments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b762b859eea4cd3"/>
          <a:stretch xmlns:a="http://schemas.openxmlformats.org/drawingml/2006/main"/>
        </p:blipFill>
        <p:spPr>
          <a:xfrm xmlns:a="http://schemas.openxmlformats.org/drawingml/2006/main">
            <a:off x="685800" y="2380536"/>
            <a:ext cx="5219700" cy="254460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9428426-8DDF-4563-9F3F-12568EEC85F6}"/>
              </a:ext>
            </a:extLst>
          </p:cNvPr>
          <p:cNvSpPr>
            <a:spLocks xmlns:a="http://schemas.openxmlformats.org/drawingml/2006/main" noGrp="1"/>
          </p:cNvSpPr>
          <p:nvPr/>
        </p:nvSpPr>
        <p:spPr>
          <a:xfrm xmlns:a="http://schemas.openxmlformats.org/drawingml/2006/main">
            <a:off x="6858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Miraflores Altarpiece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21e56486a844366"/>
          <a:stretch xmlns:a="http://schemas.openxmlformats.org/drawingml/2006/main"/>
        </p:blipFill>
        <p:spPr>
          <a:xfrm xmlns:a="http://schemas.openxmlformats.org/drawingml/2006/main">
            <a:off x="6373892" y="1552575"/>
            <a:ext cx="5044916" cy="42005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FE11127-EBB9-47C7-ACC7-8F5498193B2F}"/>
              </a:ext>
            </a:extLst>
          </p:cNvPr>
          <p:cNvSpPr>
            <a:spLocks xmlns:a="http://schemas.openxmlformats.org/drawingml/2006/main" noGrp="1"/>
          </p:cNvSpPr>
          <p:nvPr/>
        </p:nvSpPr>
        <p:spPr>
          <a:xfrm xmlns:a="http://schemas.openxmlformats.org/drawingml/2006/main">
            <a:off x="62865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The Seven Sacraments</a:t>
            </a:r>
          </a:p>
        </p:txBody>
      </p:sp>
      <p:sp>
        <p:nvSpPr>
          <p:cNvPr id="9" name="">
            <a:extLst xmlns:a="http://schemas.openxmlformats.org/drawingml/2006/main">
              <a:ext uri="{FF2B5EF4-FFF2-40B4-BE49-F238E27FC236}">
                <a16:creationId xmlns:a16="http://schemas.microsoft.com/office/drawing/2014/main" id="{BDF3D23E-FD3E-4DCD-84B5-52DA45108C9A}"/>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07 / 15</a:t>
            </a:r>
          </a:p>
        </p:txBody>
      </p:sp>
    </p:spTree>
    <p:extLst>
      <p:ext uri="{BB962C8B-B14F-4D97-AF65-F5344CB8AC3E}">
        <p14:creationId xmlns:p14="http://schemas.microsoft.com/office/powerpoint/2010/main" val="1952046007"/>
      </p:ext>
    </p:extLst>
  </p:cSld>
</p:sld>
</file>

<file path=ppt/slides/slide8.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91F0338-6469-4145-9FE4-53B6F9EA9F0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FAFE7E-73D6-4F64-B6C4-A1CB4D9D2B57}"/>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40777A-E00E-48EA-AEA2-8FF9CF075553}"/>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The Last Judgment at Beaune</a:t>
            </a:r>
          </a:p>
        </p:txBody>
      </p:sp>
      <p:sp>
        <p:nvSpPr>
          <p:cNvPr id="4" name="">
            <a:extLst xmlns:a="http://schemas.openxmlformats.org/drawingml/2006/main">
              <a:ext uri="{FF2B5EF4-FFF2-40B4-BE49-F238E27FC236}">
                <a16:creationId xmlns:a16="http://schemas.microsoft.com/office/drawing/2014/main" id="{D2AF82D1-BE6B-4DA4-9F20-36DA063BB98A}"/>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c. 1443–1451, Hôtel-Dieu, Beaune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a7c43fb7fe74e2a"/>
          <a:stretch xmlns:a="http://schemas.openxmlformats.org/drawingml/2006/main"/>
        </p:blipFill>
        <p:spPr>
          <a:xfrm xmlns:a="http://schemas.openxmlformats.org/drawingml/2006/main">
            <a:off x="714375" y="1614220"/>
            <a:ext cx="10763250" cy="425821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D645CDA-EB44-43B1-A8FC-BB1E1F119BD9}"/>
              </a:ext>
            </a:extLst>
          </p:cNvPr>
          <p:cNvSpPr>
            <a:spLocks xmlns:a="http://schemas.openxmlformats.org/drawingml/2006/main" noGrp="1"/>
          </p:cNvSpPr>
          <p:nvPr/>
        </p:nvSpPr>
        <p:spPr>
          <a:xfrm xmlns:a="http://schemas.openxmlformats.org/drawingml/2006/main">
            <a:off x="666750" y="6096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F5E8D4"/>
                </a:solidFill>
                <a:latin typeface="Noto Sans"/>
                <a:ea typeface="Noto Sans"/>
                <a:cs typeface="Noto Sans"/>
              </a:defRPr>
            </a:pPr>
            <a:r>
              <a:rPr sz="1575" b="0">
                <a:solidFill>
                  <a:srgbClr val="F5E8D4"/>
                </a:solidFill>
                <a:latin typeface="Noto Sans"/>
                <a:ea typeface="Noto Sans"/>
                <a:cs typeface="Noto Sans"/>
              </a:rPr>
              <a:t>The Last Judgment</a:t>
            </a:r>
          </a:p>
        </p:txBody>
      </p:sp>
      <p:sp>
        <p:nvSpPr>
          <p:cNvPr id="7" name="">
            <a:extLst xmlns:a="http://schemas.openxmlformats.org/drawingml/2006/main">
              <a:ext uri="{FF2B5EF4-FFF2-40B4-BE49-F238E27FC236}">
                <a16:creationId xmlns:a16="http://schemas.microsoft.com/office/drawing/2014/main" id="{AA6D42CC-73F9-460F-A8A2-F17202A6750C}"/>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08 / 15</a:t>
            </a:r>
          </a:p>
        </p:txBody>
      </p:sp>
    </p:spTree>
    <p:extLst>
      <p:ext uri="{BB962C8B-B14F-4D97-AF65-F5344CB8AC3E}">
        <p14:creationId xmlns:p14="http://schemas.microsoft.com/office/powerpoint/2010/main" val="980334722"/>
      </p:ext>
    </p:extLst>
  </p:cSld>
</p:sld>
</file>

<file path=ppt/slides/slide9.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A817D4-CEA7-4F37-8DF1-EACA7FAD03C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5CA9DE-095D-491F-AA25-BD097E4A0763}"/>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0A227C4-2B68-437F-B90F-59E424F396D4}"/>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A Journey to Italy</a:t>
            </a:r>
          </a:p>
        </p:txBody>
      </p:sp>
      <p:sp>
        <p:nvSpPr>
          <p:cNvPr id="4" name="">
            <a:extLst xmlns:a="http://schemas.openxmlformats.org/drawingml/2006/main">
              <a:ext uri="{FF2B5EF4-FFF2-40B4-BE49-F238E27FC236}">
                <a16:creationId xmlns:a16="http://schemas.microsoft.com/office/drawing/2014/main" id="{74E895FD-E86A-4FCB-B4BB-2A73FBD89B42}"/>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Around 1450, across the Alps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128f8c5aacb4b59"/>
          <a:stretch xmlns:a="http://schemas.openxmlformats.org/drawingml/2006/main"/>
        </p:blipFill>
        <p:spPr>
          <a:xfrm xmlns:a="http://schemas.openxmlformats.org/drawingml/2006/main">
            <a:off x="1149315" y="1504950"/>
            <a:ext cx="9893370" cy="4476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A3E54CD-DC55-46BF-9BC1-A990FBC282AC}"/>
              </a:ext>
            </a:extLst>
          </p:cNvPr>
          <p:cNvSpPr>
            <a:spLocks xmlns:a="http://schemas.openxmlformats.org/drawingml/2006/main" noGrp="1"/>
          </p:cNvSpPr>
          <p:nvPr/>
        </p:nvSpPr>
        <p:spPr>
          <a:xfrm xmlns:a="http://schemas.openxmlformats.org/drawingml/2006/main">
            <a:off x="666750" y="6096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F5E8D4"/>
                </a:solidFill>
                <a:latin typeface="Noto Sans"/>
                <a:ea typeface="Noto Sans"/>
                <a:cs typeface="Noto Sans"/>
              </a:defRPr>
            </a:pPr>
            <a:r>
              <a:rPr sz="1575" b="0">
                <a:solidFill>
                  <a:srgbClr val="F5E8D4"/>
                </a:solidFill>
                <a:latin typeface="Noto Sans"/>
                <a:ea typeface="Noto Sans"/>
                <a:cs typeface="Noto Sans"/>
              </a:rPr>
              <a:t>Columba Altarpiece</a:t>
            </a:r>
          </a:p>
        </p:txBody>
      </p:sp>
      <p:sp>
        <p:nvSpPr>
          <p:cNvPr id="7" name="">
            <a:extLst xmlns:a="http://schemas.openxmlformats.org/drawingml/2006/main">
              <a:ext uri="{FF2B5EF4-FFF2-40B4-BE49-F238E27FC236}">
                <a16:creationId xmlns:a16="http://schemas.microsoft.com/office/drawing/2014/main" id="{9FDA075A-5E1F-4684-9D82-0D43505B6677}"/>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09 / 15</a:t>
            </a:r>
          </a:p>
        </p:txBody>
      </p:sp>
    </p:spTree>
    <p:extLst>
      <p:ext uri="{BB962C8B-B14F-4D97-AF65-F5344CB8AC3E}">
        <p14:creationId xmlns:p14="http://schemas.microsoft.com/office/powerpoint/2010/main" val="143977101"/>
      </p:ext>
    </p:extLst>
  </p:cSld>
</p:sld>
</file>

<file path=ppt/slides/slide10.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F7B3CF-5B15-46C0-93A5-C2E9F36BFEC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E017A4F-AB37-4FBD-91A3-3092293BCC37}"/>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B9FFEF-933D-47CA-B4CB-911BF26D38FE}"/>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The Silence of Portraits</a:t>
            </a:r>
          </a:p>
        </p:txBody>
      </p:sp>
      <p:sp>
        <p:nvSpPr>
          <p:cNvPr id="4" name="">
            <a:extLst xmlns:a="http://schemas.openxmlformats.org/drawingml/2006/main">
              <a:ext uri="{FF2B5EF4-FFF2-40B4-BE49-F238E27FC236}">
                <a16:creationId xmlns:a16="http://schemas.microsoft.com/office/drawing/2014/main" id="{139DFFC0-9206-4B1A-87E0-E5B95E8C3D62}"/>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Portrait of a Lady and Philippe de Croy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43879e46caf48bf"/>
          <a:stretch xmlns:a="http://schemas.openxmlformats.org/drawingml/2006/main"/>
        </p:blipFill>
        <p:spPr>
          <a:xfrm xmlns:a="http://schemas.openxmlformats.org/drawingml/2006/main">
            <a:off x="1762458" y="1552575"/>
            <a:ext cx="3066383" cy="4200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5868563-1C93-4FF3-9C86-D53B4D5C418A}"/>
              </a:ext>
            </a:extLst>
          </p:cNvPr>
          <p:cNvSpPr>
            <a:spLocks xmlns:a="http://schemas.openxmlformats.org/drawingml/2006/main" noGrp="1"/>
          </p:cNvSpPr>
          <p:nvPr/>
        </p:nvSpPr>
        <p:spPr>
          <a:xfrm xmlns:a="http://schemas.openxmlformats.org/drawingml/2006/main">
            <a:off x="6858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Portrait of a Lady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13ac2704f42426f"/>
          <a:stretch xmlns:a="http://schemas.openxmlformats.org/drawingml/2006/main"/>
        </p:blipFill>
        <p:spPr>
          <a:xfrm xmlns:a="http://schemas.openxmlformats.org/drawingml/2006/main">
            <a:off x="7556120" y="1552575"/>
            <a:ext cx="2680460" cy="42005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668A99E-E984-43FF-8D3E-40684F200826}"/>
              </a:ext>
            </a:extLst>
          </p:cNvPr>
          <p:cNvSpPr>
            <a:spLocks xmlns:a="http://schemas.openxmlformats.org/drawingml/2006/main" noGrp="1"/>
          </p:cNvSpPr>
          <p:nvPr/>
        </p:nvSpPr>
        <p:spPr>
          <a:xfrm xmlns:a="http://schemas.openxmlformats.org/drawingml/2006/main">
            <a:off x="62865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Portrait of Philippe de Croy</a:t>
            </a:r>
          </a:p>
        </p:txBody>
      </p:sp>
      <p:sp>
        <p:nvSpPr>
          <p:cNvPr id="9" name="">
            <a:extLst xmlns:a="http://schemas.openxmlformats.org/drawingml/2006/main">
              <a:ext uri="{FF2B5EF4-FFF2-40B4-BE49-F238E27FC236}">
                <a16:creationId xmlns:a16="http://schemas.microsoft.com/office/drawing/2014/main" id="{C54A1F93-524A-499D-B697-44178ECF2FFA}"/>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10 / 15</a:t>
            </a:r>
          </a:p>
        </p:txBody>
      </p:sp>
    </p:spTree>
    <p:extLst>
      <p:ext uri="{BB962C8B-B14F-4D97-AF65-F5344CB8AC3E}">
        <p14:creationId xmlns:p14="http://schemas.microsoft.com/office/powerpoint/2010/main" val="1786518192"/>
      </p:ext>
    </p:extLst>
  </p:cSld>
</p:sld>
</file>

<file path=ppt/slides/slide11.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84093D-74B6-4156-B767-0D9D566B573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A4693FA-DD65-4A79-BF03-2EA7552ED438}"/>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7D1983A-C95A-4B39-BC32-D41876715B28}"/>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The Braque Triptych</a:t>
            </a:r>
          </a:p>
        </p:txBody>
      </p:sp>
      <p:sp>
        <p:nvSpPr>
          <p:cNvPr id="4" name="">
            <a:extLst xmlns:a="http://schemas.openxmlformats.org/drawingml/2006/main">
              <a:ext uri="{FF2B5EF4-FFF2-40B4-BE49-F238E27FC236}">
                <a16:creationId xmlns:a16="http://schemas.microsoft.com/office/drawing/2014/main" id="{DE60E5B3-F8E6-40C0-B128-66CC7235EB25}"/>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c. 1452, Musée du Louvre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a43c6261706422d"/>
          <a:stretch xmlns:a="http://schemas.openxmlformats.org/drawingml/2006/main"/>
        </p:blipFill>
        <p:spPr>
          <a:xfrm xmlns:a="http://schemas.openxmlformats.org/drawingml/2006/main">
            <a:off x="714375" y="2179290"/>
            <a:ext cx="10763250" cy="312807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55CA445-E9DA-4440-8E54-66EDA0F1F7A4}"/>
              </a:ext>
            </a:extLst>
          </p:cNvPr>
          <p:cNvSpPr>
            <a:spLocks xmlns:a="http://schemas.openxmlformats.org/drawingml/2006/main" noGrp="1"/>
          </p:cNvSpPr>
          <p:nvPr/>
        </p:nvSpPr>
        <p:spPr>
          <a:xfrm xmlns:a="http://schemas.openxmlformats.org/drawingml/2006/main">
            <a:off x="666750" y="60960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0">
                <a:solidFill>
                  <a:srgbClr val="F5E8D4"/>
                </a:solidFill>
                <a:latin typeface="Noto Sans"/>
                <a:ea typeface="Noto Sans"/>
                <a:cs typeface="Noto Sans"/>
              </a:defRPr>
            </a:pPr>
            <a:r>
              <a:rPr sz="1575" b="0">
                <a:solidFill>
                  <a:srgbClr val="F5E8D4"/>
                </a:solidFill>
                <a:latin typeface="Noto Sans"/>
                <a:ea typeface="Noto Sans"/>
                <a:cs typeface="Noto Sans"/>
              </a:rPr>
              <a:t>Braque Triptych</a:t>
            </a:r>
          </a:p>
        </p:txBody>
      </p:sp>
      <p:sp>
        <p:nvSpPr>
          <p:cNvPr id="7" name="">
            <a:extLst xmlns:a="http://schemas.openxmlformats.org/drawingml/2006/main">
              <a:ext uri="{FF2B5EF4-FFF2-40B4-BE49-F238E27FC236}">
                <a16:creationId xmlns:a16="http://schemas.microsoft.com/office/drawing/2014/main" id="{1C90BAD0-97AF-487A-87FF-E968517397F7}"/>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11 / 15</a:t>
            </a:r>
          </a:p>
        </p:txBody>
      </p:sp>
    </p:spTree>
    <p:extLst>
      <p:ext uri="{BB962C8B-B14F-4D97-AF65-F5344CB8AC3E}">
        <p14:creationId xmlns:p14="http://schemas.microsoft.com/office/powerpoint/2010/main" val="132704713"/>
      </p:ext>
    </p:extLst>
  </p:cSld>
</p:sld>
</file>

<file path=ppt/slides/slide12.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AD3488E-01D0-459D-A885-7A3704621646}"/>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1D0FDF2-0AA0-45F1-8216-55C21DD63E5F}"/>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2C2B1A8-CBB0-4590-B8F1-E3DE2AB67484}"/>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Late Restraint</a:t>
            </a:r>
          </a:p>
        </p:txBody>
      </p:sp>
      <p:sp>
        <p:nvSpPr>
          <p:cNvPr id="4" name="">
            <a:extLst xmlns:a="http://schemas.openxmlformats.org/drawingml/2006/main">
              <a:ext uri="{FF2B5EF4-FFF2-40B4-BE49-F238E27FC236}">
                <a16:creationId xmlns:a16="http://schemas.microsoft.com/office/drawing/2014/main" id="{E878821D-9BFF-4281-AFD6-BCC9B07A8716}"/>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Columba Altarpiece and Crucifixion Diptych</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115945ea48e4524"/>
          <a:stretch xmlns:a="http://schemas.openxmlformats.org/drawingml/2006/main"/>
        </p:blipFill>
        <p:spPr>
          <a:xfrm xmlns:a="http://schemas.openxmlformats.org/drawingml/2006/main">
            <a:off x="685800" y="2471880"/>
            <a:ext cx="5219700" cy="236191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3AE54FD-6218-4801-A244-FFFE93F03D8F}"/>
              </a:ext>
            </a:extLst>
          </p:cNvPr>
          <p:cNvSpPr>
            <a:spLocks xmlns:a="http://schemas.openxmlformats.org/drawingml/2006/main" noGrp="1"/>
          </p:cNvSpPr>
          <p:nvPr/>
        </p:nvSpPr>
        <p:spPr>
          <a:xfrm xmlns:a="http://schemas.openxmlformats.org/drawingml/2006/main">
            <a:off x="6858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Columba Altarpiece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f8e851bda484381"/>
          <a:stretch xmlns:a="http://schemas.openxmlformats.org/drawingml/2006/main"/>
        </p:blipFill>
        <p:spPr>
          <a:xfrm xmlns:a="http://schemas.openxmlformats.org/drawingml/2006/main">
            <a:off x="6671338" y="1552575"/>
            <a:ext cx="4450024" cy="42005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84BA433-5F93-4700-AE4D-CD705D39BBAA}"/>
              </a:ext>
            </a:extLst>
          </p:cNvPr>
          <p:cNvSpPr>
            <a:spLocks xmlns:a="http://schemas.openxmlformats.org/drawingml/2006/main" noGrp="1"/>
          </p:cNvSpPr>
          <p:nvPr/>
        </p:nvSpPr>
        <p:spPr>
          <a:xfrm xmlns:a="http://schemas.openxmlformats.org/drawingml/2006/main">
            <a:off x="62865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Crucifixion Diptych</a:t>
            </a:r>
          </a:p>
        </p:txBody>
      </p:sp>
      <p:sp>
        <p:nvSpPr>
          <p:cNvPr id="9" name="">
            <a:extLst xmlns:a="http://schemas.openxmlformats.org/drawingml/2006/main">
              <a:ext uri="{FF2B5EF4-FFF2-40B4-BE49-F238E27FC236}">
                <a16:creationId xmlns:a16="http://schemas.microsoft.com/office/drawing/2014/main" id="{F6254208-D484-48D3-BEA1-5BEAC2A74089}"/>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12 / 15</a:t>
            </a:r>
          </a:p>
        </p:txBody>
      </p:sp>
    </p:spTree>
    <p:extLst>
      <p:ext uri="{BB962C8B-B14F-4D97-AF65-F5344CB8AC3E}">
        <p14:creationId xmlns:p14="http://schemas.microsoft.com/office/powerpoint/2010/main" val="393088501"/>
      </p:ext>
    </p:extLst>
  </p:cSld>
</p:sld>
</file>

<file path=ppt/slides/slide13.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23B3A7-9790-4CEA-AACE-7A338F5598A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B10174-30AF-429F-831E-EA68F47EB21A}"/>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CA49038-A60D-43CB-AF4E-BABB9DA6072E}"/>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Workshop and Attribution</a:t>
            </a:r>
          </a:p>
        </p:txBody>
      </p:sp>
      <p:sp>
        <p:nvSpPr>
          <p:cNvPr id="4" name="">
            <a:extLst xmlns:a="http://schemas.openxmlformats.org/drawingml/2006/main">
              <a:ext uri="{FF2B5EF4-FFF2-40B4-BE49-F238E27FC236}">
                <a16:creationId xmlns:a16="http://schemas.microsoft.com/office/drawing/2014/main" id="{2518B1D6-DC62-47F3-BCBA-28EF4814C041}"/>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Hand, workshop, follower, copy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01d8a5b7f34241"/>
          <a:stretch xmlns:a="http://schemas.openxmlformats.org/drawingml/2006/main"/>
        </p:blipFill>
        <p:spPr>
          <a:xfrm xmlns:a="http://schemas.openxmlformats.org/drawingml/2006/main">
            <a:off x="1598375" y="1552575"/>
            <a:ext cx="3394549" cy="4200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6B0E110-E65C-4BBD-A99C-E2FDA9F63F3F}"/>
              </a:ext>
            </a:extLst>
          </p:cNvPr>
          <p:cNvSpPr>
            <a:spLocks xmlns:a="http://schemas.openxmlformats.org/drawingml/2006/main" noGrp="1"/>
          </p:cNvSpPr>
          <p:nvPr/>
        </p:nvSpPr>
        <p:spPr>
          <a:xfrm xmlns:a="http://schemas.openxmlformats.org/drawingml/2006/main">
            <a:off x="6858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Saint Luke Drawing the Virgin</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575da4a167c9495e"/>
          <a:stretch xmlns:a="http://schemas.openxmlformats.org/drawingml/2006/main"/>
        </p:blipFill>
        <p:spPr>
          <a:xfrm xmlns:a="http://schemas.openxmlformats.org/drawingml/2006/main">
            <a:off x="7100626" y="1552575"/>
            <a:ext cx="3591449" cy="42005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0309F3D-1045-4857-9D65-0A65E6D56E5A}"/>
              </a:ext>
            </a:extLst>
          </p:cNvPr>
          <p:cNvSpPr>
            <a:spLocks xmlns:a="http://schemas.openxmlformats.org/drawingml/2006/main" noGrp="1"/>
          </p:cNvSpPr>
          <p:nvPr/>
        </p:nvSpPr>
        <p:spPr>
          <a:xfrm xmlns:a="http://schemas.openxmlformats.org/drawingml/2006/main">
            <a:off x="62865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The Magdalen Reading</a:t>
            </a:r>
          </a:p>
        </p:txBody>
      </p:sp>
      <p:sp>
        <p:nvSpPr>
          <p:cNvPr id="9" name="">
            <a:extLst xmlns:a="http://schemas.openxmlformats.org/drawingml/2006/main">
              <a:ext uri="{FF2B5EF4-FFF2-40B4-BE49-F238E27FC236}">
                <a16:creationId xmlns:a16="http://schemas.microsoft.com/office/drawing/2014/main" id="{B0F84150-C9AE-4451-96E5-6875E7867DF6}"/>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13 / 15</a:t>
            </a:r>
          </a:p>
        </p:txBody>
      </p:sp>
    </p:spTree>
    <p:extLst>
      <p:ext uri="{BB962C8B-B14F-4D97-AF65-F5344CB8AC3E}">
        <p14:creationId xmlns:p14="http://schemas.microsoft.com/office/powerpoint/2010/main" val="915444555"/>
      </p:ext>
    </p:extLst>
  </p:cSld>
</p:sld>
</file>

<file path=ppt/slides/slide14.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17247DC-BDCE-4BBC-83A0-E842B389841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1B321C6-78F2-411C-991D-B75922E47FEB}"/>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21A396D-0B2D-4563-B1EE-65CE48A4E80C}"/>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Van der Weyden and Van Eyck</a:t>
            </a:r>
          </a:p>
        </p:txBody>
      </p:sp>
      <p:sp>
        <p:nvSpPr>
          <p:cNvPr id="4" name="">
            <a:extLst xmlns:a="http://schemas.openxmlformats.org/drawingml/2006/main">
              <a:ext uri="{FF2B5EF4-FFF2-40B4-BE49-F238E27FC236}">
                <a16:creationId xmlns:a16="http://schemas.microsoft.com/office/drawing/2014/main" id="{6A94504C-3BA8-410E-98AB-54B4DAF5BF06}"/>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Space, light, and the human body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e9c9d0175d34dcd"/>
          <a:stretch xmlns:a="http://schemas.openxmlformats.org/drawingml/2006/main"/>
        </p:blipFill>
        <p:spPr>
          <a:xfrm xmlns:a="http://schemas.openxmlformats.org/drawingml/2006/main">
            <a:off x="1761146" y="1552575"/>
            <a:ext cx="3069009" cy="4200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F4C0380-E99F-4DD0-8B5E-83ED2120179A}"/>
              </a:ext>
            </a:extLst>
          </p:cNvPr>
          <p:cNvSpPr>
            <a:spLocks xmlns:a="http://schemas.openxmlformats.org/drawingml/2006/main" noGrp="1"/>
          </p:cNvSpPr>
          <p:nvPr/>
        </p:nvSpPr>
        <p:spPr>
          <a:xfrm xmlns:a="http://schemas.openxmlformats.org/drawingml/2006/main">
            <a:off x="6858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Van Eyck, Arnolfini Portrait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65d4aa2471a408f"/>
          <a:stretch xmlns:a="http://schemas.openxmlformats.org/drawingml/2006/main"/>
        </p:blipFill>
        <p:spPr>
          <a:xfrm xmlns:a="http://schemas.openxmlformats.org/drawingml/2006/main">
            <a:off x="6286500" y="1581269"/>
            <a:ext cx="5219700" cy="414313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D6444AD-3F8D-4D62-86E8-6A50A47EEB14}"/>
              </a:ext>
            </a:extLst>
          </p:cNvPr>
          <p:cNvSpPr>
            <a:spLocks xmlns:a="http://schemas.openxmlformats.org/drawingml/2006/main" noGrp="1"/>
          </p:cNvSpPr>
          <p:nvPr/>
        </p:nvSpPr>
        <p:spPr>
          <a:xfrm xmlns:a="http://schemas.openxmlformats.org/drawingml/2006/main">
            <a:off x="6286500" y="5905500"/>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F5E8D4"/>
                </a:solidFill>
                <a:latin typeface="Noto Sans"/>
                <a:ea typeface="Noto Sans"/>
                <a:cs typeface="Noto Sans"/>
              </a:defRPr>
            </a:pPr>
            <a:r>
              <a:rPr sz="1350" b="0">
                <a:solidFill>
                  <a:srgbClr val="F5E8D4"/>
                </a:solidFill>
                <a:latin typeface="Noto Sans"/>
                <a:ea typeface="Noto Sans"/>
                <a:cs typeface="Noto Sans"/>
              </a:rPr>
              <a:t>The Descent from the Cross</a:t>
            </a:r>
          </a:p>
        </p:txBody>
      </p:sp>
      <p:sp>
        <p:nvSpPr>
          <p:cNvPr id="9" name="">
            <a:extLst xmlns:a="http://schemas.openxmlformats.org/drawingml/2006/main">
              <a:ext uri="{FF2B5EF4-FFF2-40B4-BE49-F238E27FC236}">
                <a16:creationId xmlns:a16="http://schemas.microsoft.com/office/drawing/2014/main" id="{2FC4ECED-122E-40DF-944F-F5DAB0C2E3F6}"/>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14 / 15</a:t>
            </a:r>
          </a:p>
        </p:txBody>
      </p:sp>
    </p:spTree>
    <p:extLst>
      <p:ext uri="{BB962C8B-B14F-4D97-AF65-F5344CB8AC3E}">
        <p14:creationId xmlns:p14="http://schemas.microsoft.com/office/powerpoint/2010/main" val="1877350811"/>
      </p:ext>
    </p:extLst>
  </p:cSld>
</p:sld>
</file>

<file path=ppt/slides/slide15.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F59DD0A-1A18-4588-A64D-A6A806253BD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8C4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021E54-41EF-48D1-AD4C-8ADC998A2D37}"/>
              </a:ext>
            </a:extLst>
          </p:cNvPr>
          <p:cNvSpPr>
            <a:spLocks xmlns:a="http://schemas.openxmlformats.org/drawingml/2006/main" noGrp="1"/>
          </p:cNvSpPr>
          <p:nvPr/>
        </p:nvSpPr>
        <p:spPr>
          <a:xfrm xmlns:a="http://schemas.openxmlformats.org/drawingml/2006/main">
            <a:off x="0" y="114300"/>
            <a:ext cx="12192000" cy="38100"/>
          </a:xfrm>
          <a:prstGeom xmlns:a="http://schemas.openxmlformats.org/drawingml/2006/main" prst="rect">
            <a:avLst/>
          </a:prstGeom>
          <a:solidFill xmlns:a="http://schemas.openxmlformats.org/drawingml/2006/main">
            <a:srgbClr val="C7A574"/>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6F2AFB0-AD81-4B9C-856B-532382D7BF10}"/>
              </a:ext>
            </a:extLst>
          </p:cNvPr>
          <p:cNvSpPr>
            <a:spLocks xmlns:a="http://schemas.openxmlformats.org/drawingml/2006/main" noGrp="1"/>
          </p:cNvSpPr>
          <p:nvPr/>
        </p:nvSpPr>
        <p:spPr>
          <a:xfrm xmlns:a="http://schemas.openxmlformats.org/drawingml/2006/main">
            <a:off x="647700" y="32385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0">
                <a:solidFill>
                  <a:srgbClr val="F5E8D4"/>
                </a:solidFill>
                <a:latin typeface="Noto Sans"/>
                <a:ea typeface="Noto Sans"/>
                <a:cs typeface="Noto Sans"/>
              </a:defRPr>
            </a:pPr>
            <a:r>
              <a:rPr sz="3000" b="0">
                <a:solidFill>
                  <a:srgbClr val="F5E8D4"/>
                </a:solidFill>
                <a:latin typeface="Noto Sans"/>
                <a:ea typeface="Noto Sans"/>
                <a:cs typeface="Noto Sans"/>
              </a:rPr>
              <a:t>A Language of Sorrow</a:t>
            </a:r>
          </a:p>
        </p:txBody>
      </p:sp>
      <p:sp>
        <p:nvSpPr>
          <p:cNvPr id="4" name="">
            <a:extLst xmlns:a="http://schemas.openxmlformats.org/drawingml/2006/main">
              <a:ext uri="{FF2B5EF4-FFF2-40B4-BE49-F238E27FC236}">
                <a16:creationId xmlns:a16="http://schemas.microsoft.com/office/drawing/2014/main" id="{7175C078-EF4C-41DE-B012-060BFD822809}"/>
              </a:ext>
            </a:extLst>
          </p:cNvPr>
          <p:cNvSpPr>
            <a:spLocks xmlns:a="http://schemas.openxmlformats.org/drawingml/2006/main" noGrp="1"/>
          </p:cNvSpPr>
          <p:nvPr/>
        </p:nvSpPr>
        <p:spPr>
          <a:xfrm xmlns:a="http://schemas.openxmlformats.org/drawingml/2006/main">
            <a:off x="666750" y="990600"/>
            <a:ext cx="10668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E1B978"/>
                </a:solidFill>
                <a:latin typeface="Noto Sans"/>
                <a:ea typeface="Noto Sans"/>
                <a:cs typeface="Noto Sans"/>
              </a:defRPr>
            </a:pPr>
            <a:r>
              <a:rPr sz="1650" b="0">
                <a:solidFill>
                  <a:srgbClr val="E1B978"/>
                </a:solidFill>
                <a:latin typeface="Noto Sans"/>
                <a:ea typeface="Noto Sans"/>
                <a:cs typeface="Noto Sans"/>
              </a:rPr>
              <a:t>Our Famous Artists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16b5266b059454d"/>
          <a:stretch xmlns:a="http://schemas.openxmlformats.org/drawingml/2006/main"/>
        </p:blipFill>
        <p:spPr>
          <a:xfrm xmlns:a="http://schemas.openxmlformats.org/drawingml/2006/main">
            <a:off x="752475" y="2554337"/>
            <a:ext cx="2047875" cy="162550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9CEE38E-3964-4513-BEEB-2CDC56A4F271}"/>
              </a:ext>
            </a:extLst>
          </p:cNvPr>
          <p:cNvSpPr>
            <a:spLocks xmlns:a="http://schemas.openxmlformats.org/drawingml/2006/main" noGrp="1"/>
          </p:cNvSpPr>
          <p:nvPr/>
        </p:nvSpPr>
        <p:spPr>
          <a:xfrm xmlns:a="http://schemas.openxmlformats.org/drawingml/2006/main">
            <a:off x="752475" y="5191125"/>
            <a:ext cx="2047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0">
                <a:solidFill>
                  <a:srgbClr val="F5E8D4"/>
                </a:solidFill>
                <a:latin typeface="Noto Sans"/>
                <a:ea typeface="Noto Sans"/>
                <a:cs typeface="Noto Sans"/>
              </a:defRPr>
            </a:pPr>
            <a:r>
              <a:rPr sz="1200" b="0">
                <a:solidFill>
                  <a:srgbClr val="F5E8D4"/>
                </a:solidFill>
                <a:latin typeface="Noto Sans"/>
                <a:ea typeface="Noto Sans"/>
                <a:cs typeface="Noto Sans"/>
              </a:rPr>
              <a:t>The Descent from the Cross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1110d133b3d4cbf"/>
          <a:stretch xmlns:a="http://schemas.openxmlformats.org/drawingml/2006/main"/>
        </p:blipFill>
        <p:spPr>
          <a:xfrm xmlns:a="http://schemas.openxmlformats.org/drawingml/2006/main">
            <a:off x="2914650" y="2100034"/>
            <a:ext cx="2047875" cy="253410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618C4A6-102F-47F5-99F2-F3AE62C8646B}"/>
              </a:ext>
            </a:extLst>
          </p:cNvPr>
          <p:cNvSpPr>
            <a:spLocks xmlns:a="http://schemas.openxmlformats.org/drawingml/2006/main" noGrp="1"/>
          </p:cNvSpPr>
          <p:nvPr/>
        </p:nvSpPr>
        <p:spPr>
          <a:xfrm xmlns:a="http://schemas.openxmlformats.org/drawingml/2006/main">
            <a:off x="2914650" y="5191125"/>
            <a:ext cx="2047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0">
                <a:solidFill>
                  <a:srgbClr val="F5E8D4"/>
                </a:solidFill>
                <a:latin typeface="Noto Sans"/>
                <a:ea typeface="Noto Sans"/>
                <a:cs typeface="Noto Sans"/>
              </a:defRPr>
            </a:pPr>
            <a:r>
              <a:rPr sz="1200" b="0">
                <a:solidFill>
                  <a:srgbClr val="F5E8D4"/>
                </a:solidFill>
                <a:latin typeface="Noto Sans"/>
                <a:ea typeface="Noto Sans"/>
                <a:cs typeface="Noto Sans"/>
              </a:rPr>
              <a:t>Saint Luke Drawing the Virgin</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b49521f509e4119"/>
          <a:stretch xmlns:a="http://schemas.openxmlformats.org/drawingml/2006/main"/>
        </p:blipFill>
        <p:spPr>
          <a:xfrm xmlns:a="http://schemas.openxmlformats.org/drawingml/2006/main">
            <a:off x="5076825" y="2961992"/>
            <a:ext cx="2047875" cy="81019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5B70A13-B9B4-4A69-9E87-5D51F26DE4D0}"/>
              </a:ext>
            </a:extLst>
          </p:cNvPr>
          <p:cNvSpPr>
            <a:spLocks xmlns:a="http://schemas.openxmlformats.org/drawingml/2006/main" noGrp="1"/>
          </p:cNvSpPr>
          <p:nvPr/>
        </p:nvSpPr>
        <p:spPr>
          <a:xfrm xmlns:a="http://schemas.openxmlformats.org/drawingml/2006/main">
            <a:off x="5076825" y="5191125"/>
            <a:ext cx="2047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0">
                <a:solidFill>
                  <a:srgbClr val="F5E8D4"/>
                </a:solidFill>
                <a:latin typeface="Noto Sans"/>
                <a:ea typeface="Noto Sans"/>
                <a:cs typeface="Noto Sans"/>
              </a:defRPr>
            </a:pPr>
            <a:r>
              <a:rPr sz="1200" b="0">
                <a:solidFill>
                  <a:srgbClr val="F5E8D4"/>
                </a:solidFill>
                <a:latin typeface="Noto Sans"/>
                <a:ea typeface="Noto Sans"/>
                <a:cs typeface="Noto Sans"/>
              </a:rPr>
              <a:t>The Last Judgment</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92b1a912dee4cb8"/>
          <a:stretch xmlns:a="http://schemas.openxmlformats.org/drawingml/2006/main"/>
        </p:blipFill>
        <p:spPr>
          <a:xfrm xmlns:a="http://schemas.openxmlformats.org/drawingml/2006/main">
            <a:off x="7239000" y="1964433"/>
            <a:ext cx="2047875" cy="2805308"/>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E98DE77-DC5F-4CF7-8C88-376CB9EE37E4}"/>
              </a:ext>
            </a:extLst>
          </p:cNvPr>
          <p:cNvSpPr>
            <a:spLocks xmlns:a="http://schemas.openxmlformats.org/drawingml/2006/main" noGrp="1"/>
          </p:cNvSpPr>
          <p:nvPr/>
        </p:nvSpPr>
        <p:spPr>
          <a:xfrm xmlns:a="http://schemas.openxmlformats.org/drawingml/2006/main">
            <a:off x="7239000" y="5191125"/>
            <a:ext cx="2047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0">
                <a:solidFill>
                  <a:srgbClr val="F5E8D4"/>
                </a:solidFill>
                <a:latin typeface="Noto Sans"/>
                <a:ea typeface="Noto Sans"/>
                <a:cs typeface="Noto Sans"/>
              </a:defRPr>
            </a:pPr>
            <a:r>
              <a:rPr sz="1200" b="0">
                <a:solidFill>
                  <a:srgbClr val="F5E8D4"/>
                </a:solidFill>
                <a:latin typeface="Noto Sans"/>
                <a:ea typeface="Noto Sans"/>
                <a:cs typeface="Noto Sans"/>
              </a:rPr>
              <a:t>Portrait of a Lady</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074b898323743cc"/>
          <a:stretch xmlns:a="http://schemas.openxmlformats.org/drawingml/2006/main"/>
        </p:blipFill>
        <p:spPr>
          <a:xfrm xmlns:a="http://schemas.openxmlformats.org/drawingml/2006/main">
            <a:off x="9401175" y="3069506"/>
            <a:ext cx="2047875" cy="595164"/>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944C039-94AC-4631-942A-0B35A3CF5929}"/>
              </a:ext>
            </a:extLst>
          </p:cNvPr>
          <p:cNvSpPr>
            <a:spLocks xmlns:a="http://schemas.openxmlformats.org/drawingml/2006/main" noGrp="1"/>
          </p:cNvSpPr>
          <p:nvPr/>
        </p:nvSpPr>
        <p:spPr>
          <a:xfrm xmlns:a="http://schemas.openxmlformats.org/drawingml/2006/main">
            <a:off x="9401175" y="5191125"/>
            <a:ext cx="20478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00" b="0">
                <a:solidFill>
                  <a:srgbClr val="F5E8D4"/>
                </a:solidFill>
                <a:latin typeface="Noto Sans"/>
                <a:ea typeface="Noto Sans"/>
                <a:cs typeface="Noto Sans"/>
              </a:defRPr>
            </a:pPr>
            <a:r>
              <a:rPr sz="1200" b="0">
                <a:solidFill>
                  <a:srgbClr val="F5E8D4"/>
                </a:solidFill>
                <a:latin typeface="Noto Sans"/>
                <a:ea typeface="Noto Sans"/>
                <a:cs typeface="Noto Sans"/>
              </a:rPr>
              <a:t>Braque Triptych</a:t>
            </a:r>
          </a:p>
        </p:txBody>
      </p:sp>
      <p:sp>
        <p:nvSpPr>
          <p:cNvPr id="15" name="">
            <a:extLst xmlns:a="http://schemas.openxmlformats.org/drawingml/2006/main">
              <a:ext uri="{FF2B5EF4-FFF2-40B4-BE49-F238E27FC236}">
                <a16:creationId xmlns:a16="http://schemas.microsoft.com/office/drawing/2014/main" id="{6EB0F953-94AD-4A35-9EEB-A7CD9C604E87}"/>
              </a:ext>
            </a:extLst>
          </p:cNvPr>
          <p:cNvSpPr>
            <a:spLocks xmlns:a="http://schemas.openxmlformats.org/drawingml/2006/main" noGrp="1"/>
          </p:cNvSpPr>
          <p:nvPr/>
        </p:nvSpPr>
        <p:spPr>
          <a:xfrm xmlns:a="http://schemas.openxmlformats.org/drawingml/2006/main">
            <a:off x="10572750" y="6438900"/>
            <a:ext cx="95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C0A98D"/>
                </a:solidFill>
                <a:latin typeface="Noto Sans"/>
                <a:ea typeface="Noto Sans"/>
                <a:cs typeface="Noto Sans"/>
              </a:defRPr>
            </a:pPr>
            <a:r>
              <a:rPr sz="1050" b="0">
                <a:solidFill>
                  <a:srgbClr val="C0A98D"/>
                </a:solidFill>
                <a:latin typeface="Noto Sans"/>
                <a:ea typeface="Noto Sans"/>
                <a:cs typeface="Noto Sans"/>
              </a:rPr>
              <a:t>15 / 15</a:t>
            </a:r>
          </a:p>
        </p:txBody>
      </p:sp>
    </p:spTree>
    <p:extLst>
      <p:ext uri="{BB962C8B-B14F-4D97-AF65-F5344CB8AC3E}">
        <p14:creationId xmlns:p14="http://schemas.microsoft.com/office/powerpoint/2010/main" val="524030348"/>
      </p:ext>
    </p:extLst>
  </p:cSld>
</p:sld>
</file>

<file path=ppt/slides/slide16.xml><?xml version="1.0" encoding="utf-8"?>
<p:sld xmlns:p="http://schemas.openxmlformats.org/presentationml/2006/main">
  <p:cSld>
    <p:bg>
      <p:bgPr>
        <a:solidFill xmlns:a="http://schemas.openxmlformats.org/drawingml/2006/main">
          <a:srgbClr val="171712"/>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90CE3B67-00D2-4B5A-B144-FE5EA0D8739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17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703430-3069-46C8-B4AA-9A3CE435ECE6}"/>
              </a:ext>
            </a:extLst>
          </p:cNvPr>
          <p:cNvSpPr>
            <a:spLocks xmlns:a="http://schemas.openxmlformats.org/drawingml/2006/main" noGrp="1"/>
          </p:cNvSpPr>
          <p:nvPr/>
        </p:nvSpPr>
        <p:spPr>
          <a:xfrm xmlns:a="http://schemas.openxmlformats.org/drawingml/2006/main">
            <a:off x="1466850" y="2886075"/>
            <a:ext cx="92583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4350" b="1">
                <a:solidFill>
                  <a:srgbClr val="F3DFC4"/>
                </a:solidFill>
                <a:latin typeface="Noto Sans"/>
                <a:ea typeface="Noto Sans"/>
                <a:cs typeface="Noto Sans"/>
              </a:defRPr>
            </a:pPr>
            <a:r>
              <a:rPr sz="4350" b="1">
                <a:solidFill>
                  <a:srgbClr val="F3DFC4"/>
                </a:solidFill>
                <a:latin typeface="Noto Sans"/>
                <a:ea typeface="Noto Sans"/>
                <a:cs typeface="Noto Sans"/>
              </a:rPr>
              <a:t>OUR FAMOUS ARTISTS</a:t>
            </a:r>
          </a:p>
        </p:txBody>
      </p:sp>
    </p:spTree>
    <p:extLst>
      <p:ext uri="{BB962C8B-B14F-4D97-AF65-F5344CB8AC3E}">
        <p14:creationId xmlns:p14="http://schemas.microsoft.com/office/powerpoint/2010/main" val="2485977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2026-09-23T06:10:12.8620000Z</dcterms:created>
  <dcterms:modified xsi:type="dcterms:W3CDTF">2026-09-23T06:10:12.8620000Z</dcterms:modified>
</coreProperties>
</file>