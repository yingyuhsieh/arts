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af80d48c304a6b" /><Relationship Type="http://schemas.openxmlformats.org/officeDocument/2006/relationships/extended-properties" Target="/docProps/app.xml" Id="Rfb42df0e2a4e4c0a" /><Relationship Type="http://schemas.openxmlformats.org/officeDocument/2006/relationships/officeDocument" Target="/ppt/presentation.xml" Id="R3cde46b4f95c45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091bf8295e43a3"/>
  </p:sldMasterIdLst>
  <p:notesMasterIdLst>
    <p:notesMasterId xmlns:r="http://schemas.openxmlformats.org/officeDocument/2006/relationships" r:id="Rc78f7fb5ce4847bd"/>
  </p:notesMasterIdLst>
  <p:sldIdLst>
    <p:sldId xmlns:r="http://schemas.openxmlformats.org/officeDocument/2006/relationships" id="256" r:id="R72d2e781049c4fe1"/>
    <p:sldId xmlns:r="http://schemas.openxmlformats.org/officeDocument/2006/relationships" id="257" r:id="R5cbe243d82ac472c"/>
    <p:sldId xmlns:r="http://schemas.openxmlformats.org/officeDocument/2006/relationships" id="258" r:id="Rd30c82b3516f4a1b"/>
    <p:sldId xmlns:r="http://schemas.openxmlformats.org/officeDocument/2006/relationships" id="259" r:id="Rf4c8a20d5c4f4860"/>
    <p:sldId xmlns:r="http://schemas.openxmlformats.org/officeDocument/2006/relationships" id="260" r:id="R5e4a56f81641416a"/>
    <p:sldId xmlns:r="http://schemas.openxmlformats.org/officeDocument/2006/relationships" id="261" r:id="Rf1ce189588004300"/>
    <p:sldId xmlns:r="http://schemas.openxmlformats.org/officeDocument/2006/relationships" id="262" r:id="R7e592686389c42b3"/>
    <p:sldId xmlns:r="http://schemas.openxmlformats.org/officeDocument/2006/relationships" id="263" r:id="Rc9da1f3bcafe4fbf"/>
    <p:sldId xmlns:r="http://schemas.openxmlformats.org/officeDocument/2006/relationships" id="264" r:id="R31ea6a966f4545ad"/>
    <p:sldId xmlns:r="http://schemas.openxmlformats.org/officeDocument/2006/relationships" id="265" r:id="R3e064d7fa13a4120"/>
    <p:sldId xmlns:r="http://schemas.openxmlformats.org/officeDocument/2006/relationships" id="266" r:id="R150c237dadfe4715"/>
    <p:sldId xmlns:r="http://schemas.openxmlformats.org/officeDocument/2006/relationships" id="267" r:id="Rb83a1a883c814fa9"/>
    <p:sldId xmlns:r="http://schemas.openxmlformats.org/officeDocument/2006/relationships" id="268" r:id="Rd8632c6872f44afe"/>
    <p:sldId xmlns:r="http://schemas.openxmlformats.org/officeDocument/2006/relationships" id="269" r:id="Rde6a8099dbc94cb5"/>
    <p:sldId xmlns:r="http://schemas.openxmlformats.org/officeDocument/2006/relationships" id="270" r:id="R6fbb0cd0620841b4"/>
    <p:sldId xmlns:r="http://schemas.openxmlformats.org/officeDocument/2006/relationships" id="271" r:id="R7e8a1ff0214140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d8860b65f44ee4" /><Relationship Type="http://schemas.openxmlformats.org/officeDocument/2006/relationships/slideMaster" Target="/ppt/slideMasters/slideMaster1.xml" Id="R89091bf8295e43a3" /><Relationship Type="http://schemas.openxmlformats.org/officeDocument/2006/relationships/notesMaster" Target="/ppt/notesMasters/notesMaster1.xml" Id="Rc78f7fb5ce4847bd" /><Relationship Type="http://schemas.openxmlformats.org/officeDocument/2006/relationships/presProps" Target="/ppt/presProps.xml" Id="Rf62de38fb7d14a4b" /><Relationship Type="http://schemas.openxmlformats.org/officeDocument/2006/relationships/tableStyles" Target="/ppt/tableStyles.xml" Id="R2294c46dd904427c" /><Relationship Type="http://schemas.openxmlformats.org/officeDocument/2006/relationships/slide" Target="/ppt/slides/slide1.xml" Id="R72d2e781049c4fe1" /><Relationship Type="http://schemas.openxmlformats.org/officeDocument/2006/relationships/slide" Target="/ppt/slides/slide2.xml" Id="R5cbe243d82ac472c" /><Relationship Type="http://schemas.openxmlformats.org/officeDocument/2006/relationships/slide" Target="/ppt/slides/slide3.xml" Id="Rd30c82b3516f4a1b" /><Relationship Type="http://schemas.openxmlformats.org/officeDocument/2006/relationships/slide" Target="/ppt/slides/slide4.xml" Id="Rf4c8a20d5c4f4860" /><Relationship Type="http://schemas.openxmlformats.org/officeDocument/2006/relationships/slide" Target="/ppt/slides/slide5.xml" Id="R5e4a56f81641416a" /><Relationship Type="http://schemas.openxmlformats.org/officeDocument/2006/relationships/slide" Target="/ppt/slides/slide6.xml" Id="Rf1ce189588004300" /><Relationship Type="http://schemas.openxmlformats.org/officeDocument/2006/relationships/slide" Target="/ppt/slides/slide7.xml" Id="R7e592686389c42b3" /><Relationship Type="http://schemas.openxmlformats.org/officeDocument/2006/relationships/slide" Target="/ppt/slides/slide8.xml" Id="Rc9da1f3bcafe4fbf" /><Relationship Type="http://schemas.openxmlformats.org/officeDocument/2006/relationships/slide" Target="/ppt/slides/slide9.xml" Id="R31ea6a966f4545ad" /><Relationship Type="http://schemas.openxmlformats.org/officeDocument/2006/relationships/slide" Target="/ppt/slides/slide10.xml" Id="R3e064d7fa13a4120" /><Relationship Type="http://schemas.openxmlformats.org/officeDocument/2006/relationships/slide" Target="/ppt/slides/slide11.xml" Id="R150c237dadfe4715" /><Relationship Type="http://schemas.openxmlformats.org/officeDocument/2006/relationships/slide" Target="/ppt/slides/slide12.xml" Id="Rb83a1a883c814fa9" /><Relationship Type="http://schemas.openxmlformats.org/officeDocument/2006/relationships/slide" Target="/ppt/slides/slide13.xml" Id="Rd8632c6872f44afe" /><Relationship Type="http://schemas.openxmlformats.org/officeDocument/2006/relationships/slide" Target="/ppt/slides/slide14.xml" Id="Rde6a8099dbc94cb5" /><Relationship Type="http://schemas.openxmlformats.org/officeDocument/2006/relationships/slide" Target="/ppt/slides/slide15.xml" Id="R6fbb0cd0620841b4" /><Relationship Type="http://schemas.openxmlformats.org/officeDocument/2006/relationships/slide" Target="/ppt/slides/slide16.xml" Id="R7e8a1ff0214140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b9f535ae2f4c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4f061227024d8f" /><Relationship Type="http://schemas.openxmlformats.org/officeDocument/2006/relationships/notesMaster" Target="/ppt/notesMasters/notesMaster1.xml" Id="R95e13be666484f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bd09e4220745b9" /><Relationship Type="http://schemas.openxmlformats.org/officeDocument/2006/relationships/notesMaster" Target="/ppt/notesMasters/notesMaster1.xml" Id="R25799c0500dd45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c0b3034dbf4553" /><Relationship Type="http://schemas.openxmlformats.org/officeDocument/2006/relationships/notesMaster" Target="/ppt/notesMasters/notesMaster1.xml" Id="Rd31f2e0f79044b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59f5b4c1144639" /><Relationship Type="http://schemas.openxmlformats.org/officeDocument/2006/relationships/notesMaster" Target="/ppt/notesMasters/notesMaster1.xml" Id="R96b80d79b4de4e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b9f182ea0a4175" /><Relationship Type="http://schemas.openxmlformats.org/officeDocument/2006/relationships/notesMaster" Target="/ppt/notesMasters/notesMaster1.xml" Id="R8a804c212a1746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3a6011fedb43eb" /><Relationship Type="http://schemas.openxmlformats.org/officeDocument/2006/relationships/notesMaster" Target="/ppt/notesMasters/notesMaster1.xml" Id="Rd5670291fc3d43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e1ec7508ea4850" /><Relationship Type="http://schemas.openxmlformats.org/officeDocument/2006/relationships/notesMaster" Target="/ppt/notesMasters/notesMaster1.xml" Id="R30e9137368154c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5b502bbc714be0" /><Relationship Type="http://schemas.openxmlformats.org/officeDocument/2006/relationships/notesMaster" Target="/ppt/notesMasters/notesMaster1.xml" Id="R565c19bfd6fe4c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14e7b58f314ad0" /><Relationship Type="http://schemas.openxmlformats.org/officeDocument/2006/relationships/notesMaster" Target="/ppt/notesMasters/notesMaster1.xml" Id="R592bd143aea948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527e13dd234a02" /><Relationship Type="http://schemas.openxmlformats.org/officeDocument/2006/relationships/notesMaster" Target="/ppt/notesMasters/notesMaster1.xml" Id="R633fe3976c064a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a030f5c0794904" /><Relationship Type="http://schemas.openxmlformats.org/officeDocument/2006/relationships/notesMaster" Target="/ppt/notesMasters/notesMaster1.xml" Id="R4d5ec7fb64944b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e79805035240f2" /><Relationship Type="http://schemas.openxmlformats.org/officeDocument/2006/relationships/notesMaster" Target="/ppt/notesMasters/notesMaster1.xml" Id="R517d0e36e0bd44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2581d4c69a4cfe" /><Relationship Type="http://schemas.openxmlformats.org/officeDocument/2006/relationships/notesMaster" Target="/ppt/notesMasters/notesMaster1.xml" Id="R5a7e29c3ea3f48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20605e722ec4869" /><Relationship Type="http://schemas.openxmlformats.org/officeDocument/2006/relationships/notesMaster" Target="/ppt/notesMasters/notesMaster1.xml" Id="R4cbccae5192944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4f8c4265024100" /><Relationship Type="http://schemas.openxmlformats.org/officeDocument/2006/relationships/notesMaster" Target="/ppt/notesMasters/notesMaster1.xml" Id="R40e2406b0cd248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64849f0f2e3423e" /><Relationship Type="http://schemas.openxmlformats.org/officeDocument/2006/relationships/notesMaster" Target="/ppt/notesMasters/notesMaster1.xml" Id="R7111c2d0046647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在馬德里普拉多美術館，一幅畫讓人相信悲傷真的可以被雕刻出來。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基督剛從十字架上被卸下。聖母瑪利亞在他腳邊昏厥，身體向後彎曲；基督的身體也沿著相似的弧線下垂。母子沒有互相擁抱，卻像同一個悲傷手勢的兩次回聲。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這就是羅希爾・范德魏登的《卸下聖體》。他沒有留下可靠的自傳，也很少留下簽名。但他讓悲傷不只出現在眼淚和表情，而是進入肩膀、手指、衣褶與人物彼此傾斜的方向。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如果揚・范艾克讓我們看見光如何停留在金屬、毛皮與鏡面上，范德魏登則讓我們感到情緒如何穿過人體，最後進入自己的身體。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https://commons.wikimedia.org/wiki/File:Weyden-descendimiento-prado-Ca-1435.jpg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范德魏登大約在 1399 或 1400 年出生於圖爾奈。他早期的法語姓名是 Rogier de la Pasture；移居荷語環境的布魯塞爾後，名字被翻譯成 Rogier van der Weyden。這不是兩位藝術家，而是同一個人在不同城市與語言網絡中的身分。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十五世紀的尼德蘭沒有今天這樣清楚的國族邊界。法語、荷語、拉丁語與地方方言，在宮廷、城市、教會和商業往來中交錯。范德魏登的生涯正是在這些跨語言網絡中展開。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他的父親 Henri de le Pasture 是刀具製造匠師，家庭屬於城市工匠階層。關於他的童年與最初訓練，可靠記錄很少。因此，不宜把他浪漫化成出身極貧的天才，也不宜把他描述成來自一個完整可知的藝術世家。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https://commons.wikimedia.org/wiki/File:Rogier%20van%20der%20Weyden%20-%20Portrait%20of%20a%20Lady%20-%20Google%20Art%20Project.jpg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1427 年，圖爾奈行會文件記錄一位名為 Rogelet de la Pasture 的人進入羅貝爾・康平畫室。1432 年 8 月 1 日，他取得圖爾奈畫家行會的大師資格。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學者仍在討論，這位 Rogelet 是否就是後來的范德魏登，以及他在康平畫室的訓練究竟有多長。多數研究接受兩者很可能是同一人，但早期訓練細節不能被完全重建。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康平畫室的重要貢獻，是把宗教故事帶進可以辨認的室內：長凳、壁爐、水壺、百合與木窗成為神聖事件的場所。范德魏登從這裡學到如何觀察布料、木材、金屬和臉孔，也學到如何以祭壇畫組織私人虔敬。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但他後來逐漸把空間壓縮，讓人物更靠近觀者。環境不再主導畫面，身體、衣褶和視線開始承擔情感敘事。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https://commons.wikimedia.org/wiki/File:The%20Magdalen%20Reading%20-%20Rogier%20van%20der%20Weyden.jpg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1435 年，范德魏登移居布魯塞爾。1436 年 3 月 2 日起，他擔任「布魯塞爾城市畫家」。布魯塞爾是勃艮第公國在低地國家的政治與文化中心，公爵宮廷、貴族、官員與外國使節，帶來大量繪畫和奢侈工藝委託。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他為布魯塞爾市政廳金廳繪製四幅大型鑲板畫《圖拉真與赫爾肯巴德的正義》。作品主題是統治者伸張正義，據說丟勒也曾特別前往觀看。這些畫在 1695 年布魯塞爾遭炮轟時毀失，今天只能透過掛毯複製品與記錄想像。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這段失落提醒我們：范德魏登不只為教堂畫聖母和基督，也為城市設計公共記憶。他的悲傷語法，同樣可以服務於司法、統治與政治合法性。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https://commons.wikimedia.org/wiki/File:After%20Rogier%20van%20der%20Weyden%20-%20The%20Justice%20of%20Trajan%20and%20Herkinbald.jpg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依普拉多美術館資料，《卸下聖體》約作於 1435 到 1438 年，最遲在 1443 年前完成。作品以油彩畫在橡木板上，約二百二十乘二百六十二公分，現藏普拉多美術館。它原本是魯汶大十字弓手行會在城牆外聖母小禮拜堂的委託，畫面角落花窗格裡的兩把小十字弓，留下了行會的痕跡。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整幅畫像一座金色木匣，也像一個沒有深度的浮雕龕。十個人物幾乎沒有退後的空間，肩膀、手臂、衣袖和腳接近畫框邊界。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中央的悲劇不是透過風暴、黑雲或血腥背景來表現，而是由兩具身體完成。基督從十字架上滑落，聖母因悲痛昏厥。兩人的身體形成相近弧線，讓聖母以自己的姿態重複基督的死亡。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若望扶住聖母，約瑟與尼哥德慕承接基督，抹大拉的馬利亞在右側扭轉身軀。每個人都在支撐另一個人，卻沒有任何動作真正能解除死亡。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范德魏登把眼淚畫得很小，卻讓它們透過透明釉層反光。皮膚泛紅、手指緊縮、布料受壓的方向，使情緒變成物質。悲傷越被嚴格安排，越顯得無法逃離。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https://commons.wikimedia.org/wiki/File:Weyden-descendimiento-prado-Ca-1435.jpg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1435 到 1440 年的《聖路加畫聖母》，描繪福音作者路加為聖母子作畫。波士頓美術館版本是現存最重要、也常被視為最接近原作的版本之一；慕尼黑、聖彼得堡與布魯日另有相關版本，親筆程度與畫室參與仍在研究。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路加跪在聖母面前，手持銀尖筆或金屬筆。他像一位宮廷畫家面對神聖模特兒，也像范德魏登對自己的職業提出寓言式說明。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有人曾猜測路加的臉包含畫家的自我投射，但沒有足夠證據把他確定為自畫像。較穩妥的理解是：范德魏登把自己放入聖路加的藝術與神學傳統，宣告繪畫不只是手工，也可以是見證、祈禱與服務。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畫面回應范・艾克《羅林大臣的聖母》的室內、河流、橋樑與遠方城市，但范德魏登把權臣換成跪下工作的藝術家。光學奇觀被轉化成職業謙卑。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https://commons.wikimedia.org/wiki/File:Saint%20Luke%20Drawing%20the%20Virgin%20MFA%20Boston.jpg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《米拉弗洛雷斯三聯畫》約作於 1440 年代前半，通常放在約 1440 到 1445 年間。三個面板把聖家族、聖母哀悼基督，以及復活後基督向聖母顯現並置在一起。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這不是單一時刻的紀錄，而是把基督生命與救贖歷史壓縮成信徒可以反覆閱讀的劇場。畫面讓出生、死亡和復活同時存在。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《七件聖事祭壇畫》則把洗禮、堅振、告解、聖餐、婚姻、聖秩與傅油分布在一座哥德式教堂中。中央十字架成為所有儀式的神學根源。觀者同時看見基督過去的受難與教會當下正在進行的聖事。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作品可能由圖爾奈主教 Jean Chevrot 委託，但文件沒有保存。主教肖像與圖爾奈紋章提供線索，卻不能取代完整契約。范德魏登在這裡顯示，祭壇畫可以像建築一樣容納時間。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https://commons.wikimedia.org/wiki/File:Rogier%20van%20der%20Weyden%20-%20The%20Altar%20of%20Our%20Lady%20(Miraflores%20Altar)%20-%20Google%20Art%20Project.jpg</a:t>
            </a:r>
          </a:p>
          <a:p xmlns:a="http://schemas.openxmlformats.org/drawingml/2006/main">
            <a:r>
              <a:t>https://commons.wikimedia.org/wiki/File:Rogier%20van%20der%20Weyden%20-%20Seven%20Sacraments%20Altarpiece%20-%20WGA25602.jpg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1443 到 1451 年，最遲可能到 1452 年，尼古拉・羅林與妻子為博納醫院委託《最後審判祭壇畫》。作品原本位於病患大廳盡端，躺在病床上的人可以直接看見基督、天使長米迦勒、死者復活、天堂與地獄。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中央的米迦勒手持天平，秤量靈魂。人物的身體方向把空間分成得救與受罰兩側。范德魏登沒有主要依賴怪物製造恐怖，而以驚慌的臉、沉重的身體與不可逆的方向呈現死亡審判。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作品也保存了委託人的公共形象。羅林夫婦在神聖場景中跪下，卻沒有完全消失；肖像、徽章與醫院本身，把慈善、政治名聲與個人救贖放在一起。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https://commons.wikimedia.org/wiki/File:Rogier%20van%20der%20Weyden%20001.jpg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1450 年禧年期間，范德魏登前往義大利，通常認為他曾到訪羅馬，可能以朝聖為主要目的。費拉拉、佛羅倫斯等地的宮廷與收藏者，也透過作品與交流接觸到他的藝術。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這趟旅程重要，不是因為它讓范德魏登突然變成義大利文藝復興畫家，而是因為它顯示十五世紀藝術沒有兩條互不相干的道路。畫作、商人、使節、婚姻和朝聖者，都讓風格跨越阿爾卑斯山流動。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義大利人欣賞北方繪畫的材質、肖像與細節；范德魏登則可能接觸到義大利祭壇畫的對稱與紀念碑性。但即使在晚期，他仍保留淺舞臺、尖銳衣褶、金色背景與強烈情感。旅行帶來交流，卻沒有抹去他的北方語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https://commons.wikimedia.org/wiki/File:Der%20Dreik%C3%B6nigsaltar%20Rogier%20van%20der%20Weyden.jpg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范德魏登的肖像經常採用四分之三側面，人物置於素色背景，雙手在畫面下方交疊。這不是照相式複製。他會拉長鼻子、收窄臉型、提高額頭，在相似與社會形象之間取得平衡。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《勃艮第公爵菲利普三世肖像》今日多以畫室版本或複製品保存。黑衣、金羊毛勳章與嚴肅表情，把政治權威集中在臉、服飾與徽章上。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約 1460 年的《女士肖像》則以高額頭、透明頭巾、低垂眼睛與交疊雙手，呈現謙遜與身分。高額頭也呼應當時拔去部分髮際線毛髮的時尚。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這些人物沒有背景故事可以替我們解釋他們。觀者只能從嘴角、眼神和手指建立心理感受。沉默因此成為范德魏登最有效的肖像語言。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https://commons.wikimedia.org/wiki/File:Rogier%20van%20der%20Weyden%20-%20Portrait%20of%20a%20Lady%20-%20Google%20Art%20Project.jpg</a:t>
            </a:r>
          </a:p>
          <a:p xmlns:a="http://schemas.openxmlformats.org/drawingml/2006/main">
            <a:r>
              <a:t>https://commons.wikimedia.org/wiki/File:Portret%20van%20Philippe%20de%20Croy%20-%20Rogier%20van%20der%20Weyden%20-%20Koninklijk%20Museum%20voor%20Schone%20Kunsten%20Antwerpen%20-%202.jpg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1452 年的《布拉克三聯畫》現藏羅浮宮。中央和內側呈現基督、聖母子、施洗約翰、抹大拉的馬利亞與福音作者約翰；閉合時，外側是骷髏與十字架。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這個外側不是單純灰色的裝飾，而是直接的死亡提醒。羅浮宮資料把作品與 Jean Braque 及 Catherine de Brabant 的家族歷史相連；它可能為紀念已故丈夫而作，但確切委託背景與部分象徵仍應保留界線。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這件作品可以開合、攜帶，在私人房間中使用。觀者必須親手打開翼板，觀看因此成為一種儀式：由外側的死亡進入內側的救贖，由記憶中的逝者回到祈禱中的聖像。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https://commons.wikimedia.org/wiki/File:Weyden%20Braque%20Family%20Triptych.jpg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《科隆巴祭壇畫》約作於 1450 到 1455 年，常標為約 1455 年。中央《三博士朝拜》把聖嬰、聖母與遠方法蘭德斯城市連在一起，顯示范德魏登後期仍能在強烈情感與寬廣景觀間取得平衡。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約 1460 年的《十字架雙聯畫》則幾乎撤去所有多餘敘事，只留下基督、聖母與若望。背景接近抽象，情緒依靠三具身體、十字架的垂直線與黑暗空間完成。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今日作品以雙聯畫形式保存，但技術研究指出，兩塊面板可能原本是更大祭壇畫的外側翼板。這種不確定性不會降低觀看價值，反而提醒我們：博物館裡的作品有時是漫長拆解與重組後的倖存者。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https://commons.wikimedia.org/wiki/File:Der%20Dreik%C3%B6nigsaltar%20Rogier%20van%20der%20Weyden.jpg</a:t>
            </a:r>
          </a:p>
          <a:p xmlns:a="http://schemas.openxmlformats.org/drawingml/2006/main">
            <a:r>
              <a:t>https://commons.wikimedia.org/wiki/File:Crucifixion%20Diptych%20(Rogier%20van%20der%20Weyden).jpg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范德魏登很少簽名，畫室又大量生產重複構圖與肖像版本。因此，藝術史家不能只靠「看起來像不像」判斷作者，而要綜合木板年輪、底稿、顏料、筆法和文獻來源。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即使是公認作品，也可能有畫室參與。大師可能設計構圖，親自完成重要臉部和手部，再由助手處理衣服、背景與重複部分。這種分工在十五世紀不是欺騙，而是正常的生產方式。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所以，「畫室作品」不等於偽作。范德魏登的影響不只存在於某一塊木板，也存在於一套能被畫室、收藏者與歐洲市場反覆使用的情感語法。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https://commons.wikimedia.org/wiki/File:Saint%20Luke%20Drawing%20the%20Virgin%20MFA%20Boston.jpg</a:t>
            </a:r>
          </a:p>
          <a:p xmlns:a="http://schemas.openxmlformats.org/drawingml/2006/main">
            <a:r>
              <a:t>https://commons.wikimedia.org/wiki/File:The%20Magdalen%20Reading%20-%20Rogier%20van%20der%20Weyden.jpg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把范德魏登說成「心」、范・艾克說成「眼」，很適合入門，卻不能取代細節。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兩人都重視材質、肖像、宗教象徵與精密構圖。范・艾克也能表達情感，范德魏登也擁有驚人的油畫技術。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差異更像畫面重心。范・艾克常讓空間向遠景展開，觀者可以在鏡子、窗戶、城市與物件間旅行。范德魏登常壓平空間，讓人物像浮雕一樣靠近；眼睛不是在物件之間旅行，而是跟隨手臂、衣褶和身體曲線。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《聖路加畫聖母》直接顯示這種繼承與轉向：它借用范・艾克的室內、河流和城市，卻把權臣換成跪下工作的藝術家。光學奇觀變成職業謙卑。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https://commons.wikimedia.org/wiki/File:Van%20Eyck%20-%20Arnolfini%20Portrait.jpg</a:t>
            </a:r>
          </a:p>
          <a:p xmlns:a="http://schemas.openxmlformats.org/drawingml/2006/main">
            <a:r>
              <a:t>https://commons.wikimedia.org/wiki/File:Weyden-descendimiento-prado-Ca-1435.jpg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范德魏登於 1464 年在布魯塞爾去世。關於死亡日期與埋葬地點，部分來源仍有不同記錄；但可以確定的是，他死時已是具有公共名望的城市人物，而不是匿名工匠。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他的影響傳給漢斯・梅姆林、迪里克・包茨、胡戈・范德古斯與佩特魯斯・克里斯圖斯，也跨越德國、西班牙、葡萄牙與義大利。後來的畫家反覆借用他昏厥的聖母、扭轉的手臂、四分之三側面肖像與交疊雙手。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觀看范德魏登，可以記住五件事：看身體是否平行；看空間如何被壓縮；看淚水、皮膚和金屬如何把情緒帶進物質；看金色與骷髏如何連接救贖與死亡；最後，看沉默的臉，不要急著替它說完故事。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他沒有把悲傷畫成一個單一表情，而是把悲傷變成可以被身體記住的形式。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這裡是 **Our Famous Artists**。感謝你的觀看，我們下次再一起走近另一位偉大的藝術家。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[資料來源]</a:t>
            </a:r>
          </a:p>
          <a:p xmlns:a="http://schemas.openxmlformats.org/drawingml/2006/main">
            <a:r>
              <a:t>https://www.museodelprado.es/en/the-collection/art-work/the-descent-from-the-cross/856d822a-dd22-4425-bebd-920a1d416aa7</a:t>
            </a:r>
          </a:p>
          <a:p xmlns:a="http://schemas.openxmlformats.org/drawingml/2006/main">
            <a:r>
              <a:t>https://collections.mfa.org/objects/31206</a:t>
            </a:r>
          </a:p>
          <a:p xmlns:a="http://schemas.openxmlformats.org/drawingml/2006/main">
            <a:r>
              <a:t>https://visit.smb.museum/en/object/obj-871481?term=Retabel</a:t>
            </a:r>
          </a:p>
          <a:p xmlns:a="http://schemas.openxmlformats.org/drawingml/2006/main">
            <a:r>
              <a:t>https://kmska.be/en/masterpiece/the-seven-sacraments</a:t>
            </a:r>
          </a:p>
          <a:p xmlns:a="http://schemas.openxmlformats.org/drawingml/2006/main">
            <a:r>
              <a:t>https://hoteldieu.hospices-de-beaune.com/node/31</a:t>
            </a:r>
          </a:p>
          <a:p xmlns:a="http://schemas.openxmlformats.org/drawingml/2006/main">
            <a:r>
              <a:t>https://collections.louvre.fr/en/ark%3A/53355/cl010061888</a:t>
            </a:r>
          </a:p>
          <a:p xmlns:a="http://schemas.openxmlformats.org/drawingml/2006/main">
            <a:r>
              <a:t>https://www.sammlung.pinakothek.de/en/artwork/jWLpO7nxKY</a:t>
            </a:r>
          </a:p>
          <a:p xmlns:a="http://schemas.openxmlformats.org/drawingml/2006/main">
            <a:r>
              <a:t>https://www.philamuseum.org/objects/102845</a:t>
            </a:r>
          </a:p>
          <a:p xmlns:a="http://schemas.openxmlformats.org/drawingml/2006/main">
            <a:r>
              <a:t>https://www.nationalgallery.org.uk/paintings/jan-van-eyck-the-arnolfini-portrait</a:t>
            </a:r>
          </a:p>
          <a:p xmlns:a="http://schemas.openxmlformats.org/drawingml/2006/main">
            <a:r>
              <a:t>https://commons.wikimedia.org/wiki/File:Weyden-descendimiento-prado-Ca-1435.jpg</a:t>
            </a:r>
          </a:p>
          <a:p xmlns:a="http://schemas.openxmlformats.org/drawingml/2006/main">
            <a:r>
              <a:t>https://commons.wikimedia.org/wiki/File:Saint%20Luke%20Drawing%20the%20Virgin%20MFA%20Boston.jpg</a:t>
            </a:r>
          </a:p>
          <a:p xmlns:a="http://schemas.openxmlformats.org/drawingml/2006/main">
            <a:r>
              <a:t>https://commons.wikimedia.org/wiki/File:Rogier%20van%20der%20Weyden%20001.jpg</a:t>
            </a:r>
          </a:p>
          <a:p xmlns:a="http://schemas.openxmlformats.org/drawingml/2006/main">
            <a:r>
              <a:t>https://commons.wikimedia.org/wiki/File:Rogier%20van%20der%20Weyden%20-%20Portrait%20of%20a%20Lady%20-%20Google%20Art%20Project.jpg</a:t>
            </a:r>
          </a:p>
          <a:p xmlns:a="http://schemas.openxmlformats.org/drawingml/2006/main">
            <a:r>
              <a:t>https://commons.wikimedia.org/wiki/File:Weyden%20Braque%20Family%20Triptych.jpg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Silent end card. 17:30–17:38. Our Famous Artists.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a610a7927440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92fa2d774c4462" /><Relationship Type="http://schemas.openxmlformats.org/officeDocument/2006/relationships/slideLayout" Target="/ppt/slideLayouts/slideLayout1.xml" Id="R3092792085054f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92792085054f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00faa1b4f45f4" /><Relationship Type="http://schemas.openxmlformats.org/officeDocument/2006/relationships/image" Target="/ppt/media/image.jpeg" Id="Rb7249f64aafc4ff3" /><Relationship Type="http://schemas.openxmlformats.org/officeDocument/2006/relationships/notesSlide" Target="/ppt/notesSlides/notesSlide1.xml" Id="Rd30e566741754a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5cec3ce4d41ba" /><Relationship Type="http://schemas.openxmlformats.org/officeDocument/2006/relationships/image" Target="/ppt/media/image2.jpeg" Id="R92486d703bbf47dd" /><Relationship Type="http://schemas.openxmlformats.org/officeDocument/2006/relationships/notesSlide" Target="/ppt/notesSlides/notesSlide2.xml" Id="R534913fe9c994d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430f3761f4cd0" /><Relationship Type="http://schemas.openxmlformats.org/officeDocument/2006/relationships/image" Target="/ppt/media/image3.jpeg" Id="R904a28e4b4b2479a" /><Relationship Type="http://schemas.openxmlformats.org/officeDocument/2006/relationships/notesSlide" Target="/ppt/notesSlides/notesSlide3.xml" Id="Rd9f96e4add174e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a8dc34565492e" /><Relationship Type="http://schemas.openxmlformats.org/officeDocument/2006/relationships/image" Target="/ppt/media/image4.jpeg" Id="Rb573f993daa34db3" /><Relationship Type="http://schemas.openxmlformats.org/officeDocument/2006/relationships/notesSlide" Target="/ppt/notesSlides/notesSlide4.xml" Id="Ra406f586885648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5461e81fa4dbe" /><Relationship Type="http://schemas.openxmlformats.org/officeDocument/2006/relationships/image" Target="/ppt/media/image5.jpeg" Id="Rc06e1372353b4790" /><Relationship Type="http://schemas.openxmlformats.org/officeDocument/2006/relationships/notesSlide" Target="/ppt/notesSlides/notesSlide5.xml" Id="Rfa81d5ae006243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08ef7f99d41c6" /><Relationship Type="http://schemas.openxmlformats.org/officeDocument/2006/relationships/image" Target="/ppt/media/image6.jpeg" Id="R5bbf8206b970406d" /><Relationship Type="http://schemas.openxmlformats.org/officeDocument/2006/relationships/notesSlide" Target="/ppt/notesSlides/notesSlide6.xml" Id="Rbe1e721e5d024d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827878b6e4a5e" /><Relationship Type="http://schemas.openxmlformats.org/officeDocument/2006/relationships/image" Target="/ppt/media/image7.jpeg" Id="R96897e38eceb446c" /><Relationship Type="http://schemas.openxmlformats.org/officeDocument/2006/relationships/image" Target="/ppt/media/image8.jpeg" Id="R9ae0abf4c07c40c8" /><Relationship Type="http://schemas.openxmlformats.org/officeDocument/2006/relationships/notesSlide" Target="/ppt/notesSlides/notesSlide7.xml" Id="R885b08346be541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7dcf7f1444415" /><Relationship Type="http://schemas.openxmlformats.org/officeDocument/2006/relationships/image" Target="/ppt/media/image9.jpeg" Id="R8745fe7da3e54529" /><Relationship Type="http://schemas.openxmlformats.org/officeDocument/2006/relationships/notesSlide" Target="/ppt/notesSlides/notesSlide8.xml" Id="R0f9a5a65a2784b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9d0d157c740bc" /><Relationship Type="http://schemas.openxmlformats.org/officeDocument/2006/relationships/image" Target="/ppt/media/image10.jpeg" Id="Rfae9bb7b00544c84" /><Relationship Type="http://schemas.openxmlformats.org/officeDocument/2006/relationships/notesSlide" Target="/ppt/notesSlides/notesSlide9.xml" Id="R839278aed0454a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7502910fe49a3" /><Relationship Type="http://schemas.openxmlformats.org/officeDocument/2006/relationships/image" Target="/ppt/media/image11.jpeg" Id="R3377633cd60f4f4b" /><Relationship Type="http://schemas.openxmlformats.org/officeDocument/2006/relationships/image" Target="/ppt/media/image12.jpeg" Id="R80ed44ba552a4b3a" /><Relationship Type="http://schemas.openxmlformats.org/officeDocument/2006/relationships/notesSlide" Target="/ppt/notesSlides/notesSlide10.xml" Id="Rd44498c3c17b4c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c22c4391a448f" /><Relationship Type="http://schemas.openxmlformats.org/officeDocument/2006/relationships/image" Target="/ppt/media/image13.jpeg" Id="Rbd08f298b269496a" /><Relationship Type="http://schemas.openxmlformats.org/officeDocument/2006/relationships/notesSlide" Target="/ppt/notesSlides/notesSlide11.xml" Id="R306eebcb024e487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cfee66bf642a2" /><Relationship Type="http://schemas.openxmlformats.org/officeDocument/2006/relationships/image" Target="/ppt/media/image14.jpeg" Id="R4c868c0cfc994fb7" /><Relationship Type="http://schemas.openxmlformats.org/officeDocument/2006/relationships/image" Target="/ppt/media/image15.jpeg" Id="R2598a64c3ed84908" /><Relationship Type="http://schemas.openxmlformats.org/officeDocument/2006/relationships/notesSlide" Target="/ppt/notesSlides/notesSlide12.xml" Id="Rbc6256dca5104a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5f194fb544b1e" /><Relationship Type="http://schemas.openxmlformats.org/officeDocument/2006/relationships/image" Target="/ppt/media/image16.jpeg" Id="R6fb50cdde75845e9" /><Relationship Type="http://schemas.openxmlformats.org/officeDocument/2006/relationships/image" Target="/ppt/media/image17.jpeg" Id="R5cff4cea1b65462a" /><Relationship Type="http://schemas.openxmlformats.org/officeDocument/2006/relationships/notesSlide" Target="/ppt/notesSlides/notesSlide13.xml" Id="R647586095a3745f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bf4e8b7144d4a" /><Relationship Type="http://schemas.openxmlformats.org/officeDocument/2006/relationships/image" Target="/ppt/media/image18.jpeg" Id="R31e0cb770915436d" /><Relationship Type="http://schemas.openxmlformats.org/officeDocument/2006/relationships/image" Target="/ppt/media/image19.jpeg" Id="Rc225c42040aa4d49" /><Relationship Type="http://schemas.openxmlformats.org/officeDocument/2006/relationships/notesSlide" Target="/ppt/notesSlides/notesSlide14.xml" Id="R3882d05e3c1144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b01daac064507" /><Relationship Type="http://schemas.openxmlformats.org/officeDocument/2006/relationships/image" Target="/ppt/media/image20.jpeg" Id="R174c60d2e9d346b9" /><Relationship Type="http://schemas.openxmlformats.org/officeDocument/2006/relationships/image" Target="/ppt/media/image21.jpeg" Id="R8ec879327eb64305" /><Relationship Type="http://schemas.openxmlformats.org/officeDocument/2006/relationships/image" Target="/ppt/media/image22.jpeg" Id="R9acc90767c59484d" /><Relationship Type="http://schemas.openxmlformats.org/officeDocument/2006/relationships/image" Target="/ppt/media/image23.jpeg" Id="R95438bd4239b47ba" /><Relationship Type="http://schemas.openxmlformats.org/officeDocument/2006/relationships/image" Target="/ppt/media/image24.jpeg" Id="Re28ae2c302b34fca" /><Relationship Type="http://schemas.openxmlformats.org/officeDocument/2006/relationships/notesSlide" Target="/ppt/notesSlides/notesSlide15.xml" Id="Rf75d60ab06ce49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1c126b9e54a8b" /><Relationship Type="http://schemas.openxmlformats.org/officeDocument/2006/relationships/notesSlide" Target="/ppt/notesSlides/notesSlide16.xml" Id="R8913a4b727e74a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261A3-79D1-4C5B-9058-2872D8FA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08DFE-0778-4218-A8BD-F33F1720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5A4B7-777B-4C27-B33D-8E39676E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6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羅希爾・范德魏登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01099-3B78-4789-9CC8-2CA1CD8D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悲傷如何進入身體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49f64aafc4ff3"/>
          <a:stretch xmlns:a="http://schemas.openxmlformats.org/drawingml/2006/main"/>
        </p:blipFill>
        <p:spPr>
          <a:xfrm xmlns:a="http://schemas.openxmlformats.org/drawingml/2006/main">
            <a:off x="3396000" y="1609725"/>
            <a:ext cx="5400000" cy="4286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40D4A-E2B6-4871-986E-2673BEC4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0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D0DAB-BB1B-4B85-AEAA-973BCB8C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OUR FAMOUS ARTISTS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530A8-D8C9-451A-8304-1DC8B438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01 / 15</a:t>
            </a:r>
          </a:p>
        </p:txBody>
      </p:sp>
    </p:spTree>
    <p:extLst>
      <p:ext uri="{BB962C8B-B14F-4D97-AF65-F5344CB8AC3E}">
        <p14:creationId xmlns:p14="http://schemas.microsoft.com/office/powerpoint/2010/main" val="1925142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0B3E3-68C2-4176-8E91-196C733D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FBAA0-1375-4622-A581-9E49757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A185A-6C8A-4E85-8D60-842331B1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兩個名字，同一位畫家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222DF-C69D-4F87-85F1-656A2A4C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1399／1400–1464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86d703bbf47dd"/>
          <a:stretch xmlns:a="http://schemas.openxmlformats.org/drawingml/2006/main"/>
        </p:blipFill>
        <p:spPr>
          <a:xfrm xmlns:a="http://schemas.openxmlformats.org/drawingml/2006/main">
            <a:off x="4461986" y="1504950"/>
            <a:ext cx="3268027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C038C-612D-46F5-9458-21E9FB36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《女士肖像》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2158B-3B47-4024-B91B-E194685A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02 / 15</a:t>
            </a:r>
          </a:p>
        </p:txBody>
      </p:sp>
    </p:spTree>
    <p:extLst>
      <p:ext uri="{BB962C8B-B14F-4D97-AF65-F5344CB8AC3E}">
        <p14:creationId xmlns:p14="http://schemas.microsoft.com/office/powerpoint/2010/main" val="16960531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0EF02-B4D5-4CED-9FE3-34AC0155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6311-990B-4616-AD24-03A343E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FD896-601D-4F09-8C60-9CDB100D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從康平畫室出發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C9EC9-D845-4BCD-83EC-F3149FC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圖爾奈，1427–1432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a28e4b4b2479a"/>
          <a:stretch xmlns:a="http://schemas.openxmlformats.org/drawingml/2006/main"/>
        </p:blipFill>
        <p:spPr>
          <a:xfrm xmlns:a="http://schemas.openxmlformats.org/drawingml/2006/main">
            <a:off x="4182189" y="1504950"/>
            <a:ext cx="3827621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48198E-AC61-46F2-A476-4917DBF3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《閱讀中的抹大拉》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FC806-F5E2-42D4-AE01-A28D6E2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03 / 15</a:t>
            </a:r>
          </a:p>
        </p:txBody>
      </p:sp>
    </p:spTree>
    <p:extLst>
      <p:ext uri="{BB962C8B-B14F-4D97-AF65-F5344CB8AC3E}">
        <p14:creationId xmlns:p14="http://schemas.microsoft.com/office/powerpoint/2010/main" val="384267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E2CF9-C711-44B4-91B8-66B791F6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F836D-DDC9-47F0-921D-E201D905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43198-1859-4AAD-A404-D929A83A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布魯塞爾的城市畫家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9B3CE-390B-4347-B2ED-9B067D0C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1436 年起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3f993daa34db3"/>
          <a:stretch xmlns:a="http://schemas.openxmlformats.org/drawingml/2006/main"/>
        </p:blipFill>
        <p:spPr>
          <a:xfrm xmlns:a="http://schemas.openxmlformats.org/drawingml/2006/main">
            <a:off x="952500" y="1525191"/>
            <a:ext cx="10287000" cy="443626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ACCAF-3A7E-47C9-A221-F5620EB1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《圖拉真與赫爾肯巴德的正義》掛毯複製品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0E070-C9A2-4139-84B7-85C63158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04 / 15</a:t>
            </a:r>
          </a:p>
        </p:txBody>
      </p:sp>
    </p:spTree>
    <p:extLst>
      <p:ext uri="{BB962C8B-B14F-4D97-AF65-F5344CB8AC3E}">
        <p14:creationId xmlns:p14="http://schemas.microsoft.com/office/powerpoint/2010/main" val="738733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18B32-D529-4C41-9505-857D401C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7994C-8B98-4A5A-ACA2-CC35E2F0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2DC8B-DE9A-4302-BE5B-445FE2D4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《卸下聖體》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6F369-9A7A-400F-9ACF-3F1F01B5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1435–1438，普拉多美術館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e1372353b4790"/>
          <a:stretch xmlns:a="http://schemas.openxmlformats.org/drawingml/2006/main"/>
        </p:blipFill>
        <p:spPr>
          <a:xfrm xmlns:a="http://schemas.openxmlformats.org/drawingml/2006/main">
            <a:off x="3276000" y="1504950"/>
            <a:ext cx="5640000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DFB24-A959-4D3E-BA7B-4F02ECBC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《卸下聖體》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A5C0A-2E08-42D7-98F4-223F6875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05 / 15</a:t>
            </a:r>
          </a:p>
        </p:txBody>
      </p:sp>
    </p:spTree>
    <p:extLst>
      <p:ext uri="{BB962C8B-B14F-4D97-AF65-F5344CB8AC3E}">
        <p14:creationId xmlns:p14="http://schemas.microsoft.com/office/powerpoint/2010/main" val="3310449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8CA77-CD68-43BC-BAF4-07F17D98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DF4CE-2622-44EB-8EF3-7CF819B3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6E3CB-CE46-4FB3-B682-AEE9ED42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《聖路加畫聖母》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8829A-BD76-466D-9B10-626BB899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1435–1440，波士頓美術館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f8206b970406d"/>
          <a:stretch xmlns:a="http://schemas.openxmlformats.org/drawingml/2006/main"/>
        </p:blipFill>
        <p:spPr>
          <a:xfrm xmlns:a="http://schemas.openxmlformats.org/drawingml/2006/main">
            <a:off x="4287113" y="1504950"/>
            <a:ext cx="3617774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ADDD4-4830-4B06-A767-AC9CB244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《聖路加畫聖母》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5DD03-EC21-4AE1-AEA3-8093316F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06 / 15</a:t>
            </a:r>
          </a:p>
        </p:txBody>
      </p:sp>
    </p:spTree>
    <p:extLst>
      <p:ext uri="{BB962C8B-B14F-4D97-AF65-F5344CB8AC3E}">
        <p14:creationId xmlns:p14="http://schemas.microsoft.com/office/powerpoint/2010/main" val="3200469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3E8BA-4526-40D1-9642-ECEA5937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95377-39F3-48CF-AFB0-40442C4A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F943D-EC77-429E-9997-D356CC2E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祭壇畫作為救贖劇場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0898B-DBB7-4561-96BE-38D1D4AF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《米拉弗洛雷斯》與《七件聖事》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97e38eceb446c"/>
          <a:stretch xmlns:a="http://schemas.openxmlformats.org/drawingml/2006/main"/>
        </p:blipFill>
        <p:spPr>
          <a:xfrm xmlns:a="http://schemas.openxmlformats.org/drawingml/2006/main">
            <a:off x="685800" y="2380536"/>
            <a:ext cx="5219700" cy="254460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4CE19-89C2-4F2F-8A8B-E071C155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《米拉弗洛雷斯三聯畫》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0abf4c07c40c8"/>
          <a:stretch xmlns:a="http://schemas.openxmlformats.org/drawingml/2006/main"/>
        </p:blipFill>
        <p:spPr>
          <a:xfrm xmlns:a="http://schemas.openxmlformats.org/drawingml/2006/main">
            <a:off x="6373892" y="1552575"/>
            <a:ext cx="5044916" cy="42005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174B4-E526-4C69-B540-06B5A9BF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《七件聖事祭壇畫》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0A800-418B-4BDE-A1E4-4B2E1D82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07 / 15</a:t>
            </a:r>
          </a:p>
        </p:txBody>
      </p:sp>
    </p:spTree>
    <p:extLst>
      <p:ext uri="{BB962C8B-B14F-4D97-AF65-F5344CB8AC3E}">
        <p14:creationId xmlns:p14="http://schemas.microsoft.com/office/powerpoint/2010/main" val="1306184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F6454-C844-470D-BCA0-7D35DA9A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3DA81-4F12-4D90-9E54-7C8E2BC7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16266E-E54B-440E-96B2-DDDB12A8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博納《最後審判》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7347D-84F6-48A4-89B5-601407F6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1443–1451，博納主宮醫院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5fe7da3e54529"/>
          <a:stretch xmlns:a="http://schemas.openxmlformats.org/drawingml/2006/main"/>
        </p:blipFill>
        <p:spPr>
          <a:xfrm xmlns:a="http://schemas.openxmlformats.org/drawingml/2006/main">
            <a:off x="714375" y="1614220"/>
            <a:ext cx="10763250" cy="425821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B3D47-23C2-47C4-B857-4CE2009D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《最後審判》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922BE0-D1D2-47C9-A7B3-546F443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08 / 15</a:t>
            </a:r>
          </a:p>
        </p:txBody>
      </p:sp>
    </p:spTree>
    <p:extLst>
      <p:ext uri="{BB962C8B-B14F-4D97-AF65-F5344CB8AC3E}">
        <p14:creationId xmlns:p14="http://schemas.microsoft.com/office/powerpoint/2010/main" val="11633661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D25C1-B1B6-4BEC-B973-93FF153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53936-8503-47A9-92F8-740CFAF2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876BA-B170-42CA-B9E3-011D8D05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北方畫家走向義大利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A431C-B8D4-4916-B384-3751F056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1450 年，跨越阿爾卑斯山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9bb7b00544c84"/>
          <a:stretch xmlns:a="http://schemas.openxmlformats.org/drawingml/2006/main"/>
        </p:blipFill>
        <p:spPr>
          <a:xfrm xmlns:a="http://schemas.openxmlformats.org/drawingml/2006/main">
            <a:off x="1149315" y="1504950"/>
            <a:ext cx="9893370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B2BE0-6BD9-4BDC-867C-A9EB32FB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《科隆巴祭壇畫》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EE363-73AB-4A5C-9FEF-26EF867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09 / 15</a:t>
            </a:r>
          </a:p>
        </p:txBody>
      </p:sp>
    </p:spTree>
    <p:extLst>
      <p:ext uri="{BB962C8B-B14F-4D97-AF65-F5344CB8AC3E}">
        <p14:creationId xmlns:p14="http://schemas.microsoft.com/office/powerpoint/2010/main" val="16479410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FB85B-E3F6-41DB-8757-ED211BC9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A3CEC-B603-4D3E-9804-95A94989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CB822-AE2F-45FE-B4E0-351F5635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沉默的肖像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33207-9D46-48B1-A450-7C3C441B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《女士肖像》與《菲利普・德・克羅伊》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7633cd60f4f4b"/>
          <a:stretch xmlns:a="http://schemas.openxmlformats.org/drawingml/2006/main"/>
        </p:blipFill>
        <p:spPr>
          <a:xfrm xmlns:a="http://schemas.openxmlformats.org/drawingml/2006/main">
            <a:off x="1762458" y="1552575"/>
            <a:ext cx="3066383" cy="42005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7B28C-AE7A-4220-8292-827F0911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《女士肖像》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d44ba552a4b3a"/>
          <a:stretch xmlns:a="http://schemas.openxmlformats.org/drawingml/2006/main"/>
        </p:blipFill>
        <p:spPr>
          <a:xfrm xmlns:a="http://schemas.openxmlformats.org/drawingml/2006/main">
            <a:off x="7556120" y="1552575"/>
            <a:ext cx="2680460" cy="42005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ED566-A584-472D-8008-A089F299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《菲利普・德・克羅伊肖像》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3C755-7FB0-4C01-ACAB-37D005B0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8229071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C2541-E9F0-4676-9E5C-37332A7B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4B849-5101-40CA-BBCA-731DFF54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CB7C0-FD66-4DE0-B1B0-46641862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《布拉克三聯畫》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B11EE-69E7-4F66-AB95-DD8D975E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約 1452，羅浮宮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8f298b269496a"/>
          <a:stretch xmlns:a="http://schemas.openxmlformats.org/drawingml/2006/main"/>
        </p:blipFill>
        <p:spPr>
          <a:xfrm xmlns:a="http://schemas.openxmlformats.org/drawingml/2006/main">
            <a:off x="714375" y="2179290"/>
            <a:ext cx="10763250" cy="312807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8B4A7-EAC9-4093-ABE5-A452256C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575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《布拉克三聯畫》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72915-B4CF-4C15-B22C-F6E3F0ED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10451629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C8677-0ABA-487D-A174-A359337D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0B4D2-39EA-4919-A8E4-DFFAF32C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00BEC-7BCE-4AE9-9C8D-BD6E1571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晚期的節制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CA8F1-ED7F-4325-96DA-C73C04AF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《科隆巴祭壇畫》與《十字架雙聯畫》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68c0cfc994fb7"/>
          <a:stretch xmlns:a="http://schemas.openxmlformats.org/drawingml/2006/main"/>
        </p:blipFill>
        <p:spPr>
          <a:xfrm xmlns:a="http://schemas.openxmlformats.org/drawingml/2006/main">
            <a:off x="685800" y="2471880"/>
            <a:ext cx="5219700" cy="236191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9343E-35B6-4FAE-BD52-006B4155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《科隆巴祭壇畫》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8a64c3ed84908"/>
          <a:stretch xmlns:a="http://schemas.openxmlformats.org/drawingml/2006/main"/>
        </p:blipFill>
        <p:spPr>
          <a:xfrm xmlns:a="http://schemas.openxmlformats.org/drawingml/2006/main">
            <a:off x="6671338" y="1552575"/>
            <a:ext cx="4450024" cy="42005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27D23-E37D-4E9F-9A45-B7FE1782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《十字架雙聯畫》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71C1E-4C80-4672-AF7A-693CE3AB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12 / 15</a:t>
            </a:r>
          </a:p>
        </p:txBody>
      </p:sp>
    </p:spTree>
    <p:extLst>
      <p:ext uri="{BB962C8B-B14F-4D97-AF65-F5344CB8AC3E}">
        <p14:creationId xmlns:p14="http://schemas.microsoft.com/office/powerpoint/2010/main" val="9258947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958AC-5A81-4593-B10D-6C9C8EE3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EC70E-460C-4018-8DC1-6029A13F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B6C2D-5E6B-4F46-9CF0-5245AD28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畫室與作者歸屬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7ACF3-A207-4779-A46C-285162BA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親筆、畫室、追隨者與複製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50cdde75845e9"/>
          <a:stretch xmlns:a="http://schemas.openxmlformats.org/drawingml/2006/main"/>
        </p:blipFill>
        <p:spPr>
          <a:xfrm xmlns:a="http://schemas.openxmlformats.org/drawingml/2006/main">
            <a:off x="1598375" y="1552575"/>
            <a:ext cx="3394549" cy="42005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FCC82-9618-4985-8E9C-BBF166D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《聖路加畫聖母》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f4cea1b65462a"/>
          <a:stretch xmlns:a="http://schemas.openxmlformats.org/drawingml/2006/main"/>
        </p:blipFill>
        <p:spPr>
          <a:xfrm xmlns:a="http://schemas.openxmlformats.org/drawingml/2006/main">
            <a:off x="7100626" y="1552575"/>
            <a:ext cx="3591449" cy="42005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350CF-D04C-438D-ABB7-947E94C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《閱讀中的抹大拉》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DEF333-9224-4FFC-AF75-53901920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1552678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2CE161-6E58-45AE-8168-F3CF0404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97712-4E05-49C1-B4EA-1B8AD3A8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9D61A-29A2-4FB3-8E63-89038546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范德魏登與范艾克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3CD77-AEB1-4EEE-8285-BADC8C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空間的旅行與身體的重量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0cb770915436d"/>
          <a:stretch xmlns:a="http://schemas.openxmlformats.org/drawingml/2006/main"/>
        </p:blipFill>
        <p:spPr>
          <a:xfrm xmlns:a="http://schemas.openxmlformats.org/drawingml/2006/main">
            <a:off x="1761146" y="1552575"/>
            <a:ext cx="3069009" cy="42005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C25486-DA2B-4B16-B66C-3301C887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范艾克《阿諾菲尼夫婦像》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25c42040aa4d49"/>
          <a:stretch xmlns:a="http://schemas.openxmlformats.org/drawingml/2006/main"/>
        </p:blipFill>
        <p:spPr>
          <a:xfrm xmlns:a="http://schemas.openxmlformats.org/drawingml/2006/main">
            <a:off x="6286500" y="1581269"/>
            <a:ext cx="5219700" cy="414313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F8297-30DF-4F34-890E-048EACC9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21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《卸下聖體》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DE0CF-A012-4E30-B7AF-86C4C03B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20162932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C12C1-F4C2-4FD1-9D89-90C019B3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9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1E92D-6984-41B5-91AC-EDAE6FB8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57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38EC5-56F0-46BC-9D33-A3FC2FAA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1089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0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讓身體記住悲傷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022C9-7982-44B5-8CF5-524E6AF3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650" b="0">
                <a:solidFill>
                  <a:srgbClr val="E1B978"/>
                </a:solidFill>
                <a:latin typeface="Noto Sans CJK TC"/>
                <a:ea typeface="Noto Sans CJK TC"/>
                <a:cs typeface="Noto Sans CJK TC"/>
              </a:rPr>
              <a:t>Our Famous Artists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c60d2e9d346b9"/>
          <a:stretch xmlns:a="http://schemas.openxmlformats.org/drawingml/2006/main"/>
        </p:blipFill>
        <p:spPr>
          <a:xfrm xmlns:a="http://schemas.openxmlformats.org/drawingml/2006/main">
            <a:off x="752475" y="2554337"/>
            <a:ext cx="2047875" cy="162550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DD909A-6297-4875-A89D-0D96CEE6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191125"/>
            <a:ext cx="20478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《卸下聖體》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879327eb64305"/>
          <a:stretch xmlns:a="http://schemas.openxmlformats.org/drawingml/2006/main"/>
        </p:blipFill>
        <p:spPr>
          <a:xfrm xmlns:a="http://schemas.openxmlformats.org/drawingml/2006/main">
            <a:off x="2914650" y="2100034"/>
            <a:ext cx="2047875" cy="25341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DB771-C2DD-4799-BFE6-9225F7EF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191125"/>
            <a:ext cx="20478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《聖路加畫聖母》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c90767c59484d"/>
          <a:stretch xmlns:a="http://schemas.openxmlformats.org/drawingml/2006/main"/>
        </p:blipFill>
        <p:spPr>
          <a:xfrm xmlns:a="http://schemas.openxmlformats.org/drawingml/2006/main">
            <a:off x="5076825" y="2961992"/>
            <a:ext cx="2047875" cy="81019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E9E11-7C0B-47BF-A8CB-11EE0508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5191125"/>
            <a:ext cx="20478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《最後審判》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38bd4239b47ba"/>
          <a:stretch xmlns:a="http://schemas.openxmlformats.org/drawingml/2006/main"/>
        </p:blipFill>
        <p:spPr>
          <a:xfrm xmlns:a="http://schemas.openxmlformats.org/drawingml/2006/main">
            <a:off x="7239000" y="1964433"/>
            <a:ext cx="2047875" cy="2805308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B76B7-C5A5-4E32-B7F8-A9338307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91125"/>
            <a:ext cx="20478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《女士肖像》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ae2c302b34fca"/>
          <a:stretch xmlns:a="http://schemas.openxmlformats.org/drawingml/2006/main"/>
        </p:blipFill>
        <p:spPr>
          <a:xfrm xmlns:a="http://schemas.openxmlformats.org/drawingml/2006/main">
            <a:off x="9401175" y="3069506"/>
            <a:ext cx="2047875" cy="59516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68F7E-8C55-4CC5-AEDF-805D9C42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191125"/>
            <a:ext cx="20478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00" b="0">
                <a:solidFill>
                  <a:srgbClr val="F5E8D4"/>
                </a:solidFill>
                <a:latin typeface="Noto Sans CJK TC"/>
                <a:ea typeface="Noto Sans CJK TC"/>
                <a:cs typeface="Noto Sans CJK TC"/>
              </a:rPr>
              <a:t>《布拉克三聯畫》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FA562-D950-458B-A4F7-8ECBC870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C0A98D"/>
                </a:solidFill>
                <a:latin typeface="Noto Sans"/>
                <a:ea typeface="Noto Sans"/>
                <a:cs typeface="Noto Sans"/>
              </a:rPr>
              <a:t>15 / 15</a:t>
            </a:r>
          </a:p>
        </p:txBody>
      </p:sp>
    </p:spTree>
    <p:extLst>
      <p:ext uri="{BB962C8B-B14F-4D97-AF65-F5344CB8AC3E}">
        <p14:creationId xmlns:p14="http://schemas.microsoft.com/office/powerpoint/2010/main" val="10563636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CA712-8DF0-457C-9251-B519BB27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2BC18-62D0-485D-8DD5-59D1EB4D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86075"/>
            <a:ext cx="9258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3DFC4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3DFC4"/>
                </a:solidFill>
                <a:latin typeface="Noto Sans"/>
                <a:ea typeface="Noto Sans"/>
                <a:cs typeface="Noto Sans"/>
              </a:rPr>
              <a:t>OUR FAMOUS ARTISTS</a:t>
            </a:r>
          </a:p>
        </p:txBody>
      </p:sp>
    </p:spTree>
    <p:extLst>
      <p:ext uri="{BB962C8B-B14F-4D97-AF65-F5344CB8AC3E}">
        <p14:creationId xmlns:p14="http://schemas.microsoft.com/office/powerpoint/2010/main" val="15194019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2026-09-23T06:10:05.2310000Z</dcterms:created>
  <dcterms:modified xsi:type="dcterms:W3CDTF">2026-09-23T06:10:05.2310000Z</dcterms:modified>
</coreProperties>
</file>