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may know this painting through three famous answers: it records a wedding, the woman is pregnant, and the dog, candle, oranges, and shoes are all symbols of marriage.</a:t>
            </a:r>
          </a:p>
          <a:p>
            <a:r>
              <a:t>For the next few minutes, set those answers aside. We have no reliable evidence that a wedding is taking place. The woman's raised silhouette does not prove pregnancy. Even more surprisingly, the dog, chandelier, beads, chair, and discarded shoes—some of the painting's most famous details—do not appear in the currently visible initial underdrawing.</a:t>
            </a:r>
          </a:p>
          <a:p>
            <a:r>
              <a:t>And this room, so convincing that it feels almost photographic, may never have existed in this exact form.</a:t>
            </a:r>
          </a:p>
          <a:p>
            <a:r>
              <a:t>In 1434, Jan van Eyck created a world on a relatively small oak panel that viewers have not finished examining nearly six centuries later. The best question is not simply, “What does every object mean?” It is: how did he make a selected, altered, and staged world feel more real than reality?</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*Arnolfini Portrait* is in London's National Gallery, accession number NG186. It was painted in oils on oak in 1434 and measures about 82.2 by 60 centimetres. Its physical scale is modest, but its visual information is extraordinary.</a:t>
            </a:r>
          </a:p>
          <a:p>
            <a:r>
              <a:t>A man stands near the window in a dark robe and broad hat. A woman in a brilliant green gown stands before a red bed. Their hands meet at the center, while a small dog occupies the foreground. Light enters from the left and moves across oranges, a brass chandelier, beads, discarded shoes, and a tiny convex mirror.</a:t>
            </a:r>
          </a:p>
          <a:p>
            <a:r>
              <a:t>The scene appears to explain everything, yet almost every detail creates another question. Who are these people? Why does the man raise his hand? Why do two more figures appear in the mirror? And why did van Eyck write not “I painted this,” but “I was here”?</a:t>
            </a:r>
          </a:p>
          <a:p>
            <a:endParaRPr/>
          </a:p>
          <a:p>
            <a:r>
              <a:t>[Sources]</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understand the room, return to fifteenth-century Bruges. Under Burgundian rule, the city connected English wool, Flemish textiles, Italian banking, North Sea shipping, luxury goods, and an ambitious court. It was one of Europe's great international commercial centers.</a:t>
            </a:r>
          </a:p>
          <a:p>
            <a:r>
              <a:t>The Arnolfini family came from Lucca and participated in this northern trading world. Van Eyck occupied a different but intersecting social position. From 1425 he served Philip the Good, Duke of Burgundy, as court painter and *valet de chambre*. He undertook journeys and diplomatic assignments. In 1428 he travelled to Portugal as part of the duke's marriage negotiations and produced a portrait of Isabella of Portugal.</a:t>
            </a:r>
          </a:p>
          <a:p>
            <a:r>
              <a:t>The painting therefore stands where two worlds meet: the refined visual culture of the Burgundian court and the growing wealth of international merchants. The room looks private, but it is also a stage on which identity becomes visible.</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National Gallery currently considers Giovanni di Nicolao di Arnolfini, an Italian merchant based in Bruges, the most likely identity of the man. The attribution is plausible, not absolute. The woman remains unidentified.</a:t>
            </a:r>
          </a:p>
          <a:p>
            <a:r>
              <a:t>An older theory named the couple as Giovanni di Arrigo Arnolfini and Giovanna Cenami. Documents show, however, that they married in 1447—thirteen years after the painting and after van Eyck's death. That identification is no longer sustainable.</a:t>
            </a:r>
          </a:p>
          <a:p>
            <a:r>
              <a:t>Berlin holds a later portrait by van Eyck of a more simply dressed, older man whose facial features closely resemble the London sitter. This provides an important visual argument for Giovanni di Nicolao. It does not identify the woman. She may have been a presumed second wife, although even that marriage lacks direct documentation. A minority memorial theory connects the image with his first wife, Costanza Trenta, who died around 1433, but this too remains unproved.</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Van Eyck is still sometimes credited with inventing oil painting. Oil-based media existed before him. His achievement was to exploit their transparency, drying behavior, and capacity for layered glazes with exceptional control.</a:t>
            </a:r>
          </a:p>
          <a:p>
            <a:r>
              <a:t>Look at how the man's dark clothing absorbs light and how the fur edge feels soft and dense. Light slides across the woman's green folds. Brass reflects it; glass transmits it; orange peel appears slightly rough. Wood, skin, hair, and fabric each respond differently.</a:t>
            </a:r>
          </a:p>
          <a:p>
            <a:r>
              <a:t>Van Eyck did not merely paint objects. He painted what light does when it meets different materials. National Gallery technical research even records a thumbprint in the paint near the dog's leg, where he adjusted the shadow with his hand. More than five centuries later, the panel preserves not only the written claim “I was here,” but a physical trace of the painter's touch.</a:t>
            </a:r>
          </a:p>
          <a:p>
            <a:endParaRPr/>
          </a:p>
          <a:p>
            <a:r>
              <a:t>[Sources]</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room is so persuasive that van Eyck seems to have removed a wall and copied the space beyond. Close inspection reveals contradictions.</a:t>
            </a:r>
          </a:p>
          <a:p>
            <a:r>
              <a:t>There may not be enough room for the chandelier. The bed appears too short. The convex mirror seems implausibly large for the period. There is no visible fireplace. A fruiting cherry tree beyond the window suggests a warmer season, yet both figures wear heavy fur-trimmed clothing.</a:t>
            </a:r>
          </a:p>
          <a:p>
            <a:r>
              <a:t>Nor is this necessarily a private bedroom in the modern sense. The National Gallery describes it as a reception room. In a wealthy fifteenth-century house, an elaborate bed could occupy a public-facing space because it was among the household's most expensive status objects.</a:t>
            </a:r>
          </a:p>
          <a:p>
            <a:r>
              <a:t>Van Eyck may not have copied one existing interior. He adjusted proportions and combined things, then used intensely credible local details to persuade us to accept an inconsistent whole. Realism here is not photography. It is construction.</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joined hands invite narrative. The man supports the woman's right hand with his left while raising his right. In 1934, Erwin Panofsky proposed one of art history's most influential interpretations: the picture records a marriage and functions as visual evidence of a contract.</a:t>
            </a:r>
          </a:p>
          <a:p>
            <a:r>
              <a:t>Within his system, the joined hands signify consent, the raised hand an oath, the reflected figures witnesses, and van Eyck's “was here” inscription proof of attendance. The dog becomes fidelity, the candle divine presence, the shoes sacred ground, and the bed and Saint Margaret marriage and fertility.</a:t>
            </a:r>
          </a:p>
          <a:p>
            <a:r>
              <a:t>The theory is compelling because it organizes every detail. Later scholarship weakened its legal claims. “Fuit hic” was not the normal witness formula in marriage documents. The inscription lacks a complete date and the identity of a second witness. Most importantly, the earliest reliable inventory of 1516 simply describes “Hernoul le Fin and his wife in a room.” It does not call the scene a wedding.</a:t>
            </a:r>
          </a:p>
          <a:p>
            <a:r>
              <a:t>The cautious starting point today is a double portrait. Marriage probably matters, but a formal wedding on a specific day cannot be proved. The raised hand may even be a greeting to the visitors reflected in the mirror.</a:t>
            </a:r>
          </a:p>
          <a:p>
            <a:endParaRPr/>
          </a:p>
          <a:p>
            <a:r>
              <a:t>[Sources]</a:t>
            </a:r>
          </a:p>
          <a:p>
            <a:r>
              <a:t>- https://www.nationalgallery.org.uk/paintings/catalogues/campbell-1998/the-arnolfini-portrait</a:t>
            </a:r>
          </a:p>
          <a:p>
            <a:r>
              <a:t>- Erwin Panofsky, ‘Jan van Eyck's Arnolfini Portrait,’ The Burlington Magazine, 1934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Modern viewers often interpret the woman's silhouette as immediate evidence of pregnancy. Costume historians generally do not.</a:t>
            </a:r>
          </a:p>
          <a:p>
            <a:r>
              <a:t>Her green gown contains a large quantity of fur-lined fabric. She raises its train in front of her abdomen, where the material gathers and projects outward. The gesture also displays the quantity and expense of the cloth and reveals layers of color beneath. Similar silhouettes appear in fifteenth-century images of women who are not being represented as pregnant.</a:t>
            </a:r>
          </a:p>
          <a:p>
            <a:r>
              <a:t>“Pregnancy is not proved” does not mean fertility is irrelevant. The small carved figure behind her is usually identified as Saint Margaret, a patron associated with childbirth. Marriage also carried intense social expectations concerning lineage.</a:t>
            </a:r>
          </a:p>
          <a:p>
            <a:r>
              <a:t>The most accurate formulation is therefore precise: her appearance is not reliable evidence of an actual pregnancy, but the clothing, gesture, and surrounding imagery may have encouraged contemporary viewers to think about future fertility within marriage.</a:t>
            </a:r>
          </a:p>
          <a:p>
            <a:endParaRPr/>
          </a:p>
          <a:p>
            <a:r>
              <a:t>[Sources]</a:t>
            </a:r>
          </a:p>
          <a:p>
            <a:r>
              <a:t>- https://smarthistory.org/jan-van-eyck-the-arnolfini-portrait/</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convex mirror is the painting's most astonishing visual device. Lorne Campbell estimated that the glass may be at least about twenty-eight centimetres in diameter—unusually large for a fifteenth-century convex mirror. The underdrawing once included an even larger octagonal frame.</a:t>
            </a:r>
          </a:p>
          <a:p>
            <a:r>
              <a:t>Van Eyck may have enlarged it because the mirror had an almost impossible task. It reflects the backs of the couple, the window, the bed, and the opposite end of the room. It also introduces two visitors entering through a door beyond the viewer. A closed portrait suddenly opens into the space behind us.</a:t>
            </a:r>
          </a:p>
          <a:p>
            <a:r>
              <a:t>Ten tiny scenes of Christ's Passion circle the frame. The glass reflects the room's present moment, while the frame contains sacred history. Everyday space and salvation history meet in one round object.</a:t>
            </a:r>
          </a:p>
          <a:p>
            <a:r>
              <a:t>We cannot prove that the nearer reflected figure is van Eyck. The signature directly above the mirror makes that an attractive hypothesis, but not a confirmed self-portrait. What is certain is that the mirror turns the viewer's position into part of the work.</a:t>
            </a:r>
          </a:p>
          <a:p>
            <a:endParaRPr/>
          </a:p>
          <a:p>
            <a:r>
              <a:t>[Sources]</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Above the mirror is the inscription, “Johannes de eyck fuit hic. 1434”—“Jan van Eyck was here. 1434.”</a:t>
            </a:r>
          </a:p>
          <a:p>
            <a:r>
              <a:t>This is not a discreet signature tucked into a frame. Written flamboyantly on the back wall, it becomes one of the room's objects. It does not merely say, “I made this.” It resembles graffiti, a traveler's mark, or a declaration of presence.</a:t>
            </a:r>
          </a:p>
          <a:p>
            <a:r>
              <a:t>The phrase cannot prove that van Eyck witnessed a wedding. Yet inscription and mirror clearly reinforce each other. The words say that the painter was here; the mirror admits people from outside the visible scene.</a:t>
            </a:r>
          </a:p>
          <a:p>
            <a:r>
              <a:t>Van Eyck was not an anonymous craftsman hidden behind the image. As a privileged court artist and *valet de chambre*, he occupied an unusual social position. The inscription asserts that this way of seeing—this orchestration of matter, light, space, and reflection—belongs specifically to Jan van Eyck.</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painting is also a portrait of international trade. Wealth appears not as coins or account books, but as an environment.</a:t>
            </a:r>
          </a:p>
          <a:p>
            <a:r>
              <a:t>The abundance of cloth and fur, red bed hangings, carpet, carved furniture, and brass chandelier required substantial resources. Oranges are ordinary to many viewers today. In fifteenth-century northern Europe, they were expensive imports from the south. The Arnolfini family came from Lucca and belonged to commercial networks joining Italian and northern cities.</a:t>
            </a:r>
          </a:p>
          <a:p>
            <a:r>
              <a:t>Identity is therefore expressed not only through name, heraldry, or title, but through clothing, interior design, imported goods, and lifestyle. The logic remains familiar: where people live and what they own become part of how others read them.</a:t>
            </a:r>
          </a:p>
          <a:p>
            <a:r>
              <a:t>Van Eyck's social intelligence lies in making wealth look natural. The room is not piled with treasure. Expensive things sit quietly, as though this level of comfort required no explanation.</a:t>
            </a:r>
          </a:p>
          <a:p>
            <a:endParaRPr/>
          </a:p>
          <a:p>
            <a:r>
              <a:t>[Sources]</a:t>
            </a:r>
          </a:p>
          <a:p>
            <a:r>
              <a:t>- https://www.nationalgallery.org.uk/paintings/catalogues/campbell-1998/the-arnolfini-portrait</a:t>
            </a:r>
          </a:p>
          <a:p>
            <a:r>
              <a:t>- https://smarthistory.org/jan-van-eyck-the-arnolfini-portrait/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chandelier's single burning candle has been read as God's presence, a sacred witness to marriage, or a contrast between life and death. Such associations have historical contexts, but none can be demonstrated as the one exclusive meaning.</a:t>
            </a:r>
          </a:p>
          <a:p>
            <a:r>
              <a:t>The dog can evoke fidelity and also function as an expensive pet. Discarded shoes can recall sacred ground and remain ordinary household behavior. Beads are devotional tools and precious possessions. Oranges can carry religious associations and most directly advertise wealth and long-distance exchange.</a:t>
            </a:r>
          </a:p>
          <a:p>
            <a:r>
              <a:t>Fifteenth-century objects could operate practically, socially, religiously, and symbolically at the same time. A better question is not, “What single word does this object translate into?” It is, “What range of associations could this object activate?”</a:t>
            </a:r>
          </a:p>
          <a:p>
            <a:r>
              <a:t>Once the fixed codebook disappears, the painting does not become meaningless. It becomes a more historically plausible environment in which meanings overlap.</a:t>
            </a:r>
          </a:p>
          <a:p>
            <a:endParaRPr/>
          </a:p>
          <a:p>
            <a:r>
              <a:t>[Sources]</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Infrared reflectography shows that van Eyck did not design every famous detail at the start and then mechanically fill it in.</a:t>
            </a:r>
          </a:p>
          <a:p>
            <a:r>
              <a:t>The initial underdrawing established the figures, principal furniture, and basic architecture. The dog, chandelier and candle, chair, beads, and discarded shoes are absent from the currently visible early design and were introduced later in the painting process. Smaller objects such as the oranges also lack corresponding underdrawing.</a:t>
            </a:r>
          </a:p>
          <a:p>
            <a:r>
              <a:t>The people changed too. The man's original face was larger, his hat bigger, his robe shorter, and his feet differently placed. The woman originally turned more toward him, and her face sat lower.</a:t>
            </a:r>
          </a:p>
          <a:p>
            <a:r>
              <a:t>These things were not added centuries later by another hand. Van Eyck reconsidered the composition as he worked. The dog fills the foreground; the chandelier anchors the upper space; shoes and beads enrich the lived environment. We cannot document why he made each decision.</a:t>
            </a:r>
          </a:p>
          <a:p>
            <a:r>
              <a:t>This complicates the idea of a complete symbolic marriage program fixed from the beginning. Deliberate addition does not give us a single meaning. What the infrared evidence gives us is something better: the painting as a sequence of artistic choices.</a:t>
            </a:r>
          </a:p>
          <a:p>
            <a:endParaRPr/>
          </a:p>
          <a:p>
            <a:r>
              <a:t>[Sources]</a:t>
            </a:r>
          </a:p>
          <a:p>
            <a:r>
              <a:t>- https://www.nationalgallery.org.uk/paintings/jan-van-eyck-the-arnolfini-portrait</a:t>
            </a:r>
          </a:p>
          <a:p>
            <a:r>
              <a:t>- https://www.nationalgallery.org.uk/paintings/catalogues/campbell-1998/the-arnolfini-portrait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earliest securely known owner was Don Diego de Guevara, who gave the painting to Margaret of Austria. Her 1516 inventory describes “Hernoul le Fin and his wife in a room.”</a:t>
            </a:r>
          </a:p>
          <a:p>
            <a:r>
              <a:t>Early records also mention closable wings or shutters bearing Guevara's arms. Those elements have disappeared. The object we see in the National Gallery may not look exactly as it did to a sixteenth-century viewer.</a:t>
            </a:r>
          </a:p>
          <a:p>
            <a:r>
              <a:t>The painting later entered Spanish collections and reached Britain in the nineteenth century. The National Gallery acquired it in 1842 for 600 guineas. Viewers once guessed that the man was reading the woman's palm. Panofsky built his marriage theory in 1934. Technical imaging, costume history, and material-culture research now test those older answers.</a:t>
            </a:r>
          </a:p>
          <a:p>
            <a:r>
              <a:t>The panel remains materially similar, but the questions brought before it change. Art history is not the memorization of a final solution. It is the discipline of revising the best explanation when better evidence appears.</a:t>
            </a:r>
          </a:p>
          <a:p>
            <a:endParaRPr/>
          </a:p>
          <a:p>
            <a:r>
              <a:t>[Sources]</a:t>
            </a:r>
          </a:p>
          <a:p>
            <a:r>
              <a:t>- https://www.nationalgallery.org.uk/paintings/jan-van-eyck-the-arnolfini-portrait</a:t>
            </a:r>
          </a:p>
          <a:p>
            <a:r>
              <a:t>- https://www.nationalgallery.org.uk/exhibitions/past/reflections-van-eyck-and-the-pre-raphaelites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stand before this painting at the National Gallery, do not begin by hunting for proof of a wedding or pregnancy.</a:t>
            </a:r>
          </a:p>
          <a:p>
            <a:r>
              <a:t>Begin with the two figures and their strange quiet. Notice how the joined hands connect the two halves of the composition. Follow the green folds down to the floor, then return to the man's dark clothing, which nearly swallows the light.</a:t>
            </a:r>
          </a:p>
          <a:p>
            <a:r>
              <a:t>Next, follow the illumination from the left window. It touches oranges, faces, white linen, and brass before entering the mirror. Move close to that reflection and the closed room opens behind you. You are no longer simply looking at a couple. You occupy the position of figures beyond the painted field.</a:t>
            </a:r>
          </a:p>
          <a:p>
            <a:r>
              <a:t>Finally, read: “Jan van Eyck was here.” Van Eyck is not proving that painting can copy the world like a camera. He is showing that it can hold front and back, presence and reflection, people and viewers, matter and meaning at once.</a:t>
            </a:r>
          </a:p>
          <a:p>
            <a:r>
              <a:t>The painting's real mystery is not that an object lacks a fixed translation. It is that a chosen, altered, and arranged world remains more convincing than ordinary reality nearly six hundred years later.</a:t>
            </a:r>
          </a:p>
          <a:p>
            <a:r>
              <a:t>Do you think the nearer figure in the mirror could be van Eyck? Share your reasoning in the comments.</a:t>
            </a:r>
          </a:p>
          <a:p>
            <a:endParaRPr/>
          </a:p>
          <a:p>
            <a:r>
              <a:t>[Sources]</a:t>
            </a:r>
          </a:p>
          <a:p>
            <a:r>
              <a:t>- https://www.nationalgallery.org.uk/paintings/jan-van-eyck-the-arnolfini-portrait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Masters and Masterpieces. If you enjoy evidence-led ways of looking at great art, subscribe, share, and join us for the next work.</a:t>
            </a:r>
          </a:p>
          <a:p>
            <a:endParaRPr/>
          </a:p>
          <a:p>
            <a:r>
              <a:t>[Sources]</a:t>
            </a:r>
          </a:p>
          <a:p>
            <a:r>
              <a:t>- Channel end card; no external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16.jpe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6.jpeg"/><Relationship Id="rId7"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2CE5EDB-C24D-4BF0-8EAD-5698E1A66679}"/>
              </a:ext>
            </a:extLst>
          </p:cNvPr>
          <p:cNvSpPr>
            <a:spLocks noGrp="1"/>
          </p:cNvSpPr>
          <p:nvPr/>
        </p:nvSpPr>
        <p:spPr>
          <a:xfrm>
            <a:off x="0" y="0"/>
            <a:ext cx="6667500" cy="6858000"/>
          </a:xfrm>
          <a:prstGeom prst="rect">
            <a:avLst/>
          </a:prstGeom>
          <a:solidFill>
            <a:srgbClr val="0A0B08"/>
          </a:solidFill>
          <a:ln w="0">
            <a:noFill/>
            <a:prstDash val="solid"/>
          </a:ln>
        </p:spPr>
        <p:txBody>
          <a:bodyPr/>
          <a:lstStyle/>
          <a:p>
            <a:endParaRPr lang="en-US"/>
          </a:p>
        </p:txBody>
      </p:sp>
      <p:sp>
        <p:nvSpPr>
          <p:cNvPr id="3" name="Rectangle 2">
            <a:extLst>
              <a:ext uri="{FF2B5EF4-FFF2-40B4-BE49-F238E27FC236}">
                <a16:creationId xmlns:a16="http://schemas.microsoft.com/office/drawing/2014/main" id="{03169A0E-7C5A-4171-852B-8BB2A982595E}"/>
              </a:ext>
            </a:extLst>
          </p:cNvPr>
          <p:cNvSpPr>
            <a:spLocks noGrp="1"/>
          </p:cNvSpPr>
          <p:nvPr/>
        </p:nvSpPr>
        <p:spPr>
          <a:xfrm>
            <a:off x="609600" y="552450"/>
            <a:ext cx="6667500" cy="266700"/>
          </a:xfrm>
          <a:prstGeom prst="rect">
            <a:avLst/>
          </a:prstGeom>
          <a:noFill/>
          <a:ln w="0">
            <a:noFill/>
            <a:prstDash val="solid"/>
          </a:ln>
        </p:spPr>
        <p:txBody>
          <a:bodyPr anchor="t"/>
          <a:lstStyle/>
          <a:p>
            <a:pPr>
              <a:defRPr sz="1050" b="1" i="0">
                <a:solidFill>
                  <a:srgbClr val="D7A84B"/>
                </a:solidFill>
              </a:defRPr>
            </a:pPr>
            <a:r>
              <a:rPr sz="1050" b="1" i="0">
                <a:solidFill>
                  <a:srgbClr val="D7A84B"/>
                </a:solidFill>
              </a:rPr>
              <a:t>MASTERS &amp; MASTERPIECES | JAN VAN EYCK | 1434</a:t>
            </a:r>
          </a:p>
        </p:txBody>
      </p:sp>
      <p:sp>
        <p:nvSpPr>
          <p:cNvPr id="4" name="Rectangle 3">
            <a:extLst>
              <a:ext uri="{FF2B5EF4-FFF2-40B4-BE49-F238E27FC236}">
                <a16:creationId xmlns:a16="http://schemas.microsoft.com/office/drawing/2014/main" id="{9D338BCE-716E-4076-B75A-15EE463BA613}"/>
              </a:ext>
            </a:extLst>
          </p:cNvPr>
          <p:cNvSpPr>
            <a:spLocks noGrp="1"/>
          </p:cNvSpPr>
          <p:nvPr/>
        </p:nvSpPr>
        <p:spPr>
          <a:xfrm>
            <a:off x="609600" y="1257300"/>
            <a:ext cx="6191250" cy="1809750"/>
          </a:xfrm>
          <a:prstGeom prst="rect">
            <a:avLst/>
          </a:prstGeom>
          <a:noFill/>
          <a:ln w="0">
            <a:noFill/>
            <a:prstDash val="solid"/>
          </a:ln>
        </p:spPr>
        <p:txBody>
          <a:bodyPr anchor="t"/>
          <a:lstStyle/>
          <a:p>
            <a:pPr>
              <a:defRPr sz="4800" b="1" i="0">
                <a:solidFill>
                  <a:srgbClr val="FFFDF7"/>
                </a:solidFill>
              </a:defRPr>
            </a:pPr>
            <a:r>
              <a:rPr sz="4800" b="1" i="0">
                <a:solidFill>
                  <a:srgbClr val="FFFDF7"/>
                </a:solidFill>
              </a:rPr>
              <a:t>Not a Wedding?</a:t>
            </a:r>
          </a:p>
          <a:p>
            <a:pPr>
              <a:defRPr sz="4800" b="1" i="0">
                <a:solidFill>
                  <a:srgbClr val="FFFDF7"/>
                </a:solidFill>
              </a:defRPr>
            </a:pPr>
            <a:r>
              <a:rPr sz="4800" b="1" i="0">
                <a:solidFill>
                  <a:srgbClr val="FFFDF7"/>
                </a:solidFill>
              </a:rPr>
              <a:t>Not Pregnant?</a:t>
            </a:r>
          </a:p>
        </p:txBody>
      </p:sp>
      <p:sp>
        <p:nvSpPr>
          <p:cNvPr id="5" name="Rectangle 4">
            <a:extLst>
              <a:ext uri="{FF2B5EF4-FFF2-40B4-BE49-F238E27FC236}">
                <a16:creationId xmlns:a16="http://schemas.microsoft.com/office/drawing/2014/main" id="{27D9A4C8-7D55-4ED2-9E14-EE839B4D3604}"/>
              </a:ext>
            </a:extLst>
          </p:cNvPr>
          <p:cNvSpPr>
            <a:spLocks noGrp="1"/>
          </p:cNvSpPr>
          <p:nvPr/>
        </p:nvSpPr>
        <p:spPr>
          <a:xfrm>
            <a:off x="609600" y="3276600"/>
            <a:ext cx="876300" cy="47625"/>
          </a:xfrm>
          <a:prstGeom prst="rect">
            <a:avLst/>
          </a:prstGeom>
          <a:solidFill>
            <a:srgbClr val="D7A84B"/>
          </a:solidFill>
          <a:ln w="0">
            <a:noFill/>
            <a:prstDash val="solid"/>
          </a:ln>
        </p:spPr>
        <p:txBody>
          <a:bodyPr/>
          <a:lstStyle/>
          <a:p>
            <a:endParaRPr lang="en-US"/>
          </a:p>
        </p:txBody>
      </p:sp>
      <p:sp>
        <p:nvSpPr>
          <p:cNvPr id="6" name="Rectangle 5">
            <a:extLst>
              <a:ext uri="{FF2B5EF4-FFF2-40B4-BE49-F238E27FC236}">
                <a16:creationId xmlns:a16="http://schemas.microsoft.com/office/drawing/2014/main" id="{7EBDD50F-A3E6-4A9E-91C5-C5B9BC1B87B7}"/>
              </a:ext>
            </a:extLst>
          </p:cNvPr>
          <p:cNvSpPr>
            <a:spLocks noGrp="1"/>
          </p:cNvSpPr>
          <p:nvPr/>
        </p:nvSpPr>
        <p:spPr>
          <a:xfrm>
            <a:off x="609600" y="3581400"/>
            <a:ext cx="5810250" cy="666750"/>
          </a:xfrm>
          <a:prstGeom prst="rect">
            <a:avLst/>
          </a:prstGeom>
          <a:noFill/>
          <a:ln w="0">
            <a:noFill/>
            <a:prstDash val="solid"/>
          </a:ln>
        </p:spPr>
        <p:txBody>
          <a:bodyPr anchor="t"/>
          <a:lstStyle/>
          <a:p>
            <a:pPr>
              <a:defRPr sz="1875" b="0" i="0">
                <a:solidFill>
                  <a:srgbClr val="E6D3AC"/>
                </a:solidFill>
              </a:defRPr>
            </a:pPr>
            <a:r>
              <a:rPr sz="1875" b="0" i="0">
                <a:solidFill>
                  <a:srgbClr val="E6D3AC"/>
                </a:solidFill>
              </a:rPr>
              <a:t>The real mystery of the Arnolfini Portrait</a:t>
            </a:r>
          </a:p>
        </p:txBody>
      </p:sp>
      <p:pic>
        <p:nvPicPr>
          <p:cNvPr id="18" name="Picture 17"/>
          <p:cNvPicPr>
            <a:picLocks noChangeAspect="1"/>
          </p:cNvPicPr>
          <p:nvPr/>
        </p:nvPicPr>
        <p:blipFill>
          <a:blip r:embed="rId4"/>
          <a:stretch/>
        </p:blipFill>
        <p:spPr>
          <a:xfrm>
            <a:off x="7696200" y="837045"/>
            <a:ext cx="3371850" cy="4612410"/>
          </a:xfrm>
          <a:prstGeom prst="roundRect">
            <a:avLst>
              <a:gd name="adj" fmla="val 3390"/>
            </a:avLst>
          </a:prstGeom>
        </p:spPr>
      </p:pic>
      <p:sp>
        <p:nvSpPr>
          <p:cNvPr id="8" name="Rectangle: Rounded Corners 7">
            <a:extLst>
              <a:ext uri="{FF2B5EF4-FFF2-40B4-BE49-F238E27FC236}">
                <a16:creationId xmlns:a16="http://schemas.microsoft.com/office/drawing/2014/main" id="{D6228A83-5716-40AC-8041-81D1696A3D55}"/>
              </a:ext>
            </a:extLst>
          </p:cNvPr>
          <p:cNvSpPr>
            <a:spLocks noGrp="1"/>
          </p:cNvSpPr>
          <p:nvPr/>
        </p:nvSpPr>
        <p:spPr>
          <a:xfrm>
            <a:off x="7477125" y="323850"/>
            <a:ext cx="3810000" cy="5667375"/>
          </a:xfrm>
          <a:prstGeom prst="roundRect">
            <a:avLst>
              <a:gd name="adj" fmla="val 3000"/>
            </a:avLst>
          </a:prstGeom>
          <a:noFill/>
          <a:ln w="19050">
            <a:solidFill>
              <a:srgbClr val="D7A84B"/>
            </a:solidFill>
            <a:prstDash val="solid"/>
          </a:ln>
        </p:spPr>
        <p:txBody>
          <a:bodyPr/>
          <a:lstStyle/>
          <a:p>
            <a:endParaRPr lang="en-US"/>
          </a:p>
        </p:txBody>
      </p:sp>
      <p:sp>
        <p:nvSpPr>
          <p:cNvPr id="9" name="Rectangle 8">
            <a:extLst>
              <a:ext uri="{FF2B5EF4-FFF2-40B4-BE49-F238E27FC236}">
                <a16:creationId xmlns:a16="http://schemas.microsoft.com/office/drawing/2014/main" id="{858041FC-2950-464B-8422-D2DD516856A6}"/>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73F2569-50E4-49C4-B15C-0615AB9C89B1}"/>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Set aside three familiar answers: wedding, pregnancy, symbolic code.</a:t>
            </a:r>
          </a:p>
        </p:txBody>
      </p:sp>
      <p:sp>
        <p:nvSpPr>
          <p:cNvPr id="11" name="Rectangle 10">
            <a:extLst>
              <a:ext uri="{FF2B5EF4-FFF2-40B4-BE49-F238E27FC236}">
                <a16:creationId xmlns:a16="http://schemas.microsoft.com/office/drawing/2014/main" id="{41B83301-C06E-4117-ADE6-89BD2C9CD6B4}"/>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57866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6C7C77B-97F1-488D-A118-6E3B250901D5}"/>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A0B43F56-D8B2-4A46-A59E-BA3DF3A25421}"/>
              </a:ext>
            </a:extLst>
          </p:cNvPr>
          <p:cNvSpPr>
            <a:spLocks noGrp="1"/>
          </p:cNvSpPr>
          <p:nvPr/>
        </p:nvSpPr>
        <p:spPr>
          <a:xfrm>
            <a:off x="609600" y="590550"/>
            <a:ext cx="9906000" cy="666750"/>
          </a:xfrm>
          <a:prstGeom prst="rect">
            <a:avLst/>
          </a:prstGeom>
          <a:noFill/>
          <a:ln w="0">
            <a:noFill/>
            <a:prstDash val="solid"/>
          </a:ln>
        </p:spPr>
        <p:txBody>
          <a:bodyPr anchor="t"/>
          <a:lstStyle/>
          <a:p>
            <a:pPr>
              <a:defRPr sz="2625" b="1" i="0">
                <a:solidFill>
                  <a:srgbClr val="FFFDF7"/>
                </a:solidFill>
              </a:defRPr>
            </a:pPr>
            <a:r>
              <a:rPr sz="2625" b="1" i="0">
                <a:solidFill>
                  <a:srgbClr val="FFFDF7"/>
                </a:solidFill>
              </a:rPr>
              <a:t>A Double Portrait Filled with Questions</a:t>
            </a:r>
          </a:p>
        </p:txBody>
      </p:sp>
      <p:sp>
        <p:nvSpPr>
          <p:cNvPr id="4" name="Rectangle 3">
            <a:extLst>
              <a:ext uri="{FF2B5EF4-FFF2-40B4-BE49-F238E27FC236}">
                <a16:creationId xmlns:a16="http://schemas.microsoft.com/office/drawing/2014/main" id="{CEC2F0A4-1181-46B5-A661-4A4E39A7EE2D}"/>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0339B070-1105-4D84-8369-81DB327D2BE7}"/>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02</a:t>
            </a:r>
          </a:p>
        </p:txBody>
      </p:sp>
      <p:pic>
        <p:nvPicPr>
          <p:cNvPr id="23" name="Picture 22"/>
          <p:cNvPicPr>
            <a:picLocks noChangeAspect="1"/>
          </p:cNvPicPr>
          <p:nvPr/>
        </p:nvPicPr>
        <p:blipFill>
          <a:blip r:embed="rId4"/>
          <a:stretch/>
        </p:blipFill>
        <p:spPr>
          <a:xfrm>
            <a:off x="1002481" y="1600200"/>
            <a:ext cx="3119488" cy="4267200"/>
          </a:xfrm>
          <a:prstGeom prst="roundRect">
            <a:avLst>
              <a:gd name="adj" fmla="val 3077"/>
            </a:avLst>
          </a:prstGeom>
        </p:spPr>
      </p:pic>
      <p:sp>
        <p:nvSpPr>
          <p:cNvPr id="7" name="Rectangle: Rounded Corners 6">
            <a:extLst>
              <a:ext uri="{FF2B5EF4-FFF2-40B4-BE49-F238E27FC236}">
                <a16:creationId xmlns:a16="http://schemas.microsoft.com/office/drawing/2014/main" id="{CA4A6572-ABD2-4FCE-8F47-DB9C76F10CB1}"/>
              </a:ext>
            </a:extLst>
          </p:cNvPr>
          <p:cNvSpPr>
            <a:spLocks noGrp="1"/>
          </p:cNvSpPr>
          <p:nvPr/>
        </p:nvSpPr>
        <p:spPr>
          <a:xfrm>
            <a:off x="4876800" y="1733550"/>
            <a:ext cx="6191250" cy="1314450"/>
          </a:xfrm>
          <a:prstGeom prst="roundRect">
            <a:avLst>
              <a:gd name="adj" fmla="val 8696"/>
            </a:avLst>
          </a:prstGeom>
          <a:solidFill>
            <a:srgbClr val="10150F"/>
          </a:solidFill>
          <a:ln w="9525">
            <a:solidFill>
              <a:srgbClr val="6E674E"/>
            </a:solidFill>
            <a:prstDash val="solid"/>
          </a:ln>
        </p:spPr>
        <p:txBody>
          <a:bodyPr/>
          <a:lstStyle/>
          <a:p>
            <a:endParaRPr lang="en-US"/>
          </a:p>
        </p:txBody>
      </p:sp>
      <p:sp>
        <p:nvSpPr>
          <p:cNvPr id="8" name="Rectangle: Rounded Corners 7">
            <a:extLst>
              <a:ext uri="{FF2B5EF4-FFF2-40B4-BE49-F238E27FC236}">
                <a16:creationId xmlns:a16="http://schemas.microsoft.com/office/drawing/2014/main" id="{A1BEABBF-F2AB-4E41-8127-609B4FAC8827}"/>
              </a:ext>
            </a:extLst>
          </p:cNvPr>
          <p:cNvSpPr>
            <a:spLocks noGrp="1"/>
          </p:cNvSpPr>
          <p:nvPr/>
        </p:nvSpPr>
        <p:spPr>
          <a:xfrm>
            <a:off x="4876800" y="1733550"/>
            <a:ext cx="57150" cy="1314450"/>
          </a:xfrm>
          <a:prstGeom prst="roundRect">
            <a:avLst>
              <a:gd name="adj" fmla="val 50000"/>
            </a:avLst>
          </a:prstGeom>
          <a:solidFill>
            <a:srgbClr val="D7A84B"/>
          </a:solidFill>
          <a:ln w="0">
            <a:noFill/>
            <a:prstDash val="solid"/>
          </a:ln>
        </p:spPr>
        <p:txBody>
          <a:bodyPr/>
          <a:lstStyle/>
          <a:p>
            <a:endParaRPr lang="en-US"/>
          </a:p>
        </p:txBody>
      </p:sp>
      <p:sp>
        <p:nvSpPr>
          <p:cNvPr id="9" name="Rectangle 8">
            <a:extLst>
              <a:ext uri="{FF2B5EF4-FFF2-40B4-BE49-F238E27FC236}">
                <a16:creationId xmlns:a16="http://schemas.microsoft.com/office/drawing/2014/main" id="{EAA75646-D8A0-4B07-B2DD-0E171569AD6F}"/>
              </a:ext>
            </a:extLst>
          </p:cNvPr>
          <p:cNvSpPr>
            <a:spLocks noGrp="1"/>
          </p:cNvSpPr>
          <p:nvPr/>
        </p:nvSpPr>
        <p:spPr>
          <a:xfrm>
            <a:off x="5105400" y="1905000"/>
            <a:ext cx="57721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OBJECT DATA</a:t>
            </a:r>
          </a:p>
        </p:txBody>
      </p:sp>
      <p:sp>
        <p:nvSpPr>
          <p:cNvPr id="10" name="Rectangle 9">
            <a:extLst>
              <a:ext uri="{FF2B5EF4-FFF2-40B4-BE49-F238E27FC236}">
                <a16:creationId xmlns:a16="http://schemas.microsoft.com/office/drawing/2014/main" id="{94218761-F18E-4967-866F-5F024D7B4717}"/>
              </a:ext>
            </a:extLst>
          </p:cNvPr>
          <p:cNvSpPr>
            <a:spLocks noGrp="1"/>
          </p:cNvSpPr>
          <p:nvPr/>
        </p:nvSpPr>
        <p:spPr>
          <a:xfrm>
            <a:off x="5105400" y="2305050"/>
            <a:ext cx="5772150" cy="62865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Date: 1434</a:t>
            </a:r>
          </a:p>
          <a:p>
            <a:pPr>
              <a:defRPr sz="1200" b="0" i="0">
                <a:solidFill>
                  <a:srgbClr val="C8BDA9"/>
                </a:solidFill>
              </a:defRPr>
            </a:pPr>
            <a:r>
              <a:rPr sz="1200" b="0" i="0">
                <a:solidFill>
                  <a:srgbClr val="C8BDA9"/>
                </a:solidFill>
              </a:rPr>
              <a:t>Medium: oil on oak</a:t>
            </a:r>
          </a:p>
          <a:p>
            <a:pPr>
              <a:defRPr sz="1200" b="0" i="0">
                <a:solidFill>
                  <a:srgbClr val="C8BDA9"/>
                </a:solidFill>
              </a:defRPr>
            </a:pPr>
            <a:r>
              <a:rPr sz="1200" b="0" i="0">
                <a:solidFill>
                  <a:srgbClr val="C8BDA9"/>
                </a:solidFill>
              </a:rPr>
              <a:t>Collection: The National Gallery, London</a:t>
            </a:r>
          </a:p>
        </p:txBody>
      </p:sp>
      <p:sp>
        <p:nvSpPr>
          <p:cNvPr id="11" name="Rectangle: Rounded Corners 10">
            <a:extLst>
              <a:ext uri="{FF2B5EF4-FFF2-40B4-BE49-F238E27FC236}">
                <a16:creationId xmlns:a16="http://schemas.microsoft.com/office/drawing/2014/main" id="{8FE42F74-F7C8-4711-91BC-9341732256BA}"/>
              </a:ext>
            </a:extLst>
          </p:cNvPr>
          <p:cNvSpPr>
            <a:spLocks noGrp="1"/>
          </p:cNvSpPr>
          <p:nvPr/>
        </p:nvSpPr>
        <p:spPr>
          <a:xfrm>
            <a:off x="4876800" y="3257550"/>
            <a:ext cx="6191250" cy="1866900"/>
          </a:xfrm>
          <a:prstGeom prst="roundRect">
            <a:avLst>
              <a:gd name="adj" fmla="val 6122"/>
            </a:avLst>
          </a:prstGeom>
          <a:solidFill>
            <a:srgbClr val="10150F"/>
          </a:solidFill>
          <a:ln w="9525">
            <a:solidFill>
              <a:srgbClr val="6E674E"/>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863CB2B2-3C1C-4063-9481-8F78A1853EF1}"/>
              </a:ext>
            </a:extLst>
          </p:cNvPr>
          <p:cNvSpPr>
            <a:spLocks noGrp="1"/>
          </p:cNvSpPr>
          <p:nvPr/>
        </p:nvSpPr>
        <p:spPr>
          <a:xfrm>
            <a:off x="4876800" y="3257550"/>
            <a:ext cx="57150" cy="1866900"/>
          </a:xfrm>
          <a:prstGeom prst="roundRect">
            <a:avLst>
              <a:gd name="adj" fmla="val 50000"/>
            </a:avLst>
          </a:prstGeom>
          <a:solidFill>
            <a:srgbClr val="6A243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CBA56B56-A3DF-4F12-BAA9-D1A5A98290A9}"/>
              </a:ext>
            </a:extLst>
          </p:cNvPr>
          <p:cNvSpPr>
            <a:spLocks noGrp="1"/>
          </p:cNvSpPr>
          <p:nvPr/>
        </p:nvSpPr>
        <p:spPr>
          <a:xfrm>
            <a:off x="5105400" y="3429000"/>
            <a:ext cx="57721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QUESTIONS INSIDE THE ROOM</a:t>
            </a:r>
          </a:p>
        </p:txBody>
      </p:sp>
      <p:sp>
        <p:nvSpPr>
          <p:cNvPr id="14" name="Rectangle 13">
            <a:extLst>
              <a:ext uri="{FF2B5EF4-FFF2-40B4-BE49-F238E27FC236}">
                <a16:creationId xmlns:a16="http://schemas.microsoft.com/office/drawing/2014/main" id="{50454E35-2EEC-4876-93BB-9AD722CF8F6E}"/>
              </a:ext>
            </a:extLst>
          </p:cNvPr>
          <p:cNvSpPr>
            <a:spLocks noGrp="1"/>
          </p:cNvSpPr>
          <p:nvPr/>
        </p:nvSpPr>
        <p:spPr>
          <a:xfrm>
            <a:off x="5105400" y="3829050"/>
            <a:ext cx="5772150" cy="11811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Who are they? Why is the man's hand raised?</a:t>
            </a:r>
          </a:p>
          <a:p>
            <a:pPr>
              <a:defRPr sz="1200" b="0" i="0">
                <a:solidFill>
                  <a:srgbClr val="C8BDA9"/>
                </a:solidFill>
              </a:defRPr>
            </a:pPr>
            <a:r>
              <a:rPr sz="1200" b="0" i="0">
                <a:solidFill>
                  <a:srgbClr val="C8BDA9"/>
                </a:solidFill>
              </a:rPr>
              <a:t>Why are two visitors in the mirror?</a:t>
            </a:r>
          </a:p>
          <a:p>
            <a:pPr>
              <a:defRPr sz="1200" b="0" i="0">
                <a:solidFill>
                  <a:srgbClr val="C8BDA9"/>
                </a:solidFill>
              </a:defRPr>
            </a:pPr>
            <a:r>
              <a:rPr sz="1200" b="0" i="0">
                <a:solidFill>
                  <a:srgbClr val="C8BDA9"/>
                </a:solidFill>
              </a:rPr>
              <a:t>Why write ‘I was here’?</a:t>
            </a:r>
          </a:p>
        </p:txBody>
      </p:sp>
      <p:sp>
        <p:nvSpPr>
          <p:cNvPr id="15" name="Rectangle 14">
            <a:extLst>
              <a:ext uri="{FF2B5EF4-FFF2-40B4-BE49-F238E27FC236}">
                <a16:creationId xmlns:a16="http://schemas.microsoft.com/office/drawing/2014/main" id="{65BC8964-829D-485B-8EE7-B2DF03ECCA03}"/>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93FA071-37E9-4C40-A711-1B0BD9F4B51C}"/>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82.2 × 60 cm | Oil on oak | National Gallery, London, NG186</a:t>
            </a:r>
          </a:p>
        </p:txBody>
      </p:sp>
      <p:sp>
        <p:nvSpPr>
          <p:cNvPr id="17" name="Rectangle 16">
            <a:extLst>
              <a:ext uri="{FF2B5EF4-FFF2-40B4-BE49-F238E27FC236}">
                <a16:creationId xmlns:a16="http://schemas.microsoft.com/office/drawing/2014/main" id="{64E62365-3568-452A-A536-D1D0194AE3A3}"/>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789851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5919742-9CA7-42F3-B529-223122087D59}"/>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F32A623A-86A6-4990-A545-28024C52AA77}"/>
              </a:ext>
            </a:extLst>
          </p:cNvPr>
          <p:cNvSpPr>
            <a:spLocks noGrp="1"/>
          </p:cNvSpPr>
          <p:nvPr/>
        </p:nvSpPr>
        <p:spPr>
          <a:xfrm>
            <a:off x="609600" y="590550"/>
            <a:ext cx="9906000" cy="666750"/>
          </a:xfrm>
          <a:prstGeom prst="rect">
            <a:avLst/>
          </a:prstGeom>
          <a:noFill/>
          <a:ln w="0">
            <a:noFill/>
            <a:prstDash val="solid"/>
          </a:ln>
        </p:spPr>
        <p:txBody>
          <a:bodyPr anchor="t"/>
          <a:lstStyle/>
          <a:p>
            <a:pPr>
              <a:defRPr sz="2625" b="1" i="0">
                <a:solidFill>
                  <a:srgbClr val="FFFDF7"/>
                </a:solidFill>
              </a:defRPr>
            </a:pPr>
            <a:r>
              <a:rPr sz="2625" b="1" i="0">
                <a:solidFill>
                  <a:srgbClr val="FFFDF7"/>
                </a:solidFill>
              </a:rPr>
              <a:t>Bruges in 1434: Merchants Meet the Court</a:t>
            </a:r>
          </a:p>
        </p:txBody>
      </p:sp>
      <p:sp>
        <p:nvSpPr>
          <p:cNvPr id="4" name="Rectangle 3">
            <a:extLst>
              <a:ext uri="{FF2B5EF4-FFF2-40B4-BE49-F238E27FC236}">
                <a16:creationId xmlns:a16="http://schemas.microsoft.com/office/drawing/2014/main" id="{B63FD24E-981C-4357-8B6A-FFC04A5F961D}"/>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65FFAE9F-BFA8-4023-B8E7-C07BF56F8E70}"/>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03</a:t>
            </a:r>
          </a:p>
        </p:txBody>
      </p:sp>
      <p:pic>
        <p:nvPicPr>
          <p:cNvPr id="29" name="Picture 28"/>
          <p:cNvPicPr>
            <a:picLocks noChangeAspect="1"/>
          </p:cNvPicPr>
          <p:nvPr/>
        </p:nvPicPr>
        <p:blipFill>
          <a:blip r:embed="rId4"/>
          <a:srcRect l="385" r="385"/>
          <a:stretch>
            <a:fillRect/>
          </a:stretch>
        </p:blipFill>
        <p:spPr>
          <a:xfrm>
            <a:off x="666750" y="1676400"/>
            <a:ext cx="2857500" cy="3962400"/>
          </a:xfrm>
          <a:prstGeom prst="roundRect">
            <a:avLst>
              <a:gd name="adj" fmla="val 4000"/>
            </a:avLst>
          </a:prstGeom>
        </p:spPr>
      </p:pic>
      <p:sp>
        <p:nvSpPr>
          <p:cNvPr id="7" name="Rectangle: Rounded Corners 6">
            <a:extLst>
              <a:ext uri="{FF2B5EF4-FFF2-40B4-BE49-F238E27FC236}">
                <a16:creationId xmlns:a16="http://schemas.microsoft.com/office/drawing/2014/main" id="{2888C4F0-CFD6-4D25-AA23-E6E439D422A7}"/>
              </a:ext>
            </a:extLst>
          </p:cNvPr>
          <p:cNvSpPr>
            <a:spLocks noGrp="1"/>
          </p:cNvSpPr>
          <p:nvPr/>
        </p:nvSpPr>
        <p:spPr>
          <a:xfrm>
            <a:off x="4191000" y="1676400"/>
            <a:ext cx="6896100" cy="3962400"/>
          </a:xfrm>
          <a:prstGeom prst="roundRect">
            <a:avLst>
              <a:gd name="adj" fmla="val 2885"/>
            </a:avLst>
          </a:prstGeom>
          <a:solidFill>
            <a:srgbClr val="10150F"/>
          </a:solidFill>
          <a:ln w="9525">
            <a:solidFill>
              <a:srgbClr val="5A5948"/>
            </a:solidFill>
            <a:prstDash val="solid"/>
          </a:ln>
        </p:spPr>
        <p:txBody>
          <a:bodyPr/>
          <a:lstStyle/>
          <a:p>
            <a:endParaRPr lang="en-US"/>
          </a:p>
        </p:txBody>
      </p:sp>
      <p:sp>
        <p:nvSpPr>
          <p:cNvPr id="8" name="Rectangle: Rounded Corners 7">
            <a:extLst>
              <a:ext uri="{FF2B5EF4-FFF2-40B4-BE49-F238E27FC236}">
                <a16:creationId xmlns:a16="http://schemas.microsoft.com/office/drawing/2014/main" id="{792ECD1F-0062-4702-9687-F4C8B608024A}"/>
              </a:ext>
            </a:extLst>
          </p:cNvPr>
          <p:cNvSpPr>
            <a:spLocks noGrp="1"/>
          </p:cNvSpPr>
          <p:nvPr/>
        </p:nvSpPr>
        <p:spPr>
          <a:xfrm>
            <a:off x="4857750" y="1952625"/>
            <a:ext cx="1333500" cy="571500"/>
          </a:xfrm>
          <a:prstGeom prst="roundRect">
            <a:avLst>
              <a:gd name="adj" fmla="val 20000"/>
            </a:avLst>
          </a:prstGeom>
          <a:solidFill>
            <a:srgbClr val="163D31"/>
          </a:solidFill>
          <a:ln w="9525">
            <a:solidFill>
              <a:srgbClr val="D7A84B"/>
            </a:solidFill>
            <a:prstDash val="solid"/>
          </a:ln>
        </p:spPr>
        <p:txBody>
          <a:bodyPr/>
          <a:lstStyle/>
          <a:p>
            <a:endParaRPr lang="en-US"/>
          </a:p>
        </p:txBody>
      </p:sp>
      <p:sp>
        <p:nvSpPr>
          <p:cNvPr id="9" name="Rectangle 8">
            <a:extLst>
              <a:ext uri="{FF2B5EF4-FFF2-40B4-BE49-F238E27FC236}">
                <a16:creationId xmlns:a16="http://schemas.microsoft.com/office/drawing/2014/main" id="{FA14DFC6-B860-408C-87AF-6DB3FEB7B863}"/>
              </a:ext>
            </a:extLst>
          </p:cNvPr>
          <p:cNvSpPr>
            <a:spLocks noGrp="1"/>
          </p:cNvSpPr>
          <p:nvPr/>
        </p:nvSpPr>
        <p:spPr>
          <a:xfrm>
            <a:off x="4953000" y="2143125"/>
            <a:ext cx="1143000" cy="228600"/>
          </a:xfrm>
          <a:prstGeom prst="rect">
            <a:avLst/>
          </a:prstGeom>
          <a:noFill/>
          <a:ln w="0">
            <a:noFill/>
            <a:prstDash val="solid"/>
          </a:ln>
        </p:spPr>
        <p:txBody>
          <a:bodyPr anchor="t"/>
          <a:lstStyle/>
          <a:p>
            <a:pPr>
              <a:defRPr sz="1200" b="1" i="0">
                <a:solidFill>
                  <a:srgbClr val="FFFDF7"/>
                </a:solidFill>
              </a:defRPr>
            </a:pPr>
            <a:r>
              <a:rPr sz="1200" b="1" i="0">
                <a:solidFill>
                  <a:srgbClr val="FFFDF7"/>
                </a:solidFill>
              </a:rPr>
              <a:t>BRUGES</a:t>
            </a:r>
          </a:p>
        </p:txBody>
      </p:sp>
      <p:sp>
        <p:nvSpPr>
          <p:cNvPr id="10" name="Rectangle: Rounded Corners 9">
            <a:extLst>
              <a:ext uri="{FF2B5EF4-FFF2-40B4-BE49-F238E27FC236}">
                <a16:creationId xmlns:a16="http://schemas.microsoft.com/office/drawing/2014/main" id="{CB41979C-E660-44AE-8B08-BA7404A3C5DB}"/>
              </a:ext>
            </a:extLst>
          </p:cNvPr>
          <p:cNvSpPr>
            <a:spLocks noGrp="1"/>
          </p:cNvSpPr>
          <p:nvPr/>
        </p:nvSpPr>
        <p:spPr>
          <a:xfrm>
            <a:off x="8858250" y="1952625"/>
            <a:ext cx="1333500" cy="571500"/>
          </a:xfrm>
          <a:prstGeom prst="roundRect">
            <a:avLst>
              <a:gd name="adj" fmla="val 20000"/>
            </a:avLst>
          </a:prstGeom>
          <a:solidFill>
            <a:srgbClr val="25271F"/>
          </a:solidFill>
          <a:ln w="9525">
            <a:solidFill>
              <a:srgbClr val="7A7158"/>
            </a:solidFill>
            <a:prstDash val="solid"/>
          </a:ln>
        </p:spPr>
        <p:txBody>
          <a:bodyPr/>
          <a:lstStyle/>
          <a:p>
            <a:endParaRPr lang="en-US"/>
          </a:p>
        </p:txBody>
      </p:sp>
      <p:sp>
        <p:nvSpPr>
          <p:cNvPr id="11" name="Rectangle 10">
            <a:extLst>
              <a:ext uri="{FF2B5EF4-FFF2-40B4-BE49-F238E27FC236}">
                <a16:creationId xmlns:a16="http://schemas.microsoft.com/office/drawing/2014/main" id="{A5C1C90E-10AC-4375-9BA4-28949F3F2FDC}"/>
              </a:ext>
            </a:extLst>
          </p:cNvPr>
          <p:cNvSpPr>
            <a:spLocks noGrp="1"/>
          </p:cNvSpPr>
          <p:nvPr/>
        </p:nvSpPr>
        <p:spPr>
          <a:xfrm>
            <a:off x="8953500" y="2143125"/>
            <a:ext cx="1143000" cy="228600"/>
          </a:xfrm>
          <a:prstGeom prst="rect">
            <a:avLst/>
          </a:prstGeom>
          <a:noFill/>
          <a:ln w="0">
            <a:noFill/>
            <a:prstDash val="solid"/>
          </a:ln>
        </p:spPr>
        <p:txBody>
          <a:bodyPr anchor="t"/>
          <a:lstStyle/>
          <a:p>
            <a:pPr>
              <a:defRPr sz="1200" b="1" i="0">
                <a:solidFill>
                  <a:srgbClr val="FFFDF7"/>
                </a:solidFill>
              </a:defRPr>
            </a:pPr>
            <a:r>
              <a:rPr sz="1200" b="1" i="0">
                <a:solidFill>
                  <a:srgbClr val="FFFDF7"/>
                </a:solidFill>
              </a:rPr>
              <a:t>LUCCA</a:t>
            </a:r>
          </a:p>
        </p:txBody>
      </p:sp>
      <p:sp>
        <p:nvSpPr>
          <p:cNvPr id="12" name="Rectangle: Rounded Corners 11">
            <a:extLst>
              <a:ext uri="{FF2B5EF4-FFF2-40B4-BE49-F238E27FC236}">
                <a16:creationId xmlns:a16="http://schemas.microsoft.com/office/drawing/2014/main" id="{4B19387C-E751-4B42-AF69-4A60700D349A}"/>
              </a:ext>
            </a:extLst>
          </p:cNvPr>
          <p:cNvSpPr>
            <a:spLocks noGrp="1"/>
          </p:cNvSpPr>
          <p:nvPr/>
        </p:nvSpPr>
        <p:spPr>
          <a:xfrm>
            <a:off x="4857750" y="4381500"/>
            <a:ext cx="1333500" cy="571500"/>
          </a:xfrm>
          <a:prstGeom prst="roundRect">
            <a:avLst>
              <a:gd name="adj" fmla="val 20000"/>
            </a:avLst>
          </a:prstGeom>
          <a:solidFill>
            <a:srgbClr val="25271F"/>
          </a:solidFill>
          <a:ln w="9525">
            <a:solidFill>
              <a:srgbClr val="7A7158"/>
            </a:solidFill>
            <a:prstDash val="solid"/>
          </a:ln>
        </p:spPr>
        <p:txBody>
          <a:bodyPr/>
          <a:lstStyle/>
          <a:p>
            <a:endParaRPr lang="en-US"/>
          </a:p>
        </p:txBody>
      </p:sp>
      <p:sp>
        <p:nvSpPr>
          <p:cNvPr id="13" name="Rectangle 12">
            <a:extLst>
              <a:ext uri="{FF2B5EF4-FFF2-40B4-BE49-F238E27FC236}">
                <a16:creationId xmlns:a16="http://schemas.microsoft.com/office/drawing/2014/main" id="{9565BE2F-4CB2-45D9-A13C-A5A1C702948B}"/>
              </a:ext>
            </a:extLst>
          </p:cNvPr>
          <p:cNvSpPr>
            <a:spLocks noGrp="1"/>
          </p:cNvSpPr>
          <p:nvPr/>
        </p:nvSpPr>
        <p:spPr>
          <a:xfrm>
            <a:off x="4953000" y="4572000"/>
            <a:ext cx="1143000" cy="228600"/>
          </a:xfrm>
          <a:prstGeom prst="rect">
            <a:avLst/>
          </a:prstGeom>
          <a:noFill/>
          <a:ln w="0">
            <a:noFill/>
            <a:prstDash val="solid"/>
          </a:ln>
        </p:spPr>
        <p:txBody>
          <a:bodyPr anchor="t"/>
          <a:lstStyle/>
          <a:p>
            <a:pPr>
              <a:defRPr sz="1200" b="1" i="0">
                <a:solidFill>
                  <a:srgbClr val="FFFDF7"/>
                </a:solidFill>
              </a:defRPr>
            </a:pPr>
            <a:r>
              <a:rPr sz="1200" b="1" i="0">
                <a:solidFill>
                  <a:srgbClr val="FFFDF7"/>
                </a:solidFill>
              </a:rPr>
              <a:t>ENGLAND</a:t>
            </a:r>
          </a:p>
        </p:txBody>
      </p:sp>
      <p:sp>
        <p:nvSpPr>
          <p:cNvPr id="14" name="Rectangle: Rounded Corners 13">
            <a:extLst>
              <a:ext uri="{FF2B5EF4-FFF2-40B4-BE49-F238E27FC236}">
                <a16:creationId xmlns:a16="http://schemas.microsoft.com/office/drawing/2014/main" id="{A6551BF2-E51C-4062-B5FD-53C72A6310CC}"/>
              </a:ext>
            </a:extLst>
          </p:cNvPr>
          <p:cNvSpPr>
            <a:spLocks noGrp="1"/>
          </p:cNvSpPr>
          <p:nvPr/>
        </p:nvSpPr>
        <p:spPr>
          <a:xfrm>
            <a:off x="8858250" y="4381500"/>
            <a:ext cx="1333500" cy="571500"/>
          </a:xfrm>
          <a:prstGeom prst="roundRect">
            <a:avLst>
              <a:gd name="adj" fmla="val 20000"/>
            </a:avLst>
          </a:prstGeom>
          <a:solidFill>
            <a:srgbClr val="25271F"/>
          </a:solidFill>
          <a:ln w="9525">
            <a:solidFill>
              <a:srgbClr val="7A7158"/>
            </a:solidFill>
            <a:prstDash val="solid"/>
          </a:ln>
        </p:spPr>
        <p:txBody>
          <a:bodyPr/>
          <a:lstStyle/>
          <a:p>
            <a:endParaRPr lang="en-US"/>
          </a:p>
        </p:txBody>
      </p:sp>
      <p:sp>
        <p:nvSpPr>
          <p:cNvPr id="15" name="Rectangle 14">
            <a:extLst>
              <a:ext uri="{FF2B5EF4-FFF2-40B4-BE49-F238E27FC236}">
                <a16:creationId xmlns:a16="http://schemas.microsoft.com/office/drawing/2014/main" id="{A9388A77-98AD-4F8A-88FA-8698DE95AC04}"/>
              </a:ext>
            </a:extLst>
          </p:cNvPr>
          <p:cNvSpPr>
            <a:spLocks noGrp="1"/>
          </p:cNvSpPr>
          <p:nvPr/>
        </p:nvSpPr>
        <p:spPr>
          <a:xfrm>
            <a:off x="8953500" y="4572000"/>
            <a:ext cx="1143000" cy="228600"/>
          </a:xfrm>
          <a:prstGeom prst="rect">
            <a:avLst/>
          </a:prstGeom>
          <a:noFill/>
          <a:ln w="0">
            <a:noFill/>
            <a:prstDash val="solid"/>
          </a:ln>
        </p:spPr>
        <p:txBody>
          <a:bodyPr anchor="t"/>
          <a:lstStyle/>
          <a:p>
            <a:pPr>
              <a:defRPr sz="1200" b="1" i="0">
                <a:solidFill>
                  <a:srgbClr val="FFFDF7"/>
                </a:solidFill>
              </a:defRPr>
            </a:pPr>
            <a:r>
              <a:rPr sz="1200" b="1" i="0">
                <a:solidFill>
                  <a:srgbClr val="FFFDF7"/>
                </a:solidFill>
              </a:rPr>
              <a:t>PORTUGAL</a:t>
            </a:r>
          </a:p>
        </p:txBody>
      </p:sp>
      <p:sp>
        <p:nvSpPr>
          <p:cNvPr id="16" name="Rectangle 15">
            <a:extLst>
              <a:ext uri="{FF2B5EF4-FFF2-40B4-BE49-F238E27FC236}">
                <a16:creationId xmlns:a16="http://schemas.microsoft.com/office/drawing/2014/main" id="{8084BDEF-7104-4D25-A61D-FAF03022FBC1}"/>
              </a:ext>
            </a:extLst>
          </p:cNvPr>
          <p:cNvSpPr>
            <a:spLocks noGrp="1"/>
          </p:cNvSpPr>
          <p:nvPr/>
        </p:nvSpPr>
        <p:spPr>
          <a:xfrm>
            <a:off x="6191250" y="2209800"/>
            <a:ext cx="2667000" cy="38100"/>
          </a:xfrm>
          <a:prstGeom prst="rect">
            <a:avLst/>
          </a:prstGeom>
          <a:solidFill>
            <a:srgbClr val="D7A84B"/>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55DBF6AA-BF11-49E4-B2C3-59D4FF63CF8A}"/>
              </a:ext>
            </a:extLst>
          </p:cNvPr>
          <p:cNvSpPr>
            <a:spLocks noGrp="1"/>
          </p:cNvSpPr>
          <p:nvPr/>
        </p:nvSpPr>
        <p:spPr>
          <a:xfrm>
            <a:off x="6191250" y="4648200"/>
            <a:ext cx="2667000" cy="38100"/>
          </a:xfrm>
          <a:prstGeom prst="rect">
            <a:avLst/>
          </a:prstGeom>
          <a:solidFill>
            <a:srgbClr val="D7A84B"/>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BF2EEDD-F457-428A-866A-D69FD890431B}"/>
              </a:ext>
            </a:extLst>
          </p:cNvPr>
          <p:cNvSpPr>
            <a:spLocks noGrp="1"/>
          </p:cNvSpPr>
          <p:nvPr/>
        </p:nvSpPr>
        <p:spPr>
          <a:xfrm>
            <a:off x="5505450" y="2524125"/>
            <a:ext cx="38100" cy="1847850"/>
          </a:xfrm>
          <a:prstGeom prst="rect">
            <a:avLst/>
          </a:prstGeom>
          <a:solidFill>
            <a:srgbClr val="D7A84B"/>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403DD448-C4E3-4B22-A889-4C91F24A387C}"/>
              </a:ext>
            </a:extLst>
          </p:cNvPr>
          <p:cNvSpPr>
            <a:spLocks noGrp="1"/>
          </p:cNvSpPr>
          <p:nvPr/>
        </p:nvSpPr>
        <p:spPr>
          <a:xfrm>
            <a:off x="9505950" y="2524125"/>
            <a:ext cx="38100" cy="1847850"/>
          </a:xfrm>
          <a:prstGeom prst="rect">
            <a:avLst/>
          </a:prstGeom>
          <a:solidFill>
            <a:srgbClr val="D7A84B"/>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1C992CE6-06C8-44EF-9619-A94A6F64895A}"/>
              </a:ext>
            </a:extLst>
          </p:cNvPr>
          <p:cNvSpPr>
            <a:spLocks noGrp="1"/>
          </p:cNvSpPr>
          <p:nvPr/>
        </p:nvSpPr>
        <p:spPr>
          <a:xfrm>
            <a:off x="5905500" y="3257550"/>
            <a:ext cx="3429000" cy="361950"/>
          </a:xfrm>
          <a:prstGeom prst="rect">
            <a:avLst/>
          </a:prstGeom>
          <a:noFill/>
          <a:ln w="0">
            <a:noFill/>
            <a:prstDash val="solid"/>
          </a:ln>
        </p:spPr>
        <p:txBody>
          <a:bodyPr anchor="t"/>
          <a:lstStyle/>
          <a:p>
            <a:pPr>
              <a:defRPr sz="1500" b="1" i="0">
                <a:solidFill>
                  <a:srgbClr val="E6D3AC"/>
                </a:solidFill>
              </a:defRPr>
            </a:pPr>
            <a:r>
              <a:rPr sz="1500" b="1" i="0">
                <a:solidFill>
                  <a:srgbClr val="E6D3AC"/>
                </a:solidFill>
              </a:rPr>
              <a:t>COMMERCE × COURT × DIPLOMACY</a:t>
            </a:r>
          </a:p>
        </p:txBody>
      </p:sp>
      <p:sp>
        <p:nvSpPr>
          <p:cNvPr id="21" name="Rectangle 20">
            <a:extLst>
              <a:ext uri="{FF2B5EF4-FFF2-40B4-BE49-F238E27FC236}">
                <a16:creationId xmlns:a16="http://schemas.microsoft.com/office/drawing/2014/main" id="{F7E5EAAF-B575-4460-B2DF-85F43148EEAC}"/>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DAFE8309-F6B9-40F4-A1EA-99F6CA4AD85D}"/>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Bruges linked court culture, banking, textiles, and international merchants.</a:t>
            </a:r>
          </a:p>
        </p:txBody>
      </p:sp>
      <p:sp>
        <p:nvSpPr>
          <p:cNvPr id="23" name="Rectangle 22">
            <a:extLst>
              <a:ext uri="{FF2B5EF4-FFF2-40B4-BE49-F238E27FC236}">
                <a16:creationId xmlns:a16="http://schemas.microsoft.com/office/drawing/2014/main" id="{C86D2D67-A98B-479D-9909-C1FEFA774347}"/>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929557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4CC6E87-3788-453B-87E9-9FB10278A0D5}"/>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8D9153D0-D7BC-43FE-9756-6DB70254B5C4}"/>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Who Are the Couple?</a:t>
            </a:r>
          </a:p>
        </p:txBody>
      </p:sp>
      <p:sp>
        <p:nvSpPr>
          <p:cNvPr id="4" name="Rectangle 3">
            <a:extLst>
              <a:ext uri="{FF2B5EF4-FFF2-40B4-BE49-F238E27FC236}">
                <a16:creationId xmlns:a16="http://schemas.microsoft.com/office/drawing/2014/main" id="{8BF17560-54C0-4AB3-B76E-A05B1CA84334}"/>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FFC68ACB-A118-441B-A77B-D570D3009790}"/>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04</a:t>
            </a:r>
          </a:p>
        </p:txBody>
      </p:sp>
      <p:pic>
        <p:nvPicPr>
          <p:cNvPr id="24" name="Picture 23"/>
          <p:cNvPicPr>
            <a:picLocks noChangeAspect="1"/>
          </p:cNvPicPr>
          <p:nvPr/>
        </p:nvPicPr>
        <p:blipFill>
          <a:blip r:embed="rId4"/>
          <a:srcRect t="10139" b="10139"/>
          <a:stretch>
            <a:fillRect/>
          </a:stretch>
        </p:blipFill>
        <p:spPr>
          <a:xfrm>
            <a:off x="742950" y="1685925"/>
            <a:ext cx="3810000" cy="3905250"/>
          </a:xfrm>
          <a:prstGeom prst="roundRect">
            <a:avLst>
              <a:gd name="adj" fmla="val 3000"/>
            </a:avLst>
          </a:prstGeom>
        </p:spPr>
      </p:pic>
      <p:pic>
        <p:nvPicPr>
          <p:cNvPr id="25" name="Picture 24"/>
          <p:cNvPicPr>
            <a:picLocks noChangeAspect="1"/>
          </p:cNvPicPr>
          <p:nvPr/>
        </p:nvPicPr>
        <p:blipFill>
          <a:blip r:embed="rId5"/>
          <a:srcRect t="2900" b="2900"/>
          <a:stretch>
            <a:fillRect/>
          </a:stretch>
        </p:blipFill>
        <p:spPr>
          <a:xfrm>
            <a:off x="4953000" y="1685925"/>
            <a:ext cx="2952750" cy="3905250"/>
          </a:xfrm>
          <a:prstGeom prst="roundRect">
            <a:avLst>
              <a:gd name="adj" fmla="val 3871"/>
            </a:avLst>
          </a:prstGeom>
        </p:spPr>
      </p:pic>
      <p:sp>
        <p:nvSpPr>
          <p:cNvPr id="8" name="Rectangle: Rounded Corners 7">
            <a:extLst>
              <a:ext uri="{FF2B5EF4-FFF2-40B4-BE49-F238E27FC236}">
                <a16:creationId xmlns:a16="http://schemas.microsoft.com/office/drawing/2014/main" id="{6349C0CB-015F-49FA-AF8D-47E0848A8038}"/>
              </a:ext>
            </a:extLst>
          </p:cNvPr>
          <p:cNvSpPr>
            <a:spLocks noGrp="1"/>
          </p:cNvSpPr>
          <p:nvPr/>
        </p:nvSpPr>
        <p:spPr>
          <a:xfrm>
            <a:off x="8305800" y="1685925"/>
            <a:ext cx="3048000" cy="1790700"/>
          </a:xfrm>
          <a:prstGeom prst="roundRect">
            <a:avLst>
              <a:gd name="adj" fmla="val 6383"/>
            </a:avLst>
          </a:prstGeom>
          <a:solidFill>
            <a:srgbClr val="10150F"/>
          </a:solidFill>
          <a:ln w="9525">
            <a:solidFill>
              <a:srgbClr val="6E674E"/>
            </a:solidFill>
            <a:prstDash val="solid"/>
          </a:ln>
        </p:spPr>
        <p:txBody>
          <a:bodyPr/>
          <a:lstStyle/>
          <a:p>
            <a:endParaRPr lang="en-US"/>
          </a:p>
        </p:txBody>
      </p:sp>
      <p:sp>
        <p:nvSpPr>
          <p:cNvPr id="9" name="Rectangle: Rounded Corners 8">
            <a:extLst>
              <a:ext uri="{FF2B5EF4-FFF2-40B4-BE49-F238E27FC236}">
                <a16:creationId xmlns:a16="http://schemas.microsoft.com/office/drawing/2014/main" id="{7668B480-E89F-4CA0-A5FC-D97FE53F65D6}"/>
              </a:ext>
            </a:extLst>
          </p:cNvPr>
          <p:cNvSpPr>
            <a:spLocks noGrp="1"/>
          </p:cNvSpPr>
          <p:nvPr/>
        </p:nvSpPr>
        <p:spPr>
          <a:xfrm>
            <a:off x="8305800" y="1685925"/>
            <a:ext cx="57150" cy="1790700"/>
          </a:xfrm>
          <a:prstGeom prst="roundRect">
            <a:avLst>
              <a:gd name="adj" fmla="val 50000"/>
            </a:avLst>
          </a:prstGeom>
          <a:solidFill>
            <a:srgbClr val="D7A8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852B2D2-4BFF-4576-932E-8CD3437CD470}"/>
              </a:ext>
            </a:extLst>
          </p:cNvPr>
          <p:cNvSpPr>
            <a:spLocks noGrp="1"/>
          </p:cNvSpPr>
          <p:nvPr/>
        </p:nvSpPr>
        <p:spPr>
          <a:xfrm>
            <a:off x="8534400" y="1857375"/>
            <a:ext cx="26289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THE MAN</a:t>
            </a:r>
          </a:p>
        </p:txBody>
      </p:sp>
      <p:sp>
        <p:nvSpPr>
          <p:cNvPr id="11" name="Rectangle 10">
            <a:extLst>
              <a:ext uri="{FF2B5EF4-FFF2-40B4-BE49-F238E27FC236}">
                <a16:creationId xmlns:a16="http://schemas.microsoft.com/office/drawing/2014/main" id="{3FBE8825-014D-4952-B938-E75F2C7FE69F}"/>
              </a:ext>
            </a:extLst>
          </p:cNvPr>
          <p:cNvSpPr>
            <a:spLocks noGrp="1"/>
          </p:cNvSpPr>
          <p:nvPr/>
        </p:nvSpPr>
        <p:spPr>
          <a:xfrm>
            <a:off x="8534400" y="2257425"/>
            <a:ext cx="2628900" cy="11049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Man: likely, not certain</a:t>
            </a:r>
          </a:p>
        </p:txBody>
      </p:sp>
      <p:sp>
        <p:nvSpPr>
          <p:cNvPr id="12" name="Rectangle: Rounded Corners 11">
            <a:extLst>
              <a:ext uri="{FF2B5EF4-FFF2-40B4-BE49-F238E27FC236}">
                <a16:creationId xmlns:a16="http://schemas.microsoft.com/office/drawing/2014/main" id="{AE484FF4-A73A-404B-BD99-39554B053607}"/>
              </a:ext>
            </a:extLst>
          </p:cNvPr>
          <p:cNvSpPr>
            <a:spLocks noGrp="1"/>
          </p:cNvSpPr>
          <p:nvPr/>
        </p:nvSpPr>
        <p:spPr>
          <a:xfrm>
            <a:off x="8305800" y="3705225"/>
            <a:ext cx="3048000" cy="1885950"/>
          </a:xfrm>
          <a:prstGeom prst="roundRect">
            <a:avLst>
              <a:gd name="adj" fmla="val 6061"/>
            </a:avLst>
          </a:prstGeom>
          <a:solidFill>
            <a:srgbClr val="10150F"/>
          </a:solidFill>
          <a:ln w="9525">
            <a:solidFill>
              <a:srgbClr val="6E674E"/>
            </a:solidFill>
            <a:prstDash val="solid"/>
          </a:ln>
        </p:spPr>
        <p:txBody>
          <a:bodyPr/>
          <a:lstStyle/>
          <a:p>
            <a:endParaRPr lang="en-US"/>
          </a:p>
        </p:txBody>
      </p:sp>
      <p:sp>
        <p:nvSpPr>
          <p:cNvPr id="13" name="Rectangle: Rounded Corners 12">
            <a:extLst>
              <a:ext uri="{FF2B5EF4-FFF2-40B4-BE49-F238E27FC236}">
                <a16:creationId xmlns:a16="http://schemas.microsoft.com/office/drawing/2014/main" id="{D2B0BF5B-0B50-4979-891E-AB1C19ED5E26}"/>
              </a:ext>
            </a:extLst>
          </p:cNvPr>
          <p:cNvSpPr>
            <a:spLocks noGrp="1"/>
          </p:cNvSpPr>
          <p:nvPr/>
        </p:nvSpPr>
        <p:spPr>
          <a:xfrm>
            <a:off x="8305800" y="3705225"/>
            <a:ext cx="57150" cy="1885950"/>
          </a:xfrm>
          <a:prstGeom prst="roundRect">
            <a:avLst>
              <a:gd name="adj" fmla="val 50000"/>
            </a:avLst>
          </a:prstGeom>
          <a:solidFill>
            <a:srgbClr val="6A243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F00CFC7-F9D5-44CE-AC20-0861A5256183}"/>
              </a:ext>
            </a:extLst>
          </p:cNvPr>
          <p:cNvSpPr>
            <a:spLocks noGrp="1"/>
          </p:cNvSpPr>
          <p:nvPr/>
        </p:nvSpPr>
        <p:spPr>
          <a:xfrm>
            <a:off x="8534400" y="3876675"/>
            <a:ext cx="26289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THE WOMAN</a:t>
            </a:r>
          </a:p>
        </p:txBody>
      </p:sp>
      <p:sp>
        <p:nvSpPr>
          <p:cNvPr id="15" name="Rectangle 14">
            <a:extLst>
              <a:ext uri="{FF2B5EF4-FFF2-40B4-BE49-F238E27FC236}">
                <a16:creationId xmlns:a16="http://schemas.microsoft.com/office/drawing/2014/main" id="{BA3884DC-7077-43AD-BAB0-77FE4130EC4D}"/>
              </a:ext>
            </a:extLst>
          </p:cNvPr>
          <p:cNvSpPr>
            <a:spLocks noGrp="1"/>
          </p:cNvSpPr>
          <p:nvPr/>
        </p:nvSpPr>
        <p:spPr>
          <a:xfrm>
            <a:off x="8534400" y="4276725"/>
            <a:ext cx="2628900" cy="120015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Woman: unidentified</a:t>
            </a:r>
          </a:p>
          <a:p>
            <a:pPr>
              <a:defRPr sz="1200" b="0" i="0">
                <a:solidFill>
                  <a:srgbClr val="C8BDA9"/>
                </a:solidFill>
              </a:defRPr>
            </a:pPr>
            <a:r>
              <a:rPr sz="1200" b="0" i="0">
                <a:solidFill>
                  <a:srgbClr val="C8BDA9"/>
                </a:solidFill>
              </a:rPr>
              <a:t>The old 1447 wedding theory fails</a:t>
            </a:r>
          </a:p>
        </p:txBody>
      </p:sp>
      <p:sp>
        <p:nvSpPr>
          <p:cNvPr id="16" name="Rectangle 15">
            <a:extLst>
              <a:ext uri="{FF2B5EF4-FFF2-40B4-BE49-F238E27FC236}">
                <a16:creationId xmlns:a16="http://schemas.microsoft.com/office/drawing/2014/main" id="{100899D4-A91B-4298-A754-25C7D0692C8B}"/>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A3A291E9-A76D-44CE-A4BD-BD15E97950A8}"/>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The man is probably Giovanni di Nicolao; the woman remains unknown.</a:t>
            </a:r>
          </a:p>
        </p:txBody>
      </p:sp>
      <p:sp>
        <p:nvSpPr>
          <p:cNvPr id="18" name="Rectangle 17">
            <a:extLst>
              <a:ext uri="{FF2B5EF4-FFF2-40B4-BE49-F238E27FC236}">
                <a16:creationId xmlns:a16="http://schemas.microsoft.com/office/drawing/2014/main" id="{8258FDE4-273F-45AD-92B4-30D38330FE83}"/>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948888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A60C322-B952-44D5-B62A-879076221329}"/>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A6917541-24C2-457B-9BCC-C9D5E4E22EEC}"/>
              </a:ext>
            </a:extLst>
          </p:cNvPr>
          <p:cNvSpPr>
            <a:spLocks noGrp="1"/>
          </p:cNvSpPr>
          <p:nvPr/>
        </p:nvSpPr>
        <p:spPr>
          <a:xfrm>
            <a:off x="609600" y="590550"/>
            <a:ext cx="9906000" cy="666750"/>
          </a:xfrm>
          <a:prstGeom prst="rect">
            <a:avLst/>
          </a:prstGeom>
          <a:noFill/>
          <a:ln w="0">
            <a:noFill/>
            <a:prstDash val="solid"/>
          </a:ln>
        </p:spPr>
        <p:txBody>
          <a:bodyPr anchor="t"/>
          <a:lstStyle/>
          <a:p>
            <a:pPr>
              <a:defRPr sz="2625" b="1" i="0">
                <a:solidFill>
                  <a:srgbClr val="FFFDF7"/>
                </a:solidFill>
              </a:defRPr>
            </a:pPr>
            <a:r>
              <a:rPr sz="2625" b="1" i="0">
                <a:solidFill>
                  <a:srgbClr val="FFFDF7"/>
                </a:solidFill>
              </a:rPr>
              <a:t>Van Eyck Did Not Invent Oil Painting</a:t>
            </a:r>
          </a:p>
        </p:txBody>
      </p:sp>
      <p:sp>
        <p:nvSpPr>
          <p:cNvPr id="4" name="Rectangle 3">
            <a:extLst>
              <a:ext uri="{FF2B5EF4-FFF2-40B4-BE49-F238E27FC236}">
                <a16:creationId xmlns:a16="http://schemas.microsoft.com/office/drawing/2014/main" id="{6A4A5EFD-CA4A-412B-B7F2-EDB749066BB4}"/>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57EA227B-BD8F-4CAA-AE0D-E13E953A9919}"/>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05</a:t>
            </a:r>
          </a:p>
        </p:txBody>
      </p:sp>
      <p:pic>
        <p:nvPicPr>
          <p:cNvPr id="26" name="Picture 25"/>
          <p:cNvPicPr>
            <a:picLocks noChangeAspect="1"/>
          </p:cNvPicPr>
          <p:nvPr/>
        </p:nvPicPr>
        <p:blipFill>
          <a:blip r:embed="rId4"/>
          <a:srcRect t="43455" b="43455"/>
          <a:stretch>
            <a:fillRect/>
          </a:stretch>
        </p:blipFill>
        <p:spPr>
          <a:xfrm>
            <a:off x="685800" y="1676400"/>
            <a:ext cx="5048250" cy="1638300"/>
          </a:xfrm>
          <a:prstGeom prst="roundRect">
            <a:avLst>
              <a:gd name="adj" fmla="val 6977"/>
            </a:avLst>
          </a:prstGeom>
        </p:spPr>
      </p:pic>
      <p:sp>
        <p:nvSpPr>
          <p:cNvPr id="7" name="Rectangle 6">
            <a:extLst>
              <a:ext uri="{FF2B5EF4-FFF2-40B4-BE49-F238E27FC236}">
                <a16:creationId xmlns:a16="http://schemas.microsoft.com/office/drawing/2014/main" id="{50080F60-E819-4B55-877B-571D4CDA8CA0}"/>
              </a:ext>
            </a:extLst>
          </p:cNvPr>
          <p:cNvSpPr>
            <a:spLocks noGrp="1"/>
          </p:cNvSpPr>
          <p:nvPr/>
        </p:nvSpPr>
        <p:spPr>
          <a:xfrm>
            <a:off x="685800" y="2914650"/>
            <a:ext cx="5048250" cy="400050"/>
          </a:xfrm>
          <a:prstGeom prst="rect">
            <a:avLst/>
          </a:prstGeom>
          <a:solidFill>
            <a:srgbClr val="0A0B08"/>
          </a:solidFill>
          <a:ln w="0">
            <a:noFill/>
            <a:prstDash val="solid"/>
          </a:ln>
        </p:spPr>
        <p:txBody>
          <a:bodyPr/>
          <a:lstStyle/>
          <a:p>
            <a:endParaRPr lang="en-US"/>
          </a:p>
        </p:txBody>
      </p:sp>
      <p:sp>
        <p:nvSpPr>
          <p:cNvPr id="8" name="Rectangle 7">
            <a:extLst>
              <a:ext uri="{FF2B5EF4-FFF2-40B4-BE49-F238E27FC236}">
                <a16:creationId xmlns:a16="http://schemas.microsoft.com/office/drawing/2014/main" id="{047D2E19-B167-41C5-86A9-89AC498401E3}"/>
              </a:ext>
            </a:extLst>
          </p:cNvPr>
          <p:cNvSpPr>
            <a:spLocks noGrp="1"/>
          </p:cNvSpPr>
          <p:nvPr/>
        </p:nvSpPr>
        <p:spPr>
          <a:xfrm>
            <a:off x="857250" y="3019425"/>
            <a:ext cx="4572000" cy="209550"/>
          </a:xfrm>
          <a:prstGeom prst="rect">
            <a:avLst/>
          </a:prstGeom>
          <a:noFill/>
          <a:ln w="0">
            <a:noFill/>
            <a:prstDash val="solid"/>
          </a:ln>
        </p:spPr>
        <p:txBody>
          <a:bodyPr anchor="t"/>
          <a:lstStyle/>
          <a:p>
            <a:pPr>
              <a:defRPr sz="1125" b="1" i="0">
                <a:solidFill>
                  <a:srgbClr val="FFFDF7"/>
                </a:solidFill>
              </a:defRPr>
            </a:pPr>
            <a:r>
              <a:rPr sz="1125" b="1" i="0">
                <a:solidFill>
                  <a:srgbClr val="FFFDF7"/>
                </a:solidFill>
              </a:rPr>
              <a:t>GREEN FABRIC</a:t>
            </a:r>
          </a:p>
        </p:txBody>
      </p:sp>
      <p:pic>
        <p:nvPicPr>
          <p:cNvPr id="29" name="Picture 28"/>
          <p:cNvPicPr>
            <a:picLocks noChangeAspect="1"/>
          </p:cNvPicPr>
          <p:nvPr/>
        </p:nvPicPr>
        <p:blipFill>
          <a:blip r:embed="rId5"/>
          <a:srcRect t="33774" b="33774"/>
          <a:stretch>
            <a:fillRect/>
          </a:stretch>
        </p:blipFill>
        <p:spPr>
          <a:xfrm>
            <a:off x="6115050" y="1676400"/>
            <a:ext cx="5048250" cy="1638300"/>
          </a:xfrm>
          <a:prstGeom prst="roundRect">
            <a:avLst>
              <a:gd name="adj" fmla="val 6977"/>
            </a:avLst>
          </a:prstGeom>
        </p:spPr>
      </p:pic>
      <p:sp>
        <p:nvSpPr>
          <p:cNvPr id="10" name="Rectangle 9">
            <a:extLst>
              <a:ext uri="{FF2B5EF4-FFF2-40B4-BE49-F238E27FC236}">
                <a16:creationId xmlns:a16="http://schemas.microsoft.com/office/drawing/2014/main" id="{2AAC7520-C0E1-435B-AE42-92AE664EC7B7}"/>
              </a:ext>
            </a:extLst>
          </p:cNvPr>
          <p:cNvSpPr>
            <a:spLocks noGrp="1"/>
          </p:cNvSpPr>
          <p:nvPr/>
        </p:nvSpPr>
        <p:spPr>
          <a:xfrm>
            <a:off x="6115050" y="2914650"/>
            <a:ext cx="5048250" cy="400050"/>
          </a:xfrm>
          <a:prstGeom prst="rect">
            <a:avLst/>
          </a:prstGeom>
          <a:solidFill>
            <a:srgbClr val="0A0B0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EEBEF2D3-BC4E-4D3D-A1D7-12821B28AAB4}"/>
              </a:ext>
            </a:extLst>
          </p:cNvPr>
          <p:cNvSpPr>
            <a:spLocks noGrp="1"/>
          </p:cNvSpPr>
          <p:nvPr/>
        </p:nvSpPr>
        <p:spPr>
          <a:xfrm>
            <a:off x="6286500" y="3019425"/>
            <a:ext cx="4572000" cy="209550"/>
          </a:xfrm>
          <a:prstGeom prst="rect">
            <a:avLst/>
          </a:prstGeom>
          <a:noFill/>
          <a:ln w="0">
            <a:noFill/>
            <a:prstDash val="solid"/>
          </a:ln>
        </p:spPr>
        <p:txBody>
          <a:bodyPr anchor="t"/>
          <a:lstStyle/>
          <a:p>
            <a:pPr>
              <a:defRPr sz="1125" b="1" i="0">
                <a:solidFill>
                  <a:srgbClr val="FFFDF7"/>
                </a:solidFill>
              </a:defRPr>
            </a:pPr>
            <a:r>
              <a:rPr sz="1125" b="1" i="0">
                <a:solidFill>
                  <a:srgbClr val="FFFDF7"/>
                </a:solidFill>
              </a:rPr>
              <a:t>BRASS</a:t>
            </a:r>
          </a:p>
        </p:txBody>
      </p:sp>
      <p:pic>
        <p:nvPicPr>
          <p:cNvPr id="32" name="Picture 31"/>
          <p:cNvPicPr>
            <a:picLocks noChangeAspect="1"/>
          </p:cNvPicPr>
          <p:nvPr/>
        </p:nvPicPr>
        <p:blipFill>
          <a:blip r:embed="rId6"/>
          <a:srcRect t="33774" b="33774"/>
          <a:stretch>
            <a:fillRect/>
          </a:stretch>
        </p:blipFill>
        <p:spPr>
          <a:xfrm>
            <a:off x="685800" y="3676650"/>
            <a:ext cx="5048250" cy="1638300"/>
          </a:xfrm>
          <a:prstGeom prst="roundRect">
            <a:avLst>
              <a:gd name="adj" fmla="val 6977"/>
            </a:avLst>
          </a:prstGeom>
        </p:spPr>
      </p:pic>
      <p:sp>
        <p:nvSpPr>
          <p:cNvPr id="13" name="Rectangle 12">
            <a:extLst>
              <a:ext uri="{FF2B5EF4-FFF2-40B4-BE49-F238E27FC236}">
                <a16:creationId xmlns:a16="http://schemas.microsoft.com/office/drawing/2014/main" id="{80077BA5-BC24-4BE9-9F65-6239043F66D5}"/>
              </a:ext>
            </a:extLst>
          </p:cNvPr>
          <p:cNvSpPr>
            <a:spLocks noGrp="1"/>
          </p:cNvSpPr>
          <p:nvPr/>
        </p:nvSpPr>
        <p:spPr>
          <a:xfrm>
            <a:off x="685800" y="4914900"/>
            <a:ext cx="5048250" cy="400050"/>
          </a:xfrm>
          <a:prstGeom prst="rect">
            <a:avLst/>
          </a:prstGeom>
          <a:solidFill>
            <a:srgbClr val="0A0B0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D14E180-20F4-4A59-8ACC-81D97E5007D0}"/>
              </a:ext>
            </a:extLst>
          </p:cNvPr>
          <p:cNvSpPr>
            <a:spLocks noGrp="1"/>
          </p:cNvSpPr>
          <p:nvPr/>
        </p:nvSpPr>
        <p:spPr>
          <a:xfrm>
            <a:off x="857250" y="5019675"/>
            <a:ext cx="4572000" cy="209550"/>
          </a:xfrm>
          <a:prstGeom prst="rect">
            <a:avLst/>
          </a:prstGeom>
          <a:noFill/>
          <a:ln w="0">
            <a:noFill/>
            <a:prstDash val="solid"/>
          </a:ln>
        </p:spPr>
        <p:txBody>
          <a:bodyPr anchor="t"/>
          <a:lstStyle/>
          <a:p>
            <a:pPr>
              <a:defRPr sz="1125" b="1" i="0">
                <a:solidFill>
                  <a:srgbClr val="FFFDF7"/>
                </a:solidFill>
              </a:defRPr>
            </a:pPr>
            <a:r>
              <a:rPr sz="1125" b="1" i="0">
                <a:solidFill>
                  <a:srgbClr val="FFFDF7"/>
                </a:solidFill>
              </a:rPr>
              <a:t>ORANGE &amp; WOOD</a:t>
            </a:r>
          </a:p>
        </p:txBody>
      </p:sp>
      <p:pic>
        <p:nvPicPr>
          <p:cNvPr id="35" name="Picture 34"/>
          <p:cNvPicPr>
            <a:picLocks noChangeAspect="1"/>
          </p:cNvPicPr>
          <p:nvPr/>
        </p:nvPicPr>
        <p:blipFill>
          <a:blip r:embed="rId7"/>
          <a:srcRect t="35937" b="35937"/>
          <a:stretch>
            <a:fillRect/>
          </a:stretch>
        </p:blipFill>
        <p:spPr>
          <a:xfrm>
            <a:off x="6115050" y="3676650"/>
            <a:ext cx="5048250" cy="1638300"/>
          </a:xfrm>
          <a:prstGeom prst="roundRect">
            <a:avLst>
              <a:gd name="adj" fmla="val 6977"/>
            </a:avLst>
          </a:prstGeom>
        </p:spPr>
      </p:pic>
      <p:sp>
        <p:nvSpPr>
          <p:cNvPr id="16" name="Rectangle 15">
            <a:extLst>
              <a:ext uri="{FF2B5EF4-FFF2-40B4-BE49-F238E27FC236}">
                <a16:creationId xmlns:a16="http://schemas.microsoft.com/office/drawing/2014/main" id="{423CA017-67B1-4B43-B084-8B48EE3AC74F}"/>
              </a:ext>
            </a:extLst>
          </p:cNvPr>
          <p:cNvSpPr>
            <a:spLocks noGrp="1"/>
          </p:cNvSpPr>
          <p:nvPr/>
        </p:nvSpPr>
        <p:spPr>
          <a:xfrm>
            <a:off x="6115050" y="4914900"/>
            <a:ext cx="5048250" cy="400050"/>
          </a:xfrm>
          <a:prstGeom prst="rect">
            <a:avLst/>
          </a:prstGeom>
          <a:solidFill>
            <a:srgbClr val="0A0B0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937D2B71-0AA1-461B-A032-2D71A8A5161A}"/>
              </a:ext>
            </a:extLst>
          </p:cNvPr>
          <p:cNvSpPr>
            <a:spLocks noGrp="1"/>
          </p:cNvSpPr>
          <p:nvPr/>
        </p:nvSpPr>
        <p:spPr>
          <a:xfrm>
            <a:off x="6286500" y="5019675"/>
            <a:ext cx="4572000" cy="209550"/>
          </a:xfrm>
          <a:prstGeom prst="rect">
            <a:avLst/>
          </a:prstGeom>
          <a:noFill/>
          <a:ln w="0">
            <a:noFill/>
            <a:prstDash val="solid"/>
          </a:ln>
        </p:spPr>
        <p:txBody>
          <a:bodyPr anchor="t"/>
          <a:lstStyle/>
          <a:p>
            <a:pPr>
              <a:defRPr sz="1125" b="1" i="0">
                <a:solidFill>
                  <a:srgbClr val="FFFDF7"/>
                </a:solidFill>
              </a:defRPr>
            </a:pPr>
            <a:r>
              <a:rPr sz="1125" b="1" i="0">
                <a:solidFill>
                  <a:srgbClr val="FFFDF7"/>
                </a:solidFill>
              </a:rPr>
              <a:t>FUR &amp; SHADOW</a:t>
            </a:r>
          </a:p>
        </p:txBody>
      </p:sp>
      <p:sp>
        <p:nvSpPr>
          <p:cNvPr id="18" name="Rectangle 17">
            <a:extLst>
              <a:ext uri="{FF2B5EF4-FFF2-40B4-BE49-F238E27FC236}">
                <a16:creationId xmlns:a16="http://schemas.microsoft.com/office/drawing/2014/main" id="{844DD99C-9336-47FE-8DC6-9CAD71D3739F}"/>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4A346B91-9304-4E99-9424-89675E04BE47}"/>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Van Eyck did not invent oil painting—he transformed light and matter.</a:t>
            </a:r>
          </a:p>
        </p:txBody>
      </p:sp>
      <p:sp>
        <p:nvSpPr>
          <p:cNvPr id="20" name="Rectangle 19">
            <a:extLst>
              <a:ext uri="{FF2B5EF4-FFF2-40B4-BE49-F238E27FC236}">
                <a16:creationId xmlns:a16="http://schemas.microsoft.com/office/drawing/2014/main" id="{21A7BB7E-389A-468A-8BFA-170A3C433967}"/>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675051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A8B023B-2BD7-4C89-BDC2-C1386ED61F2B}"/>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C25FAA0D-0EFB-4684-9B9D-3729F8CF7874}"/>
              </a:ext>
            </a:extLst>
          </p:cNvPr>
          <p:cNvSpPr>
            <a:spLocks noGrp="1"/>
          </p:cNvSpPr>
          <p:nvPr/>
        </p:nvSpPr>
        <p:spPr>
          <a:xfrm>
            <a:off x="609600" y="590550"/>
            <a:ext cx="9906000" cy="666750"/>
          </a:xfrm>
          <a:prstGeom prst="rect">
            <a:avLst/>
          </a:prstGeom>
          <a:noFill/>
          <a:ln w="0">
            <a:noFill/>
            <a:prstDash val="solid"/>
          </a:ln>
        </p:spPr>
        <p:txBody>
          <a:bodyPr anchor="t"/>
          <a:lstStyle/>
          <a:p>
            <a:pPr>
              <a:defRPr sz="2625" b="1" i="0">
                <a:solidFill>
                  <a:srgbClr val="FFFDF7"/>
                </a:solidFill>
              </a:defRPr>
            </a:pPr>
            <a:r>
              <a:rPr sz="2625" b="1" i="0">
                <a:solidFill>
                  <a:srgbClr val="FFFDF7"/>
                </a:solidFill>
              </a:rPr>
              <a:t>The Most Realistic Room May Never Have Existed</a:t>
            </a:r>
          </a:p>
        </p:txBody>
      </p:sp>
      <p:sp>
        <p:nvSpPr>
          <p:cNvPr id="4" name="Rectangle 3">
            <a:extLst>
              <a:ext uri="{FF2B5EF4-FFF2-40B4-BE49-F238E27FC236}">
                <a16:creationId xmlns:a16="http://schemas.microsoft.com/office/drawing/2014/main" id="{F40A6752-5C3D-42C9-8924-32C73BA9ED0C}"/>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62B40BE6-3A40-484D-A7E3-24256C53B2AA}"/>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06</a:t>
            </a:r>
          </a:p>
        </p:txBody>
      </p:sp>
      <p:pic>
        <p:nvPicPr>
          <p:cNvPr id="24" name="Picture 23"/>
          <p:cNvPicPr>
            <a:picLocks noChangeAspect="1"/>
          </p:cNvPicPr>
          <p:nvPr/>
        </p:nvPicPr>
        <p:blipFill>
          <a:blip r:embed="rId4"/>
          <a:stretch/>
        </p:blipFill>
        <p:spPr>
          <a:xfrm>
            <a:off x="1504349" y="1581150"/>
            <a:ext cx="3258751" cy="4457700"/>
          </a:xfrm>
          <a:prstGeom prst="roundRect">
            <a:avLst>
              <a:gd name="adj" fmla="val 2564"/>
            </a:avLst>
          </a:prstGeom>
        </p:spPr>
      </p:pic>
      <p:sp>
        <p:nvSpPr>
          <p:cNvPr id="7" name="Rectangle: Rounded Corners 6">
            <a:extLst>
              <a:ext uri="{FF2B5EF4-FFF2-40B4-BE49-F238E27FC236}">
                <a16:creationId xmlns:a16="http://schemas.microsoft.com/office/drawing/2014/main" id="{C0EBE4D8-3B27-4D5F-8F6F-0CF39BB73089}"/>
              </a:ext>
            </a:extLst>
          </p:cNvPr>
          <p:cNvSpPr>
            <a:spLocks noGrp="1"/>
          </p:cNvSpPr>
          <p:nvPr/>
        </p:nvSpPr>
        <p:spPr>
          <a:xfrm>
            <a:off x="5981700" y="1657350"/>
            <a:ext cx="5200650" cy="1181100"/>
          </a:xfrm>
          <a:prstGeom prst="roundRect">
            <a:avLst>
              <a:gd name="adj" fmla="val 9677"/>
            </a:avLst>
          </a:prstGeom>
          <a:solidFill>
            <a:srgbClr val="10150F"/>
          </a:solidFill>
          <a:ln w="9525">
            <a:solidFill>
              <a:srgbClr val="6E674E"/>
            </a:solidFill>
            <a:prstDash val="solid"/>
          </a:ln>
        </p:spPr>
        <p:txBody>
          <a:bodyPr/>
          <a:lstStyle/>
          <a:p>
            <a:endParaRPr lang="en-US"/>
          </a:p>
        </p:txBody>
      </p:sp>
      <p:sp>
        <p:nvSpPr>
          <p:cNvPr id="8" name="Rectangle: Rounded Corners 7">
            <a:extLst>
              <a:ext uri="{FF2B5EF4-FFF2-40B4-BE49-F238E27FC236}">
                <a16:creationId xmlns:a16="http://schemas.microsoft.com/office/drawing/2014/main" id="{9AE1DB39-B240-40F4-9C4F-D54E0921919C}"/>
              </a:ext>
            </a:extLst>
          </p:cNvPr>
          <p:cNvSpPr>
            <a:spLocks noGrp="1"/>
          </p:cNvSpPr>
          <p:nvPr/>
        </p:nvSpPr>
        <p:spPr>
          <a:xfrm>
            <a:off x="5981700" y="1657350"/>
            <a:ext cx="57150" cy="1181100"/>
          </a:xfrm>
          <a:prstGeom prst="roundRect">
            <a:avLst>
              <a:gd name="adj" fmla="val 50000"/>
            </a:avLst>
          </a:prstGeom>
          <a:solidFill>
            <a:srgbClr val="D7A84B"/>
          </a:solidFill>
          <a:ln w="0">
            <a:noFill/>
            <a:prstDash val="solid"/>
          </a:ln>
        </p:spPr>
        <p:txBody>
          <a:bodyPr/>
          <a:lstStyle/>
          <a:p>
            <a:endParaRPr lang="en-US"/>
          </a:p>
        </p:txBody>
      </p:sp>
      <p:sp>
        <p:nvSpPr>
          <p:cNvPr id="9" name="Rectangle 8">
            <a:extLst>
              <a:ext uri="{FF2B5EF4-FFF2-40B4-BE49-F238E27FC236}">
                <a16:creationId xmlns:a16="http://schemas.microsoft.com/office/drawing/2014/main" id="{3DCB03D5-3643-4C18-896D-3726E1C8819B}"/>
              </a:ext>
            </a:extLst>
          </p:cNvPr>
          <p:cNvSpPr>
            <a:spLocks noGrp="1"/>
          </p:cNvSpPr>
          <p:nvPr/>
        </p:nvSpPr>
        <p:spPr>
          <a:xfrm>
            <a:off x="6210300" y="1828800"/>
            <a:ext cx="47815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CONVINCING DETAILS</a:t>
            </a:r>
          </a:p>
        </p:txBody>
      </p:sp>
      <p:sp>
        <p:nvSpPr>
          <p:cNvPr id="10" name="Rectangle 9">
            <a:extLst>
              <a:ext uri="{FF2B5EF4-FFF2-40B4-BE49-F238E27FC236}">
                <a16:creationId xmlns:a16="http://schemas.microsoft.com/office/drawing/2014/main" id="{B7DE3927-2BA0-44BA-8C4F-C24D0B5FAC50}"/>
              </a:ext>
            </a:extLst>
          </p:cNvPr>
          <p:cNvSpPr>
            <a:spLocks noGrp="1"/>
          </p:cNvSpPr>
          <p:nvPr/>
        </p:nvSpPr>
        <p:spPr>
          <a:xfrm>
            <a:off x="6210300" y="2228850"/>
            <a:ext cx="4781550" cy="4953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Light, wood, glass, fur, and cloth</a:t>
            </a:r>
          </a:p>
        </p:txBody>
      </p:sp>
      <p:sp>
        <p:nvSpPr>
          <p:cNvPr id="11" name="Rectangle: Rounded Corners 10">
            <a:extLst>
              <a:ext uri="{FF2B5EF4-FFF2-40B4-BE49-F238E27FC236}">
                <a16:creationId xmlns:a16="http://schemas.microsoft.com/office/drawing/2014/main" id="{A539C954-75E9-4516-A9F5-52139F330512}"/>
              </a:ext>
            </a:extLst>
          </p:cNvPr>
          <p:cNvSpPr>
            <a:spLocks noGrp="1"/>
          </p:cNvSpPr>
          <p:nvPr/>
        </p:nvSpPr>
        <p:spPr>
          <a:xfrm>
            <a:off x="5981700" y="3009900"/>
            <a:ext cx="5200650" cy="2400300"/>
          </a:xfrm>
          <a:prstGeom prst="roundRect">
            <a:avLst>
              <a:gd name="adj" fmla="val 4762"/>
            </a:avLst>
          </a:prstGeom>
          <a:solidFill>
            <a:srgbClr val="10150F"/>
          </a:solidFill>
          <a:ln w="9525">
            <a:solidFill>
              <a:srgbClr val="6E674E"/>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AE3FA129-FA44-42BF-9B28-A051D6958FF3}"/>
              </a:ext>
            </a:extLst>
          </p:cNvPr>
          <p:cNvSpPr>
            <a:spLocks noGrp="1"/>
          </p:cNvSpPr>
          <p:nvPr/>
        </p:nvSpPr>
        <p:spPr>
          <a:xfrm>
            <a:off x="5981700" y="3009900"/>
            <a:ext cx="57150" cy="2400300"/>
          </a:xfrm>
          <a:prstGeom prst="roundRect">
            <a:avLst>
              <a:gd name="adj" fmla="val 50000"/>
            </a:avLst>
          </a:prstGeom>
          <a:solidFill>
            <a:srgbClr val="6A243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CDF222BF-AC5B-4DAA-9592-80F62EDC2125}"/>
              </a:ext>
            </a:extLst>
          </p:cNvPr>
          <p:cNvSpPr>
            <a:spLocks noGrp="1"/>
          </p:cNvSpPr>
          <p:nvPr/>
        </p:nvSpPr>
        <p:spPr>
          <a:xfrm>
            <a:off x="6210300" y="3181350"/>
            <a:ext cx="47815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AN INCONSISTENT WHOLE</a:t>
            </a:r>
          </a:p>
        </p:txBody>
      </p:sp>
      <p:sp>
        <p:nvSpPr>
          <p:cNvPr id="14" name="Rectangle 13">
            <a:extLst>
              <a:ext uri="{FF2B5EF4-FFF2-40B4-BE49-F238E27FC236}">
                <a16:creationId xmlns:a16="http://schemas.microsoft.com/office/drawing/2014/main" id="{28B2E14A-D61E-46B5-A786-004E57EDA7E0}"/>
              </a:ext>
            </a:extLst>
          </p:cNvPr>
          <p:cNvSpPr>
            <a:spLocks noGrp="1"/>
          </p:cNvSpPr>
          <p:nvPr/>
        </p:nvSpPr>
        <p:spPr>
          <a:xfrm>
            <a:off x="6210300" y="3581400"/>
            <a:ext cx="4781550" cy="17145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Space for the chandelier?</a:t>
            </a:r>
          </a:p>
          <a:p>
            <a:pPr>
              <a:defRPr sz="1200" b="0" i="0">
                <a:solidFill>
                  <a:srgbClr val="C8BDA9"/>
                </a:solidFill>
              </a:defRPr>
            </a:pPr>
            <a:r>
              <a:rPr sz="1200" b="0" i="0">
                <a:solidFill>
                  <a:srgbClr val="C8BDA9"/>
                </a:solidFill>
              </a:rPr>
              <a:t>A short bed and oversized mirror?</a:t>
            </a:r>
          </a:p>
          <a:p>
            <a:pPr>
              <a:defRPr sz="1200" b="0" i="0">
                <a:solidFill>
                  <a:srgbClr val="C8BDA9"/>
                </a:solidFill>
              </a:defRPr>
            </a:pPr>
            <a:r>
              <a:rPr sz="1200" b="0" i="0">
                <a:solidFill>
                  <a:srgbClr val="C8BDA9"/>
                </a:solidFill>
              </a:rPr>
              <a:t>Summer cherries × heavy fur</a:t>
            </a:r>
          </a:p>
        </p:txBody>
      </p:sp>
      <p:sp>
        <p:nvSpPr>
          <p:cNvPr id="15" name="Rectangle 14">
            <a:extLst>
              <a:ext uri="{FF2B5EF4-FFF2-40B4-BE49-F238E27FC236}">
                <a16:creationId xmlns:a16="http://schemas.microsoft.com/office/drawing/2014/main" id="{025239C0-8EFE-42AB-B24C-69CD61CEA045}"/>
              </a:ext>
            </a:extLst>
          </p:cNvPr>
          <p:cNvSpPr>
            <a:spLocks noGrp="1"/>
          </p:cNvSpPr>
          <p:nvPr/>
        </p:nvSpPr>
        <p:spPr>
          <a:xfrm>
            <a:off x="6191250" y="5562600"/>
            <a:ext cx="4762500" cy="342900"/>
          </a:xfrm>
          <a:prstGeom prst="rect">
            <a:avLst/>
          </a:prstGeom>
          <a:noFill/>
          <a:ln w="0">
            <a:noFill/>
            <a:prstDash val="solid"/>
          </a:ln>
        </p:spPr>
        <p:txBody>
          <a:bodyPr anchor="t"/>
          <a:lstStyle/>
          <a:p>
            <a:pPr>
              <a:defRPr sz="1500" b="1" i="0">
                <a:solidFill>
                  <a:srgbClr val="D7A84B"/>
                </a:solidFill>
              </a:defRPr>
            </a:pPr>
            <a:r>
              <a:rPr sz="1500" b="1" i="0">
                <a:solidFill>
                  <a:srgbClr val="D7A84B"/>
                </a:solidFill>
              </a:rPr>
              <a:t>Realism is not photography. It is construction.</a:t>
            </a:r>
          </a:p>
        </p:txBody>
      </p:sp>
      <p:sp>
        <p:nvSpPr>
          <p:cNvPr id="16" name="Rectangle 15">
            <a:extLst>
              <a:ext uri="{FF2B5EF4-FFF2-40B4-BE49-F238E27FC236}">
                <a16:creationId xmlns:a16="http://schemas.microsoft.com/office/drawing/2014/main" id="{36CEC4C2-CA4A-4C73-9B9D-D4C795AE9CE5}"/>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8039859A-0ED0-4C52-8B95-619E0BE1379B}"/>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The convincing room is also a carefully constructed impossibility.</a:t>
            </a:r>
          </a:p>
        </p:txBody>
      </p:sp>
      <p:sp>
        <p:nvSpPr>
          <p:cNvPr id="18" name="Rectangle 17">
            <a:extLst>
              <a:ext uri="{FF2B5EF4-FFF2-40B4-BE49-F238E27FC236}">
                <a16:creationId xmlns:a16="http://schemas.microsoft.com/office/drawing/2014/main" id="{131CF59A-8FC6-44F1-A0B7-859A3C002999}"/>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60189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02AA82B-C1EB-4617-8047-8CD7A72D22E2}"/>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881E1083-D765-4DDC-A9EC-D9F26D5168F1}"/>
              </a:ext>
            </a:extLst>
          </p:cNvPr>
          <p:cNvSpPr>
            <a:spLocks noGrp="1"/>
          </p:cNvSpPr>
          <p:nvPr/>
        </p:nvSpPr>
        <p:spPr>
          <a:xfrm>
            <a:off x="609600" y="590550"/>
            <a:ext cx="9906000" cy="666750"/>
          </a:xfrm>
          <a:prstGeom prst="rect">
            <a:avLst/>
          </a:prstGeom>
          <a:noFill/>
          <a:ln w="0">
            <a:noFill/>
            <a:prstDash val="solid"/>
          </a:ln>
        </p:spPr>
        <p:txBody>
          <a:bodyPr anchor="t"/>
          <a:lstStyle/>
          <a:p>
            <a:pPr>
              <a:defRPr sz="2625" b="1" i="0">
                <a:solidFill>
                  <a:srgbClr val="FFFDF7"/>
                </a:solidFill>
              </a:defRPr>
            </a:pPr>
            <a:r>
              <a:rPr sz="2625" b="1" i="0">
                <a:solidFill>
                  <a:srgbClr val="FFFDF7"/>
                </a:solidFill>
              </a:rPr>
              <a:t>The Joined Hands and Panofsky's Wedding Theory</a:t>
            </a:r>
          </a:p>
        </p:txBody>
      </p:sp>
      <p:sp>
        <p:nvSpPr>
          <p:cNvPr id="4" name="Rectangle 3">
            <a:extLst>
              <a:ext uri="{FF2B5EF4-FFF2-40B4-BE49-F238E27FC236}">
                <a16:creationId xmlns:a16="http://schemas.microsoft.com/office/drawing/2014/main" id="{19F7067F-2160-4DEC-8D61-2BADC54753F5}"/>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C9D25966-FFC3-4CD7-AD7D-E9B75BDB0EF8}"/>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07</a:t>
            </a:r>
          </a:p>
        </p:txBody>
      </p:sp>
      <p:pic>
        <p:nvPicPr>
          <p:cNvPr id="27" name="Picture 26"/>
          <p:cNvPicPr>
            <a:picLocks noChangeAspect="1"/>
          </p:cNvPicPr>
          <p:nvPr/>
        </p:nvPicPr>
        <p:blipFill>
          <a:blip r:embed="rId4"/>
          <a:srcRect t="8000" b="8000"/>
          <a:stretch>
            <a:fillRect/>
          </a:stretch>
        </p:blipFill>
        <p:spPr>
          <a:xfrm>
            <a:off x="666750" y="1676400"/>
            <a:ext cx="4762500" cy="3619500"/>
          </a:xfrm>
          <a:prstGeom prst="roundRect">
            <a:avLst>
              <a:gd name="adj" fmla="val 3158"/>
            </a:avLst>
          </a:prstGeom>
        </p:spPr>
      </p:pic>
      <p:sp>
        <p:nvSpPr>
          <p:cNvPr id="7" name="Rectangle: Rounded Corners 6">
            <a:extLst>
              <a:ext uri="{FF2B5EF4-FFF2-40B4-BE49-F238E27FC236}">
                <a16:creationId xmlns:a16="http://schemas.microsoft.com/office/drawing/2014/main" id="{4E1765A6-612F-4BCE-BFAD-ACED015BE873}"/>
              </a:ext>
            </a:extLst>
          </p:cNvPr>
          <p:cNvSpPr>
            <a:spLocks noGrp="1"/>
          </p:cNvSpPr>
          <p:nvPr/>
        </p:nvSpPr>
        <p:spPr>
          <a:xfrm>
            <a:off x="5886450" y="2038350"/>
            <a:ext cx="1524000" cy="914400"/>
          </a:xfrm>
          <a:prstGeom prst="roundRect">
            <a:avLst>
              <a:gd name="adj" fmla="val 12500"/>
            </a:avLst>
          </a:prstGeom>
          <a:solidFill>
            <a:srgbClr val="163D31"/>
          </a:solidFill>
          <a:ln w="9525">
            <a:solidFill>
              <a:srgbClr val="D7A84B"/>
            </a:solidFill>
            <a:prstDash val="solid"/>
          </a:ln>
        </p:spPr>
        <p:txBody>
          <a:bodyPr/>
          <a:lstStyle/>
          <a:p>
            <a:endParaRPr lang="en-US"/>
          </a:p>
        </p:txBody>
      </p:sp>
      <p:sp>
        <p:nvSpPr>
          <p:cNvPr id="8" name="Rectangle 7">
            <a:extLst>
              <a:ext uri="{FF2B5EF4-FFF2-40B4-BE49-F238E27FC236}">
                <a16:creationId xmlns:a16="http://schemas.microsoft.com/office/drawing/2014/main" id="{2E15DECD-EB3D-40AA-872C-23C3174C5383}"/>
              </a:ext>
            </a:extLst>
          </p:cNvPr>
          <p:cNvSpPr>
            <a:spLocks noGrp="1"/>
          </p:cNvSpPr>
          <p:nvPr/>
        </p:nvSpPr>
        <p:spPr>
          <a:xfrm>
            <a:off x="6000750" y="2276475"/>
            <a:ext cx="1295400" cy="495300"/>
          </a:xfrm>
          <a:prstGeom prst="rect">
            <a:avLst/>
          </a:prstGeom>
          <a:noFill/>
          <a:ln w="0">
            <a:noFill/>
            <a:prstDash val="solid"/>
          </a:ln>
        </p:spPr>
        <p:txBody>
          <a:bodyPr anchor="ctr"/>
          <a:lstStyle/>
          <a:p>
            <a:pPr>
              <a:defRPr sz="1200" b="1" i="0">
                <a:solidFill>
                  <a:srgbClr val="FFFDF7"/>
                </a:solidFill>
              </a:defRPr>
            </a:pPr>
            <a:r>
              <a:rPr sz="1200" b="1" i="0">
                <a:solidFill>
                  <a:srgbClr val="FFFDF7"/>
                </a:solidFill>
              </a:rPr>
              <a:t>Gesture and oath</a:t>
            </a:r>
          </a:p>
        </p:txBody>
      </p:sp>
      <p:sp>
        <p:nvSpPr>
          <p:cNvPr id="9" name="Rectangle 8">
            <a:extLst>
              <a:ext uri="{FF2B5EF4-FFF2-40B4-BE49-F238E27FC236}">
                <a16:creationId xmlns:a16="http://schemas.microsoft.com/office/drawing/2014/main" id="{B4D9CDF6-1CBA-445F-A070-2924A0858B16}"/>
              </a:ext>
            </a:extLst>
          </p:cNvPr>
          <p:cNvSpPr>
            <a:spLocks noGrp="1"/>
          </p:cNvSpPr>
          <p:nvPr/>
        </p:nvSpPr>
        <p:spPr>
          <a:xfrm>
            <a:off x="7410450" y="2305050"/>
            <a:ext cx="266700" cy="285750"/>
          </a:xfrm>
          <a:prstGeom prst="rect">
            <a:avLst/>
          </a:prstGeom>
          <a:noFill/>
          <a:ln w="0">
            <a:noFill/>
            <a:prstDash val="solid"/>
          </a:ln>
        </p:spPr>
        <p:txBody>
          <a:bodyPr anchor="t"/>
          <a:lstStyle/>
          <a:p>
            <a:pPr>
              <a:defRPr sz="1800" b="1" i="0">
                <a:solidFill>
                  <a:srgbClr val="D7A84B"/>
                </a:solidFill>
              </a:defRPr>
            </a:pPr>
            <a:r>
              <a:rPr sz="1800" b="1" i="0">
                <a:solidFill>
                  <a:srgbClr val="D7A84B"/>
                </a:solidFill>
              </a:rPr>
              <a:t>→</a:t>
            </a:r>
          </a:p>
        </p:txBody>
      </p:sp>
      <p:sp>
        <p:nvSpPr>
          <p:cNvPr id="10" name="Rectangle: Rounded Corners 9">
            <a:extLst>
              <a:ext uri="{FF2B5EF4-FFF2-40B4-BE49-F238E27FC236}">
                <a16:creationId xmlns:a16="http://schemas.microsoft.com/office/drawing/2014/main" id="{E6569A3A-FDD1-4C2B-B9E9-2A9C4459D682}"/>
              </a:ext>
            </a:extLst>
          </p:cNvPr>
          <p:cNvSpPr>
            <a:spLocks noGrp="1"/>
          </p:cNvSpPr>
          <p:nvPr/>
        </p:nvSpPr>
        <p:spPr>
          <a:xfrm>
            <a:off x="7677150" y="2038350"/>
            <a:ext cx="1524000" cy="914400"/>
          </a:xfrm>
          <a:prstGeom prst="roundRect">
            <a:avLst>
              <a:gd name="adj" fmla="val 12500"/>
            </a:avLst>
          </a:prstGeom>
          <a:solidFill>
            <a:srgbClr val="6A2433"/>
          </a:solidFill>
          <a:ln w="9525">
            <a:solidFill>
              <a:srgbClr val="D7A84B"/>
            </a:solidFill>
            <a:prstDash val="solid"/>
          </a:ln>
        </p:spPr>
        <p:txBody>
          <a:bodyPr/>
          <a:lstStyle/>
          <a:p>
            <a:endParaRPr lang="en-US"/>
          </a:p>
        </p:txBody>
      </p:sp>
      <p:sp>
        <p:nvSpPr>
          <p:cNvPr id="11" name="Rectangle 10">
            <a:extLst>
              <a:ext uri="{FF2B5EF4-FFF2-40B4-BE49-F238E27FC236}">
                <a16:creationId xmlns:a16="http://schemas.microsoft.com/office/drawing/2014/main" id="{A79CA743-3DA5-4F83-92E5-5DFBC5FE4084}"/>
              </a:ext>
            </a:extLst>
          </p:cNvPr>
          <p:cNvSpPr>
            <a:spLocks noGrp="1"/>
          </p:cNvSpPr>
          <p:nvPr/>
        </p:nvSpPr>
        <p:spPr>
          <a:xfrm>
            <a:off x="7791450" y="2276475"/>
            <a:ext cx="1295400" cy="495300"/>
          </a:xfrm>
          <a:prstGeom prst="rect">
            <a:avLst/>
          </a:prstGeom>
          <a:noFill/>
          <a:ln w="0">
            <a:noFill/>
            <a:prstDash val="solid"/>
          </a:ln>
        </p:spPr>
        <p:txBody>
          <a:bodyPr anchor="ctr"/>
          <a:lstStyle/>
          <a:p>
            <a:pPr>
              <a:defRPr sz="1200" b="1" i="0">
                <a:solidFill>
                  <a:srgbClr val="FFFDF7"/>
                </a:solidFill>
              </a:defRPr>
            </a:pPr>
            <a:r>
              <a:rPr sz="1200" b="1" i="0">
                <a:solidFill>
                  <a:srgbClr val="FFFDF7"/>
                </a:solidFill>
              </a:rPr>
              <a:t>Reflected witnesses</a:t>
            </a:r>
          </a:p>
        </p:txBody>
      </p:sp>
      <p:sp>
        <p:nvSpPr>
          <p:cNvPr id="12" name="Rectangle 11">
            <a:extLst>
              <a:ext uri="{FF2B5EF4-FFF2-40B4-BE49-F238E27FC236}">
                <a16:creationId xmlns:a16="http://schemas.microsoft.com/office/drawing/2014/main" id="{383F4BEB-0507-41DD-8988-9B2DA3548506}"/>
              </a:ext>
            </a:extLst>
          </p:cNvPr>
          <p:cNvSpPr>
            <a:spLocks noGrp="1"/>
          </p:cNvSpPr>
          <p:nvPr/>
        </p:nvSpPr>
        <p:spPr>
          <a:xfrm>
            <a:off x="9201150" y="2305050"/>
            <a:ext cx="266700" cy="285750"/>
          </a:xfrm>
          <a:prstGeom prst="rect">
            <a:avLst/>
          </a:prstGeom>
          <a:noFill/>
          <a:ln w="0">
            <a:noFill/>
            <a:prstDash val="solid"/>
          </a:ln>
        </p:spPr>
        <p:txBody>
          <a:bodyPr anchor="t"/>
          <a:lstStyle/>
          <a:p>
            <a:pPr>
              <a:defRPr sz="1800" b="1" i="0">
                <a:solidFill>
                  <a:srgbClr val="D7A84B"/>
                </a:solidFill>
              </a:defRPr>
            </a:pPr>
            <a:r>
              <a:rPr sz="1800" b="1" i="0">
                <a:solidFill>
                  <a:srgbClr val="D7A84B"/>
                </a:solidFill>
              </a:rPr>
              <a:t>→</a:t>
            </a:r>
          </a:p>
        </p:txBody>
      </p:sp>
      <p:sp>
        <p:nvSpPr>
          <p:cNvPr id="13" name="Rectangle: Rounded Corners 12">
            <a:extLst>
              <a:ext uri="{FF2B5EF4-FFF2-40B4-BE49-F238E27FC236}">
                <a16:creationId xmlns:a16="http://schemas.microsoft.com/office/drawing/2014/main" id="{91217C6F-361B-4A5F-9CD7-11F06343E4F7}"/>
              </a:ext>
            </a:extLst>
          </p:cNvPr>
          <p:cNvSpPr>
            <a:spLocks noGrp="1"/>
          </p:cNvSpPr>
          <p:nvPr/>
        </p:nvSpPr>
        <p:spPr>
          <a:xfrm>
            <a:off x="9467850" y="2038350"/>
            <a:ext cx="1524000" cy="914400"/>
          </a:xfrm>
          <a:prstGeom prst="roundRect">
            <a:avLst>
              <a:gd name="adj" fmla="val 12500"/>
            </a:avLst>
          </a:prstGeom>
          <a:solidFill>
            <a:srgbClr val="163D31"/>
          </a:solidFill>
          <a:ln w="9525">
            <a:solidFill>
              <a:srgbClr val="D7A84B"/>
            </a:solidFill>
            <a:prstDash val="solid"/>
          </a:ln>
        </p:spPr>
        <p:txBody>
          <a:bodyPr/>
          <a:lstStyle/>
          <a:p>
            <a:endParaRPr lang="en-US"/>
          </a:p>
        </p:txBody>
      </p:sp>
      <p:sp>
        <p:nvSpPr>
          <p:cNvPr id="14" name="Rectangle 13">
            <a:extLst>
              <a:ext uri="{FF2B5EF4-FFF2-40B4-BE49-F238E27FC236}">
                <a16:creationId xmlns:a16="http://schemas.microsoft.com/office/drawing/2014/main" id="{BCE69F03-2B13-49DA-96BE-004243156526}"/>
              </a:ext>
            </a:extLst>
          </p:cNvPr>
          <p:cNvSpPr>
            <a:spLocks noGrp="1"/>
          </p:cNvSpPr>
          <p:nvPr/>
        </p:nvSpPr>
        <p:spPr>
          <a:xfrm>
            <a:off x="9582150" y="2276475"/>
            <a:ext cx="1295400" cy="495300"/>
          </a:xfrm>
          <a:prstGeom prst="rect">
            <a:avLst/>
          </a:prstGeom>
          <a:noFill/>
          <a:ln w="0">
            <a:noFill/>
            <a:prstDash val="solid"/>
          </a:ln>
        </p:spPr>
        <p:txBody>
          <a:bodyPr anchor="ctr"/>
          <a:lstStyle/>
          <a:p>
            <a:pPr>
              <a:defRPr sz="1200" b="1" i="0">
                <a:solidFill>
                  <a:srgbClr val="FFFDF7"/>
                </a:solidFill>
              </a:defRPr>
            </a:pPr>
            <a:r>
              <a:rPr sz="1200" b="1" i="0">
                <a:solidFill>
                  <a:srgbClr val="FFFDF7"/>
                </a:solidFill>
              </a:rPr>
              <a:t>fuit hic and presence</a:t>
            </a:r>
          </a:p>
        </p:txBody>
      </p:sp>
      <p:sp>
        <p:nvSpPr>
          <p:cNvPr id="15" name="Rectangle: Rounded Corners 14">
            <a:extLst>
              <a:ext uri="{FF2B5EF4-FFF2-40B4-BE49-F238E27FC236}">
                <a16:creationId xmlns:a16="http://schemas.microsoft.com/office/drawing/2014/main" id="{7C2F9379-A165-48AD-A7BE-8A857B77E0FE}"/>
              </a:ext>
            </a:extLst>
          </p:cNvPr>
          <p:cNvSpPr>
            <a:spLocks noGrp="1"/>
          </p:cNvSpPr>
          <p:nvPr/>
        </p:nvSpPr>
        <p:spPr>
          <a:xfrm>
            <a:off x="5886450" y="3314700"/>
            <a:ext cx="5105400" cy="1562100"/>
          </a:xfrm>
          <a:prstGeom prst="roundRect">
            <a:avLst>
              <a:gd name="adj" fmla="val 7317"/>
            </a:avLst>
          </a:prstGeom>
          <a:solidFill>
            <a:srgbClr val="10150F"/>
          </a:solidFill>
          <a:ln w="9525">
            <a:solidFill>
              <a:srgbClr val="6E674E"/>
            </a:solidFill>
            <a:prstDash val="solid"/>
          </a:ln>
        </p:spPr>
        <p:txBody>
          <a:bodyPr/>
          <a:lstStyle/>
          <a:p>
            <a:endParaRPr lang="en-US"/>
          </a:p>
        </p:txBody>
      </p:sp>
      <p:sp>
        <p:nvSpPr>
          <p:cNvPr id="16" name="Rectangle: Rounded Corners 15">
            <a:extLst>
              <a:ext uri="{FF2B5EF4-FFF2-40B4-BE49-F238E27FC236}">
                <a16:creationId xmlns:a16="http://schemas.microsoft.com/office/drawing/2014/main" id="{ED870608-3A74-46F9-991B-B215C594049F}"/>
              </a:ext>
            </a:extLst>
          </p:cNvPr>
          <p:cNvSpPr>
            <a:spLocks noGrp="1"/>
          </p:cNvSpPr>
          <p:nvPr/>
        </p:nvSpPr>
        <p:spPr>
          <a:xfrm>
            <a:off x="5886450" y="3314700"/>
            <a:ext cx="57150" cy="1562100"/>
          </a:xfrm>
          <a:prstGeom prst="roundRect">
            <a:avLst>
              <a:gd name="adj" fmla="val 50000"/>
            </a:avLst>
          </a:prstGeom>
          <a:solidFill>
            <a:srgbClr val="D7A84B"/>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D387A548-B523-48D0-A28C-B69B5C58192E}"/>
              </a:ext>
            </a:extLst>
          </p:cNvPr>
          <p:cNvSpPr>
            <a:spLocks noGrp="1"/>
          </p:cNvSpPr>
          <p:nvPr/>
        </p:nvSpPr>
        <p:spPr>
          <a:xfrm>
            <a:off x="6115050" y="3486150"/>
            <a:ext cx="46863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1934: PANOFSKY</a:t>
            </a:r>
          </a:p>
        </p:txBody>
      </p:sp>
      <p:sp>
        <p:nvSpPr>
          <p:cNvPr id="18" name="Rectangle 17">
            <a:extLst>
              <a:ext uri="{FF2B5EF4-FFF2-40B4-BE49-F238E27FC236}">
                <a16:creationId xmlns:a16="http://schemas.microsoft.com/office/drawing/2014/main" id="{8FC99674-F191-4A6C-95BB-36A1AB06C6E3}"/>
              </a:ext>
            </a:extLst>
          </p:cNvPr>
          <p:cNvSpPr>
            <a:spLocks noGrp="1"/>
          </p:cNvSpPr>
          <p:nvPr/>
        </p:nvSpPr>
        <p:spPr>
          <a:xfrm>
            <a:off x="6115050" y="3886200"/>
            <a:ext cx="4686300" cy="8763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An influential wedding-symbol system</a:t>
            </a:r>
          </a:p>
          <a:p>
            <a:pPr>
              <a:defRPr sz="1200" b="0" i="0">
                <a:solidFill>
                  <a:srgbClr val="C8BDA9"/>
                </a:solidFill>
              </a:defRPr>
            </a:pPr>
            <a:r>
              <a:rPr sz="1200" b="0" i="0">
                <a:solidFill>
                  <a:srgbClr val="C8BDA9"/>
                </a:solidFill>
              </a:rPr>
              <a:t>Today: possible, but not proved</a:t>
            </a:r>
          </a:p>
        </p:txBody>
      </p:sp>
      <p:sp>
        <p:nvSpPr>
          <p:cNvPr id="19" name="Rectangle 18">
            <a:extLst>
              <a:ext uri="{FF2B5EF4-FFF2-40B4-BE49-F238E27FC236}">
                <a16:creationId xmlns:a16="http://schemas.microsoft.com/office/drawing/2014/main" id="{57D7EEF8-7BA2-45BA-9321-97E73537A7E8}"/>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0004DDD4-87CA-4796-83AD-F64E6DE353EA}"/>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Marriage probably matters; a formal wedding cannot be proved.</a:t>
            </a:r>
          </a:p>
        </p:txBody>
      </p:sp>
      <p:sp>
        <p:nvSpPr>
          <p:cNvPr id="21" name="Rectangle 20">
            <a:extLst>
              <a:ext uri="{FF2B5EF4-FFF2-40B4-BE49-F238E27FC236}">
                <a16:creationId xmlns:a16="http://schemas.microsoft.com/office/drawing/2014/main" id="{50244F21-9CAD-4009-BD76-E6262E5089C6}"/>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681367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E62F62C-1292-41FF-B184-2427F1A56E61}"/>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87C2B609-99B6-4DDA-BA2B-E58420F092BC}"/>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Is She Pregnant?</a:t>
            </a:r>
          </a:p>
        </p:txBody>
      </p:sp>
      <p:sp>
        <p:nvSpPr>
          <p:cNvPr id="4" name="Rectangle 3">
            <a:extLst>
              <a:ext uri="{FF2B5EF4-FFF2-40B4-BE49-F238E27FC236}">
                <a16:creationId xmlns:a16="http://schemas.microsoft.com/office/drawing/2014/main" id="{26F1C09E-013D-40B4-993C-44347D6A19D1}"/>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1DFE951F-225A-4C3F-AEBD-252F6BE4F305}"/>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08</a:t>
            </a:r>
          </a:p>
        </p:txBody>
      </p:sp>
      <p:pic>
        <p:nvPicPr>
          <p:cNvPr id="27" name="Picture 26"/>
          <p:cNvPicPr>
            <a:picLocks noChangeAspect="1"/>
          </p:cNvPicPr>
          <p:nvPr/>
        </p:nvPicPr>
        <p:blipFill>
          <a:blip r:embed="rId4"/>
          <a:srcRect t="30961" b="30961"/>
          <a:stretch>
            <a:fillRect/>
          </a:stretch>
        </p:blipFill>
        <p:spPr>
          <a:xfrm>
            <a:off x="762000" y="1581150"/>
            <a:ext cx="4762500" cy="4495800"/>
          </a:xfrm>
          <a:prstGeom prst="roundRect">
            <a:avLst>
              <a:gd name="adj" fmla="val 2542"/>
            </a:avLst>
          </a:prstGeom>
        </p:spPr>
      </p:pic>
      <p:sp>
        <p:nvSpPr>
          <p:cNvPr id="7" name="Rectangle: Rounded Corners 6">
            <a:extLst>
              <a:ext uri="{FF2B5EF4-FFF2-40B4-BE49-F238E27FC236}">
                <a16:creationId xmlns:a16="http://schemas.microsoft.com/office/drawing/2014/main" id="{3A6D02E9-9010-4A89-91CC-70CC200101E2}"/>
              </a:ext>
            </a:extLst>
          </p:cNvPr>
          <p:cNvSpPr>
            <a:spLocks noGrp="1"/>
          </p:cNvSpPr>
          <p:nvPr/>
        </p:nvSpPr>
        <p:spPr>
          <a:xfrm>
            <a:off x="5962650" y="1657350"/>
            <a:ext cx="5067300" cy="1066800"/>
          </a:xfrm>
          <a:prstGeom prst="roundRect">
            <a:avLst>
              <a:gd name="adj" fmla="val 10714"/>
            </a:avLst>
          </a:prstGeom>
          <a:solidFill>
            <a:srgbClr val="10150F"/>
          </a:solidFill>
          <a:ln w="9525">
            <a:solidFill>
              <a:srgbClr val="6E674E"/>
            </a:solidFill>
            <a:prstDash val="solid"/>
          </a:ln>
        </p:spPr>
        <p:txBody>
          <a:bodyPr/>
          <a:lstStyle/>
          <a:p>
            <a:endParaRPr lang="en-US"/>
          </a:p>
        </p:txBody>
      </p:sp>
      <p:sp>
        <p:nvSpPr>
          <p:cNvPr id="8" name="Rectangle: Rounded Corners 7">
            <a:extLst>
              <a:ext uri="{FF2B5EF4-FFF2-40B4-BE49-F238E27FC236}">
                <a16:creationId xmlns:a16="http://schemas.microsoft.com/office/drawing/2014/main" id="{E0554E96-4F1F-456A-9E32-A32D20CFC211}"/>
              </a:ext>
            </a:extLst>
          </p:cNvPr>
          <p:cNvSpPr>
            <a:spLocks noGrp="1"/>
          </p:cNvSpPr>
          <p:nvPr/>
        </p:nvSpPr>
        <p:spPr>
          <a:xfrm>
            <a:off x="5962650" y="1657350"/>
            <a:ext cx="57150" cy="1066800"/>
          </a:xfrm>
          <a:prstGeom prst="roundRect">
            <a:avLst>
              <a:gd name="adj" fmla="val 50000"/>
            </a:avLst>
          </a:prstGeom>
          <a:solidFill>
            <a:srgbClr val="D7A84B"/>
          </a:solidFill>
          <a:ln w="0">
            <a:noFill/>
            <a:prstDash val="solid"/>
          </a:ln>
        </p:spPr>
        <p:txBody>
          <a:bodyPr/>
          <a:lstStyle/>
          <a:p>
            <a:endParaRPr lang="en-US"/>
          </a:p>
        </p:txBody>
      </p:sp>
      <p:sp>
        <p:nvSpPr>
          <p:cNvPr id="9" name="Rectangle 8">
            <a:extLst>
              <a:ext uri="{FF2B5EF4-FFF2-40B4-BE49-F238E27FC236}">
                <a16:creationId xmlns:a16="http://schemas.microsoft.com/office/drawing/2014/main" id="{2637311D-5F9F-4337-9182-7D505882BEB9}"/>
              </a:ext>
            </a:extLst>
          </p:cNvPr>
          <p:cNvSpPr>
            <a:spLocks noGrp="1"/>
          </p:cNvSpPr>
          <p:nvPr/>
        </p:nvSpPr>
        <p:spPr>
          <a:xfrm>
            <a:off x="6191250" y="1828800"/>
            <a:ext cx="46482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DRESS STRUCTURE</a:t>
            </a:r>
          </a:p>
        </p:txBody>
      </p:sp>
      <p:sp>
        <p:nvSpPr>
          <p:cNvPr id="10" name="Rectangle 9">
            <a:extLst>
              <a:ext uri="{FF2B5EF4-FFF2-40B4-BE49-F238E27FC236}">
                <a16:creationId xmlns:a16="http://schemas.microsoft.com/office/drawing/2014/main" id="{07719281-5736-4240-9536-053413EB50EE}"/>
              </a:ext>
            </a:extLst>
          </p:cNvPr>
          <p:cNvSpPr>
            <a:spLocks noGrp="1"/>
          </p:cNvSpPr>
          <p:nvPr/>
        </p:nvSpPr>
        <p:spPr>
          <a:xfrm>
            <a:off x="6191250" y="2228850"/>
            <a:ext cx="4648200" cy="3810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Abundant fur-lined fabric</a:t>
            </a:r>
          </a:p>
        </p:txBody>
      </p:sp>
      <p:sp>
        <p:nvSpPr>
          <p:cNvPr id="11" name="Rectangle: Rounded Corners 10">
            <a:extLst>
              <a:ext uri="{FF2B5EF4-FFF2-40B4-BE49-F238E27FC236}">
                <a16:creationId xmlns:a16="http://schemas.microsoft.com/office/drawing/2014/main" id="{282B5852-B52B-4C48-B542-DF9E15A63A62}"/>
              </a:ext>
            </a:extLst>
          </p:cNvPr>
          <p:cNvSpPr>
            <a:spLocks noGrp="1"/>
          </p:cNvSpPr>
          <p:nvPr/>
        </p:nvSpPr>
        <p:spPr>
          <a:xfrm>
            <a:off x="5962650" y="2914650"/>
            <a:ext cx="5067300" cy="1066800"/>
          </a:xfrm>
          <a:prstGeom prst="roundRect">
            <a:avLst>
              <a:gd name="adj" fmla="val 10714"/>
            </a:avLst>
          </a:prstGeom>
          <a:solidFill>
            <a:srgbClr val="10150F"/>
          </a:solidFill>
          <a:ln w="9525">
            <a:solidFill>
              <a:srgbClr val="6E674E"/>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04711DD1-8348-4679-B43F-B1CBA1C81A8E}"/>
              </a:ext>
            </a:extLst>
          </p:cNvPr>
          <p:cNvSpPr>
            <a:spLocks noGrp="1"/>
          </p:cNvSpPr>
          <p:nvPr/>
        </p:nvSpPr>
        <p:spPr>
          <a:xfrm>
            <a:off x="5962650" y="2914650"/>
            <a:ext cx="57150" cy="1066800"/>
          </a:xfrm>
          <a:prstGeom prst="roundRect">
            <a:avLst>
              <a:gd name="adj" fmla="val 50000"/>
            </a:avLst>
          </a:prstGeom>
          <a:solidFill>
            <a:srgbClr val="D7A84B"/>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CA0C3902-407F-419F-82CB-DF3BFF04AFDC}"/>
              </a:ext>
            </a:extLst>
          </p:cNvPr>
          <p:cNvSpPr>
            <a:spLocks noGrp="1"/>
          </p:cNvSpPr>
          <p:nvPr/>
        </p:nvSpPr>
        <p:spPr>
          <a:xfrm>
            <a:off x="6191250" y="3086100"/>
            <a:ext cx="46482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GESTURE</a:t>
            </a:r>
          </a:p>
        </p:txBody>
      </p:sp>
      <p:sp>
        <p:nvSpPr>
          <p:cNvPr id="14" name="Rectangle 13">
            <a:extLst>
              <a:ext uri="{FF2B5EF4-FFF2-40B4-BE49-F238E27FC236}">
                <a16:creationId xmlns:a16="http://schemas.microsoft.com/office/drawing/2014/main" id="{CBC27472-7E62-4882-A2E5-D5234CD6B049}"/>
              </a:ext>
            </a:extLst>
          </p:cNvPr>
          <p:cNvSpPr>
            <a:spLocks noGrp="1"/>
          </p:cNvSpPr>
          <p:nvPr/>
        </p:nvSpPr>
        <p:spPr>
          <a:xfrm>
            <a:off x="6191250" y="3486150"/>
            <a:ext cx="4648200" cy="3810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The train is lifted before the abdomen</a:t>
            </a:r>
          </a:p>
        </p:txBody>
      </p:sp>
      <p:sp>
        <p:nvSpPr>
          <p:cNvPr id="15" name="Rectangle: Rounded Corners 14">
            <a:extLst>
              <a:ext uri="{FF2B5EF4-FFF2-40B4-BE49-F238E27FC236}">
                <a16:creationId xmlns:a16="http://schemas.microsoft.com/office/drawing/2014/main" id="{92799AFA-DD48-4D39-B2A2-3B553C301672}"/>
              </a:ext>
            </a:extLst>
          </p:cNvPr>
          <p:cNvSpPr>
            <a:spLocks noGrp="1"/>
          </p:cNvSpPr>
          <p:nvPr/>
        </p:nvSpPr>
        <p:spPr>
          <a:xfrm>
            <a:off x="5962650" y="4171950"/>
            <a:ext cx="5067300" cy="1257300"/>
          </a:xfrm>
          <a:prstGeom prst="roundRect">
            <a:avLst>
              <a:gd name="adj" fmla="val 9091"/>
            </a:avLst>
          </a:prstGeom>
          <a:solidFill>
            <a:srgbClr val="10150F"/>
          </a:solidFill>
          <a:ln w="9525">
            <a:solidFill>
              <a:srgbClr val="6E674E"/>
            </a:solidFill>
            <a:prstDash val="solid"/>
          </a:ln>
        </p:spPr>
        <p:txBody>
          <a:bodyPr/>
          <a:lstStyle/>
          <a:p>
            <a:endParaRPr lang="en-US"/>
          </a:p>
        </p:txBody>
      </p:sp>
      <p:sp>
        <p:nvSpPr>
          <p:cNvPr id="16" name="Rectangle: Rounded Corners 15">
            <a:extLst>
              <a:ext uri="{FF2B5EF4-FFF2-40B4-BE49-F238E27FC236}">
                <a16:creationId xmlns:a16="http://schemas.microsoft.com/office/drawing/2014/main" id="{578DE4F9-C8A5-4591-B094-63FB77D4775D}"/>
              </a:ext>
            </a:extLst>
          </p:cNvPr>
          <p:cNvSpPr>
            <a:spLocks noGrp="1"/>
          </p:cNvSpPr>
          <p:nvPr/>
        </p:nvSpPr>
        <p:spPr>
          <a:xfrm>
            <a:off x="5962650" y="4171950"/>
            <a:ext cx="57150" cy="1257300"/>
          </a:xfrm>
          <a:prstGeom prst="roundRect">
            <a:avLst>
              <a:gd name="adj" fmla="val 50000"/>
            </a:avLst>
          </a:prstGeom>
          <a:solidFill>
            <a:srgbClr val="6A2433"/>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D6622161-EF94-4193-82A1-B27495C3CFA5}"/>
              </a:ext>
            </a:extLst>
          </p:cNvPr>
          <p:cNvSpPr>
            <a:spLocks noGrp="1"/>
          </p:cNvSpPr>
          <p:nvPr/>
        </p:nvSpPr>
        <p:spPr>
          <a:xfrm>
            <a:off x="6191250" y="4343400"/>
            <a:ext cx="464820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THE PRECISE CLAIM</a:t>
            </a:r>
          </a:p>
        </p:txBody>
      </p:sp>
      <p:sp>
        <p:nvSpPr>
          <p:cNvPr id="18" name="Rectangle 17">
            <a:extLst>
              <a:ext uri="{FF2B5EF4-FFF2-40B4-BE49-F238E27FC236}">
                <a16:creationId xmlns:a16="http://schemas.microsoft.com/office/drawing/2014/main" id="{A7E042CD-382D-4DC2-AFA9-5CC6A1FA0236}"/>
              </a:ext>
            </a:extLst>
          </p:cNvPr>
          <p:cNvSpPr>
            <a:spLocks noGrp="1"/>
          </p:cNvSpPr>
          <p:nvPr/>
        </p:nvSpPr>
        <p:spPr>
          <a:xfrm>
            <a:off x="6191250" y="4743450"/>
            <a:ext cx="4648200" cy="5715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Fertility associations ≠ actual pregnancy</a:t>
            </a:r>
          </a:p>
        </p:txBody>
      </p:sp>
      <p:sp>
        <p:nvSpPr>
          <p:cNvPr id="19" name="Rectangle 18">
            <a:extLst>
              <a:ext uri="{FF2B5EF4-FFF2-40B4-BE49-F238E27FC236}">
                <a16:creationId xmlns:a16="http://schemas.microsoft.com/office/drawing/2014/main" id="{DBE04DFE-FB0D-4BFF-BC79-76C0768F7E3C}"/>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D8E39C98-47E9-46EA-99D0-8B62D02D66A9}"/>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Her silhouette comes from dress structure and raised fabric, not proof of pregnancy.</a:t>
            </a:r>
          </a:p>
        </p:txBody>
      </p:sp>
      <p:sp>
        <p:nvSpPr>
          <p:cNvPr id="21" name="Rectangle 20">
            <a:extLst>
              <a:ext uri="{FF2B5EF4-FFF2-40B4-BE49-F238E27FC236}">
                <a16:creationId xmlns:a16="http://schemas.microsoft.com/office/drawing/2014/main" id="{4159F582-23AA-4AD7-9FA1-C103C1829213}"/>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721793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EBDDC64-F586-490C-B41E-DE0AC3EDB939}"/>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B6C3AE3C-1FAC-4881-B61E-92280ADF1B14}"/>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The Mirror Opens Another World</a:t>
            </a:r>
          </a:p>
        </p:txBody>
      </p:sp>
      <p:sp>
        <p:nvSpPr>
          <p:cNvPr id="4" name="Rectangle 3">
            <a:extLst>
              <a:ext uri="{FF2B5EF4-FFF2-40B4-BE49-F238E27FC236}">
                <a16:creationId xmlns:a16="http://schemas.microsoft.com/office/drawing/2014/main" id="{6B9F03C9-2597-4636-9ECE-F309282EF3FF}"/>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CBBC1E55-8F0C-4CB7-A6D5-F18021A5F589}"/>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09</a:t>
            </a:r>
          </a:p>
        </p:txBody>
      </p:sp>
      <p:pic>
        <p:nvPicPr>
          <p:cNvPr id="25" name="Picture 24"/>
          <p:cNvPicPr>
            <a:picLocks noChangeAspect="1"/>
          </p:cNvPicPr>
          <p:nvPr/>
        </p:nvPicPr>
        <p:blipFill>
          <a:blip r:embed="rId4"/>
          <a:srcRect t="17310" b="17310"/>
          <a:stretch>
            <a:fillRect/>
          </a:stretch>
        </p:blipFill>
        <p:spPr>
          <a:xfrm>
            <a:off x="723900" y="1619250"/>
            <a:ext cx="5429250" cy="4095750"/>
          </a:xfrm>
          <a:prstGeom prst="ellipse">
            <a:avLst/>
          </a:prstGeom>
        </p:spPr>
      </p:pic>
      <p:sp>
        <p:nvSpPr>
          <p:cNvPr id="7" name="Rectangle: Rounded Corners 6">
            <a:extLst>
              <a:ext uri="{FF2B5EF4-FFF2-40B4-BE49-F238E27FC236}">
                <a16:creationId xmlns:a16="http://schemas.microsoft.com/office/drawing/2014/main" id="{319407F8-1D7B-43EF-BEE5-04AB3149FA3C}"/>
              </a:ext>
            </a:extLst>
          </p:cNvPr>
          <p:cNvSpPr>
            <a:spLocks noGrp="1"/>
          </p:cNvSpPr>
          <p:nvPr/>
        </p:nvSpPr>
        <p:spPr>
          <a:xfrm>
            <a:off x="685800" y="1581150"/>
            <a:ext cx="5505450" cy="4171950"/>
          </a:xfrm>
          <a:prstGeom prst="roundRect">
            <a:avLst>
              <a:gd name="adj" fmla="val 2740"/>
            </a:avLst>
          </a:prstGeom>
          <a:noFill/>
          <a:ln w="19050">
            <a:solidFill>
              <a:srgbClr val="D7A84B"/>
            </a:solidFill>
            <a:prstDash val="solid"/>
          </a:ln>
        </p:spPr>
        <p:txBody>
          <a:bodyPr/>
          <a:lstStyle/>
          <a:p>
            <a:endParaRPr lang="en-US"/>
          </a:p>
        </p:txBody>
      </p:sp>
      <p:sp>
        <p:nvSpPr>
          <p:cNvPr id="8" name="Rectangle: Rounded Corners 7">
            <a:extLst>
              <a:ext uri="{FF2B5EF4-FFF2-40B4-BE49-F238E27FC236}">
                <a16:creationId xmlns:a16="http://schemas.microsoft.com/office/drawing/2014/main" id="{AB08CBA0-D131-4A75-BB80-BFF0E1D62D22}"/>
              </a:ext>
            </a:extLst>
          </p:cNvPr>
          <p:cNvSpPr>
            <a:spLocks noGrp="1"/>
          </p:cNvSpPr>
          <p:nvPr/>
        </p:nvSpPr>
        <p:spPr>
          <a:xfrm>
            <a:off x="6686550" y="1676400"/>
            <a:ext cx="4438650" cy="1200150"/>
          </a:xfrm>
          <a:prstGeom prst="roundRect">
            <a:avLst>
              <a:gd name="adj" fmla="val 9524"/>
            </a:avLst>
          </a:prstGeom>
          <a:solidFill>
            <a:srgbClr val="10150F"/>
          </a:solidFill>
          <a:ln w="9525">
            <a:solidFill>
              <a:srgbClr val="6E674E"/>
            </a:solidFill>
            <a:prstDash val="solid"/>
          </a:ln>
        </p:spPr>
        <p:txBody>
          <a:bodyPr/>
          <a:lstStyle/>
          <a:p>
            <a:endParaRPr lang="en-US"/>
          </a:p>
        </p:txBody>
      </p:sp>
      <p:sp>
        <p:nvSpPr>
          <p:cNvPr id="9" name="Rectangle: Rounded Corners 8">
            <a:extLst>
              <a:ext uri="{FF2B5EF4-FFF2-40B4-BE49-F238E27FC236}">
                <a16:creationId xmlns:a16="http://schemas.microsoft.com/office/drawing/2014/main" id="{2D63D96F-1727-4ED1-B0B3-37C46B16F4C9}"/>
              </a:ext>
            </a:extLst>
          </p:cNvPr>
          <p:cNvSpPr>
            <a:spLocks noGrp="1"/>
          </p:cNvSpPr>
          <p:nvPr/>
        </p:nvSpPr>
        <p:spPr>
          <a:xfrm>
            <a:off x="6686550" y="1676400"/>
            <a:ext cx="57150" cy="1200150"/>
          </a:xfrm>
          <a:prstGeom prst="roundRect">
            <a:avLst>
              <a:gd name="adj" fmla="val 50000"/>
            </a:avLst>
          </a:prstGeom>
          <a:solidFill>
            <a:srgbClr val="D7A84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BDB2918-2F64-4C69-8A9A-E469FC523E90}"/>
              </a:ext>
            </a:extLst>
          </p:cNvPr>
          <p:cNvSpPr>
            <a:spLocks noGrp="1"/>
          </p:cNvSpPr>
          <p:nvPr/>
        </p:nvSpPr>
        <p:spPr>
          <a:xfrm>
            <a:off x="6915150" y="1847850"/>
            <a:ext cx="40195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INSIDE THE MIRROR</a:t>
            </a:r>
          </a:p>
        </p:txBody>
      </p:sp>
      <p:sp>
        <p:nvSpPr>
          <p:cNvPr id="11" name="Rectangle 10">
            <a:extLst>
              <a:ext uri="{FF2B5EF4-FFF2-40B4-BE49-F238E27FC236}">
                <a16:creationId xmlns:a16="http://schemas.microsoft.com/office/drawing/2014/main" id="{DCFB47B0-7A5A-44F4-B645-C6515EA8190A}"/>
              </a:ext>
            </a:extLst>
          </p:cNvPr>
          <p:cNvSpPr>
            <a:spLocks noGrp="1"/>
          </p:cNvSpPr>
          <p:nvPr/>
        </p:nvSpPr>
        <p:spPr>
          <a:xfrm>
            <a:off x="6915150" y="2247900"/>
            <a:ext cx="4019550" cy="51435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Backs of the sitters</a:t>
            </a:r>
          </a:p>
          <a:p>
            <a:pPr>
              <a:defRPr sz="1200" b="0" i="0">
                <a:solidFill>
                  <a:srgbClr val="C8BDA9"/>
                </a:solidFill>
              </a:defRPr>
            </a:pPr>
            <a:r>
              <a:rPr sz="1200" b="0" i="0">
                <a:solidFill>
                  <a:srgbClr val="C8BDA9"/>
                </a:solidFill>
              </a:rPr>
              <a:t>Two visitors beyond the picture</a:t>
            </a:r>
          </a:p>
        </p:txBody>
      </p:sp>
      <p:sp>
        <p:nvSpPr>
          <p:cNvPr id="12" name="Rectangle: Rounded Corners 11">
            <a:extLst>
              <a:ext uri="{FF2B5EF4-FFF2-40B4-BE49-F238E27FC236}">
                <a16:creationId xmlns:a16="http://schemas.microsoft.com/office/drawing/2014/main" id="{7D11DE82-D9EE-4C9A-A1C3-671EB48847C0}"/>
              </a:ext>
            </a:extLst>
          </p:cNvPr>
          <p:cNvSpPr>
            <a:spLocks noGrp="1"/>
          </p:cNvSpPr>
          <p:nvPr/>
        </p:nvSpPr>
        <p:spPr>
          <a:xfrm>
            <a:off x="6686550" y="3105150"/>
            <a:ext cx="4438650" cy="1200150"/>
          </a:xfrm>
          <a:prstGeom prst="roundRect">
            <a:avLst>
              <a:gd name="adj" fmla="val 9524"/>
            </a:avLst>
          </a:prstGeom>
          <a:solidFill>
            <a:srgbClr val="10150F"/>
          </a:solidFill>
          <a:ln w="9525">
            <a:solidFill>
              <a:srgbClr val="6E674E"/>
            </a:solidFill>
            <a:prstDash val="solid"/>
          </a:ln>
        </p:spPr>
        <p:txBody>
          <a:bodyPr/>
          <a:lstStyle/>
          <a:p>
            <a:endParaRPr lang="en-US"/>
          </a:p>
        </p:txBody>
      </p:sp>
      <p:sp>
        <p:nvSpPr>
          <p:cNvPr id="13" name="Rectangle: Rounded Corners 12">
            <a:extLst>
              <a:ext uri="{FF2B5EF4-FFF2-40B4-BE49-F238E27FC236}">
                <a16:creationId xmlns:a16="http://schemas.microsoft.com/office/drawing/2014/main" id="{4480FD6D-7600-451F-9705-6F4929A7F0CE}"/>
              </a:ext>
            </a:extLst>
          </p:cNvPr>
          <p:cNvSpPr>
            <a:spLocks noGrp="1"/>
          </p:cNvSpPr>
          <p:nvPr/>
        </p:nvSpPr>
        <p:spPr>
          <a:xfrm>
            <a:off x="6686550" y="3105150"/>
            <a:ext cx="57150" cy="1200150"/>
          </a:xfrm>
          <a:prstGeom prst="roundRect">
            <a:avLst>
              <a:gd name="adj" fmla="val 50000"/>
            </a:avLst>
          </a:prstGeom>
          <a:solidFill>
            <a:srgbClr val="6A243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507927B3-EA7F-435A-B3A9-003CF2629C65}"/>
              </a:ext>
            </a:extLst>
          </p:cNvPr>
          <p:cNvSpPr>
            <a:spLocks noGrp="1"/>
          </p:cNvSpPr>
          <p:nvPr/>
        </p:nvSpPr>
        <p:spPr>
          <a:xfrm>
            <a:off x="6915150" y="3276600"/>
            <a:ext cx="40195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AROUND THE FRAME</a:t>
            </a:r>
          </a:p>
        </p:txBody>
      </p:sp>
      <p:sp>
        <p:nvSpPr>
          <p:cNvPr id="15" name="Rectangle 14">
            <a:extLst>
              <a:ext uri="{FF2B5EF4-FFF2-40B4-BE49-F238E27FC236}">
                <a16:creationId xmlns:a16="http://schemas.microsoft.com/office/drawing/2014/main" id="{8014AD28-3DF9-4442-8867-0F8E3729DF27}"/>
              </a:ext>
            </a:extLst>
          </p:cNvPr>
          <p:cNvSpPr>
            <a:spLocks noGrp="1"/>
          </p:cNvSpPr>
          <p:nvPr/>
        </p:nvSpPr>
        <p:spPr>
          <a:xfrm>
            <a:off x="6915150" y="3676650"/>
            <a:ext cx="4019550" cy="51435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Ten Passion scenes around the frame</a:t>
            </a:r>
          </a:p>
        </p:txBody>
      </p:sp>
      <p:sp>
        <p:nvSpPr>
          <p:cNvPr id="16" name="Rectangle 15">
            <a:extLst>
              <a:ext uri="{FF2B5EF4-FFF2-40B4-BE49-F238E27FC236}">
                <a16:creationId xmlns:a16="http://schemas.microsoft.com/office/drawing/2014/main" id="{59048660-07A9-422E-BA8E-730FCD418320}"/>
              </a:ext>
            </a:extLst>
          </p:cNvPr>
          <p:cNvSpPr>
            <a:spLocks noGrp="1"/>
          </p:cNvSpPr>
          <p:nvPr/>
        </p:nvSpPr>
        <p:spPr>
          <a:xfrm>
            <a:off x="6896100" y="4629150"/>
            <a:ext cx="4000500" cy="552450"/>
          </a:xfrm>
          <a:prstGeom prst="rect">
            <a:avLst/>
          </a:prstGeom>
          <a:noFill/>
          <a:ln w="0">
            <a:noFill/>
            <a:prstDash val="solid"/>
          </a:ln>
        </p:spPr>
        <p:txBody>
          <a:bodyPr anchor="t"/>
          <a:lstStyle/>
          <a:p>
            <a:pPr>
              <a:defRPr sz="1425" b="1" i="0">
                <a:solidFill>
                  <a:srgbClr val="D7A84B"/>
                </a:solidFill>
              </a:defRPr>
            </a:pPr>
            <a:r>
              <a:rPr sz="1425" b="1" i="0">
                <a:solidFill>
                  <a:srgbClr val="D7A84B"/>
                </a:solidFill>
              </a:rPr>
              <a:t>VAN EYCK IN THE MIRROR? UNPROVED</a:t>
            </a:r>
          </a:p>
        </p:txBody>
      </p:sp>
      <p:sp>
        <p:nvSpPr>
          <p:cNvPr id="17" name="Rectangle 16">
            <a:extLst>
              <a:ext uri="{FF2B5EF4-FFF2-40B4-BE49-F238E27FC236}">
                <a16:creationId xmlns:a16="http://schemas.microsoft.com/office/drawing/2014/main" id="{C3E3266B-AA4F-4A9F-B6D5-30199EDAAA47}"/>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5B83BFC2-6C3E-4D83-A788-F8A9F035EA91}"/>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The mirror brings two visitors—and the viewer's position—into the work.</a:t>
            </a:r>
          </a:p>
        </p:txBody>
      </p:sp>
      <p:sp>
        <p:nvSpPr>
          <p:cNvPr id="19" name="Rectangle 18">
            <a:extLst>
              <a:ext uri="{FF2B5EF4-FFF2-40B4-BE49-F238E27FC236}">
                <a16:creationId xmlns:a16="http://schemas.microsoft.com/office/drawing/2014/main" id="{041CC18C-A083-4875-B9F6-257B3051BA2B}"/>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2459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CD0C905-727A-45C0-9F0A-EB17A45E6319}"/>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A7B87311-EB94-4B26-BCF2-80AE57F46384}"/>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Jan van Eyck Was Here</a:t>
            </a:r>
          </a:p>
        </p:txBody>
      </p:sp>
      <p:sp>
        <p:nvSpPr>
          <p:cNvPr id="4" name="Rectangle 3">
            <a:extLst>
              <a:ext uri="{FF2B5EF4-FFF2-40B4-BE49-F238E27FC236}">
                <a16:creationId xmlns:a16="http://schemas.microsoft.com/office/drawing/2014/main" id="{7347BFA9-0960-48A0-95FF-BBACB4E42AD2}"/>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6D8CDE07-5CEA-43DD-85CB-29795E0EF765}"/>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10</a:t>
            </a:r>
          </a:p>
        </p:txBody>
      </p:sp>
      <p:sp>
        <p:nvSpPr>
          <p:cNvPr id="7" name="Rectangle 6">
            <a:extLst>
              <a:ext uri="{FF2B5EF4-FFF2-40B4-BE49-F238E27FC236}">
                <a16:creationId xmlns:a16="http://schemas.microsoft.com/office/drawing/2014/main" id="{068F7BF3-1BCB-47DF-9613-F43068DB11C0}"/>
              </a:ext>
            </a:extLst>
          </p:cNvPr>
          <p:cNvSpPr>
            <a:spLocks noGrp="1"/>
          </p:cNvSpPr>
          <p:nvPr/>
        </p:nvSpPr>
        <p:spPr>
          <a:xfrm>
            <a:off x="6553200" y="1905000"/>
            <a:ext cx="4572000" cy="1466850"/>
          </a:xfrm>
          <a:prstGeom prst="rect">
            <a:avLst/>
          </a:prstGeom>
          <a:noFill/>
          <a:ln w="0">
            <a:noFill/>
            <a:prstDash val="solid"/>
          </a:ln>
        </p:spPr>
        <p:txBody>
          <a:bodyPr anchor="t"/>
          <a:lstStyle/>
          <a:p>
            <a:pPr>
              <a:defRPr sz="3000" b="0" i="1">
                <a:solidFill>
                  <a:srgbClr val="E6D3AC"/>
                </a:solidFill>
              </a:defRPr>
            </a:pPr>
            <a:r>
              <a:rPr sz="3000" b="0" i="1">
                <a:solidFill>
                  <a:srgbClr val="E6D3AC"/>
                </a:solidFill>
              </a:rPr>
              <a:t>Johannes de eyck</a:t>
            </a:r>
          </a:p>
          <a:p>
            <a:pPr>
              <a:defRPr sz="3000" b="0" i="1">
                <a:solidFill>
                  <a:srgbClr val="E6D3AC"/>
                </a:solidFill>
              </a:defRPr>
            </a:pPr>
            <a:r>
              <a:rPr sz="3000" b="0" i="1">
                <a:solidFill>
                  <a:srgbClr val="E6D3AC"/>
                </a:solidFill>
              </a:rPr>
              <a:t>fuit hic. 1434.</a:t>
            </a:r>
          </a:p>
        </p:txBody>
      </p:sp>
      <p:sp>
        <p:nvSpPr>
          <p:cNvPr id="8" name="Rectangle 7">
            <a:extLst>
              <a:ext uri="{FF2B5EF4-FFF2-40B4-BE49-F238E27FC236}">
                <a16:creationId xmlns:a16="http://schemas.microsoft.com/office/drawing/2014/main" id="{B966A55A-9A00-4A3A-8EE3-830469C97819}"/>
              </a:ext>
            </a:extLst>
          </p:cNvPr>
          <p:cNvSpPr>
            <a:spLocks noGrp="1"/>
          </p:cNvSpPr>
          <p:nvPr/>
        </p:nvSpPr>
        <p:spPr>
          <a:xfrm>
            <a:off x="7239000" y="3619500"/>
            <a:ext cx="3200400" cy="38100"/>
          </a:xfrm>
          <a:prstGeom prst="rect">
            <a:avLst/>
          </a:prstGeom>
          <a:solidFill>
            <a:srgbClr val="D7A84B"/>
          </a:solidFill>
          <a:ln w="0">
            <a:noFill/>
            <a:prstDash val="solid"/>
          </a:ln>
        </p:spPr>
        <p:txBody>
          <a:bodyPr/>
          <a:lstStyle/>
          <a:p>
            <a:endParaRPr lang="en-US"/>
          </a:p>
        </p:txBody>
      </p:sp>
      <p:sp>
        <p:nvSpPr>
          <p:cNvPr id="9" name="Rectangle 8">
            <a:extLst>
              <a:ext uri="{FF2B5EF4-FFF2-40B4-BE49-F238E27FC236}">
                <a16:creationId xmlns:a16="http://schemas.microsoft.com/office/drawing/2014/main" id="{8F755508-9CFF-41B1-A658-0F14CD246C2E}"/>
              </a:ext>
            </a:extLst>
          </p:cNvPr>
          <p:cNvSpPr>
            <a:spLocks noGrp="1"/>
          </p:cNvSpPr>
          <p:nvPr/>
        </p:nvSpPr>
        <p:spPr>
          <a:xfrm>
            <a:off x="6572250" y="3943350"/>
            <a:ext cx="4572000" cy="438150"/>
          </a:xfrm>
          <a:prstGeom prst="rect">
            <a:avLst/>
          </a:prstGeom>
          <a:noFill/>
          <a:ln w="0">
            <a:noFill/>
            <a:prstDash val="solid"/>
          </a:ln>
        </p:spPr>
        <p:txBody>
          <a:bodyPr anchor="t"/>
          <a:lstStyle/>
          <a:p>
            <a:pPr>
              <a:defRPr sz="1800" b="1" i="0">
                <a:solidFill>
                  <a:srgbClr val="FFFDF7"/>
                </a:solidFill>
              </a:defRPr>
            </a:pPr>
            <a:r>
              <a:rPr sz="1800" b="1" i="0">
                <a:solidFill>
                  <a:srgbClr val="FFFDF7"/>
                </a:solidFill>
              </a:rPr>
              <a:t>JAN VAN EYCK WAS HERE.</a:t>
            </a:r>
          </a:p>
        </p:txBody>
      </p:sp>
      <p:sp>
        <p:nvSpPr>
          <p:cNvPr id="10" name="Rectangle 9">
            <a:extLst>
              <a:ext uri="{FF2B5EF4-FFF2-40B4-BE49-F238E27FC236}">
                <a16:creationId xmlns:a16="http://schemas.microsoft.com/office/drawing/2014/main" id="{671739AF-30B9-42C5-B444-0ACA278C1D76}"/>
              </a:ext>
            </a:extLst>
          </p:cNvPr>
          <p:cNvSpPr>
            <a:spLocks noGrp="1"/>
          </p:cNvSpPr>
          <p:nvPr/>
        </p:nvSpPr>
        <p:spPr>
          <a:xfrm>
            <a:off x="6572250" y="4610100"/>
            <a:ext cx="4572000" cy="495300"/>
          </a:xfrm>
          <a:prstGeom prst="rect">
            <a:avLst/>
          </a:prstGeom>
          <a:noFill/>
          <a:ln w="0">
            <a:noFill/>
            <a:prstDash val="solid"/>
          </a:ln>
        </p:spPr>
        <p:txBody>
          <a:bodyPr anchor="t"/>
          <a:lstStyle/>
          <a:p>
            <a:pPr>
              <a:defRPr sz="1275" b="0" i="0">
                <a:solidFill>
                  <a:srgbClr val="C8BDA9"/>
                </a:solidFill>
              </a:defRPr>
            </a:pPr>
            <a:r>
              <a:rPr sz="1275" b="0" i="0">
                <a:solidFill>
                  <a:srgbClr val="C8BDA9"/>
                </a:solidFill>
              </a:rPr>
              <a:t>Not an ordinary signature—a declaration of presence.</a:t>
            </a:r>
          </a:p>
        </p:txBody>
      </p:sp>
      <p:sp>
        <p:nvSpPr>
          <p:cNvPr id="11" name="Rectangle 10">
            <a:extLst>
              <a:ext uri="{FF2B5EF4-FFF2-40B4-BE49-F238E27FC236}">
                <a16:creationId xmlns:a16="http://schemas.microsoft.com/office/drawing/2014/main" id="{8784D88C-B5DB-4F7B-A088-6FDFF3DE520E}"/>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7C8BCAD4-2AB6-47BD-BF21-12D9AFDFB144}"/>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Johannes de eyck fuit hic. 1434 | Jan van Eyck was here.</a:t>
            </a:r>
          </a:p>
        </p:txBody>
      </p:sp>
      <p:sp>
        <p:nvSpPr>
          <p:cNvPr id="13" name="Rectangle 12">
            <a:extLst>
              <a:ext uri="{FF2B5EF4-FFF2-40B4-BE49-F238E27FC236}">
                <a16:creationId xmlns:a16="http://schemas.microsoft.com/office/drawing/2014/main" id="{0F577605-C6FC-40C1-89BE-C474BC0A0620}"/>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pic>
        <p:nvPicPr>
          <p:cNvPr id="15" name="Picture 14">
            <a:extLst>
              <a:ext uri="{FF2B5EF4-FFF2-40B4-BE49-F238E27FC236}">
                <a16:creationId xmlns:a16="http://schemas.microsoft.com/office/drawing/2014/main" id="{1C88CA9A-3DFB-BDA5-E43D-9654DDDA38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2026" y="1746850"/>
            <a:ext cx="4330000" cy="3250000"/>
          </a:xfrm>
          <a:prstGeom prst="rect">
            <a:avLst/>
          </a:prstGeom>
        </p:spPr>
      </p:pic>
    </p:spTree>
    <p:extLst>
      <p:ext uri="{BB962C8B-B14F-4D97-AF65-F5344CB8AC3E}">
        <p14:creationId xmlns:p14="http://schemas.microsoft.com/office/powerpoint/2010/main" val="1452733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BA399B6-87DD-47D9-B1C3-2BB7D732C40B}"/>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005B681B-F69E-453D-8160-7F3E59CE435A}"/>
              </a:ext>
            </a:extLst>
          </p:cNvPr>
          <p:cNvSpPr>
            <a:spLocks noGrp="1"/>
          </p:cNvSpPr>
          <p:nvPr/>
        </p:nvSpPr>
        <p:spPr>
          <a:xfrm>
            <a:off x="609600" y="590550"/>
            <a:ext cx="9906000" cy="666750"/>
          </a:xfrm>
          <a:prstGeom prst="rect">
            <a:avLst/>
          </a:prstGeom>
          <a:noFill/>
          <a:ln w="0">
            <a:noFill/>
            <a:prstDash val="solid"/>
          </a:ln>
        </p:spPr>
        <p:txBody>
          <a:bodyPr anchor="t"/>
          <a:lstStyle/>
          <a:p>
            <a:pPr>
              <a:defRPr sz="2625" b="1" i="0">
                <a:solidFill>
                  <a:srgbClr val="FFFDF7"/>
                </a:solidFill>
              </a:defRPr>
            </a:pPr>
            <a:r>
              <a:rPr sz="2625" b="1" i="0">
                <a:solidFill>
                  <a:srgbClr val="FFFDF7"/>
                </a:solidFill>
              </a:rPr>
              <a:t>Oranges, Fur, and a Portrait of International Trade</a:t>
            </a:r>
          </a:p>
        </p:txBody>
      </p:sp>
      <p:sp>
        <p:nvSpPr>
          <p:cNvPr id="4" name="Rectangle 3">
            <a:extLst>
              <a:ext uri="{FF2B5EF4-FFF2-40B4-BE49-F238E27FC236}">
                <a16:creationId xmlns:a16="http://schemas.microsoft.com/office/drawing/2014/main" id="{62A2C76E-4690-4467-AB0D-E17D1A8D7629}"/>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4A45651B-57DE-484F-AE05-52D3D49E075D}"/>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11</a:t>
            </a:r>
          </a:p>
        </p:txBody>
      </p:sp>
      <p:pic>
        <p:nvPicPr>
          <p:cNvPr id="27" name="Picture 26"/>
          <p:cNvPicPr>
            <a:picLocks noChangeAspect="1"/>
          </p:cNvPicPr>
          <p:nvPr/>
        </p:nvPicPr>
        <p:blipFill>
          <a:blip r:embed="rId4"/>
          <a:srcRect l="6731" r="6731"/>
          <a:stretch>
            <a:fillRect/>
          </a:stretch>
        </p:blipFill>
        <p:spPr>
          <a:xfrm>
            <a:off x="628650" y="1752600"/>
            <a:ext cx="2571750" cy="2971800"/>
          </a:xfrm>
          <a:prstGeom prst="roundRect">
            <a:avLst>
              <a:gd name="adj" fmla="val 4444"/>
            </a:avLst>
          </a:prstGeom>
        </p:spPr>
      </p:pic>
      <p:sp>
        <p:nvSpPr>
          <p:cNvPr id="7" name="Rectangle 6">
            <a:extLst>
              <a:ext uri="{FF2B5EF4-FFF2-40B4-BE49-F238E27FC236}">
                <a16:creationId xmlns:a16="http://schemas.microsoft.com/office/drawing/2014/main" id="{E5C35A2D-32AE-4C80-A2D7-5C2D0429071F}"/>
              </a:ext>
            </a:extLst>
          </p:cNvPr>
          <p:cNvSpPr>
            <a:spLocks noGrp="1"/>
          </p:cNvSpPr>
          <p:nvPr/>
        </p:nvSpPr>
        <p:spPr>
          <a:xfrm>
            <a:off x="628650" y="4267200"/>
            <a:ext cx="2571750" cy="457200"/>
          </a:xfrm>
          <a:prstGeom prst="rect">
            <a:avLst/>
          </a:prstGeom>
          <a:solidFill>
            <a:srgbClr val="0A0B08"/>
          </a:solidFill>
          <a:ln w="0">
            <a:noFill/>
            <a:prstDash val="solid"/>
          </a:ln>
        </p:spPr>
        <p:txBody>
          <a:bodyPr/>
          <a:lstStyle/>
          <a:p>
            <a:endParaRPr lang="en-US"/>
          </a:p>
        </p:txBody>
      </p:sp>
      <p:sp>
        <p:nvSpPr>
          <p:cNvPr id="8" name="Rectangle 7">
            <a:extLst>
              <a:ext uri="{FF2B5EF4-FFF2-40B4-BE49-F238E27FC236}">
                <a16:creationId xmlns:a16="http://schemas.microsoft.com/office/drawing/2014/main" id="{FF0CC76E-2B12-4658-9AF6-0C9E8C11FAE3}"/>
              </a:ext>
            </a:extLst>
          </p:cNvPr>
          <p:cNvSpPr>
            <a:spLocks noGrp="1"/>
          </p:cNvSpPr>
          <p:nvPr/>
        </p:nvSpPr>
        <p:spPr>
          <a:xfrm>
            <a:off x="723900" y="4400550"/>
            <a:ext cx="2381250" cy="209550"/>
          </a:xfrm>
          <a:prstGeom prst="rect">
            <a:avLst/>
          </a:prstGeom>
          <a:noFill/>
          <a:ln w="0">
            <a:noFill/>
            <a:prstDash val="solid"/>
          </a:ln>
        </p:spPr>
        <p:txBody>
          <a:bodyPr anchor="t"/>
          <a:lstStyle/>
          <a:p>
            <a:pPr>
              <a:defRPr sz="1050" b="1" i="0">
                <a:solidFill>
                  <a:srgbClr val="FFFDF7"/>
                </a:solidFill>
              </a:defRPr>
            </a:pPr>
            <a:r>
              <a:rPr sz="1050" b="1" i="0">
                <a:solidFill>
                  <a:srgbClr val="FFFDF7"/>
                </a:solidFill>
              </a:rPr>
              <a:t>ORANGES | IMPORT</a:t>
            </a:r>
          </a:p>
        </p:txBody>
      </p:sp>
      <p:pic>
        <p:nvPicPr>
          <p:cNvPr id="30" name="Picture 29"/>
          <p:cNvPicPr>
            <a:picLocks noChangeAspect="1"/>
          </p:cNvPicPr>
          <p:nvPr/>
        </p:nvPicPr>
        <p:blipFill>
          <a:blip r:embed="rId5"/>
          <a:srcRect t="25238" b="25238"/>
          <a:stretch>
            <a:fillRect/>
          </a:stretch>
        </p:blipFill>
        <p:spPr>
          <a:xfrm>
            <a:off x="3448050" y="1752600"/>
            <a:ext cx="2571750" cy="2971800"/>
          </a:xfrm>
          <a:prstGeom prst="roundRect">
            <a:avLst>
              <a:gd name="adj" fmla="val 4444"/>
            </a:avLst>
          </a:prstGeom>
        </p:spPr>
      </p:pic>
      <p:sp>
        <p:nvSpPr>
          <p:cNvPr id="10" name="Rectangle 9">
            <a:extLst>
              <a:ext uri="{FF2B5EF4-FFF2-40B4-BE49-F238E27FC236}">
                <a16:creationId xmlns:a16="http://schemas.microsoft.com/office/drawing/2014/main" id="{F957DE29-4832-4F96-AE4A-90A0952A4D67}"/>
              </a:ext>
            </a:extLst>
          </p:cNvPr>
          <p:cNvSpPr>
            <a:spLocks noGrp="1"/>
          </p:cNvSpPr>
          <p:nvPr/>
        </p:nvSpPr>
        <p:spPr>
          <a:xfrm>
            <a:off x="3448050" y="4267200"/>
            <a:ext cx="2571750" cy="457200"/>
          </a:xfrm>
          <a:prstGeom prst="rect">
            <a:avLst/>
          </a:prstGeom>
          <a:solidFill>
            <a:srgbClr val="0A0B0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9BAA30F8-5F8A-475B-93E1-B8314E8C984B}"/>
              </a:ext>
            </a:extLst>
          </p:cNvPr>
          <p:cNvSpPr>
            <a:spLocks noGrp="1"/>
          </p:cNvSpPr>
          <p:nvPr/>
        </p:nvSpPr>
        <p:spPr>
          <a:xfrm>
            <a:off x="3543300" y="4400550"/>
            <a:ext cx="2381250" cy="209550"/>
          </a:xfrm>
          <a:prstGeom prst="rect">
            <a:avLst/>
          </a:prstGeom>
          <a:noFill/>
          <a:ln w="0">
            <a:noFill/>
            <a:prstDash val="solid"/>
          </a:ln>
        </p:spPr>
        <p:txBody>
          <a:bodyPr anchor="t"/>
          <a:lstStyle/>
          <a:p>
            <a:pPr>
              <a:defRPr sz="1050" b="1" i="0">
                <a:solidFill>
                  <a:srgbClr val="FFFDF7"/>
                </a:solidFill>
              </a:defRPr>
            </a:pPr>
            <a:r>
              <a:rPr sz="1050" b="1" i="0">
                <a:solidFill>
                  <a:srgbClr val="FFFDF7"/>
                </a:solidFill>
              </a:rPr>
              <a:t>FUR | STATUS</a:t>
            </a:r>
          </a:p>
        </p:txBody>
      </p:sp>
      <p:pic>
        <p:nvPicPr>
          <p:cNvPr id="33" name="Picture 32"/>
          <p:cNvPicPr>
            <a:picLocks noChangeAspect="1"/>
          </p:cNvPicPr>
          <p:nvPr/>
        </p:nvPicPr>
        <p:blipFill>
          <a:blip r:embed="rId6"/>
          <a:srcRect l="6731" r="6731"/>
          <a:stretch>
            <a:fillRect/>
          </a:stretch>
        </p:blipFill>
        <p:spPr>
          <a:xfrm>
            <a:off x="6267450" y="1752600"/>
            <a:ext cx="2571750" cy="2971800"/>
          </a:xfrm>
          <a:prstGeom prst="roundRect">
            <a:avLst>
              <a:gd name="adj" fmla="val 4444"/>
            </a:avLst>
          </a:prstGeom>
        </p:spPr>
      </p:pic>
      <p:sp>
        <p:nvSpPr>
          <p:cNvPr id="13" name="Rectangle 12">
            <a:extLst>
              <a:ext uri="{FF2B5EF4-FFF2-40B4-BE49-F238E27FC236}">
                <a16:creationId xmlns:a16="http://schemas.microsoft.com/office/drawing/2014/main" id="{83273964-E2A2-442A-9AD0-58B5E94A0428}"/>
              </a:ext>
            </a:extLst>
          </p:cNvPr>
          <p:cNvSpPr>
            <a:spLocks noGrp="1"/>
          </p:cNvSpPr>
          <p:nvPr/>
        </p:nvSpPr>
        <p:spPr>
          <a:xfrm>
            <a:off x="6267450" y="4267200"/>
            <a:ext cx="2571750" cy="457200"/>
          </a:xfrm>
          <a:prstGeom prst="rect">
            <a:avLst/>
          </a:prstGeom>
          <a:solidFill>
            <a:srgbClr val="0A0B0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152ABA30-045C-4CEA-AFCD-6B965E2E177B}"/>
              </a:ext>
            </a:extLst>
          </p:cNvPr>
          <p:cNvSpPr>
            <a:spLocks noGrp="1"/>
          </p:cNvSpPr>
          <p:nvPr/>
        </p:nvSpPr>
        <p:spPr>
          <a:xfrm>
            <a:off x="6362700" y="4400550"/>
            <a:ext cx="2381250" cy="209550"/>
          </a:xfrm>
          <a:prstGeom prst="rect">
            <a:avLst/>
          </a:prstGeom>
          <a:noFill/>
          <a:ln w="0">
            <a:noFill/>
            <a:prstDash val="solid"/>
          </a:ln>
        </p:spPr>
        <p:txBody>
          <a:bodyPr anchor="t"/>
          <a:lstStyle/>
          <a:p>
            <a:pPr>
              <a:defRPr sz="1050" b="1" i="0">
                <a:solidFill>
                  <a:srgbClr val="FFFDF7"/>
                </a:solidFill>
              </a:defRPr>
            </a:pPr>
            <a:r>
              <a:rPr sz="1050" b="1" i="0">
                <a:solidFill>
                  <a:srgbClr val="FFFDF7"/>
                </a:solidFill>
              </a:rPr>
              <a:t>BRASS | CRAFT</a:t>
            </a:r>
          </a:p>
        </p:txBody>
      </p:sp>
      <p:pic>
        <p:nvPicPr>
          <p:cNvPr id="36" name="Picture 35"/>
          <p:cNvPicPr>
            <a:picLocks noChangeAspect="1"/>
          </p:cNvPicPr>
          <p:nvPr/>
        </p:nvPicPr>
        <p:blipFill>
          <a:blip r:embed="rId7"/>
          <a:srcRect t="26695" b="26695"/>
          <a:stretch>
            <a:fillRect/>
          </a:stretch>
        </p:blipFill>
        <p:spPr>
          <a:xfrm>
            <a:off x="9086850" y="1752600"/>
            <a:ext cx="2571750" cy="2971800"/>
          </a:xfrm>
          <a:prstGeom prst="roundRect">
            <a:avLst>
              <a:gd name="adj" fmla="val 4444"/>
            </a:avLst>
          </a:prstGeom>
        </p:spPr>
      </p:pic>
      <p:sp>
        <p:nvSpPr>
          <p:cNvPr id="16" name="Rectangle 15">
            <a:extLst>
              <a:ext uri="{FF2B5EF4-FFF2-40B4-BE49-F238E27FC236}">
                <a16:creationId xmlns:a16="http://schemas.microsoft.com/office/drawing/2014/main" id="{1A8E0E78-358F-409B-A800-D1DE3D1C3971}"/>
              </a:ext>
            </a:extLst>
          </p:cNvPr>
          <p:cNvSpPr>
            <a:spLocks noGrp="1"/>
          </p:cNvSpPr>
          <p:nvPr/>
        </p:nvSpPr>
        <p:spPr>
          <a:xfrm>
            <a:off x="9086850" y="4267200"/>
            <a:ext cx="2571750" cy="457200"/>
          </a:xfrm>
          <a:prstGeom prst="rect">
            <a:avLst/>
          </a:prstGeom>
          <a:solidFill>
            <a:srgbClr val="0A0B0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BF58268C-13D3-479C-9F13-8CD23F7B69FC}"/>
              </a:ext>
            </a:extLst>
          </p:cNvPr>
          <p:cNvSpPr>
            <a:spLocks noGrp="1"/>
          </p:cNvSpPr>
          <p:nvPr/>
        </p:nvSpPr>
        <p:spPr>
          <a:xfrm>
            <a:off x="9182100" y="4400550"/>
            <a:ext cx="2381250" cy="209550"/>
          </a:xfrm>
          <a:prstGeom prst="rect">
            <a:avLst/>
          </a:prstGeom>
          <a:noFill/>
          <a:ln w="0">
            <a:noFill/>
            <a:prstDash val="solid"/>
          </a:ln>
        </p:spPr>
        <p:txBody>
          <a:bodyPr anchor="t"/>
          <a:lstStyle/>
          <a:p>
            <a:pPr>
              <a:defRPr sz="1050" b="1" i="0">
                <a:solidFill>
                  <a:srgbClr val="FFFDF7"/>
                </a:solidFill>
              </a:defRPr>
            </a:pPr>
            <a:r>
              <a:rPr sz="1050" b="1" i="0">
                <a:solidFill>
                  <a:srgbClr val="FFFDF7"/>
                </a:solidFill>
              </a:rPr>
              <a:t>TEXTILE | WEALTH</a:t>
            </a:r>
          </a:p>
        </p:txBody>
      </p:sp>
      <p:sp>
        <p:nvSpPr>
          <p:cNvPr id="18" name="Rectangle 17">
            <a:extLst>
              <a:ext uri="{FF2B5EF4-FFF2-40B4-BE49-F238E27FC236}">
                <a16:creationId xmlns:a16="http://schemas.microsoft.com/office/drawing/2014/main" id="{D566621C-40BE-41E0-9840-4DF032F77410}"/>
              </a:ext>
            </a:extLst>
          </p:cNvPr>
          <p:cNvSpPr>
            <a:spLocks noGrp="1"/>
          </p:cNvSpPr>
          <p:nvPr/>
        </p:nvSpPr>
        <p:spPr>
          <a:xfrm>
            <a:off x="1619250" y="5124450"/>
            <a:ext cx="8953500" cy="476250"/>
          </a:xfrm>
          <a:prstGeom prst="rect">
            <a:avLst/>
          </a:prstGeom>
          <a:noFill/>
          <a:ln w="0">
            <a:noFill/>
            <a:prstDash val="solid"/>
          </a:ln>
        </p:spPr>
        <p:txBody>
          <a:bodyPr anchor="t"/>
          <a:lstStyle/>
          <a:p>
            <a:pPr>
              <a:defRPr sz="1800" b="1" i="0">
                <a:solidFill>
                  <a:srgbClr val="D7A84B"/>
                </a:solidFill>
              </a:defRPr>
            </a:pPr>
            <a:r>
              <a:rPr sz="1800" b="1" i="0">
                <a:solidFill>
                  <a:srgbClr val="D7A84B"/>
                </a:solidFill>
              </a:rPr>
              <a:t>Wealth is not a list of objects. It is an environment.</a:t>
            </a:r>
          </a:p>
        </p:txBody>
      </p:sp>
      <p:sp>
        <p:nvSpPr>
          <p:cNvPr id="19" name="Rectangle 18">
            <a:extLst>
              <a:ext uri="{FF2B5EF4-FFF2-40B4-BE49-F238E27FC236}">
                <a16:creationId xmlns:a16="http://schemas.microsoft.com/office/drawing/2014/main" id="{AA3BC3C5-9083-42A7-952B-2A0D1E1A6565}"/>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8D84C348-E6B5-4DA8-B7DE-C685A5079967}"/>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Wealth appears not as coins, but as a complete material environment.</a:t>
            </a:r>
          </a:p>
        </p:txBody>
      </p:sp>
      <p:sp>
        <p:nvSpPr>
          <p:cNvPr id="21" name="Rectangle 20">
            <a:extLst>
              <a:ext uri="{FF2B5EF4-FFF2-40B4-BE49-F238E27FC236}">
                <a16:creationId xmlns:a16="http://schemas.microsoft.com/office/drawing/2014/main" id="{585C9848-5F23-4DCE-9EF2-39303ECF5A09}"/>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303675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50DB3DA-70C9-403E-8FD0-2F7942921067}"/>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D1FFF437-F48C-4C0D-B596-71399604E209}"/>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Does One Candle Have One Answer?</a:t>
            </a:r>
          </a:p>
        </p:txBody>
      </p:sp>
      <p:sp>
        <p:nvSpPr>
          <p:cNvPr id="4" name="Rectangle 3">
            <a:extLst>
              <a:ext uri="{FF2B5EF4-FFF2-40B4-BE49-F238E27FC236}">
                <a16:creationId xmlns:a16="http://schemas.microsoft.com/office/drawing/2014/main" id="{2FE85DA7-7A19-4E61-8543-211733C56D33}"/>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D6F858F6-813D-4EBE-9D7B-7C894370699F}"/>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12</a:t>
            </a:r>
          </a:p>
        </p:txBody>
      </p:sp>
      <p:pic>
        <p:nvPicPr>
          <p:cNvPr id="35" name="Picture 34"/>
          <p:cNvPicPr>
            <a:picLocks noChangeAspect="1"/>
          </p:cNvPicPr>
          <p:nvPr/>
        </p:nvPicPr>
        <p:blipFill>
          <a:blip r:embed="rId4"/>
          <a:srcRect t="11040" b="11040"/>
          <a:stretch>
            <a:fillRect/>
          </a:stretch>
        </p:blipFill>
        <p:spPr>
          <a:xfrm>
            <a:off x="495300" y="1733550"/>
            <a:ext cx="2076450" cy="1866900"/>
          </a:xfrm>
          <a:prstGeom prst="roundRect">
            <a:avLst>
              <a:gd name="adj" fmla="val 6122"/>
            </a:avLst>
          </a:prstGeom>
        </p:spPr>
      </p:pic>
      <p:sp>
        <p:nvSpPr>
          <p:cNvPr id="7" name="Rectangle: Rounded Corners 6">
            <a:extLst>
              <a:ext uri="{FF2B5EF4-FFF2-40B4-BE49-F238E27FC236}">
                <a16:creationId xmlns:a16="http://schemas.microsoft.com/office/drawing/2014/main" id="{15CBB312-BEDE-4E08-ABC5-4CB9B1BDAC4B}"/>
              </a:ext>
            </a:extLst>
          </p:cNvPr>
          <p:cNvSpPr>
            <a:spLocks noGrp="1"/>
          </p:cNvSpPr>
          <p:nvPr/>
        </p:nvSpPr>
        <p:spPr>
          <a:xfrm>
            <a:off x="49530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8" name="Rectangle 7">
            <a:extLst>
              <a:ext uri="{FF2B5EF4-FFF2-40B4-BE49-F238E27FC236}">
                <a16:creationId xmlns:a16="http://schemas.microsoft.com/office/drawing/2014/main" id="{837FB4A8-3E2B-4702-89DE-0FF6D74A9F7F}"/>
              </a:ext>
            </a:extLst>
          </p:cNvPr>
          <p:cNvSpPr>
            <a:spLocks noGrp="1"/>
          </p:cNvSpPr>
          <p:nvPr/>
        </p:nvSpPr>
        <p:spPr>
          <a:xfrm>
            <a:off x="60960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DOG</a:t>
            </a:r>
          </a:p>
        </p:txBody>
      </p:sp>
      <p:sp>
        <p:nvSpPr>
          <p:cNvPr id="9" name="Rectangle 8">
            <a:extLst>
              <a:ext uri="{FF2B5EF4-FFF2-40B4-BE49-F238E27FC236}">
                <a16:creationId xmlns:a16="http://schemas.microsoft.com/office/drawing/2014/main" id="{47823AB9-46EA-40F6-BE83-2C0C3C641574}"/>
              </a:ext>
            </a:extLst>
          </p:cNvPr>
          <p:cNvSpPr>
            <a:spLocks noGrp="1"/>
          </p:cNvSpPr>
          <p:nvPr/>
        </p:nvSpPr>
        <p:spPr>
          <a:xfrm>
            <a:off x="60960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fidelity / pet / status</a:t>
            </a:r>
          </a:p>
        </p:txBody>
      </p:sp>
      <p:pic>
        <p:nvPicPr>
          <p:cNvPr id="39" name="Picture 38"/>
          <p:cNvPicPr>
            <a:picLocks noChangeAspect="1"/>
          </p:cNvPicPr>
          <p:nvPr/>
        </p:nvPicPr>
        <p:blipFill>
          <a:blip r:embed="rId5"/>
          <a:srcRect l="7788" r="7788"/>
          <a:stretch>
            <a:fillRect/>
          </a:stretch>
        </p:blipFill>
        <p:spPr>
          <a:xfrm>
            <a:off x="2800350" y="1733550"/>
            <a:ext cx="2076450" cy="1866900"/>
          </a:xfrm>
          <a:prstGeom prst="roundRect">
            <a:avLst>
              <a:gd name="adj" fmla="val 6122"/>
            </a:avLst>
          </a:prstGeom>
        </p:spPr>
      </p:pic>
      <p:sp>
        <p:nvSpPr>
          <p:cNvPr id="11" name="Rectangle: Rounded Corners 10">
            <a:extLst>
              <a:ext uri="{FF2B5EF4-FFF2-40B4-BE49-F238E27FC236}">
                <a16:creationId xmlns:a16="http://schemas.microsoft.com/office/drawing/2014/main" id="{6C514E18-D218-4B09-B23E-D43085A13596}"/>
              </a:ext>
            </a:extLst>
          </p:cNvPr>
          <p:cNvSpPr>
            <a:spLocks noGrp="1"/>
          </p:cNvSpPr>
          <p:nvPr/>
        </p:nvSpPr>
        <p:spPr>
          <a:xfrm>
            <a:off x="280035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12" name="Rectangle 11">
            <a:extLst>
              <a:ext uri="{FF2B5EF4-FFF2-40B4-BE49-F238E27FC236}">
                <a16:creationId xmlns:a16="http://schemas.microsoft.com/office/drawing/2014/main" id="{C6E5E03B-2130-492C-8A15-3392922412DD}"/>
              </a:ext>
            </a:extLst>
          </p:cNvPr>
          <p:cNvSpPr>
            <a:spLocks noGrp="1"/>
          </p:cNvSpPr>
          <p:nvPr/>
        </p:nvSpPr>
        <p:spPr>
          <a:xfrm>
            <a:off x="291465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SHOES</a:t>
            </a:r>
          </a:p>
        </p:txBody>
      </p:sp>
      <p:sp>
        <p:nvSpPr>
          <p:cNvPr id="13" name="Rectangle 12">
            <a:extLst>
              <a:ext uri="{FF2B5EF4-FFF2-40B4-BE49-F238E27FC236}">
                <a16:creationId xmlns:a16="http://schemas.microsoft.com/office/drawing/2014/main" id="{C9BF2A2F-9678-4440-AE6B-B46FDA1801A4}"/>
              </a:ext>
            </a:extLst>
          </p:cNvPr>
          <p:cNvSpPr>
            <a:spLocks noGrp="1"/>
          </p:cNvSpPr>
          <p:nvPr/>
        </p:nvSpPr>
        <p:spPr>
          <a:xfrm>
            <a:off x="291465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sacred / ordinary</a:t>
            </a:r>
          </a:p>
        </p:txBody>
      </p:sp>
      <p:pic>
        <p:nvPicPr>
          <p:cNvPr id="43" name="Picture 42"/>
          <p:cNvPicPr>
            <a:picLocks noChangeAspect="1"/>
          </p:cNvPicPr>
          <p:nvPr/>
        </p:nvPicPr>
        <p:blipFill>
          <a:blip r:embed="rId6"/>
          <a:srcRect t="28706" b="28706"/>
          <a:stretch>
            <a:fillRect/>
          </a:stretch>
        </p:blipFill>
        <p:spPr>
          <a:xfrm>
            <a:off x="5105400" y="1733550"/>
            <a:ext cx="2076450" cy="1866900"/>
          </a:xfrm>
          <a:prstGeom prst="roundRect">
            <a:avLst>
              <a:gd name="adj" fmla="val 6122"/>
            </a:avLst>
          </a:prstGeom>
        </p:spPr>
      </p:pic>
      <p:sp>
        <p:nvSpPr>
          <p:cNvPr id="15" name="Rectangle: Rounded Corners 14">
            <a:extLst>
              <a:ext uri="{FF2B5EF4-FFF2-40B4-BE49-F238E27FC236}">
                <a16:creationId xmlns:a16="http://schemas.microsoft.com/office/drawing/2014/main" id="{E92E7651-2ACA-488B-BE61-1E32AFD23DEC}"/>
              </a:ext>
            </a:extLst>
          </p:cNvPr>
          <p:cNvSpPr>
            <a:spLocks noGrp="1"/>
          </p:cNvSpPr>
          <p:nvPr/>
        </p:nvSpPr>
        <p:spPr>
          <a:xfrm>
            <a:off x="510540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16" name="Rectangle 15">
            <a:extLst>
              <a:ext uri="{FF2B5EF4-FFF2-40B4-BE49-F238E27FC236}">
                <a16:creationId xmlns:a16="http://schemas.microsoft.com/office/drawing/2014/main" id="{29DC1280-2866-44A6-AA2D-33838B8753A4}"/>
              </a:ext>
            </a:extLst>
          </p:cNvPr>
          <p:cNvSpPr>
            <a:spLocks noGrp="1"/>
          </p:cNvSpPr>
          <p:nvPr/>
        </p:nvSpPr>
        <p:spPr>
          <a:xfrm>
            <a:off x="521970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BEADS</a:t>
            </a:r>
          </a:p>
        </p:txBody>
      </p:sp>
      <p:sp>
        <p:nvSpPr>
          <p:cNvPr id="17" name="Rectangle 16">
            <a:extLst>
              <a:ext uri="{FF2B5EF4-FFF2-40B4-BE49-F238E27FC236}">
                <a16:creationId xmlns:a16="http://schemas.microsoft.com/office/drawing/2014/main" id="{12EA5953-E3E3-4A50-BC09-DA3FFE309A8A}"/>
              </a:ext>
            </a:extLst>
          </p:cNvPr>
          <p:cNvSpPr>
            <a:spLocks noGrp="1"/>
          </p:cNvSpPr>
          <p:nvPr/>
        </p:nvSpPr>
        <p:spPr>
          <a:xfrm>
            <a:off x="521970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devotion / precious object</a:t>
            </a:r>
          </a:p>
        </p:txBody>
      </p:sp>
      <p:pic>
        <p:nvPicPr>
          <p:cNvPr id="47" name="Picture 46"/>
          <p:cNvPicPr>
            <a:picLocks noChangeAspect="1"/>
          </p:cNvPicPr>
          <p:nvPr/>
        </p:nvPicPr>
        <p:blipFill>
          <a:blip r:embed="rId7"/>
          <a:srcRect t="5046" b="5046"/>
          <a:stretch>
            <a:fillRect/>
          </a:stretch>
        </p:blipFill>
        <p:spPr>
          <a:xfrm>
            <a:off x="7410450" y="1733550"/>
            <a:ext cx="2076450" cy="1866900"/>
          </a:xfrm>
          <a:prstGeom prst="roundRect">
            <a:avLst>
              <a:gd name="adj" fmla="val 6122"/>
            </a:avLst>
          </a:prstGeom>
        </p:spPr>
      </p:pic>
      <p:sp>
        <p:nvSpPr>
          <p:cNvPr id="19" name="Rectangle: Rounded Corners 18">
            <a:extLst>
              <a:ext uri="{FF2B5EF4-FFF2-40B4-BE49-F238E27FC236}">
                <a16:creationId xmlns:a16="http://schemas.microsoft.com/office/drawing/2014/main" id="{0539EBBA-C110-4739-B6BD-B36E4D5D6766}"/>
              </a:ext>
            </a:extLst>
          </p:cNvPr>
          <p:cNvSpPr>
            <a:spLocks noGrp="1"/>
          </p:cNvSpPr>
          <p:nvPr/>
        </p:nvSpPr>
        <p:spPr>
          <a:xfrm>
            <a:off x="741045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20" name="Rectangle 19">
            <a:extLst>
              <a:ext uri="{FF2B5EF4-FFF2-40B4-BE49-F238E27FC236}">
                <a16:creationId xmlns:a16="http://schemas.microsoft.com/office/drawing/2014/main" id="{3AAC9CB5-ED9B-4B54-B8CB-FF8E9A21E16B}"/>
              </a:ext>
            </a:extLst>
          </p:cNvPr>
          <p:cNvSpPr>
            <a:spLocks noGrp="1"/>
          </p:cNvSpPr>
          <p:nvPr/>
        </p:nvSpPr>
        <p:spPr>
          <a:xfrm>
            <a:off x="752475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ORANGES</a:t>
            </a:r>
          </a:p>
        </p:txBody>
      </p:sp>
      <p:sp>
        <p:nvSpPr>
          <p:cNvPr id="21" name="Rectangle 20">
            <a:extLst>
              <a:ext uri="{FF2B5EF4-FFF2-40B4-BE49-F238E27FC236}">
                <a16:creationId xmlns:a16="http://schemas.microsoft.com/office/drawing/2014/main" id="{3176D528-0C03-4ECF-B283-FE50F6220ED8}"/>
              </a:ext>
            </a:extLst>
          </p:cNvPr>
          <p:cNvSpPr>
            <a:spLocks noGrp="1"/>
          </p:cNvSpPr>
          <p:nvPr/>
        </p:nvSpPr>
        <p:spPr>
          <a:xfrm>
            <a:off x="752475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religion / trade / wealth</a:t>
            </a:r>
          </a:p>
        </p:txBody>
      </p:sp>
      <p:pic>
        <p:nvPicPr>
          <p:cNvPr id="51" name="Picture 50"/>
          <p:cNvPicPr>
            <a:picLocks noChangeAspect="1"/>
          </p:cNvPicPr>
          <p:nvPr/>
        </p:nvPicPr>
        <p:blipFill>
          <a:blip r:embed="rId8"/>
          <a:srcRect t="5046" b="5046"/>
          <a:stretch>
            <a:fillRect/>
          </a:stretch>
        </p:blipFill>
        <p:spPr>
          <a:xfrm>
            <a:off x="9715500" y="1733550"/>
            <a:ext cx="2076450" cy="1866900"/>
          </a:xfrm>
          <a:prstGeom prst="roundRect">
            <a:avLst>
              <a:gd name="adj" fmla="val 6122"/>
            </a:avLst>
          </a:prstGeom>
        </p:spPr>
      </p:pic>
      <p:sp>
        <p:nvSpPr>
          <p:cNvPr id="23" name="Rectangle: Rounded Corners 22">
            <a:extLst>
              <a:ext uri="{FF2B5EF4-FFF2-40B4-BE49-F238E27FC236}">
                <a16:creationId xmlns:a16="http://schemas.microsoft.com/office/drawing/2014/main" id="{F901B63B-752E-49FF-A070-37D9B17A8C2B}"/>
              </a:ext>
            </a:extLst>
          </p:cNvPr>
          <p:cNvSpPr>
            <a:spLocks noGrp="1"/>
          </p:cNvSpPr>
          <p:nvPr/>
        </p:nvSpPr>
        <p:spPr>
          <a:xfrm>
            <a:off x="9715500" y="3600450"/>
            <a:ext cx="2076450" cy="1390650"/>
          </a:xfrm>
          <a:prstGeom prst="roundRect">
            <a:avLst>
              <a:gd name="adj" fmla="val 8219"/>
            </a:avLst>
          </a:prstGeom>
          <a:solidFill>
            <a:srgbClr val="10150F"/>
          </a:solidFill>
          <a:ln w="9525">
            <a:solidFill>
              <a:srgbClr val="6E674E"/>
            </a:solidFill>
            <a:prstDash val="solid"/>
          </a:ln>
        </p:spPr>
        <p:txBody>
          <a:bodyPr/>
          <a:lstStyle/>
          <a:p>
            <a:endParaRPr lang="en-US"/>
          </a:p>
        </p:txBody>
      </p:sp>
      <p:sp>
        <p:nvSpPr>
          <p:cNvPr id="24" name="Rectangle 23">
            <a:extLst>
              <a:ext uri="{FF2B5EF4-FFF2-40B4-BE49-F238E27FC236}">
                <a16:creationId xmlns:a16="http://schemas.microsoft.com/office/drawing/2014/main" id="{D0454093-899C-4C1A-81B9-6796EEA2F45A}"/>
              </a:ext>
            </a:extLst>
          </p:cNvPr>
          <p:cNvSpPr>
            <a:spLocks noGrp="1"/>
          </p:cNvSpPr>
          <p:nvPr/>
        </p:nvSpPr>
        <p:spPr>
          <a:xfrm>
            <a:off x="9829800" y="3771900"/>
            <a:ext cx="1847850" cy="247650"/>
          </a:xfrm>
          <a:prstGeom prst="rect">
            <a:avLst/>
          </a:prstGeom>
          <a:noFill/>
          <a:ln w="0">
            <a:noFill/>
            <a:prstDash val="solid"/>
          </a:ln>
        </p:spPr>
        <p:txBody>
          <a:bodyPr anchor="t"/>
          <a:lstStyle/>
          <a:p>
            <a:pPr>
              <a:defRPr sz="1275" b="1" i="0">
                <a:solidFill>
                  <a:srgbClr val="D7A84B"/>
                </a:solidFill>
              </a:defRPr>
            </a:pPr>
            <a:r>
              <a:rPr sz="1275" b="1" i="0">
                <a:solidFill>
                  <a:srgbClr val="D7A84B"/>
                </a:solidFill>
              </a:rPr>
              <a:t>CANDLE</a:t>
            </a:r>
          </a:p>
        </p:txBody>
      </p:sp>
      <p:sp>
        <p:nvSpPr>
          <p:cNvPr id="25" name="Rectangle 24">
            <a:extLst>
              <a:ext uri="{FF2B5EF4-FFF2-40B4-BE49-F238E27FC236}">
                <a16:creationId xmlns:a16="http://schemas.microsoft.com/office/drawing/2014/main" id="{EF2AE91A-C227-4180-8EE7-B0829505B54E}"/>
              </a:ext>
            </a:extLst>
          </p:cNvPr>
          <p:cNvSpPr>
            <a:spLocks noGrp="1"/>
          </p:cNvSpPr>
          <p:nvPr/>
        </p:nvSpPr>
        <p:spPr>
          <a:xfrm>
            <a:off x="9829800" y="4171950"/>
            <a:ext cx="1847850" cy="495300"/>
          </a:xfrm>
          <a:prstGeom prst="rect">
            <a:avLst/>
          </a:prstGeom>
          <a:noFill/>
          <a:ln w="0">
            <a:noFill/>
            <a:prstDash val="solid"/>
          </a:ln>
        </p:spPr>
        <p:txBody>
          <a:bodyPr anchor="t"/>
          <a:lstStyle/>
          <a:p>
            <a:pPr>
              <a:defRPr sz="1050" b="0" i="0">
                <a:solidFill>
                  <a:srgbClr val="F5EBD8"/>
                </a:solidFill>
              </a:defRPr>
            </a:pPr>
            <a:r>
              <a:rPr sz="1050" b="0" i="0">
                <a:solidFill>
                  <a:srgbClr val="F5EBD8"/>
                </a:solidFill>
              </a:rPr>
              <a:t>presence / life / death</a:t>
            </a:r>
          </a:p>
        </p:txBody>
      </p:sp>
      <p:sp>
        <p:nvSpPr>
          <p:cNvPr id="26" name="Rectangle 25">
            <a:extLst>
              <a:ext uri="{FF2B5EF4-FFF2-40B4-BE49-F238E27FC236}">
                <a16:creationId xmlns:a16="http://schemas.microsoft.com/office/drawing/2014/main" id="{F5435466-B8C5-4608-AEF9-A8106DD23826}"/>
              </a:ext>
            </a:extLst>
          </p:cNvPr>
          <p:cNvSpPr>
            <a:spLocks noGrp="1"/>
          </p:cNvSpPr>
          <p:nvPr/>
        </p:nvSpPr>
        <p:spPr>
          <a:xfrm>
            <a:off x="3143250" y="5295900"/>
            <a:ext cx="5905500" cy="342900"/>
          </a:xfrm>
          <a:prstGeom prst="rect">
            <a:avLst/>
          </a:prstGeom>
          <a:noFill/>
          <a:ln w="0">
            <a:noFill/>
            <a:prstDash val="solid"/>
          </a:ln>
        </p:spPr>
        <p:txBody>
          <a:bodyPr anchor="t"/>
          <a:lstStyle/>
          <a:p>
            <a:pPr>
              <a:defRPr sz="1650" b="1" i="0">
                <a:solidFill>
                  <a:srgbClr val="FFFDF7"/>
                </a:solidFill>
              </a:defRPr>
            </a:pPr>
            <a:r>
              <a:rPr sz="1650" b="1" i="0">
                <a:solidFill>
                  <a:srgbClr val="FFFDF7"/>
                </a:solidFill>
              </a:rPr>
              <a:t>OBJECT → OVERLAPPING MEANINGS</a:t>
            </a:r>
          </a:p>
        </p:txBody>
      </p:sp>
      <p:sp>
        <p:nvSpPr>
          <p:cNvPr id="27" name="Rectangle 26">
            <a:extLst>
              <a:ext uri="{FF2B5EF4-FFF2-40B4-BE49-F238E27FC236}">
                <a16:creationId xmlns:a16="http://schemas.microsoft.com/office/drawing/2014/main" id="{DD7BAB00-AE72-4549-AAAF-08BD2E3CDC1B}"/>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7D66C4D2-99E5-49A4-97CF-82CB4E54EE2D}"/>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Objects do not equal one answer; meanings can overlap.</a:t>
            </a:r>
          </a:p>
        </p:txBody>
      </p:sp>
      <p:sp>
        <p:nvSpPr>
          <p:cNvPr id="29" name="Rectangle 28">
            <a:extLst>
              <a:ext uri="{FF2B5EF4-FFF2-40B4-BE49-F238E27FC236}">
                <a16:creationId xmlns:a16="http://schemas.microsoft.com/office/drawing/2014/main" id="{C7B3CC18-151E-4EF4-9365-B87AA02E5247}"/>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30062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B0C15BF-FE38-42D3-9908-289060EEE135}"/>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8F4E72D2-1A8C-4027-A6CB-D8135F837DB0}"/>
              </a:ext>
            </a:extLst>
          </p:cNvPr>
          <p:cNvSpPr>
            <a:spLocks noGrp="1"/>
          </p:cNvSpPr>
          <p:nvPr/>
        </p:nvSpPr>
        <p:spPr>
          <a:xfrm>
            <a:off x="609600" y="590550"/>
            <a:ext cx="9906000" cy="666750"/>
          </a:xfrm>
          <a:prstGeom prst="rect">
            <a:avLst/>
          </a:prstGeom>
          <a:noFill/>
          <a:ln w="0">
            <a:noFill/>
            <a:prstDash val="solid"/>
          </a:ln>
        </p:spPr>
        <p:txBody>
          <a:bodyPr anchor="t"/>
          <a:lstStyle/>
          <a:p>
            <a:pPr>
              <a:defRPr sz="2625" b="1" i="0">
                <a:solidFill>
                  <a:srgbClr val="FFFDF7"/>
                </a:solidFill>
              </a:defRPr>
            </a:pPr>
            <a:r>
              <a:rPr sz="2625" b="1" i="0">
                <a:solidFill>
                  <a:srgbClr val="FFFDF7"/>
                </a:solidFill>
              </a:rPr>
              <a:t>The Painting Changes Under Infrared Light</a:t>
            </a:r>
          </a:p>
        </p:txBody>
      </p:sp>
      <p:sp>
        <p:nvSpPr>
          <p:cNvPr id="4" name="Rectangle 3">
            <a:extLst>
              <a:ext uri="{FF2B5EF4-FFF2-40B4-BE49-F238E27FC236}">
                <a16:creationId xmlns:a16="http://schemas.microsoft.com/office/drawing/2014/main" id="{3CA7A0B0-EF78-4A9E-BDB2-BDA106F162FF}"/>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90CD1C38-F714-4445-A704-04E18D7BCC57}"/>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13</a:t>
            </a:r>
          </a:p>
        </p:txBody>
      </p:sp>
      <p:sp>
        <p:nvSpPr>
          <p:cNvPr id="6" name="Rectangle: Rounded Corners 5">
            <a:extLst>
              <a:ext uri="{FF2B5EF4-FFF2-40B4-BE49-F238E27FC236}">
                <a16:creationId xmlns:a16="http://schemas.microsoft.com/office/drawing/2014/main" id="{EF602201-ADF5-4872-B962-97B075B53691}"/>
              </a:ext>
            </a:extLst>
          </p:cNvPr>
          <p:cNvSpPr>
            <a:spLocks noGrp="1"/>
          </p:cNvSpPr>
          <p:nvPr/>
        </p:nvSpPr>
        <p:spPr>
          <a:xfrm>
            <a:off x="685800" y="1885950"/>
            <a:ext cx="3371850" cy="2438400"/>
          </a:xfrm>
          <a:prstGeom prst="roundRect">
            <a:avLst>
              <a:gd name="adj" fmla="val 4688"/>
            </a:avLst>
          </a:prstGeom>
          <a:solidFill>
            <a:srgbClr val="10150F"/>
          </a:solidFill>
          <a:ln w="9525">
            <a:solidFill>
              <a:srgbClr val="6E674E"/>
            </a:solidFill>
            <a:prstDash val="solid"/>
          </a:ln>
        </p:spPr>
        <p:txBody>
          <a:bodyPr/>
          <a:lstStyle/>
          <a:p>
            <a:endParaRPr lang="en-US"/>
          </a:p>
        </p:txBody>
      </p:sp>
      <p:sp>
        <p:nvSpPr>
          <p:cNvPr id="7" name="Rectangle: Rounded Corners 6">
            <a:extLst>
              <a:ext uri="{FF2B5EF4-FFF2-40B4-BE49-F238E27FC236}">
                <a16:creationId xmlns:a16="http://schemas.microsoft.com/office/drawing/2014/main" id="{A67CB92D-40F5-470A-B036-569795F962E1}"/>
              </a:ext>
            </a:extLst>
          </p:cNvPr>
          <p:cNvSpPr>
            <a:spLocks noGrp="1"/>
          </p:cNvSpPr>
          <p:nvPr/>
        </p:nvSpPr>
        <p:spPr>
          <a:xfrm>
            <a:off x="685800" y="1885950"/>
            <a:ext cx="57150" cy="2438400"/>
          </a:xfrm>
          <a:prstGeom prst="roundRect">
            <a:avLst>
              <a:gd name="adj" fmla="val 50000"/>
            </a:avLst>
          </a:prstGeom>
          <a:solidFill>
            <a:srgbClr val="D7A84B"/>
          </a:solidFill>
          <a:ln w="0">
            <a:noFill/>
            <a:prstDash val="solid"/>
          </a:ln>
        </p:spPr>
        <p:txBody>
          <a:bodyPr/>
          <a:lstStyle/>
          <a:p>
            <a:endParaRPr lang="en-US"/>
          </a:p>
        </p:txBody>
      </p:sp>
      <p:sp>
        <p:nvSpPr>
          <p:cNvPr id="8" name="Rectangle 7">
            <a:extLst>
              <a:ext uri="{FF2B5EF4-FFF2-40B4-BE49-F238E27FC236}">
                <a16:creationId xmlns:a16="http://schemas.microsoft.com/office/drawing/2014/main" id="{7041382F-2A33-482B-B1BB-D326F52B307A}"/>
              </a:ext>
            </a:extLst>
          </p:cNvPr>
          <p:cNvSpPr>
            <a:spLocks noGrp="1"/>
          </p:cNvSpPr>
          <p:nvPr/>
        </p:nvSpPr>
        <p:spPr>
          <a:xfrm>
            <a:off x="914400" y="2057400"/>
            <a:ext cx="29527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INITIAL DESIGN</a:t>
            </a:r>
          </a:p>
        </p:txBody>
      </p:sp>
      <p:sp>
        <p:nvSpPr>
          <p:cNvPr id="9" name="Rectangle 8">
            <a:extLst>
              <a:ext uri="{FF2B5EF4-FFF2-40B4-BE49-F238E27FC236}">
                <a16:creationId xmlns:a16="http://schemas.microsoft.com/office/drawing/2014/main" id="{169D10D2-60EC-4A22-B907-603E9C5473F9}"/>
              </a:ext>
            </a:extLst>
          </p:cNvPr>
          <p:cNvSpPr>
            <a:spLocks noGrp="1"/>
          </p:cNvSpPr>
          <p:nvPr/>
        </p:nvSpPr>
        <p:spPr>
          <a:xfrm>
            <a:off x="914400" y="2457450"/>
            <a:ext cx="2952750" cy="17526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Underdrawing: figures, furniture, architecture</a:t>
            </a:r>
          </a:p>
        </p:txBody>
      </p:sp>
      <p:sp>
        <p:nvSpPr>
          <p:cNvPr id="10" name="Rectangle 9">
            <a:extLst>
              <a:ext uri="{FF2B5EF4-FFF2-40B4-BE49-F238E27FC236}">
                <a16:creationId xmlns:a16="http://schemas.microsoft.com/office/drawing/2014/main" id="{6B397627-7AFE-4C3A-B6E4-3F04BF92D58A}"/>
              </a:ext>
            </a:extLst>
          </p:cNvPr>
          <p:cNvSpPr>
            <a:spLocks noGrp="1"/>
          </p:cNvSpPr>
          <p:nvPr/>
        </p:nvSpPr>
        <p:spPr>
          <a:xfrm>
            <a:off x="4076700" y="2838450"/>
            <a:ext cx="361950" cy="457200"/>
          </a:xfrm>
          <a:prstGeom prst="rect">
            <a:avLst/>
          </a:prstGeom>
          <a:noFill/>
          <a:ln w="0">
            <a:noFill/>
            <a:prstDash val="solid"/>
          </a:ln>
        </p:spPr>
        <p:txBody>
          <a:bodyPr anchor="t"/>
          <a:lstStyle/>
          <a:p>
            <a:pPr>
              <a:defRPr sz="2550" b="1" i="0">
                <a:solidFill>
                  <a:srgbClr val="D7A84B"/>
                </a:solidFill>
              </a:defRPr>
            </a:pPr>
            <a:r>
              <a:rPr sz="2550" b="1" i="0">
                <a:solidFill>
                  <a:srgbClr val="D7A84B"/>
                </a:solidFill>
              </a:rPr>
              <a:t>→</a:t>
            </a:r>
          </a:p>
        </p:txBody>
      </p:sp>
      <p:sp>
        <p:nvSpPr>
          <p:cNvPr id="11" name="Rectangle: Rounded Corners 10">
            <a:extLst>
              <a:ext uri="{FF2B5EF4-FFF2-40B4-BE49-F238E27FC236}">
                <a16:creationId xmlns:a16="http://schemas.microsoft.com/office/drawing/2014/main" id="{45B4DC16-3A06-474C-8571-2EA6875D7F21}"/>
              </a:ext>
            </a:extLst>
          </p:cNvPr>
          <p:cNvSpPr>
            <a:spLocks noGrp="1"/>
          </p:cNvSpPr>
          <p:nvPr/>
        </p:nvSpPr>
        <p:spPr>
          <a:xfrm>
            <a:off x="4438650" y="1885950"/>
            <a:ext cx="3371850" cy="2438400"/>
          </a:xfrm>
          <a:prstGeom prst="roundRect">
            <a:avLst>
              <a:gd name="adj" fmla="val 4688"/>
            </a:avLst>
          </a:prstGeom>
          <a:solidFill>
            <a:srgbClr val="10150F"/>
          </a:solidFill>
          <a:ln w="9525">
            <a:solidFill>
              <a:srgbClr val="6E674E"/>
            </a:solidFill>
            <a:prstDash val="solid"/>
          </a:ln>
        </p:spPr>
        <p:txBody>
          <a:bodyPr/>
          <a:lstStyle/>
          <a:p>
            <a:endParaRPr lang="en-US"/>
          </a:p>
        </p:txBody>
      </p:sp>
      <p:sp>
        <p:nvSpPr>
          <p:cNvPr id="12" name="Rectangle: Rounded Corners 11">
            <a:extLst>
              <a:ext uri="{FF2B5EF4-FFF2-40B4-BE49-F238E27FC236}">
                <a16:creationId xmlns:a16="http://schemas.microsoft.com/office/drawing/2014/main" id="{072B039C-AC99-4BA2-B98E-F3B8358EC696}"/>
              </a:ext>
            </a:extLst>
          </p:cNvPr>
          <p:cNvSpPr>
            <a:spLocks noGrp="1"/>
          </p:cNvSpPr>
          <p:nvPr/>
        </p:nvSpPr>
        <p:spPr>
          <a:xfrm>
            <a:off x="4438650" y="1885950"/>
            <a:ext cx="57150" cy="2438400"/>
          </a:xfrm>
          <a:prstGeom prst="roundRect">
            <a:avLst>
              <a:gd name="adj" fmla="val 50000"/>
            </a:avLst>
          </a:prstGeom>
          <a:solidFill>
            <a:srgbClr val="6A2433"/>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6246E55C-750A-4F62-B375-FE33E4CD374D}"/>
              </a:ext>
            </a:extLst>
          </p:cNvPr>
          <p:cNvSpPr>
            <a:spLocks noGrp="1"/>
          </p:cNvSpPr>
          <p:nvPr/>
        </p:nvSpPr>
        <p:spPr>
          <a:xfrm>
            <a:off x="4667250" y="2057400"/>
            <a:ext cx="29527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ADDED WHILE PAINTING</a:t>
            </a:r>
          </a:p>
        </p:txBody>
      </p:sp>
      <p:sp>
        <p:nvSpPr>
          <p:cNvPr id="14" name="Rectangle 13">
            <a:extLst>
              <a:ext uri="{FF2B5EF4-FFF2-40B4-BE49-F238E27FC236}">
                <a16:creationId xmlns:a16="http://schemas.microsoft.com/office/drawing/2014/main" id="{E5F7D50F-EEBB-4CDA-9DEA-A9200439E2C0}"/>
              </a:ext>
            </a:extLst>
          </p:cNvPr>
          <p:cNvSpPr>
            <a:spLocks noGrp="1"/>
          </p:cNvSpPr>
          <p:nvPr/>
        </p:nvSpPr>
        <p:spPr>
          <a:xfrm>
            <a:off x="4667250" y="2457450"/>
            <a:ext cx="2952750" cy="17526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Added while painting: dog, chandelier, shoes, beads</a:t>
            </a:r>
          </a:p>
        </p:txBody>
      </p:sp>
      <p:sp>
        <p:nvSpPr>
          <p:cNvPr id="15" name="Rectangle 14">
            <a:extLst>
              <a:ext uri="{FF2B5EF4-FFF2-40B4-BE49-F238E27FC236}">
                <a16:creationId xmlns:a16="http://schemas.microsoft.com/office/drawing/2014/main" id="{047DE257-2AB3-4155-92D7-19635B8B9811}"/>
              </a:ext>
            </a:extLst>
          </p:cNvPr>
          <p:cNvSpPr>
            <a:spLocks noGrp="1"/>
          </p:cNvSpPr>
          <p:nvPr/>
        </p:nvSpPr>
        <p:spPr>
          <a:xfrm>
            <a:off x="7829550" y="2838450"/>
            <a:ext cx="361950" cy="457200"/>
          </a:xfrm>
          <a:prstGeom prst="rect">
            <a:avLst/>
          </a:prstGeom>
          <a:noFill/>
          <a:ln w="0">
            <a:noFill/>
            <a:prstDash val="solid"/>
          </a:ln>
        </p:spPr>
        <p:txBody>
          <a:bodyPr anchor="t"/>
          <a:lstStyle/>
          <a:p>
            <a:pPr>
              <a:defRPr sz="2550" b="1" i="0">
                <a:solidFill>
                  <a:srgbClr val="D7A84B"/>
                </a:solidFill>
              </a:defRPr>
            </a:pPr>
            <a:r>
              <a:rPr sz="2550" b="1" i="0">
                <a:solidFill>
                  <a:srgbClr val="D7A84B"/>
                </a:solidFill>
              </a:rPr>
              <a:t>→</a:t>
            </a:r>
          </a:p>
        </p:txBody>
      </p:sp>
      <p:sp>
        <p:nvSpPr>
          <p:cNvPr id="16" name="Rectangle: Rounded Corners 15">
            <a:extLst>
              <a:ext uri="{FF2B5EF4-FFF2-40B4-BE49-F238E27FC236}">
                <a16:creationId xmlns:a16="http://schemas.microsoft.com/office/drawing/2014/main" id="{958B6159-EBD2-489C-B19C-A36A259320C7}"/>
              </a:ext>
            </a:extLst>
          </p:cNvPr>
          <p:cNvSpPr>
            <a:spLocks noGrp="1"/>
          </p:cNvSpPr>
          <p:nvPr/>
        </p:nvSpPr>
        <p:spPr>
          <a:xfrm>
            <a:off x="8191500" y="1885950"/>
            <a:ext cx="3371850" cy="2438400"/>
          </a:xfrm>
          <a:prstGeom prst="roundRect">
            <a:avLst>
              <a:gd name="adj" fmla="val 4688"/>
            </a:avLst>
          </a:prstGeom>
          <a:solidFill>
            <a:srgbClr val="10150F"/>
          </a:solidFill>
          <a:ln w="9525">
            <a:solidFill>
              <a:srgbClr val="6E674E"/>
            </a:solidFill>
            <a:prstDash val="solid"/>
          </a:ln>
        </p:spPr>
        <p:txBody>
          <a:bodyPr/>
          <a:lstStyle/>
          <a:p>
            <a:endParaRPr lang="en-US"/>
          </a:p>
        </p:txBody>
      </p:sp>
      <p:sp>
        <p:nvSpPr>
          <p:cNvPr id="17" name="Rectangle: Rounded Corners 16">
            <a:extLst>
              <a:ext uri="{FF2B5EF4-FFF2-40B4-BE49-F238E27FC236}">
                <a16:creationId xmlns:a16="http://schemas.microsoft.com/office/drawing/2014/main" id="{D0AE0B0F-D642-446D-BFD3-40E0C7E2467A}"/>
              </a:ext>
            </a:extLst>
          </p:cNvPr>
          <p:cNvSpPr>
            <a:spLocks noGrp="1"/>
          </p:cNvSpPr>
          <p:nvPr/>
        </p:nvSpPr>
        <p:spPr>
          <a:xfrm>
            <a:off x="8191500" y="1885950"/>
            <a:ext cx="57150" cy="2438400"/>
          </a:xfrm>
          <a:prstGeom prst="roundRect">
            <a:avLst>
              <a:gd name="adj" fmla="val 50000"/>
            </a:avLst>
          </a:prstGeom>
          <a:solidFill>
            <a:srgbClr val="D7A84B"/>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812A3BE-DE71-409E-9B2A-6EF49627BCF5}"/>
              </a:ext>
            </a:extLst>
          </p:cNvPr>
          <p:cNvSpPr>
            <a:spLocks noGrp="1"/>
          </p:cNvSpPr>
          <p:nvPr/>
        </p:nvSpPr>
        <p:spPr>
          <a:xfrm>
            <a:off x="8420100" y="2057400"/>
            <a:ext cx="29527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FINISHED IMAGE</a:t>
            </a:r>
          </a:p>
        </p:txBody>
      </p:sp>
      <p:sp>
        <p:nvSpPr>
          <p:cNvPr id="19" name="Rectangle 18">
            <a:extLst>
              <a:ext uri="{FF2B5EF4-FFF2-40B4-BE49-F238E27FC236}">
                <a16:creationId xmlns:a16="http://schemas.microsoft.com/office/drawing/2014/main" id="{72F7A360-2D23-446A-B30B-E7C64963E84C}"/>
              </a:ext>
            </a:extLst>
          </p:cNvPr>
          <p:cNvSpPr>
            <a:spLocks noGrp="1"/>
          </p:cNvSpPr>
          <p:nvPr/>
        </p:nvSpPr>
        <p:spPr>
          <a:xfrm>
            <a:off x="8420100" y="2457450"/>
            <a:ext cx="2952750" cy="1752600"/>
          </a:xfrm>
          <a:prstGeom prst="rect">
            <a:avLst/>
          </a:prstGeom>
          <a:noFill/>
          <a:ln w="0">
            <a:noFill/>
            <a:prstDash val="solid"/>
          </a:ln>
        </p:spPr>
        <p:txBody>
          <a:bodyPr anchor="t"/>
          <a:lstStyle/>
          <a:p>
            <a:pPr>
              <a:defRPr sz="1200" b="0" i="0">
                <a:solidFill>
                  <a:srgbClr val="C8BDA9"/>
                </a:solidFill>
              </a:defRPr>
            </a:pPr>
            <a:r>
              <a:rPr sz="1200" b="0" i="0">
                <a:solidFill>
                  <a:srgbClr val="C8BDA9"/>
                </a:solidFill>
              </a:rPr>
              <a:t>The sitters also changed</a:t>
            </a:r>
          </a:p>
        </p:txBody>
      </p:sp>
      <p:pic>
        <p:nvPicPr>
          <p:cNvPr id="44" name="Picture 43"/>
          <p:cNvPicPr>
            <a:picLocks noChangeAspect="1"/>
          </p:cNvPicPr>
          <p:nvPr/>
        </p:nvPicPr>
        <p:blipFill>
          <a:blip r:embed="rId4"/>
          <a:srcRect t="41068" b="41068"/>
          <a:stretch>
            <a:fillRect/>
          </a:stretch>
        </p:blipFill>
        <p:spPr>
          <a:xfrm>
            <a:off x="3562350" y="4552950"/>
            <a:ext cx="5067300" cy="1238250"/>
          </a:xfrm>
          <a:prstGeom prst="roundRect">
            <a:avLst>
              <a:gd name="adj" fmla="val 9231"/>
            </a:avLst>
          </a:prstGeom>
        </p:spPr>
      </p:pic>
      <p:sp>
        <p:nvSpPr>
          <p:cNvPr id="21" name="Rectangle 20">
            <a:extLst>
              <a:ext uri="{FF2B5EF4-FFF2-40B4-BE49-F238E27FC236}">
                <a16:creationId xmlns:a16="http://schemas.microsoft.com/office/drawing/2014/main" id="{8676C0FF-3E5A-4CC2-A736-5D9C2D794FA5}"/>
              </a:ext>
            </a:extLst>
          </p:cNvPr>
          <p:cNvSpPr>
            <a:spLocks noGrp="1"/>
          </p:cNvSpPr>
          <p:nvPr/>
        </p:nvSpPr>
        <p:spPr>
          <a:xfrm>
            <a:off x="3943350" y="5010150"/>
            <a:ext cx="4305300" cy="381000"/>
          </a:xfrm>
          <a:prstGeom prst="rect">
            <a:avLst/>
          </a:prstGeom>
          <a:noFill/>
          <a:ln w="0">
            <a:noFill/>
            <a:prstDash val="solid"/>
          </a:ln>
        </p:spPr>
        <p:txBody>
          <a:bodyPr anchor="t"/>
          <a:lstStyle/>
          <a:p>
            <a:pPr>
              <a:defRPr sz="1350" b="1" i="0">
                <a:solidFill>
                  <a:srgbClr val="FFFDF7"/>
                </a:solidFill>
              </a:defRPr>
            </a:pPr>
            <a:r>
              <a:rPr sz="1350" b="1" i="0">
                <a:solidFill>
                  <a:srgbClr val="FFFDF7"/>
                </a:solidFill>
              </a:rPr>
              <a:t>ADDED DURING PAINTING ≠ LATER RESTORATION</a:t>
            </a:r>
          </a:p>
        </p:txBody>
      </p:sp>
      <p:sp>
        <p:nvSpPr>
          <p:cNvPr id="22" name="Rectangle 21">
            <a:extLst>
              <a:ext uri="{FF2B5EF4-FFF2-40B4-BE49-F238E27FC236}">
                <a16:creationId xmlns:a16="http://schemas.microsoft.com/office/drawing/2014/main" id="{17C3B30F-C94C-4D6A-A2CA-DFAA18E0DDE5}"/>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6277FA9C-F696-4678-9617-46EFFE5F0F6B}"/>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Added during painting ≠ later restoration: the image records decisions.</a:t>
            </a:r>
          </a:p>
        </p:txBody>
      </p:sp>
      <p:sp>
        <p:nvSpPr>
          <p:cNvPr id="24" name="Rectangle 23">
            <a:extLst>
              <a:ext uri="{FF2B5EF4-FFF2-40B4-BE49-F238E27FC236}">
                <a16:creationId xmlns:a16="http://schemas.microsoft.com/office/drawing/2014/main" id="{53259066-821A-4A9D-8E0F-1CBA67D11606}"/>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269443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C634DB9-C3E1-44B7-B9C1-30464E4D1240}"/>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E694F820-4F64-4290-8139-33A15854317F}"/>
              </a:ext>
            </a:extLst>
          </p:cNvPr>
          <p:cNvSpPr>
            <a:spLocks noGrp="1"/>
          </p:cNvSpPr>
          <p:nvPr/>
        </p:nvSpPr>
        <p:spPr>
          <a:xfrm>
            <a:off x="609600" y="590550"/>
            <a:ext cx="9906000" cy="666750"/>
          </a:xfrm>
          <a:prstGeom prst="rect">
            <a:avLst/>
          </a:prstGeom>
          <a:noFill/>
          <a:ln w="0">
            <a:noFill/>
            <a:prstDash val="solid"/>
          </a:ln>
        </p:spPr>
        <p:txBody>
          <a:bodyPr anchor="t"/>
          <a:lstStyle/>
          <a:p>
            <a:pPr>
              <a:defRPr sz="2625" b="1" i="0">
                <a:solidFill>
                  <a:srgbClr val="FFFDF7"/>
                </a:solidFill>
              </a:defRPr>
            </a:pPr>
            <a:r>
              <a:rPr sz="2625" b="1" i="0">
                <a:solidFill>
                  <a:srgbClr val="FFFDF7"/>
                </a:solidFill>
              </a:rPr>
              <a:t>Five Centuries of Collection and Reinterpretation</a:t>
            </a:r>
          </a:p>
        </p:txBody>
      </p:sp>
      <p:sp>
        <p:nvSpPr>
          <p:cNvPr id="4" name="Rectangle 3">
            <a:extLst>
              <a:ext uri="{FF2B5EF4-FFF2-40B4-BE49-F238E27FC236}">
                <a16:creationId xmlns:a16="http://schemas.microsoft.com/office/drawing/2014/main" id="{3104102D-301F-4E67-A248-BE29D80D7E63}"/>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6CF8BB34-360D-4888-9B5F-2751DE9E89FA}"/>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14</a:t>
            </a:r>
          </a:p>
        </p:txBody>
      </p:sp>
      <p:sp>
        <p:nvSpPr>
          <p:cNvPr id="6" name="Rectangle 5">
            <a:extLst>
              <a:ext uri="{FF2B5EF4-FFF2-40B4-BE49-F238E27FC236}">
                <a16:creationId xmlns:a16="http://schemas.microsoft.com/office/drawing/2014/main" id="{556090D6-0C68-40B6-A056-F4F846721A67}"/>
              </a:ext>
            </a:extLst>
          </p:cNvPr>
          <p:cNvSpPr>
            <a:spLocks noGrp="1"/>
          </p:cNvSpPr>
          <p:nvPr/>
        </p:nvSpPr>
        <p:spPr>
          <a:xfrm>
            <a:off x="1047750" y="3238500"/>
            <a:ext cx="10096500" cy="38100"/>
          </a:xfrm>
          <a:prstGeom prst="rect">
            <a:avLst/>
          </a:prstGeom>
          <a:solidFill>
            <a:srgbClr val="D7A84B"/>
          </a:solidFill>
          <a:ln w="0">
            <a:noFill/>
            <a:prstDash val="solid"/>
          </a:ln>
        </p:spPr>
        <p:txBody>
          <a:bodyPr/>
          <a:lstStyle/>
          <a:p>
            <a:endParaRPr lang="en-US"/>
          </a:p>
        </p:txBody>
      </p:sp>
      <p:sp>
        <p:nvSpPr>
          <p:cNvPr id="7" name="Rectangle: Rounded Corners 6">
            <a:extLst>
              <a:ext uri="{FF2B5EF4-FFF2-40B4-BE49-F238E27FC236}">
                <a16:creationId xmlns:a16="http://schemas.microsoft.com/office/drawing/2014/main" id="{70CA7DBC-7D7B-444B-8241-5D8BAED5E6D1}"/>
              </a:ext>
            </a:extLst>
          </p:cNvPr>
          <p:cNvSpPr>
            <a:spLocks noGrp="1"/>
          </p:cNvSpPr>
          <p:nvPr/>
        </p:nvSpPr>
        <p:spPr>
          <a:xfrm>
            <a:off x="1143000" y="3143250"/>
            <a:ext cx="228600" cy="228600"/>
          </a:xfrm>
          <a:prstGeom prst="roundRect">
            <a:avLst>
              <a:gd name="adj" fmla="val 50000"/>
            </a:avLst>
          </a:prstGeom>
          <a:solidFill>
            <a:srgbClr val="163D31"/>
          </a:solidFill>
          <a:ln w="19050">
            <a:solidFill>
              <a:srgbClr val="D7A84B"/>
            </a:solidFill>
            <a:prstDash val="solid"/>
          </a:ln>
        </p:spPr>
        <p:txBody>
          <a:bodyPr/>
          <a:lstStyle/>
          <a:p>
            <a:endParaRPr lang="en-US"/>
          </a:p>
        </p:txBody>
      </p:sp>
      <p:sp>
        <p:nvSpPr>
          <p:cNvPr id="8" name="Rectangle 7">
            <a:extLst>
              <a:ext uri="{FF2B5EF4-FFF2-40B4-BE49-F238E27FC236}">
                <a16:creationId xmlns:a16="http://schemas.microsoft.com/office/drawing/2014/main" id="{CDB87745-2454-474C-AA14-D171B33F4EC6}"/>
              </a:ext>
            </a:extLst>
          </p:cNvPr>
          <p:cNvSpPr>
            <a:spLocks noGrp="1"/>
          </p:cNvSpPr>
          <p:nvPr/>
        </p:nvSpPr>
        <p:spPr>
          <a:xfrm>
            <a:off x="5715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1434</a:t>
            </a:r>
          </a:p>
        </p:txBody>
      </p:sp>
      <p:sp>
        <p:nvSpPr>
          <p:cNvPr id="9" name="Rectangle 8">
            <a:extLst>
              <a:ext uri="{FF2B5EF4-FFF2-40B4-BE49-F238E27FC236}">
                <a16:creationId xmlns:a16="http://schemas.microsoft.com/office/drawing/2014/main" id="{1D07F622-A205-4DDC-9935-8449063F482B}"/>
              </a:ext>
            </a:extLst>
          </p:cNvPr>
          <p:cNvSpPr>
            <a:spLocks noGrp="1"/>
          </p:cNvSpPr>
          <p:nvPr/>
        </p:nvSpPr>
        <p:spPr>
          <a:xfrm>
            <a:off x="4191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Completed</a:t>
            </a:r>
          </a:p>
        </p:txBody>
      </p:sp>
      <p:sp>
        <p:nvSpPr>
          <p:cNvPr id="10" name="Rectangle: Rounded Corners 9">
            <a:extLst>
              <a:ext uri="{FF2B5EF4-FFF2-40B4-BE49-F238E27FC236}">
                <a16:creationId xmlns:a16="http://schemas.microsoft.com/office/drawing/2014/main" id="{6009B72B-FCA4-434A-A645-645D83D131D2}"/>
              </a:ext>
            </a:extLst>
          </p:cNvPr>
          <p:cNvSpPr>
            <a:spLocks noGrp="1"/>
          </p:cNvSpPr>
          <p:nvPr/>
        </p:nvSpPr>
        <p:spPr>
          <a:xfrm>
            <a:off x="3543300" y="3143250"/>
            <a:ext cx="228600" cy="228600"/>
          </a:xfrm>
          <a:prstGeom prst="roundRect">
            <a:avLst>
              <a:gd name="adj" fmla="val 50000"/>
            </a:avLst>
          </a:prstGeom>
          <a:solidFill>
            <a:srgbClr val="163D31"/>
          </a:solidFill>
          <a:ln w="19050">
            <a:solidFill>
              <a:srgbClr val="D7A84B"/>
            </a:solidFill>
            <a:prstDash val="solid"/>
          </a:ln>
        </p:spPr>
        <p:txBody>
          <a:bodyPr/>
          <a:lstStyle/>
          <a:p>
            <a:endParaRPr lang="en-US"/>
          </a:p>
        </p:txBody>
      </p:sp>
      <p:sp>
        <p:nvSpPr>
          <p:cNvPr id="11" name="Rectangle 10">
            <a:extLst>
              <a:ext uri="{FF2B5EF4-FFF2-40B4-BE49-F238E27FC236}">
                <a16:creationId xmlns:a16="http://schemas.microsoft.com/office/drawing/2014/main" id="{0B91D20C-83FE-4393-B352-41ECCFA55725}"/>
              </a:ext>
            </a:extLst>
          </p:cNvPr>
          <p:cNvSpPr>
            <a:spLocks noGrp="1"/>
          </p:cNvSpPr>
          <p:nvPr/>
        </p:nvSpPr>
        <p:spPr>
          <a:xfrm>
            <a:off x="29718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1516</a:t>
            </a:r>
          </a:p>
        </p:txBody>
      </p:sp>
      <p:sp>
        <p:nvSpPr>
          <p:cNvPr id="12" name="Rectangle 11">
            <a:extLst>
              <a:ext uri="{FF2B5EF4-FFF2-40B4-BE49-F238E27FC236}">
                <a16:creationId xmlns:a16="http://schemas.microsoft.com/office/drawing/2014/main" id="{25879C9D-6F0E-445D-8CC0-6C54D9E92045}"/>
              </a:ext>
            </a:extLst>
          </p:cNvPr>
          <p:cNvSpPr>
            <a:spLocks noGrp="1"/>
          </p:cNvSpPr>
          <p:nvPr/>
        </p:nvSpPr>
        <p:spPr>
          <a:xfrm>
            <a:off x="28194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Inventory</a:t>
            </a:r>
          </a:p>
        </p:txBody>
      </p:sp>
      <p:sp>
        <p:nvSpPr>
          <p:cNvPr id="13" name="Rectangle: Rounded Corners 12">
            <a:extLst>
              <a:ext uri="{FF2B5EF4-FFF2-40B4-BE49-F238E27FC236}">
                <a16:creationId xmlns:a16="http://schemas.microsoft.com/office/drawing/2014/main" id="{C155A786-5889-4D18-89E2-20CBB559463C}"/>
              </a:ext>
            </a:extLst>
          </p:cNvPr>
          <p:cNvSpPr>
            <a:spLocks noGrp="1"/>
          </p:cNvSpPr>
          <p:nvPr/>
        </p:nvSpPr>
        <p:spPr>
          <a:xfrm>
            <a:off x="5943600" y="3143250"/>
            <a:ext cx="228600" cy="228600"/>
          </a:xfrm>
          <a:prstGeom prst="roundRect">
            <a:avLst>
              <a:gd name="adj" fmla="val 50000"/>
            </a:avLst>
          </a:prstGeom>
          <a:solidFill>
            <a:srgbClr val="163D31"/>
          </a:solidFill>
          <a:ln w="19050">
            <a:solidFill>
              <a:srgbClr val="D7A84B"/>
            </a:solidFill>
            <a:prstDash val="solid"/>
          </a:ln>
        </p:spPr>
        <p:txBody>
          <a:bodyPr/>
          <a:lstStyle/>
          <a:p>
            <a:endParaRPr lang="en-US"/>
          </a:p>
        </p:txBody>
      </p:sp>
      <p:sp>
        <p:nvSpPr>
          <p:cNvPr id="14" name="Rectangle 13">
            <a:extLst>
              <a:ext uri="{FF2B5EF4-FFF2-40B4-BE49-F238E27FC236}">
                <a16:creationId xmlns:a16="http://schemas.microsoft.com/office/drawing/2014/main" id="{E43A19A8-B6D6-4018-8CA9-83C75DEE7B76}"/>
              </a:ext>
            </a:extLst>
          </p:cNvPr>
          <p:cNvSpPr>
            <a:spLocks noGrp="1"/>
          </p:cNvSpPr>
          <p:nvPr/>
        </p:nvSpPr>
        <p:spPr>
          <a:xfrm>
            <a:off x="53721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1842</a:t>
            </a:r>
          </a:p>
        </p:txBody>
      </p:sp>
      <p:sp>
        <p:nvSpPr>
          <p:cNvPr id="15" name="Rectangle 14">
            <a:extLst>
              <a:ext uri="{FF2B5EF4-FFF2-40B4-BE49-F238E27FC236}">
                <a16:creationId xmlns:a16="http://schemas.microsoft.com/office/drawing/2014/main" id="{6A64B730-5AC6-4870-AE09-4DAE4A8C5C78}"/>
              </a:ext>
            </a:extLst>
          </p:cNvPr>
          <p:cNvSpPr>
            <a:spLocks noGrp="1"/>
          </p:cNvSpPr>
          <p:nvPr/>
        </p:nvSpPr>
        <p:spPr>
          <a:xfrm>
            <a:off x="52197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National Gallery</a:t>
            </a:r>
          </a:p>
        </p:txBody>
      </p:sp>
      <p:sp>
        <p:nvSpPr>
          <p:cNvPr id="16" name="Rectangle: Rounded Corners 15">
            <a:extLst>
              <a:ext uri="{FF2B5EF4-FFF2-40B4-BE49-F238E27FC236}">
                <a16:creationId xmlns:a16="http://schemas.microsoft.com/office/drawing/2014/main" id="{0E3100C4-5761-409D-9D86-E373D118DC8C}"/>
              </a:ext>
            </a:extLst>
          </p:cNvPr>
          <p:cNvSpPr>
            <a:spLocks noGrp="1"/>
          </p:cNvSpPr>
          <p:nvPr/>
        </p:nvSpPr>
        <p:spPr>
          <a:xfrm>
            <a:off x="8343900" y="3143250"/>
            <a:ext cx="228600" cy="228600"/>
          </a:xfrm>
          <a:prstGeom prst="roundRect">
            <a:avLst>
              <a:gd name="adj" fmla="val 50000"/>
            </a:avLst>
          </a:prstGeom>
          <a:solidFill>
            <a:srgbClr val="163D31"/>
          </a:solidFill>
          <a:ln w="19050">
            <a:solidFill>
              <a:srgbClr val="D7A84B"/>
            </a:solidFill>
            <a:prstDash val="solid"/>
          </a:ln>
        </p:spPr>
        <p:txBody>
          <a:bodyPr/>
          <a:lstStyle/>
          <a:p>
            <a:endParaRPr lang="en-US"/>
          </a:p>
        </p:txBody>
      </p:sp>
      <p:sp>
        <p:nvSpPr>
          <p:cNvPr id="17" name="Rectangle 16">
            <a:extLst>
              <a:ext uri="{FF2B5EF4-FFF2-40B4-BE49-F238E27FC236}">
                <a16:creationId xmlns:a16="http://schemas.microsoft.com/office/drawing/2014/main" id="{9086A792-9D14-4B5D-B69B-19BDC114C513}"/>
              </a:ext>
            </a:extLst>
          </p:cNvPr>
          <p:cNvSpPr>
            <a:spLocks noGrp="1"/>
          </p:cNvSpPr>
          <p:nvPr/>
        </p:nvSpPr>
        <p:spPr>
          <a:xfrm>
            <a:off x="77724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1934</a:t>
            </a:r>
          </a:p>
        </p:txBody>
      </p:sp>
      <p:sp>
        <p:nvSpPr>
          <p:cNvPr id="18" name="Rectangle 17">
            <a:extLst>
              <a:ext uri="{FF2B5EF4-FFF2-40B4-BE49-F238E27FC236}">
                <a16:creationId xmlns:a16="http://schemas.microsoft.com/office/drawing/2014/main" id="{E2FE7CB6-59D1-45FF-9098-BBBD886A92FE}"/>
              </a:ext>
            </a:extLst>
          </p:cNvPr>
          <p:cNvSpPr>
            <a:spLocks noGrp="1"/>
          </p:cNvSpPr>
          <p:nvPr/>
        </p:nvSpPr>
        <p:spPr>
          <a:xfrm>
            <a:off x="76200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Wedding theory</a:t>
            </a:r>
          </a:p>
        </p:txBody>
      </p:sp>
      <p:sp>
        <p:nvSpPr>
          <p:cNvPr id="19" name="Rectangle: Rounded Corners 18">
            <a:extLst>
              <a:ext uri="{FF2B5EF4-FFF2-40B4-BE49-F238E27FC236}">
                <a16:creationId xmlns:a16="http://schemas.microsoft.com/office/drawing/2014/main" id="{E8C8439D-B5B6-4B74-8674-135031085ABE}"/>
              </a:ext>
            </a:extLst>
          </p:cNvPr>
          <p:cNvSpPr>
            <a:spLocks noGrp="1"/>
          </p:cNvSpPr>
          <p:nvPr/>
        </p:nvSpPr>
        <p:spPr>
          <a:xfrm>
            <a:off x="10744200" y="3143250"/>
            <a:ext cx="228600" cy="228600"/>
          </a:xfrm>
          <a:prstGeom prst="roundRect">
            <a:avLst>
              <a:gd name="adj" fmla="val 50000"/>
            </a:avLst>
          </a:prstGeom>
          <a:solidFill>
            <a:srgbClr val="6A2433"/>
          </a:solidFill>
          <a:ln w="19050">
            <a:solidFill>
              <a:srgbClr val="D7A84B"/>
            </a:solidFill>
            <a:prstDash val="solid"/>
          </a:ln>
        </p:spPr>
        <p:txBody>
          <a:bodyPr/>
          <a:lstStyle/>
          <a:p>
            <a:endParaRPr lang="en-US"/>
          </a:p>
        </p:txBody>
      </p:sp>
      <p:sp>
        <p:nvSpPr>
          <p:cNvPr id="20" name="Rectangle 19">
            <a:extLst>
              <a:ext uri="{FF2B5EF4-FFF2-40B4-BE49-F238E27FC236}">
                <a16:creationId xmlns:a16="http://schemas.microsoft.com/office/drawing/2014/main" id="{28A2BC0C-CBF9-4087-8CF3-24D8F51C34E0}"/>
              </a:ext>
            </a:extLst>
          </p:cNvPr>
          <p:cNvSpPr>
            <a:spLocks noGrp="1"/>
          </p:cNvSpPr>
          <p:nvPr/>
        </p:nvSpPr>
        <p:spPr>
          <a:xfrm>
            <a:off x="10172700" y="2419350"/>
            <a:ext cx="1371600" cy="419100"/>
          </a:xfrm>
          <a:prstGeom prst="rect">
            <a:avLst/>
          </a:prstGeom>
          <a:noFill/>
          <a:ln w="0">
            <a:noFill/>
            <a:prstDash val="solid"/>
          </a:ln>
        </p:spPr>
        <p:txBody>
          <a:bodyPr anchor="t"/>
          <a:lstStyle/>
          <a:p>
            <a:pPr>
              <a:defRPr sz="1875" b="1" i="0">
                <a:solidFill>
                  <a:srgbClr val="FFFDF7"/>
                </a:solidFill>
              </a:defRPr>
            </a:pPr>
            <a:r>
              <a:rPr sz="1875" b="1" i="0">
                <a:solidFill>
                  <a:srgbClr val="FFFDF7"/>
                </a:solidFill>
              </a:rPr>
              <a:t>TODAY</a:t>
            </a:r>
          </a:p>
        </p:txBody>
      </p:sp>
      <p:sp>
        <p:nvSpPr>
          <p:cNvPr id="21" name="Rectangle 20">
            <a:extLst>
              <a:ext uri="{FF2B5EF4-FFF2-40B4-BE49-F238E27FC236}">
                <a16:creationId xmlns:a16="http://schemas.microsoft.com/office/drawing/2014/main" id="{DC878A1D-E092-4B11-ABE9-C951C6A76F5E}"/>
              </a:ext>
            </a:extLst>
          </p:cNvPr>
          <p:cNvSpPr>
            <a:spLocks noGrp="1"/>
          </p:cNvSpPr>
          <p:nvPr/>
        </p:nvSpPr>
        <p:spPr>
          <a:xfrm>
            <a:off x="10020300" y="3600450"/>
            <a:ext cx="1676400" cy="685800"/>
          </a:xfrm>
          <a:prstGeom prst="rect">
            <a:avLst/>
          </a:prstGeom>
          <a:noFill/>
          <a:ln w="0">
            <a:noFill/>
            <a:prstDash val="solid"/>
          </a:ln>
        </p:spPr>
        <p:txBody>
          <a:bodyPr anchor="t"/>
          <a:lstStyle/>
          <a:p>
            <a:pPr>
              <a:defRPr sz="1200" b="0" i="0">
                <a:solidFill>
                  <a:srgbClr val="E6D3AC"/>
                </a:solidFill>
              </a:defRPr>
            </a:pPr>
            <a:r>
              <a:rPr sz="1200" b="0" i="0">
                <a:solidFill>
                  <a:srgbClr val="E6D3AC"/>
                </a:solidFill>
              </a:rPr>
              <a:t>Technical research</a:t>
            </a:r>
          </a:p>
        </p:txBody>
      </p:sp>
      <p:sp>
        <p:nvSpPr>
          <p:cNvPr id="22" name="Rectangle 21">
            <a:extLst>
              <a:ext uri="{FF2B5EF4-FFF2-40B4-BE49-F238E27FC236}">
                <a16:creationId xmlns:a16="http://schemas.microsoft.com/office/drawing/2014/main" id="{226DA132-8CB2-4F42-8184-D0ADB94315AC}"/>
              </a:ext>
            </a:extLst>
          </p:cNvPr>
          <p:cNvSpPr>
            <a:spLocks noGrp="1"/>
          </p:cNvSpPr>
          <p:nvPr/>
        </p:nvSpPr>
        <p:spPr>
          <a:xfrm>
            <a:off x="2476500" y="4838700"/>
            <a:ext cx="7239000" cy="495300"/>
          </a:xfrm>
          <a:prstGeom prst="rect">
            <a:avLst/>
          </a:prstGeom>
          <a:noFill/>
          <a:ln w="0">
            <a:noFill/>
            <a:prstDash val="solid"/>
          </a:ln>
        </p:spPr>
        <p:txBody>
          <a:bodyPr anchor="t"/>
          <a:lstStyle/>
          <a:p>
            <a:pPr>
              <a:defRPr sz="1875" b="1" i="0">
                <a:solidFill>
                  <a:srgbClr val="D7A84B"/>
                </a:solidFill>
              </a:defRPr>
            </a:pPr>
            <a:r>
              <a:rPr sz="1875" b="1" i="0">
                <a:solidFill>
                  <a:srgbClr val="D7A84B"/>
                </a:solidFill>
              </a:rPr>
              <a:t>The panel remains. The questions change.</a:t>
            </a:r>
          </a:p>
        </p:txBody>
      </p:sp>
      <p:sp>
        <p:nvSpPr>
          <p:cNvPr id="23" name="Rectangle 22">
            <a:extLst>
              <a:ext uri="{FF2B5EF4-FFF2-40B4-BE49-F238E27FC236}">
                <a16:creationId xmlns:a16="http://schemas.microsoft.com/office/drawing/2014/main" id="{9259F20F-2C95-46A9-9234-EBC21820F091}"/>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030307FE-BE26-4258-8726-AD4C9868C026}"/>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Each generation revises the painting through new evidence.</a:t>
            </a:r>
          </a:p>
        </p:txBody>
      </p:sp>
      <p:sp>
        <p:nvSpPr>
          <p:cNvPr id="25" name="Rectangle 24">
            <a:extLst>
              <a:ext uri="{FF2B5EF4-FFF2-40B4-BE49-F238E27FC236}">
                <a16:creationId xmlns:a16="http://schemas.microsoft.com/office/drawing/2014/main" id="{2390AD2A-75C5-474B-8F15-FABA535A181D}"/>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555009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9A56441-6983-49DB-8B1D-FF709AF55ACD}"/>
              </a:ext>
            </a:extLst>
          </p:cNvPr>
          <p:cNvSpPr>
            <a:spLocks noGrp="1"/>
          </p:cNvSpPr>
          <p:nvPr/>
        </p:nvSpPr>
        <p:spPr>
          <a:xfrm>
            <a:off x="609600" y="304800"/>
            <a:ext cx="7239000" cy="228600"/>
          </a:xfrm>
          <a:prstGeom prst="rect">
            <a:avLst/>
          </a:prstGeom>
          <a:noFill/>
          <a:ln w="0">
            <a:noFill/>
            <a:prstDash val="solid"/>
          </a:ln>
        </p:spPr>
        <p:txBody>
          <a:bodyPr anchor="t"/>
          <a:lstStyle/>
          <a:p>
            <a:pPr>
              <a:defRPr sz="975" b="1" i="0">
                <a:solidFill>
                  <a:srgbClr val="D7A84B"/>
                </a:solidFill>
              </a:defRPr>
            </a:pPr>
            <a:r>
              <a:rPr sz="975" b="1" i="0">
                <a:solidFill>
                  <a:srgbClr val="D7A84B"/>
                </a:solidFill>
              </a:rPr>
              <a:t>MASTERS &amp; MASTERPIECES | JAN VAN EYCK | 1434</a:t>
            </a:r>
          </a:p>
        </p:txBody>
      </p:sp>
      <p:sp>
        <p:nvSpPr>
          <p:cNvPr id="3" name="Rectangle 2">
            <a:extLst>
              <a:ext uri="{FF2B5EF4-FFF2-40B4-BE49-F238E27FC236}">
                <a16:creationId xmlns:a16="http://schemas.microsoft.com/office/drawing/2014/main" id="{842F1F6F-5FE4-42FD-97BD-2A09446DB9F5}"/>
              </a:ext>
            </a:extLst>
          </p:cNvPr>
          <p:cNvSpPr>
            <a:spLocks noGrp="1"/>
          </p:cNvSpPr>
          <p:nvPr/>
        </p:nvSpPr>
        <p:spPr>
          <a:xfrm>
            <a:off x="609600" y="590550"/>
            <a:ext cx="9906000" cy="666750"/>
          </a:xfrm>
          <a:prstGeom prst="rect">
            <a:avLst/>
          </a:prstGeom>
          <a:noFill/>
          <a:ln w="0">
            <a:noFill/>
            <a:prstDash val="solid"/>
          </a:ln>
        </p:spPr>
        <p:txBody>
          <a:bodyPr anchor="t"/>
          <a:lstStyle/>
          <a:p>
            <a:pPr>
              <a:defRPr sz="3000" b="1" i="0">
                <a:solidFill>
                  <a:srgbClr val="FFFDF7"/>
                </a:solidFill>
              </a:defRPr>
            </a:pPr>
            <a:r>
              <a:rPr sz="3000" b="1" i="0">
                <a:solidFill>
                  <a:srgbClr val="FFFDF7"/>
                </a:solidFill>
              </a:rPr>
              <a:t>How to Look at It Today</a:t>
            </a:r>
          </a:p>
        </p:txBody>
      </p:sp>
      <p:sp>
        <p:nvSpPr>
          <p:cNvPr id="4" name="Rectangle 3">
            <a:extLst>
              <a:ext uri="{FF2B5EF4-FFF2-40B4-BE49-F238E27FC236}">
                <a16:creationId xmlns:a16="http://schemas.microsoft.com/office/drawing/2014/main" id="{98221410-5187-45D5-AFCA-8D143FAE1479}"/>
              </a:ext>
            </a:extLst>
          </p:cNvPr>
          <p:cNvSpPr>
            <a:spLocks noGrp="1"/>
          </p:cNvSpPr>
          <p:nvPr/>
        </p:nvSpPr>
        <p:spPr>
          <a:xfrm>
            <a:off x="609600" y="1333500"/>
            <a:ext cx="685800" cy="38100"/>
          </a:xfrm>
          <a:prstGeom prst="rect">
            <a:avLst/>
          </a:prstGeom>
          <a:solidFill>
            <a:srgbClr val="D7A84B"/>
          </a:solidFill>
          <a:ln w="0">
            <a:noFill/>
            <a:prstDash val="solid"/>
          </a:ln>
        </p:spPr>
        <p:txBody>
          <a:bodyPr/>
          <a:lstStyle/>
          <a:p>
            <a:endParaRPr lang="en-US"/>
          </a:p>
        </p:txBody>
      </p:sp>
      <p:sp>
        <p:nvSpPr>
          <p:cNvPr id="5" name="Rectangle 4">
            <a:extLst>
              <a:ext uri="{FF2B5EF4-FFF2-40B4-BE49-F238E27FC236}">
                <a16:creationId xmlns:a16="http://schemas.microsoft.com/office/drawing/2014/main" id="{7B61E71F-9CA3-4B6A-9AFC-5DB6B60A4C47}"/>
              </a:ext>
            </a:extLst>
          </p:cNvPr>
          <p:cNvSpPr>
            <a:spLocks noGrp="1"/>
          </p:cNvSpPr>
          <p:nvPr/>
        </p:nvSpPr>
        <p:spPr>
          <a:xfrm>
            <a:off x="11144250" y="323850"/>
            <a:ext cx="533400" cy="228600"/>
          </a:xfrm>
          <a:prstGeom prst="rect">
            <a:avLst/>
          </a:prstGeom>
          <a:noFill/>
          <a:ln w="0">
            <a:noFill/>
            <a:prstDash val="solid"/>
          </a:ln>
        </p:spPr>
        <p:txBody>
          <a:bodyPr anchor="t"/>
          <a:lstStyle/>
          <a:p>
            <a:pPr>
              <a:defRPr sz="1050" b="1" i="0">
                <a:solidFill>
                  <a:srgbClr val="C8BDA9"/>
                </a:solidFill>
              </a:defRPr>
            </a:pPr>
            <a:r>
              <a:rPr sz="1050" b="1" i="0">
                <a:solidFill>
                  <a:srgbClr val="C8BDA9"/>
                </a:solidFill>
              </a:rPr>
              <a:t>15</a:t>
            </a:r>
          </a:p>
        </p:txBody>
      </p:sp>
      <p:pic>
        <p:nvPicPr>
          <p:cNvPr id="31" name="Picture 30"/>
          <p:cNvPicPr>
            <a:picLocks noChangeAspect="1"/>
          </p:cNvPicPr>
          <p:nvPr/>
        </p:nvPicPr>
        <p:blipFill>
          <a:blip r:embed="rId4"/>
          <a:stretch/>
        </p:blipFill>
        <p:spPr>
          <a:xfrm>
            <a:off x="1272071" y="1543050"/>
            <a:ext cx="3342309" cy="4572000"/>
          </a:xfrm>
          <a:prstGeom prst="roundRect">
            <a:avLst>
              <a:gd name="adj" fmla="val 2553"/>
            </a:avLst>
          </a:prstGeom>
        </p:spPr>
      </p:pic>
      <p:sp>
        <p:nvSpPr>
          <p:cNvPr id="7" name="Rectangle: Rounded Corners 6">
            <a:extLst>
              <a:ext uri="{FF2B5EF4-FFF2-40B4-BE49-F238E27FC236}">
                <a16:creationId xmlns:a16="http://schemas.microsoft.com/office/drawing/2014/main" id="{FB094499-69B7-4757-B11C-647E0DDA6C2A}"/>
              </a:ext>
            </a:extLst>
          </p:cNvPr>
          <p:cNvSpPr>
            <a:spLocks noGrp="1"/>
          </p:cNvSpPr>
          <p:nvPr/>
        </p:nvSpPr>
        <p:spPr>
          <a:xfrm>
            <a:off x="5848350" y="1619250"/>
            <a:ext cx="4667250" cy="552450"/>
          </a:xfrm>
          <a:prstGeom prst="roundRect">
            <a:avLst>
              <a:gd name="adj" fmla="val 20690"/>
            </a:avLst>
          </a:prstGeom>
          <a:solidFill>
            <a:srgbClr val="152D25"/>
          </a:solidFill>
          <a:ln w="9525">
            <a:solidFill>
              <a:srgbClr val="70684F"/>
            </a:solidFill>
            <a:prstDash val="solid"/>
          </a:ln>
        </p:spPr>
        <p:txBody>
          <a:bodyPr/>
          <a:lstStyle/>
          <a:p>
            <a:endParaRPr lang="en-US"/>
          </a:p>
        </p:txBody>
      </p:sp>
      <p:sp>
        <p:nvSpPr>
          <p:cNvPr id="8" name="Rectangle 7">
            <a:extLst>
              <a:ext uri="{FF2B5EF4-FFF2-40B4-BE49-F238E27FC236}">
                <a16:creationId xmlns:a16="http://schemas.microsoft.com/office/drawing/2014/main" id="{5BA0A215-4BC4-4FC1-B0EF-0D854A07B239}"/>
              </a:ext>
            </a:extLst>
          </p:cNvPr>
          <p:cNvSpPr>
            <a:spLocks noGrp="1"/>
          </p:cNvSpPr>
          <p:nvPr/>
        </p:nvSpPr>
        <p:spPr>
          <a:xfrm>
            <a:off x="6057900" y="178117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01 FIGURES</a:t>
            </a:r>
          </a:p>
        </p:txBody>
      </p:sp>
      <p:sp>
        <p:nvSpPr>
          <p:cNvPr id="9" name="Rectangle 8">
            <a:extLst>
              <a:ext uri="{FF2B5EF4-FFF2-40B4-BE49-F238E27FC236}">
                <a16:creationId xmlns:a16="http://schemas.microsoft.com/office/drawing/2014/main" id="{7D3A100A-E0DF-4F51-BC9A-45B65B2E7BA1}"/>
              </a:ext>
            </a:extLst>
          </p:cNvPr>
          <p:cNvSpPr>
            <a:spLocks noGrp="1"/>
          </p:cNvSpPr>
          <p:nvPr/>
        </p:nvSpPr>
        <p:spPr>
          <a:xfrm>
            <a:off x="7696200" y="176212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Begin with the figures' quiet</a:t>
            </a:r>
          </a:p>
        </p:txBody>
      </p:sp>
      <p:sp>
        <p:nvSpPr>
          <p:cNvPr id="10" name="Rectangle: Rounded Corners 9">
            <a:extLst>
              <a:ext uri="{FF2B5EF4-FFF2-40B4-BE49-F238E27FC236}">
                <a16:creationId xmlns:a16="http://schemas.microsoft.com/office/drawing/2014/main" id="{26C9470D-A0A4-486D-85EC-03D86ED7DC05}"/>
              </a:ext>
            </a:extLst>
          </p:cNvPr>
          <p:cNvSpPr>
            <a:spLocks noGrp="1"/>
          </p:cNvSpPr>
          <p:nvPr/>
        </p:nvSpPr>
        <p:spPr>
          <a:xfrm>
            <a:off x="5848350" y="2400300"/>
            <a:ext cx="4667250" cy="552450"/>
          </a:xfrm>
          <a:prstGeom prst="roundRect">
            <a:avLst>
              <a:gd name="adj" fmla="val 20690"/>
            </a:avLst>
          </a:prstGeom>
          <a:solidFill>
            <a:srgbClr val="152D25"/>
          </a:solidFill>
          <a:ln w="9525">
            <a:solidFill>
              <a:srgbClr val="70684F"/>
            </a:solidFill>
            <a:prstDash val="solid"/>
          </a:ln>
        </p:spPr>
        <p:txBody>
          <a:bodyPr/>
          <a:lstStyle/>
          <a:p>
            <a:endParaRPr lang="en-US"/>
          </a:p>
        </p:txBody>
      </p:sp>
      <p:sp>
        <p:nvSpPr>
          <p:cNvPr id="11" name="Rectangle 10">
            <a:extLst>
              <a:ext uri="{FF2B5EF4-FFF2-40B4-BE49-F238E27FC236}">
                <a16:creationId xmlns:a16="http://schemas.microsoft.com/office/drawing/2014/main" id="{9F37ECAB-E6D2-4D30-A95E-409FEC6CA0DB}"/>
              </a:ext>
            </a:extLst>
          </p:cNvPr>
          <p:cNvSpPr>
            <a:spLocks noGrp="1"/>
          </p:cNvSpPr>
          <p:nvPr/>
        </p:nvSpPr>
        <p:spPr>
          <a:xfrm>
            <a:off x="6057900" y="256222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02 HANDS</a:t>
            </a:r>
          </a:p>
        </p:txBody>
      </p:sp>
      <p:sp>
        <p:nvSpPr>
          <p:cNvPr id="12" name="Rectangle 11">
            <a:extLst>
              <a:ext uri="{FF2B5EF4-FFF2-40B4-BE49-F238E27FC236}">
                <a16:creationId xmlns:a16="http://schemas.microsoft.com/office/drawing/2014/main" id="{141D8854-DF92-4381-ADA4-664D95E5873B}"/>
              </a:ext>
            </a:extLst>
          </p:cNvPr>
          <p:cNvSpPr>
            <a:spLocks noGrp="1"/>
          </p:cNvSpPr>
          <p:nvPr/>
        </p:nvSpPr>
        <p:spPr>
          <a:xfrm>
            <a:off x="7696200" y="254317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Notice the joined hands</a:t>
            </a:r>
          </a:p>
        </p:txBody>
      </p:sp>
      <p:sp>
        <p:nvSpPr>
          <p:cNvPr id="13" name="Rectangle: Rounded Corners 12">
            <a:extLst>
              <a:ext uri="{FF2B5EF4-FFF2-40B4-BE49-F238E27FC236}">
                <a16:creationId xmlns:a16="http://schemas.microsoft.com/office/drawing/2014/main" id="{9903CE22-F51D-4FF3-940C-CBFF64532DB0}"/>
              </a:ext>
            </a:extLst>
          </p:cNvPr>
          <p:cNvSpPr>
            <a:spLocks noGrp="1"/>
          </p:cNvSpPr>
          <p:nvPr/>
        </p:nvSpPr>
        <p:spPr>
          <a:xfrm>
            <a:off x="5848350" y="3181350"/>
            <a:ext cx="4667250" cy="552450"/>
          </a:xfrm>
          <a:prstGeom prst="roundRect">
            <a:avLst>
              <a:gd name="adj" fmla="val 20690"/>
            </a:avLst>
          </a:prstGeom>
          <a:solidFill>
            <a:srgbClr val="152D25"/>
          </a:solidFill>
          <a:ln w="9525">
            <a:solidFill>
              <a:srgbClr val="70684F"/>
            </a:solidFill>
            <a:prstDash val="solid"/>
          </a:ln>
        </p:spPr>
        <p:txBody>
          <a:bodyPr/>
          <a:lstStyle/>
          <a:p>
            <a:endParaRPr lang="en-US"/>
          </a:p>
        </p:txBody>
      </p:sp>
      <p:sp>
        <p:nvSpPr>
          <p:cNvPr id="14" name="Rectangle 13">
            <a:extLst>
              <a:ext uri="{FF2B5EF4-FFF2-40B4-BE49-F238E27FC236}">
                <a16:creationId xmlns:a16="http://schemas.microsoft.com/office/drawing/2014/main" id="{F7A89BAD-E46D-462C-ACCC-7ED6E21F1E33}"/>
              </a:ext>
            </a:extLst>
          </p:cNvPr>
          <p:cNvSpPr>
            <a:spLocks noGrp="1"/>
          </p:cNvSpPr>
          <p:nvPr/>
        </p:nvSpPr>
        <p:spPr>
          <a:xfrm>
            <a:off x="6057900" y="334327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03 LIGHT</a:t>
            </a:r>
          </a:p>
        </p:txBody>
      </p:sp>
      <p:sp>
        <p:nvSpPr>
          <p:cNvPr id="15" name="Rectangle 14">
            <a:extLst>
              <a:ext uri="{FF2B5EF4-FFF2-40B4-BE49-F238E27FC236}">
                <a16:creationId xmlns:a16="http://schemas.microsoft.com/office/drawing/2014/main" id="{9C2C4F21-3621-49A7-B771-138A31B1F1E5}"/>
              </a:ext>
            </a:extLst>
          </p:cNvPr>
          <p:cNvSpPr>
            <a:spLocks noGrp="1"/>
          </p:cNvSpPr>
          <p:nvPr/>
        </p:nvSpPr>
        <p:spPr>
          <a:xfrm>
            <a:off x="7696200" y="332422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Follow the light from the left</a:t>
            </a:r>
          </a:p>
        </p:txBody>
      </p:sp>
      <p:sp>
        <p:nvSpPr>
          <p:cNvPr id="16" name="Rectangle: Rounded Corners 15">
            <a:extLst>
              <a:ext uri="{FF2B5EF4-FFF2-40B4-BE49-F238E27FC236}">
                <a16:creationId xmlns:a16="http://schemas.microsoft.com/office/drawing/2014/main" id="{E76D7E83-FF59-467B-8AA2-A0748D6A5F3D}"/>
              </a:ext>
            </a:extLst>
          </p:cNvPr>
          <p:cNvSpPr>
            <a:spLocks noGrp="1"/>
          </p:cNvSpPr>
          <p:nvPr/>
        </p:nvSpPr>
        <p:spPr>
          <a:xfrm>
            <a:off x="5848350" y="3962400"/>
            <a:ext cx="4667250" cy="552450"/>
          </a:xfrm>
          <a:prstGeom prst="roundRect">
            <a:avLst>
              <a:gd name="adj" fmla="val 20690"/>
            </a:avLst>
          </a:prstGeom>
          <a:solidFill>
            <a:srgbClr val="152D25"/>
          </a:solidFill>
          <a:ln w="9525">
            <a:solidFill>
              <a:srgbClr val="70684F"/>
            </a:solidFill>
            <a:prstDash val="solid"/>
          </a:ln>
        </p:spPr>
        <p:txBody>
          <a:bodyPr/>
          <a:lstStyle/>
          <a:p>
            <a:endParaRPr lang="en-US"/>
          </a:p>
        </p:txBody>
      </p:sp>
      <p:sp>
        <p:nvSpPr>
          <p:cNvPr id="17" name="Rectangle 16">
            <a:extLst>
              <a:ext uri="{FF2B5EF4-FFF2-40B4-BE49-F238E27FC236}">
                <a16:creationId xmlns:a16="http://schemas.microsoft.com/office/drawing/2014/main" id="{8B128652-D9EC-43B4-92D6-4529CED998B8}"/>
              </a:ext>
            </a:extLst>
          </p:cNvPr>
          <p:cNvSpPr>
            <a:spLocks noGrp="1"/>
          </p:cNvSpPr>
          <p:nvPr/>
        </p:nvSpPr>
        <p:spPr>
          <a:xfrm>
            <a:off x="6057900" y="412432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04 MIRROR</a:t>
            </a:r>
          </a:p>
        </p:txBody>
      </p:sp>
      <p:sp>
        <p:nvSpPr>
          <p:cNvPr id="18" name="Rectangle 17">
            <a:extLst>
              <a:ext uri="{FF2B5EF4-FFF2-40B4-BE49-F238E27FC236}">
                <a16:creationId xmlns:a16="http://schemas.microsoft.com/office/drawing/2014/main" id="{FE752141-2772-4973-8BA6-67989400EDBC}"/>
              </a:ext>
            </a:extLst>
          </p:cNvPr>
          <p:cNvSpPr>
            <a:spLocks noGrp="1"/>
          </p:cNvSpPr>
          <p:nvPr/>
        </p:nvSpPr>
        <p:spPr>
          <a:xfrm>
            <a:off x="7696200" y="410527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Open the space behind us</a:t>
            </a:r>
          </a:p>
        </p:txBody>
      </p:sp>
      <p:sp>
        <p:nvSpPr>
          <p:cNvPr id="19" name="Rectangle: Rounded Corners 18">
            <a:extLst>
              <a:ext uri="{FF2B5EF4-FFF2-40B4-BE49-F238E27FC236}">
                <a16:creationId xmlns:a16="http://schemas.microsoft.com/office/drawing/2014/main" id="{5520FF03-A918-401A-B893-731B5CC5C09A}"/>
              </a:ext>
            </a:extLst>
          </p:cNvPr>
          <p:cNvSpPr>
            <a:spLocks noGrp="1"/>
          </p:cNvSpPr>
          <p:nvPr/>
        </p:nvSpPr>
        <p:spPr>
          <a:xfrm>
            <a:off x="5848350" y="4743450"/>
            <a:ext cx="4667250" cy="552450"/>
          </a:xfrm>
          <a:prstGeom prst="roundRect">
            <a:avLst>
              <a:gd name="adj" fmla="val 20690"/>
            </a:avLst>
          </a:prstGeom>
          <a:solidFill>
            <a:srgbClr val="6A2433"/>
          </a:solidFill>
          <a:ln w="9525">
            <a:solidFill>
              <a:srgbClr val="D7A84B"/>
            </a:solidFill>
            <a:prstDash val="solid"/>
          </a:ln>
        </p:spPr>
        <p:txBody>
          <a:bodyPr/>
          <a:lstStyle/>
          <a:p>
            <a:endParaRPr lang="en-US"/>
          </a:p>
        </p:txBody>
      </p:sp>
      <p:sp>
        <p:nvSpPr>
          <p:cNvPr id="20" name="Rectangle 19">
            <a:extLst>
              <a:ext uri="{FF2B5EF4-FFF2-40B4-BE49-F238E27FC236}">
                <a16:creationId xmlns:a16="http://schemas.microsoft.com/office/drawing/2014/main" id="{F738E80E-1C17-465C-8AF7-DB4CADA07189}"/>
              </a:ext>
            </a:extLst>
          </p:cNvPr>
          <p:cNvSpPr>
            <a:spLocks noGrp="1"/>
          </p:cNvSpPr>
          <p:nvPr/>
        </p:nvSpPr>
        <p:spPr>
          <a:xfrm>
            <a:off x="6057900" y="4905375"/>
            <a:ext cx="1619250" cy="238125"/>
          </a:xfrm>
          <a:prstGeom prst="rect">
            <a:avLst/>
          </a:prstGeom>
          <a:noFill/>
          <a:ln w="0">
            <a:noFill/>
            <a:prstDash val="solid"/>
          </a:ln>
        </p:spPr>
        <p:txBody>
          <a:bodyPr anchor="t"/>
          <a:lstStyle/>
          <a:p>
            <a:pPr>
              <a:defRPr sz="1200" b="1" i="0">
                <a:solidFill>
                  <a:srgbClr val="D7A84B"/>
                </a:solidFill>
              </a:defRPr>
            </a:pPr>
            <a:r>
              <a:rPr sz="1200" b="1" i="0">
                <a:solidFill>
                  <a:srgbClr val="D7A84B"/>
                </a:solidFill>
              </a:rPr>
              <a:t>05 INSCRIPTION</a:t>
            </a:r>
          </a:p>
        </p:txBody>
      </p:sp>
      <p:sp>
        <p:nvSpPr>
          <p:cNvPr id="21" name="Rectangle 20">
            <a:extLst>
              <a:ext uri="{FF2B5EF4-FFF2-40B4-BE49-F238E27FC236}">
                <a16:creationId xmlns:a16="http://schemas.microsoft.com/office/drawing/2014/main" id="{61D18A0E-3EAF-4203-B5D7-3FEB63755B9E}"/>
              </a:ext>
            </a:extLst>
          </p:cNvPr>
          <p:cNvSpPr>
            <a:spLocks noGrp="1"/>
          </p:cNvSpPr>
          <p:nvPr/>
        </p:nvSpPr>
        <p:spPr>
          <a:xfrm>
            <a:off x="7696200" y="4886325"/>
            <a:ext cx="2609850" cy="285750"/>
          </a:xfrm>
          <a:prstGeom prst="rect">
            <a:avLst/>
          </a:prstGeom>
          <a:noFill/>
          <a:ln w="0">
            <a:noFill/>
            <a:prstDash val="solid"/>
          </a:ln>
        </p:spPr>
        <p:txBody>
          <a:bodyPr anchor="t"/>
          <a:lstStyle/>
          <a:p>
            <a:pPr>
              <a:defRPr sz="1125" b="0" i="0">
                <a:solidFill>
                  <a:srgbClr val="F5EBD8"/>
                </a:solidFill>
              </a:defRPr>
            </a:pPr>
            <a:r>
              <a:rPr sz="1125" b="0" i="0">
                <a:solidFill>
                  <a:srgbClr val="F5EBD8"/>
                </a:solidFill>
              </a:rPr>
              <a:t>Read the painter's presence</a:t>
            </a:r>
          </a:p>
        </p:txBody>
      </p:sp>
      <p:sp>
        <p:nvSpPr>
          <p:cNvPr id="22" name="Rectangle 21">
            <a:extLst>
              <a:ext uri="{FF2B5EF4-FFF2-40B4-BE49-F238E27FC236}">
                <a16:creationId xmlns:a16="http://schemas.microsoft.com/office/drawing/2014/main" id="{0204EF12-32C8-41BB-A340-A6AD968CBD8C}"/>
              </a:ext>
            </a:extLst>
          </p:cNvPr>
          <p:cNvSpPr>
            <a:spLocks noGrp="1"/>
          </p:cNvSpPr>
          <p:nvPr/>
        </p:nvSpPr>
        <p:spPr>
          <a:xfrm>
            <a:off x="5848350" y="5657850"/>
            <a:ext cx="4667250" cy="323850"/>
          </a:xfrm>
          <a:prstGeom prst="rect">
            <a:avLst/>
          </a:prstGeom>
          <a:noFill/>
          <a:ln w="0">
            <a:noFill/>
            <a:prstDash val="solid"/>
          </a:ln>
        </p:spPr>
        <p:txBody>
          <a:bodyPr anchor="t"/>
          <a:lstStyle/>
          <a:p>
            <a:pPr>
              <a:defRPr sz="1500" b="1" i="0">
                <a:solidFill>
                  <a:srgbClr val="FFFDF7"/>
                </a:solidFill>
              </a:defRPr>
            </a:pPr>
            <a:r>
              <a:rPr sz="1500" b="1" i="0">
                <a:solidFill>
                  <a:srgbClr val="FFFDF7"/>
                </a:solidFill>
              </a:rPr>
              <a:t>Could the nearer visitor be van Eyck?</a:t>
            </a:r>
          </a:p>
        </p:txBody>
      </p:sp>
      <p:sp>
        <p:nvSpPr>
          <p:cNvPr id="23" name="Rectangle 22">
            <a:extLst>
              <a:ext uri="{FF2B5EF4-FFF2-40B4-BE49-F238E27FC236}">
                <a16:creationId xmlns:a16="http://schemas.microsoft.com/office/drawing/2014/main" id="{3F989A7B-0418-47F8-9588-BD4BAEE2D177}"/>
              </a:ext>
            </a:extLst>
          </p:cNvPr>
          <p:cNvSpPr>
            <a:spLocks noGrp="1"/>
          </p:cNvSpPr>
          <p:nvPr/>
        </p:nvSpPr>
        <p:spPr>
          <a:xfrm>
            <a:off x="0" y="6324600"/>
            <a:ext cx="12192000" cy="533400"/>
          </a:xfrm>
          <a:prstGeom prst="rect">
            <a:avLst/>
          </a:prstGeom>
          <a:solidFill>
            <a:srgbClr val="0A0B08"/>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93CA03E9-7E49-4BD3-B1ED-6CCF81F9052B}"/>
              </a:ext>
            </a:extLst>
          </p:cNvPr>
          <p:cNvSpPr>
            <a:spLocks noGrp="1"/>
          </p:cNvSpPr>
          <p:nvPr/>
        </p:nvSpPr>
        <p:spPr>
          <a:xfrm>
            <a:off x="609600" y="6457950"/>
            <a:ext cx="10287000" cy="228600"/>
          </a:xfrm>
          <a:prstGeom prst="rect">
            <a:avLst/>
          </a:prstGeom>
          <a:noFill/>
          <a:ln w="0">
            <a:noFill/>
            <a:prstDash val="solid"/>
          </a:ln>
        </p:spPr>
        <p:txBody>
          <a:bodyPr anchor="t"/>
          <a:lstStyle/>
          <a:p>
            <a:pPr>
              <a:defRPr sz="1275" b="0" i="0">
                <a:solidFill>
                  <a:srgbClr val="F5EBD8"/>
                </a:solidFill>
              </a:defRPr>
            </a:pPr>
            <a:r>
              <a:rPr sz="1275" b="0" i="0">
                <a:solidFill>
                  <a:srgbClr val="F5EBD8"/>
                </a:solidFill>
              </a:rPr>
              <a:t>Figures → hands → light → mirror → inscription: follow the viewing route.</a:t>
            </a:r>
          </a:p>
        </p:txBody>
      </p:sp>
      <p:sp>
        <p:nvSpPr>
          <p:cNvPr id="25" name="Rectangle 24">
            <a:extLst>
              <a:ext uri="{FF2B5EF4-FFF2-40B4-BE49-F238E27FC236}">
                <a16:creationId xmlns:a16="http://schemas.microsoft.com/office/drawing/2014/main" id="{143B34E7-FE73-4C5E-A8E3-B5F2961273CF}"/>
              </a:ext>
            </a:extLst>
          </p:cNvPr>
          <p:cNvSpPr>
            <a:spLocks noGrp="1"/>
          </p:cNvSpPr>
          <p:nvPr/>
        </p:nvSpPr>
        <p:spPr>
          <a:xfrm>
            <a:off x="9886950" y="6496050"/>
            <a:ext cx="1695450" cy="190500"/>
          </a:xfrm>
          <a:prstGeom prst="rect">
            <a:avLst/>
          </a:prstGeom>
          <a:noFill/>
          <a:ln w="0">
            <a:noFill/>
            <a:prstDash val="solid"/>
          </a:ln>
        </p:spPr>
        <p:txBody>
          <a:bodyPr anchor="t"/>
          <a:lstStyle/>
          <a:p>
            <a:pPr>
              <a:defRPr sz="825" b="1" i="0">
                <a:solidFill>
                  <a:srgbClr val="D7A84B"/>
                </a:solidFill>
              </a:defRPr>
            </a:pPr>
            <a:r>
              <a:rPr sz="825" b="1" i="0">
                <a:solidFill>
                  <a:srgbClr val="D7A84B"/>
                </a:solidFill>
              </a:rPr>
              <a:t>MASTERS &amp; MASTERPIECES</a:t>
            </a:r>
          </a:p>
        </p:txBody>
      </p:sp>
    </p:spTree>
    <p:extLst>
      <p:ext uri="{BB962C8B-B14F-4D97-AF65-F5344CB8AC3E}">
        <p14:creationId xmlns:p14="http://schemas.microsoft.com/office/powerpoint/2010/main" val="1124801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39B6796F-9BCC-D714-4C59-9398976FDD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3736" y="1014984"/>
            <a:ext cx="4480560" cy="4480560"/>
          </a:xfrm>
          <a:prstGeom prst="rect">
            <a:avLst/>
          </a:prstGeom>
        </p:spPr>
      </p:pic>
    </p:spTree>
    <p:extLst>
      <p:ext uri="{BB962C8B-B14F-4D97-AF65-F5344CB8AC3E}">
        <p14:creationId xmlns:p14="http://schemas.microsoft.com/office/powerpoint/2010/main" val="353923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4054</Words>
  <Application>Microsoft Office PowerPoint</Application>
  <DocSecurity>0</DocSecurity>
  <PresentationFormat>Widescreen</PresentationFormat>
  <Paragraphs>294</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YY de Taipei Hsieh</cp:lastModifiedBy>
  <cp:revision>2</cp:revision>
  <dcterms:created xsi:type="dcterms:W3CDTF">2026-08-26T09:16:05Z</dcterms:created>
  <dcterms:modified xsi:type="dcterms:W3CDTF">2026-08-26T09:30:00Z</dcterms:modified>
</cp:coreProperties>
</file>